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ommentAuthors.xml" ContentType="application/vnd.openxmlformats-officedocument.presentationml.commentAuthors+xml"/>
  <Override PartName="/ppt/drawings/drawing1.xml" ContentType="application/vnd.openxmlformats-officedocument.drawingml.chartshapes+xml"/>
  <Override PartName="/ppt/drawings/drawing2.xml" ContentType="application/vnd.openxmlformats-officedocument.drawingml.chartshap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64" r:id="rId4"/>
    <p:sldMasterId id="2147483669" r:id="rId5"/>
    <p:sldMasterId id="2147483674" r:id="rId6"/>
  </p:sldMasterIdLst>
  <p:notesMasterIdLst>
    <p:notesMasterId r:id="rId8"/>
  </p:notesMasterIdLst>
  <p:sldIdLst>
    <p:sldId id="330" r:id="rId7"/>
    <p:sldId id="261" r:id="rId9"/>
    <p:sldId id="286" r:id="rId10"/>
    <p:sldId id="287" r:id="rId11"/>
    <p:sldId id="288" r:id="rId12"/>
    <p:sldId id="335" r:id="rId13"/>
    <p:sldId id="336" r:id="rId14"/>
    <p:sldId id="291" r:id="rId15"/>
    <p:sldId id="292" r:id="rId16"/>
    <p:sldId id="333" r:id="rId17"/>
    <p:sldId id="295" r:id="rId18"/>
    <p:sldId id="296" r:id="rId19"/>
    <p:sldId id="298" r:id="rId20"/>
    <p:sldId id="297" r:id="rId21"/>
    <p:sldId id="300" r:id="rId22"/>
    <p:sldId id="302" r:id="rId23"/>
    <p:sldId id="339" r:id="rId24"/>
    <p:sldId id="334" r:id="rId25"/>
    <p:sldId id="304" r:id="rId26"/>
    <p:sldId id="305" r:id="rId27"/>
    <p:sldId id="306" r:id="rId28"/>
    <p:sldId id="307" r:id="rId29"/>
    <p:sldId id="310" r:id="rId30"/>
    <p:sldId id="337" r:id="rId31"/>
    <p:sldId id="312" r:id="rId32"/>
    <p:sldId id="340" r:id="rId33"/>
    <p:sldId id="314" r:id="rId34"/>
    <p:sldId id="318" r:id="rId35"/>
    <p:sldId id="319" r:id="rId36"/>
    <p:sldId id="320" r:id="rId37"/>
    <p:sldId id="332" r:id="rId3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用户" initials="W用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D7B55"/>
    <a:srgbClr val="9F8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howGuides="1">
      <p:cViewPr varScale="1">
        <p:scale>
          <a:sx n="66" d="100"/>
          <a:sy n="66" d="100"/>
        </p:scale>
        <p:origin x="-1506" y="-96"/>
      </p:cViewPr>
      <p:guideLst>
        <p:guide orient="horz" pos="220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2" Type="http://schemas.openxmlformats.org/officeDocument/2006/relationships/commentAuthors" Target="commentAuthors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Master" Target="slideMasters/slideMaster3.xml"/><Relationship Id="rId39" Type="http://schemas.openxmlformats.org/officeDocument/2006/relationships/presProps" Target="presProps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Sebastian\Desktop\Work2012\N.Mankiw\principles%20book%20-%20master%20files\Data%20Files\Chapter%2031\Slide%2012-13%20(Increasing%20Openness)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C:\Users\Administrator\Desktop\&#35838;&#31243;&#24314;&#35774;\&#35838;&#31243;&#24605;&#25919;&#35838;&#20214;-&#32463;&#27982;&#23398;&#21407;&#29702;B-&#21608;&#35947;-&#20013;&#26399;&#26448;&#26009;\&#26032;&#24314;%20Microsoft%20Excel%20&#24037;&#20316;&#34920;.xlsx" TargetMode="Externa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oleObject" Target="file:///C:\Users\Sebastian\Desktop\2013PP\Data\Chapter%2031\Saving,Invest,NCO.xlsx" TargetMode="Externa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2.xml"/><Relationship Id="rId1" Type="http://schemas.openxmlformats.org/officeDocument/2006/relationships/oleObject" Target="file:///C:\Users\Sebastian\Desktop\2013PP\Data\Chapter%2031\Saving,Invest,NCO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C:\Users\Administrator\Desktop\&#35838;&#31243;&#24314;&#35774;\&#35838;&#31243;&#24605;&#25919;&#35838;&#20214;-&#32463;&#27982;&#23398;&#21407;&#29702;B-&#21608;&#35947;-&#20013;&#26399;&#26448;&#26009;\&#26032;&#24314;%20Microsoft%20Excel%20&#24037;&#20316;&#34920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67469198516134"/>
          <c:y val="0.0155560787122076"/>
          <c:w val="0.878402262283492"/>
          <c:h val="0.875359377642483"/>
        </c:manualLayout>
      </c:layout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496907776"/>
        <c:axId val="496511232"/>
      </c:scatterChart>
      <c:valAx>
        <c:axId val="496907776"/>
        <c:scaling>
          <c:orientation val="minMax"/>
          <c:max val="2013"/>
          <c:min val="1960"/>
        </c:scaling>
        <c:delete val="1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96511232"/>
        <c:crosses val="autoZero"/>
        <c:crossBetween val="midCat"/>
        <c:majorUnit val="5"/>
        <c:minorUnit val="1"/>
      </c:valAx>
      <c:valAx>
        <c:axId val="496511232"/>
        <c:scaling>
          <c:orientation val="minMax"/>
          <c:max val="0.2"/>
          <c:min val="0"/>
        </c:scaling>
        <c:delete val="1"/>
        <c:axPos val="l"/>
        <c:majorGridlines>
          <c:spPr>
            <a:ln w="9525" cap="flat" cmpd="sng" algn="ctr">
              <a:solidFill>
                <a:schemeClr val="bg1">
                  <a:lumMod val="75000"/>
                </a:schemeClr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96907776"/>
        <c:crosses val="autoZero"/>
        <c:crossBetween val="midCat"/>
        <c:majorUnit val="0.02"/>
        <c:minorUnit val="0.004"/>
      </c:valAx>
      <c:spPr>
        <a:noFill/>
        <a:ln w="2540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642be92-f226-454b-9523-a82609681e89}"/>
      </c:ext>
    </c:extLst>
  </c:chart>
  <c:spPr>
    <a:solidFill>
      <a:schemeClr val="tx2">
        <a:lumMod val="20000"/>
        <a:lumOff val="80000"/>
      </a:schemeClr>
    </a:solidFill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963999174582"/>
          <c:y val="0.0218414009149964"/>
          <c:w val="0.86365034901092"/>
          <c:h val="0.942313782681623"/>
        </c:manualLayout>
      </c:layout>
      <c:lineChart>
        <c:grouping val="standard"/>
        <c:varyColors val="0"/>
        <c:ser>
          <c:idx val="0"/>
          <c:order val="0"/>
          <c:tx>
            <c:strRef>
              <c:f>第九章!$S$6</c:f>
              <c:strCache>
                <c:ptCount val="1"/>
                <c:pt idx="0">
                  <c:v>进出口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elete val="1"/>
          </c:dLbls>
          <c:cat>
            <c:numRef>
              <c:f>第九章!$M$7:$M$47</c:f>
              <c:numCache>
                <c:formatCode>General</c:formatCode>
                <c:ptCount val="4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  <c:pt idx="37">
                  <c:v>2017</c:v>
                </c:pt>
                <c:pt idx="38">
                  <c:v>2018</c:v>
                </c:pt>
                <c:pt idx="39">
                  <c:v>2019</c:v>
                </c:pt>
                <c:pt idx="40">
                  <c:v>2020</c:v>
                </c:pt>
              </c:numCache>
            </c:numRef>
          </c:cat>
          <c:val>
            <c:numRef>
              <c:f>第九章!$S$7:$S$47</c:f>
              <c:numCache>
                <c:formatCode>0.00000%</c:formatCode>
                <c:ptCount val="41"/>
                <c:pt idx="0">
                  <c:v>0.199581371009942</c:v>
                </c:pt>
                <c:pt idx="1">
                  <c:v>0.224872318692543</c:v>
                </c:pt>
                <c:pt idx="2">
                  <c:v>0.202975609756098</c:v>
                </c:pt>
                <c:pt idx="3">
                  <c:v>0.189158716392021</c:v>
                </c:pt>
                <c:pt idx="4">
                  <c:v>0.206040784917276</c:v>
                </c:pt>
                <c:pt idx="5">
                  <c:v>0.224951519069166</c:v>
                </c:pt>
                <c:pt idx="6">
                  <c:v>0.24559361489857</c:v>
                </c:pt>
                <c:pt idx="7">
                  <c:v>0.302858189813118</c:v>
                </c:pt>
                <c:pt idx="8">
                  <c:v>0.329138648735191</c:v>
                </c:pt>
                <c:pt idx="9">
                  <c:v>0.321196433707219</c:v>
                </c:pt>
                <c:pt idx="10">
                  <c:v>0.319955654101996</c:v>
                </c:pt>
                <c:pt idx="11">
                  <c:v>0.354030785285677</c:v>
                </c:pt>
                <c:pt idx="12">
                  <c:v>0.387748887327243</c:v>
                </c:pt>
                <c:pt idx="13">
                  <c:v>0.440071958623791</c:v>
                </c:pt>
                <c:pt idx="14">
                  <c:v>0.419315966684388</c:v>
                </c:pt>
                <c:pt idx="15">
                  <c:v>0.382382573179033</c:v>
                </c:pt>
                <c:pt idx="16">
                  <c:v>0.335625795993979</c:v>
                </c:pt>
                <c:pt idx="17">
                  <c:v>0.338144758735441</c:v>
                </c:pt>
                <c:pt idx="18">
                  <c:v>0.314514563106796</c:v>
                </c:pt>
                <c:pt idx="19">
                  <c:v>0.330853211009174</c:v>
                </c:pt>
                <c:pt idx="20">
                  <c:v>0.39198347107438</c:v>
                </c:pt>
                <c:pt idx="21">
                  <c:v>0.380335820895522</c:v>
                </c:pt>
                <c:pt idx="22">
                  <c:v>0.422292517006803</c:v>
                </c:pt>
                <c:pt idx="23">
                  <c:v>0.512644578313253</c:v>
                </c:pt>
                <c:pt idx="24">
                  <c:v>0.58905612244898</c:v>
                </c:pt>
                <c:pt idx="25">
                  <c:v>0.620917030567686</c:v>
                </c:pt>
                <c:pt idx="26">
                  <c:v>0.64016</c:v>
                </c:pt>
                <c:pt idx="27">
                  <c:v>0.613118309859155</c:v>
                </c:pt>
                <c:pt idx="28">
                  <c:v>0.558444444444444</c:v>
                </c:pt>
                <c:pt idx="29">
                  <c:v>0.432850980392157</c:v>
                </c:pt>
                <c:pt idx="30">
                  <c:v>0.488341543513957</c:v>
                </c:pt>
                <c:pt idx="31">
                  <c:v>0.482392052980132</c:v>
                </c:pt>
                <c:pt idx="32">
                  <c:v>0.453313012895662</c:v>
                </c:pt>
                <c:pt idx="33">
                  <c:v>0.434586520376176</c:v>
                </c:pt>
                <c:pt idx="34">
                  <c:v>0.410595133587786</c:v>
                </c:pt>
                <c:pt idx="35" c:formatCode="0.0000%">
                  <c:v>0.357414104882459</c:v>
                </c:pt>
                <c:pt idx="36">
                  <c:v>0.328132235084595</c:v>
                </c:pt>
                <c:pt idx="37">
                  <c:v>0.33342567018684</c:v>
                </c:pt>
                <c:pt idx="38">
                  <c:v>0.332832253419726</c:v>
                </c:pt>
                <c:pt idx="39" c:formatCode="0.0000%">
                  <c:v>0.320574229691877</c:v>
                </c:pt>
                <c:pt idx="40">
                  <c:v>0.31564245923913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第九章!$U$6</c:f>
              <c:strCache>
                <c:ptCount val="1"/>
                <c:pt idx="0">
                  <c:v>净出口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dLbls>
            <c:delete val="1"/>
          </c:dLbls>
          <c:cat>
            <c:numRef>
              <c:f>第九章!$M$7:$M$47</c:f>
              <c:numCache>
                <c:formatCode>General</c:formatCode>
                <c:ptCount val="41"/>
                <c:pt idx="0">
                  <c:v>1980</c:v>
                </c:pt>
                <c:pt idx="1">
                  <c:v>1981</c:v>
                </c:pt>
                <c:pt idx="2">
                  <c:v>1982</c:v>
                </c:pt>
                <c:pt idx="3">
                  <c:v>1983</c:v>
                </c:pt>
                <c:pt idx="4">
                  <c:v>1984</c:v>
                </c:pt>
                <c:pt idx="5">
                  <c:v>1985</c:v>
                </c:pt>
                <c:pt idx="6">
                  <c:v>1986</c:v>
                </c:pt>
                <c:pt idx="7">
                  <c:v>1987</c:v>
                </c:pt>
                <c:pt idx="8">
                  <c:v>1988</c:v>
                </c:pt>
                <c:pt idx="9">
                  <c:v>1989</c:v>
                </c:pt>
                <c:pt idx="10">
                  <c:v>1990</c:v>
                </c:pt>
                <c:pt idx="11">
                  <c:v>1991</c:v>
                </c:pt>
                <c:pt idx="12">
                  <c:v>1992</c:v>
                </c:pt>
                <c:pt idx="13">
                  <c:v>1993</c:v>
                </c:pt>
                <c:pt idx="14">
                  <c:v>1994</c:v>
                </c:pt>
                <c:pt idx="15">
                  <c:v>1995</c:v>
                </c:pt>
                <c:pt idx="16">
                  <c:v>1996</c:v>
                </c:pt>
                <c:pt idx="17">
                  <c:v>1997</c:v>
                </c:pt>
                <c:pt idx="18">
                  <c:v>1998</c:v>
                </c:pt>
                <c:pt idx="19">
                  <c:v>1999</c:v>
                </c:pt>
                <c:pt idx="20">
                  <c:v>2000</c:v>
                </c:pt>
                <c:pt idx="21">
                  <c:v>2001</c:v>
                </c:pt>
                <c:pt idx="22">
                  <c:v>2002</c:v>
                </c:pt>
                <c:pt idx="23">
                  <c:v>2003</c:v>
                </c:pt>
                <c:pt idx="24">
                  <c:v>2004</c:v>
                </c:pt>
                <c:pt idx="25">
                  <c:v>2005</c:v>
                </c:pt>
                <c:pt idx="26">
                  <c:v>2006</c:v>
                </c:pt>
                <c:pt idx="27">
                  <c:v>2007</c:v>
                </c:pt>
                <c:pt idx="28">
                  <c:v>2008</c:v>
                </c:pt>
                <c:pt idx="29">
                  <c:v>2009</c:v>
                </c:pt>
                <c:pt idx="30">
                  <c:v>2010</c:v>
                </c:pt>
                <c:pt idx="31">
                  <c:v>2011</c:v>
                </c:pt>
                <c:pt idx="32">
                  <c:v>2012</c:v>
                </c:pt>
                <c:pt idx="33">
                  <c:v>2013</c:v>
                </c:pt>
                <c:pt idx="34">
                  <c:v>2014</c:v>
                </c:pt>
                <c:pt idx="35">
                  <c:v>2015</c:v>
                </c:pt>
                <c:pt idx="36">
                  <c:v>2016</c:v>
                </c:pt>
                <c:pt idx="37">
                  <c:v>2017</c:v>
                </c:pt>
                <c:pt idx="38">
                  <c:v>2018</c:v>
                </c:pt>
                <c:pt idx="39">
                  <c:v>2019</c:v>
                </c:pt>
                <c:pt idx="40">
                  <c:v>2020</c:v>
                </c:pt>
              </c:numCache>
            </c:numRef>
          </c:cat>
          <c:val>
            <c:numRef>
              <c:f>第九章!$U$7:$U$47</c:f>
              <c:numCache>
                <c:formatCode>0.00000%</c:formatCode>
                <c:ptCount val="41"/>
                <c:pt idx="0">
                  <c:v>-0.00994243851386709</c:v>
                </c:pt>
                <c:pt idx="1">
                  <c:v>-5.1072522982647e-5</c:v>
                </c:pt>
                <c:pt idx="2">
                  <c:v>0.014780487804878</c:v>
                </c:pt>
                <c:pt idx="3">
                  <c:v>0.00364267129228102</c:v>
                </c:pt>
                <c:pt idx="4">
                  <c:v>-0.00488649480569452</c:v>
                </c:pt>
                <c:pt idx="5">
                  <c:v>-0.0481577246283129</c:v>
                </c:pt>
                <c:pt idx="6">
                  <c:v>-0.0398071167276355</c:v>
                </c:pt>
                <c:pt idx="7">
                  <c:v>-0.0138145840967387</c:v>
                </c:pt>
                <c:pt idx="8">
                  <c:v>-0.0248158821645854</c:v>
                </c:pt>
                <c:pt idx="9">
                  <c:v>-0.0189818809318378</c:v>
                </c:pt>
                <c:pt idx="10">
                  <c:v>0.0242239467849224</c:v>
                </c:pt>
                <c:pt idx="11">
                  <c:v>0.0211844508218106</c:v>
                </c:pt>
                <c:pt idx="12">
                  <c:v>0.0101897399859452</c:v>
                </c:pt>
                <c:pt idx="13">
                  <c:v>-0.0274791994603103</c:v>
                </c:pt>
                <c:pt idx="14">
                  <c:v>0.00956937799043062</c:v>
                </c:pt>
                <c:pt idx="15">
                  <c:v>0.0227365554799183</c:v>
                </c:pt>
                <c:pt idx="16">
                  <c:v>0.0141484311682297</c:v>
                </c:pt>
                <c:pt idx="17">
                  <c:v>0.0420341098169717</c:v>
                </c:pt>
                <c:pt idx="18">
                  <c:v>0.0422038834951456</c:v>
                </c:pt>
                <c:pt idx="19">
                  <c:v>0.0268165137614679</c:v>
                </c:pt>
                <c:pt idx="20">
                  <c:v>0.0199173553719008</c:v>
                </c:pt>
                <c:pt idx="21">
                  <c:v>0.0168283582089552</c:v>
                </c:pt>
                <c:pt idx="22">
                  <c:v>0.0207006802721089</c:v>
                </c:pt>
                <c:pt idx="23">
                  <c:v>0.0153433734939759</c:v>
                </c:pt>
                <c:pt idx="24">
                  <c:v>0.0163826530612245</c:v>
                </c:pt>
                <c:pt idx="25">
                  <c:v>0.0445414847161572</c:v>
                </c:pt>
                <c:pt idx="26">
                  <c:v>0.0645512727272727</c:v>
                </c:pt>
                <c:pt idx="27">
                  <c:v>0.0744625352112676</c:v>
                </c:pt>
                <c:pt idx="28">
                  <c:v>0.0649511982570806</c:v>
                </c:pt>
                <c:pt idx="29">
                  <c:v>0.0383694117647059</c:v>
                </c:pt>
                <c:pt idx="30">
                  <c:v>0.0298042692939245</c:v>
                </c:pt>
                <c:pt idx="31">
                  <c:v>0.0205483443708609</c:v>
                </c:pt>
                <c:pt idx="32">
                  <c:v>0.0270926143024619</c:v>
                </c:pt>
                <c:pt idx="33">
                  <c:v>0.0270653082549634</c:v>
                </c:pt>
                <c:pt idx="34">
                  <c:v>0.0364939885496183</c:v>
                </c:pt>
                <c:pt idx="35">
                  <c:v>0.0536980108499096</c:v>
                </c:pt>
                <c:pt idx="36">
                  <c:v>0.0454107747105966</c:v>
                </c:pt>
                <c:pt idx="37">
                  <c:v>0.0343225020308693</c:v>
                </c:pt>
                <c:pt idx="38">
                  <c:v>0.025324694024478</c:v>
                </c:pt>
                <c:pt idx="39">
                  <c:v>0.0294817927170868</c:v>
                </c:pt>
                <c:pt idx="40">
                  <c:v>0.0363474864130435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97925504"/>
        <c:axId val="497932544"/>
      </c:lineChart>
      <c:dateAx>
        <c:axId val="497925504"/>
        <c:scaling>
          <c:orientation val="minMax"/>
        </c:scaling>
        <c:delete val="0"/>
        <c:axPos val="b"/>
        <c:numFmt formatCode="General" sourceLinked="1"/>
        <c:majorTickMark val="in"/>
        <c:minorTickMark val="in"/>
        <c:tickLblPos val="nextTo"/>
        <c:spPr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7932544"/>
        <c:crosses val="autoZero"/>
        <c:auto val="0"/>
        <c:lblOffset val="500"/>
        <c:baseTimeUnit val="days"/>
      </c:dateAx>
      <c:valAx>
        <c:axId val="497932544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.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979255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e283401-ea0b-443b-9e72-a423bfe0a6cd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1770002806253"/>
          <c:y val="0.0329002165583875"/>
          <c:w val="0.867725981317325"/>
          <c:h val="0.863401632517075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Sheet1!$I$7</c:f>
              <c:strCache>
                <c:ptCount val="1"/>
                <c:pt idx="0">
                  <c:v>Investment</c:v>
                </c:pt>
              </c:strCache>
            </c:strRef>
          </c:tx>
          <c:spPr>
            <a:ln w="44450" cap="rnd" cmpd="sng" algn="ctr">
              <a:solidFill>
                <a:srgbClr val="0066CC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Sheet1!$H$8:$H$219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Sheet1!$I$8:$I$219</c:f>
              <c:numCache>
                <c:formatCode>0.00%</c:formatCode>
                <c:ptCount val="212"/>
                <c:pt idx="0">
                  <c:v>0.169070208728653</c:v>
                </c:pt>
                <c:pt idx="1">
                  <c:v>0.151463321930825</c:v>
                </c:pt>
                <c:pt idx="2">
                  <c:v>0.148771266540643</c:v>
                </c:pt>
                <c:pt idx="3">
                  <c:v>0.130036280313156</c:v>
                </c:pt>
                <c:pt idx="4">
                  <c:v>0.133143939393939</c:v>
                </c:pt>
                <c:pt idx="5">
                  <c:v>0.140630797773655</c:v>
                </c:pt>
                <c:pt idx="6">
                  <c:v>0.149954504094631</c:v>
                </c:pt>
                <c:pt idx="7">
                  <c:v>0.149662282260931</c:v>
                </c:pt>
                <c:pt idx="8">
                  <c:v>0.155181392119424</c:v>
                </c:pt>
                <c:pt idx="9">
                  <c:v>0.150720164609053</c:v>
                </c:pt>
                <c:pt idx="10">
                  <c:v>0.15135593220339</c:v>
                </c:pt>
                <c:pt idx="11">
                  <c:v>0.14495196359346</c:v>
                </c:pt>
                <c:pt idx="12">
                  <c:v>0.150207468879668</c:v>
                </c:pt>
                <c:pt idx="13">
                  <c:v>0.150850785340314</c:v>
                </c:pt>
                <c:pt idx="14">
                  <c:v>0.152267991665331</c:v>
                </c:pt>
                <c:pt idx="15">
                  <c:v>0.153749013417522</c:v>
                </c:pt>
                <c:pt idx="16">
                  <c:v>0.155018472906404</c:v>
                </c:pt>
                <c:pt idx="17">
                  <c:v>0.152678706935802</c:v>
                </c:pt>
                <c:pt idx="18">
                  <c:v>0.152870991797166</c:v>
                </c:pt>
                <c:pt idx="19">
                  <c:v>0.154825340438129</c:v>
                </c:pt>
                <c:pt idx="20">
                  <c:v>0.166307316371999</c:v>
                </c:pt>
                <c:pt idx="21">
                  <c:v>0.163536223697218</c:v>
                </c:pt>
                <c:pt idx="22">
                  <c:v>0.165057915057915</c:v>
                </c:pt>
                <c:pt idx="23">
                  <c:v>0.162943143812709</c:v>
                </c:pt>
                <c:pt idx="24">
                  <c:v>0.17086144265698</c:v>
                </c:pt>
                <c:pt idx="25">
                  <c:v>0.167585587895884</c:v>
                </c:pt>
                <c:pt idx="26">
                  <c:v>0.164165931156222</c:v>
                </c:pt>
                <c:pt idx="27">
                  <c:v>0.164456562151444</c:v>
                </c:pt>
                <c:pt idx="28">
                  <c:v>0.158107116654439</c:v>
                </c:pt>
                <c:pt idx="29">
                  <c:v>0.150431715918764</c:v>
                </c:pt>
                <c:pt idx="30">
                  <c:v>0.15352449223417</c:v>
                </c:pt>
                <c:pt idx="31">
                  <c:v>0.155857863257887</c:v>
                </c:pt>
                <c:pt idx="32">
                  <c:v>0.155944532848375</c:v>
                </c:pt>
                <c:pt idx="33">
                  <c:v>0.158610773144564</c:v>
                </c:pt>
                <c:pt idx="34">
                  <c:v>0.15196345045143</c:v>
                </c:pt>
                <c:pt idx="35">
                  <c:v>0.15424054689169</c:v>
                </c:pt>
                <c:pt idx="36">
                  <c:v>0.162035591632844</c:v>
                </c:pt>
                <c:pt idx="37">
                  <c:v>0.159512345046614</c:v>
                </c:pt>
                <c:pt idx="38">
                  <c:v>0.16089531265683</c:v>
                </c:pt>
                <c:pt idx="39">
                  <c:v>0.153409656545545</c:v>
                </c:pt>
                <c:pt idx="40">
                  <c:v>0.14816635532396</c:v>
                </c:pt>
                <c:pt idx="41">
                  <c:v>0.14896912205982</c:v>
                </c:pt>
                <c:pt idx="42">
                  <c:v>0.14859590671109</c:v>
                </c:pt>
                <c:pt idx="43">
                  <c:v>0.141445806022609</c:v>
                </c:pt>
                <c:pt idx="44">
                  <c:v>0.155996721610054</c:v>
                </c:pt>
                <c:pt idx="45">
                  <c:v>0.159814086521273</c:v>
                </c:pt>
                <c:pt idx="46">
                  <c:v>0.161004301641647</c:v>
                </c:pt>
                <c:pt idx="47">
                  <c:v>0.155636616293208</c:v>
                </c:pt>
                <c:pt idx="48">
                  <c:v>0.162339299218553</c:v>
                </c:pt>
                <c:pt idx="49">
                  <c:v>0.168488903394256</c:v>
                </c:pt>
                <c:pt idx="50">
                  <c:v>0.170015208516769</c:v>
                </c:pt>
                <c:pt idx="51">
                  <c:v>0.16974972796518</c:v>
                </c:pt>
                <c:pt idx="52">
                  <c:v>0.174144258857014</c:v>
                </c:pt>
                <c:pt idx="53">
                  <c:v>0.179365658038644</c:v>
                </c:pt>
                <c:pt idx="54">
                  <c:v>0.173869274466096</c:v>
                </c:pt>
                <c:pt idx="55">
                  <c:v>0.17991339572566</c:v>
                </c:pt>
                <c:pt idx="56">
                  <c:v>0.168752160387141</c:v>
                </c:pt>
                <c:pt idx="57">
                  <c:v>0.169921875</c:v>
                </c:pt>
                <c:pt idx="58">
                  <c:v>0.162119310299267</c:v>
                </c:pt>
                <c:pt idx="59">
                  <c:v>0.164734672849047</c:v>
                </c:pt>
                <c:pt idx="60">
                  <c:v>0.139352618835224</c:v>
                </c:pt>
                <c:pt idx="61">
                  <c:v>0.135077881619938</c:v>
                </c:pt>
                <c:pt idx="62">
                  <c:v>0.143046198267565</c:v>
                </c:pt>
                <c:pt idx="63">
                  <c:v>0.144465838146916</c:v>
                </c:pt>
                <c:pt idx="64">
                  <c:v>0.155087758902873</c:v>
                </c:pt>
                <c:pt idx="65">
                  <c:v>0.161622879946791</c:v>
                </c:pt>
                <c:pt idx="66">
                  <c:v>0.161342983076672</c:v>
                </c:pt>
                <c:pt idx="67">
                  <c:v>0.161793579198726</c:v>
                </c:pt>
                <c:pt idx="68">
                  <c:v>0.168480784111426</c:v>
                </c:pt>
                <c:pt idx="69">
                  <c:v>0.176989826451227</c:v>
                </c:pt>
                <c:pt idx="70">
                  <c:v>0.183155856727977</c:v>
                </c:pt>
                <c:pt idx="71">
                  <c:v>0.182632177373508</c:v>
                </c:pt>
                <c:pt idx="72">
                  <c:v>0.184635428784142</c:v>
                </c:pt>
                <c:pt idx="73">
                  <c:v>0.189431573394294</c:v>
                </c:pt>
                <c:pt idx="74">
                  <c:v>0.193302500856458</c:v>
                </c:pt>
                <c:pt idx="75">
                  <c:v>0.195695364238411</c:v>
                </c:pt>
                <c:pt idx="76">
                  <c:v>0.195307108350587</c:v>
                </c:pt>
                <c:pt idx="77">
                  <c:v>0.195139328689044</c:v>
                </c:pt>
                <c:pt idx="78">
                  <c:v>0.191522098703697</c:v>
                </c:pt>
                <c:pt idx="79">
                  <c:v>0.187824321275476</c:v>
                </c:pt>
                <c:pt idx="80">
                  <c:v>0.185455746852171</c:v>
                </c:pt>
                <c:pt idx="81">
                  <c:v>0.172434017595308</c:v>
                </c:pt>
                <c:pt idx="82">
                  <c:v>0.159234525348269</c:v>
                </c:pt>
                <c:pt idx="83">
                  <c:v>0.17078859808596</c:v>
                </c:pt>
                <c:pt idx="84">
                  <c:v>0.184538244740119</c:v>
                </c:pt>
                <c:pt idx="85">
                  <c:v>0.17877638362027</c:v>
                </c:pt>
                <c:pt idx="86">
                  <c:v>0.186591123701605</c:v>
                </c:pt>
                <c:pt idx="87">
                  <c:v>0.182239333896767</c:v>
                </c:pt>
                <c:pt idx="88">
                  <c:v>0.165311312757072</c:v>
                </c:pt>
                <c:pt idx="89">
                  <c:v>0.16378166558672</c:v>
                </c:pt>
                <c:pt idx="90">
                  <c:v>0.161464695822135</c:v>
                </c:pt>
                <c:pt idx="91">
                  <c:v>0.145781132075472</c:v>
                </c:pt>
                <c:pt idx="92">
                  <c:v>0.146879621413783</c:v>
                </c:pt>
                <c:pt idx="93">
                  <c:v>0.155706162770662</c:v>
                </c:pt>
                <c:pt idx="94">
                  <c:v>0.161049315603133</c:v>
                </c:pt>
                <c:pt idx="95">
                  <c:v>0.17372088609311</c:v>
                </c:pt>
                <c:pt idx="96">
                  <c:v>0.186400168093712</c:v>
                </c:pt>
                <c:pt idx="97">
                  <c:v>0.188183191255152</c:v>
                </c:pt>
                <c:pt idx="98">
                  <c:v>0.189512072434608</c:v>
                </c:pt>
                <c:pt idx="99">
                  <c:v>0.184506693108577</c:v>
                </c:pt>
                <c:pt idx="100">
                  <c:v>0.174876129408336</c:v>
                </c:pt>
                <c:pt idx="101">
                  <c:v>0.176090236367555</c:v>
                </c:pt>
                <c:pt idx="102">
                  <c:v>0.170772373952047</c:v>
                </c:pt>
                <c:pt idx="103">
                  <c:v>0.1764882950888</c:v>
                </c:pt>
                <c:pt idx="104">
                  <c:v>0.174288061336254</c:v>
                </c:pt>
                <c:pt idx="105">
                  <c:v>0.170238741182854</c:v>
                </c:pt>
                <c:pt idx="106">
                  <c:v>0.163093091087213</c:v>
                </c:pt>
                <c:pt idx="107">
                  <c:v>0.162150859507407</c:v>
                </c:pt>
                <c:pt idx="108">
                  <c:v>0.16590401422654</c:v>
                </c:pt>
                <c:pt idx="109">
                  <c:v>0.163782618900292</c:v>
                </c:pt>
                <c:pt idx="110">
                  <c:v>0.16150697869661</c:v>
                </c:pt>
                <c:pt idx="111">
                  <c:v>0.171571337879626</c:v>
                </c:pt>
                <c:pt idx="112">
                  <c:v>0.161176898516752</c:v>
                </c:pt>
                <c:pt idx="113">
                  <c:v>0.162156820113454</c:v>
                </c:pt>
                <c:pt idx="114">
                  <c:v>0.160554561717352</c:v>
                </c:pt>
                <c:pt idx="115">
                  <c:v>0.160464673395544</c:v>
                </c:pt>
                <c:pt idx="116">
                  <c:v>0.164934798425461</c:v>
                </c:pt>
                <c:pt idx="117">
                  <c:v>0.161031245415872</c:v>
                </c:pt>
                <c:pt idx="118">
                  <c:v>0.15729545084856</c:v>
                </c:pt>
                <c:pt idx="119">
                  <c:v>0.155382768690542</c:v>
                </c:pt>
                <c:pt idx="120">
                  <c:v>0.15416688565372</c:v>
                </c:pt>
                <c:pt idx="121">
                  <c:v>0.15222341049436</c:v>
                </c:pt>
                <c:pt idx="122">
                  <c:v>0.148155744709944</c:v>
                </c:pt>
                <c:pt idx="123">
                  <c:v>0.139343140608963</c:v>
                </c:pt>
                <c:pt idx="124">
                  <c:v>0.133992041087038</c:v>
                </c:pt>
                <c:pt idx="125">
                  <c:v>0.131516269708152</c:v>
                </c:pt>
                <c:pt idx="126">
                  <c:v>0.133467026865771</c:v>
                </c:pt>
                <c:pt idx="127">
                  <c:v>0.13693885925318</c:v>
                </c:pt>
                <c:pt idx="128">
                  <c:v>0.130873729949763</c:v>
                </c:pt>
                <c:pt idx="129">
                  <c:v>0.137469818274241</c:v>
                </c:pt>
                <c:pt idx="130">
                  <c:v>0.137220839789035</c:v>
                </c:pt>
                <c:pt idx="131">
                  <c:v>0.139629789331034</c:v>
                </c:pt>
                <c:pt idx="132">
                  <c:v>0.142302696921079</c:v>
                </c:pt>
                <c:pt idx="133">
                  <c:v>0.142283358750963</c:v>
                </c:pt>
                <c:pt idx="134">
                  <c:v>0.141052285334091</c:v>
                </c:pt>
                <c:pt idx="135">
                  <c:v>0.146232645513517</c:v>
                </c:pt>
                <c:pt idx="136">
                  <c:v>0.150889926694909</c:v>
                </c:pt>
                <c:pt idx="137">
                  <c:v>0.15713413681984</c:v>
                </c:pt>
                <c:pt idx="138">
                  <c:v>0.153243220505342</c:v>
                </c:pt>
                <c:pt idx="139">
                  <c:v>0.158066830385475</c:v>
                </c:pt>
                <c:pt idx="140">
                  <c:v>0.158818780190758</c:v>
                </c:pt>
                <c:pt idx="141">
                  <c:v>0.153987329726203</c:v>
                </c:pt>
                <c:pt idx="142">
                  <c:v>0.151117074807112</c:v>
                </c:pt>
                <c:pt idx="143">
                  <c:v>0.153357640039775</c:v>
                </c:pt>
                <c:pt idx="144">
                  <c:v>0.153177450184598</c:v>
                </c:pt>
                <c:pt idx="145">
                  <c:v>0.157410256410256</c:v>
                </c:pt>
                <c:pt idx="146">
                  <c:v>0.162149834657342</c:v>
                </c:pt>
                <c:pt idx="147">
                  <c:v>0.15992770783996</c:v>
                </c:pt>
                <c:pt idx="148">
                  <c:v>0.162295686370898</c:v>
                </c:pt>
                <c:pt idx="149">
                  <c:v>0.167335202010439</c:v>
                </c:pt>
                <c:pt idx="150">
                  <c:v>0.168242190751376</c:v>
                </c:pt>
                <c:pt idx="151">
                  <c:v>0.168604582809175</c:v>
                </c:pt>
                <c:pt idx="152">
                  <c:v>0.173813454875241</c:v>
                </c:pt>
                <c:pt idx="153">
                  <c:v>0.169165153013129</c:v>
                </c:pt>
                <c:pt idx="154">
                  <c:v>0.170980649244959</c:v>
                </c:pt>
                <c:pt idx="155">
                  <c:v>0.173248407643312</c:v>
                </c:pt>
                <c:pt idx="156">
                  <c:v>0.17678114684214</c:v>
                </c:pt>
                <c:pt idx="157">
                  <c:v>0.173432332533558</c:v>
                </c:pt>
                <c:pt idx="158">
                  <c:v>0.174851942031451</c:v>
                </c:pt>
                <c:pt idx="159">
                  <c:v>0.176889369984492</c:v>
                </c:pt>
                <c:pt idx="160">
                  <c:v>0.173932746279417</c:v>
                </c:pt>
                <c:pt idx="161">
                  <c:v>0.182016463800746</c:v>
                </c:pt>
                <c:pt idx="162">
                  <c:v>0.178857000249563</c:v>
                </c:pt>
                <c:pt idx="163">
                  <c:v>0.177436869434737</c:v>
                </c:pt>
                <c:pt idx="164">
                  <c:v>0.167366774552144</c:v>
                </c:pt>
                <c:pt idx="165">
                  <c:v>0.164969469872735</c:v>
                </c:pt>
                <c:pt idx="166">
                  <c:v>0.162092923960719</c:v>
                </c:pt>
                <c:pt idx="167">
                  <c:v>0.151989279964524</c:v>
                </c:pt>
                <c:pt idx="168">
                  <c:v>0.155066817796489</c:v>
                </c:pt>
                <c:pt idx="169">
                  <c:v>0.155453267810487</c:v>
                </c:pt>
                <c:pt idx="170">
                  <c:v>0.154218488651336</c:v>
                </c:pt>
                <c:pt idx="171">
                  <c:v>0.154296965700434</c:v>
                </c:pt>
                <c:pt idx="172">
                  <c:v>0.153526094384334</c:v>
                </c:pt>
                <c:pt idx="173">
                  <c:v>0.152430164553743</c:v>
                </c:pt>
                <c:pt idx="174">
                  <c:v>0.155049710797772</c:v>
                </c:pt>
                <c:pt idx="175">
                  <c:v>0.159757507796895</c:v>
                </c:pt>
                <c:pt idx="176">
                  <c:v>0.159932354895211</c:v>
                </c:pt>
                <c:pt idx="177">
                  <c:v>0.166285524828061</c:v>
                </c:pt>
                <c:pt idx="178">
                  <c:v>0.167665021824183</c:v>
                </c:pt>
                <c:pt idx="179">
                  <c:v>0.170184511584556</c:v>
                </c:pt>
                <c:pt idx="180">
                  <c:v>0.17236971962012</c:v>
                </c:pt>
                <c:pt idx="181">
                  <c:v>0.169224</c:v>
                </c:pt>
                <c:pt idx="182">
                  <c:v>0.170222962462486</c:v>
                </c:pt>
                <c:pt idx="183">
                  <c:v>0.176438216007565</c:v>
                </c:pt>
                <c:pt idx="184">
                  <c:v>0.177534304861185</c:v>
                </c:pt>
                <c:pt idx="185">
                  <c:v>0.176446318190002</c:v>
                </c:pt>
                <c:pt idx="186">
                  <c:v>0.173709129891013</c:v>
                </c:pt>
                <c:pt idx="187">
                  <c:v>0.168320548872955</c:v>
                </c:pt>
                <c:pt idx="188">
                  <c:v>0.165526765272377</c:v>
                </c:pt>
                <c:pt idx="189">
                  <c:v>0.1666762062847</c:v>
                </c:pt>
                <c:pt idx="190">
                  <c:v>0.163766618057227</c:v>
                </c:pt>
                <c:pt idx="191">
                  <c:v>0.158595964415009</c:v>
                </c:pt>
                <c:pt idx="192">
                  <c:v>0.153125634900062</c:v>
                </c:pt>
                <c:pt idx="193">
                  <c:v>0.150213312059936</c:v>
                </c:pt>
                <c:pt idx="194">
                  <c:v>0.144931261331981</c:v>
                </c:pt>
                <c:pt idx="195">
                  <c:v>0.135850074919931</c:v>
                </c:pt>
                <c:pt idx="196">
                  <c:v>0.118203886981628</c:v>
                </c:pt>
                <c:pt idx="197">
                  <c:v>0.107688651389229</c:v>
                </c:pt>
                <c:pt idx="198">
                  <c:v>0.105044365763105</c:v>
                </c:pt>
                <c:pt idx="199">
                  <c:v>0.112526178751344</c:v>
                </c:pt>
                <c:pt idx="200">
                  <c:v>0.116353545475568</c:v>
                </c:pt>
                <c:pt idx="201">
                  <c:v>0.119658653345822</c:v>
                </c:pt>
                <c:pt idx="202">
                  <c:v>0.123031009879254</c:v>
                </c:pt>
                <c:pt idx="203">
                  <c:v>0.120175896959127</c:v>
                </c:pt>
                <c:pt idx="204">
                  <c:v>0.118522568495231</c:v>
                </c:pt>
                <c:pt idx="205">
                  <c:v>0.121237569649951</c:v>
                </c:pt>
                <c:pt idx="206">
                  <c:v>0.122256515775034</c:v>
                </c:pt>
                <c:pt idx="207">
                  <c:v>0.12995887996867</c:v>
                </c:pt>
                <c:pt idx="208">
                  <c:v>0.131293488302979</c:v>
                </c:pt>
                <c:pt idx="209">
                  <c:v>0.130999127399651</c:v>
                </c:pt>
                <c:pt idx="210">
                  <c:v>0.131560306115995</c:v>
                </c:pt>
                <c:pt idx="211">
                  <c:v>0.131239275259917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Sheet1!$J$7</c:f>
              <c:strCache>
                <c:ptCount val="1"/>
                <c:pt idx="0">
                  <c:v>Saving</c:v>
                </c:pt>
              </c:strCache>
            </c:strRef>
          </c:tx>
          <c:spPr>
            <a:ln w="44450" cap="rnd" cmpd="sng" algn="ctr">
              <a:solidFill>
                <a:srgbClr val="C00000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Sheet1!$H$8:$H$219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Sheet1!$J$8:$J$219</c:f>
              <c:numCache>
                <c:formatCode>0.00%</c:formatCode>
                <c:ptCount val="212"/>
                <c:pt idx="0">
                  <c:v>0.17438330170778</c:v>
                </c:pt>
                <c:pt idx="1">
                  <c:v>0.159445077917142</c:v>
                </c:pt>
                <c:pt idx="2">
                  <c:v>0.156710775047259</c:v>
                </c:pt>
                <c:pt idx="3">
                  <c:v>0.141111323276685</c:v>
                </c:pt>
                <c:pt idx="4">
                  <c:v>0.144128787878788</c:v>
                </c:pt>
                <c:pt idx="5">
                  <c:v>0.150649350649351</c:v>
                </c:pt>
                <c:pt idx="6">
                  <c:v>0.15705186533212</c:v>
                </c:pt>
                <c:pt idx="7">
                  <c:v>0.157660860291504</c:v>
                </c:pt>
                <c:pt idx="8">
                  <c:v>0.162124631140427</c:v>
                </c:pt>
                <c:pt idx="9">
                  <c:v>0.160665294924554</c:v>
                </c:pt>
                <c:pt idx="10">
                  <c:v>0.157796610169492</c:v>
                </c:pt>
                <c:pt idx="11">
                  <c:v>0.149502781055115</c:v>
                </c:pt>
                <c:pt idx="12">
                  <c:v>0.156680497925311</c:v>
                </c:pt>
                <c:pt idx="13">
                  <c:v>0.161485602094241</c:v>
                </c:pt>
                <c:pt idx="14">
                  <c:v>0.158358711331944</c:v>
                </c:pt>
                <c:pt idx="15">
                  <c:v>0.162430939226519</c:v>
                </c:pt>
                <c:pt idx="16">
                  <c:v>0.166102216748769</c:v>
                </c:pt>
                <c:pt idx="17">
                  <c:v>0.163302473820003</c:v>
                </c:pt>
                <c:pt idx="18">
                  <c:v>0.162266964951529</c:v>
                </c:pt>
                <c:pt idx="19">
                  <c:v>0.165038484310243</c:v>
                </c:pt>
                <c:pt idx="20">
                  <c:v>0.172919361793877</c:v>
                </c:pt>
                <c:pt idx="21">
                  <c:v>0.173986725038836</c:v>
                </c:pt>
                <c:pt idx="22">
                  <c:v>0.171814671814672</c:v>
                </c:pt>
                <c:pt idx="23">
                  <c:v>0.170301003344482</c:v>
                </c:pt>
                <c:pt idx="24">
                  <c:v>0.176699532952776</c:v>
                </c:pt>
                <c:pt idx="25">
                  <c:v>0.174253109372996</c:v>
                </c:pt>
                <c:pt idx="26">
                  <c:v>0.166813768755516</c:v>
                </c:pt>
                <c:pt idx="27">
                  <c:v>0.168794150452348</c:v>
                </c:pt>
                <c:pt idx="28">
                  <c:v>0.163731963805331</c:v>
                </c:pt>
                <c:pt idx="29">
                  <c:v>0.155782561109084</c:v>
                </c:pt>
                <c:pt idx="30">
                  <c:v>0.156989247311828</c:v>
                </c:pt>
                <c:pt idx="31">
                  <c:v>0.15843790313123</c:v>
                </c:pt>
                <c:pt idx="32">
                  <c:v>0.157308479199818</c:v>
                </c:pt>
                <c:pt idx="33">
                  <c:v>0.160822917818825</c:v>
                </c:pt>
                <c:pt idx="34">
                  <c:v>0.153486348308496</c:v>
                </c:pt>
                <c:pt idx="35">
                  <c:v>0.15530869472335</c:v>
                </c:pt>
                <c:pt idx="36">
                  <c:v>0.162347798938495</c:v>
                </c:pt>
                <c:pt idx="37">
                  <c:v>0.160741727282041</c:v>
                </c:pt>
                <c:pt idx="38">
                  <c:v>0.161899026397671</c:v>
                </c:pt>
                <c:pt idx="39">
                  <c:v>0.156794425087108</c:v>
                </c:pt>
                <c:pt idx="40">
                  <c:v>0.151509192803068</c:v>
                </c:pt>
                <c:pt idx="41">
                  <c:v>0.154292904849482</c:v>
                </c:pt>
                <c:pt idx="42">
                  <c:v>0.152213231794384</c:v>
                </c:pt>
                <c:pt idx="43">
                  <c:v>0.144485608435452</c:v>
                </c:pt>
                <c:pt idx="44">
                  <c:v>0.160003642655496</c:v>
                </c:pt>
                <c:pt idx="45">
                  <c:v>0.159635323560958</c:v>
                </c:pt>
                <c:pt idx="46">
                  <c:v>0.160916513036608</c:v>
                </c:pt>
                <c:pt idx="47">
                  <c:v>0.154247003647733</c:v>
                </c:pt>
                <c:pt idx="48">
                  <c:v>0.159314343332493</c:v>
                </c:pt>
                <c:pt idx="49">
                  <c:v>0.165062010443864</c:v>
                </c:pt>
                <c:pt idx="50">
                  <c:v>0.167934043064116</c:v>
                </c:pt>
                <c:pt idx="51">
                  <c:v>0.167340276698274</c:v>
                </c:pt>
                <c:pt idx="52">
                  <c:v>0.173095648266047</c:v>
                </c:pt>
                <c:pt idx="53">
                  <c:v>0.1812613926358</c:v>
                </c:pt>
                <c:pt idx="54">
                  <c:v>0.178471273459409</c:v>
                </c:pt>
                <c:pt idx="55">
                  <c:v>0.186129347674256</c:v>
                </c:pt>
                <c:pt idx="56">
                  <c:v>0.173107500864155</c:v>
                </c:pt>
                <c:pt idx="57">
                  <c:v>0.168103448275862</c:v>
                </c:pt>
                <c:pt idx="58">
                  <c:v>0.157560943383762</c:v>
                </c:pt>
                <c:pt idx="59">
                  <c:v>0.164799072642968</c:v>
                </c:pt>
                <c:pt idx="60">
                  <c:v>0.149802472282401</c:v>
                </c:pt>
                <c:pt idx="61">
                  <c:v>0.148535825545171</c:v>
                </c:pt>
                <c:pt idx="62">
                  <c:v>0.150264677574591</c:v>
                </c:pt>
                <c:pt idx="63">
                  <c:v>0.152517649804539</c:v>
                </c:pt>
                <c:pt idx="64">
                  <c:v>0.157683842203285</c:v>
                </c:pt>
                <c:pt idx="65">
                  <c:v>0.161345748808336</c:v>
                </c:pt>
                <c:pt idx="66">
                  <c:v>0.159166349240899</c:v>
                </c:pt>
                <c:pt idx="67">
                  <c:v>0.15829132395861</c:v>
                </c:pt>
                <c:pt idx="68">
                  <c:v>0.157596079442868</c:v>
                </c:pt>
                <c:pt idx="69">
                  <c:v>0.166417314981049</c:v>
                </c:pt>
                <c:pt idx="70">
                  <c:v>0.173184898354308</c:v>
                </c:pt>
                <c:pt idx="71">
                  <c:v>0.168609058176995</c:v>
                </c:pt>
                <c:pt idx="72">
                  <c:v>0.166627890744963</c:v>
                </c:pt>
                <c:pt idx="73">
                  <c:v>0.179496197300743</c:v>
                </c:pt>
                <c:pt idx="74">
                  <c:v>0.183110654333676</c:v>
                </c:pt>
                <c:pt idx="75">
                  <c:v>0.188865894039735</c:v>
                </c:pt>
                <c:pt idx="76">
                  <c:v>0.187918645719157</c:v>
                </c:pt>
                <c:pt idx="77">
                  <c:v>0.186312539582014</c:v>
                </c:pt>
                <c:pt idx="78">
                  <c:v>0.182636458052852</c:v>
                </c:pt>
                <c:pt idx="79">
                  <c:v>0.177746860194029</c:v>
                </c:pt>
                <c:pt idx="80">
                  <c:v>0.172313791711024</c:v>
                </c:pt>
                <c:pt idx="81">
                  <c:v>0.166898826979472</c:v>
                </c:pt>
                <c:pt idx="82">
                  <c:v>0.161209248886974</c:v>
                </c:pt>
                <c:pt idx="83">
                  <c:v>0.168490378348712</c:v>
                </c:pt>
                <c:pt idx="84">
                  <c:v>0.179884643114636</c:v>
                </c:pt>
                <c:pt idx="85">
                  <c:v>0.174399377492462</c:v>
                </c:pt>
                <c:pt idx="86">
                  <c:v>0.184198929807995</c:v>
                </c:pt>
                <c:pt idx="87">
                  <c:v>0.177637962876013</c:v>
                </c:pt>
                <c:pt idx="88">
                  <c:v>0.160193412666018</c:v>
                </c:pt>
                <c:pt idx="89">
                  <c:v>0.162393162393162</c:v>
                </c:pt>
                <c:pt idx="90">
                  <c:v>0.152394331785976</c:v>
                </c:pt>
                <c:pt idx="91">
                  <c:v>0.136875471698113</c:v>
                </c:pt>
                <c:pt idx="92">
                  <c:v>0.139633244602189</c:v>
                </c:pt>
                <c:pt idx="93">
                  <c:v>0.142639710527827</c:v>
                </c:pt>
                <c:pt idx="94">
                  <c:v>0.14287307295587</c:v>
                </c:pt>
                <c:pt idx="95">
                  <c:v>0.154334210026843</c:v>
                </c:pt>
                <c:pt idx="96">
                  <c:v>0.161448757682408</c:v>
                </c:pt>
                <c:pt idx="97">
                  <c:v>0.161482733021017</c:v>
                </c:pt>
                <c:pt idx="98">
                  <c:v>0.163380281690141</c:v>
                </c:pt>
                <c:pt idx="99">
                  <c:v>0.157783837382251</c:v>
                </c:pt>
                <c:pt idx="100">
                  <c:v>0.152579422908773</c:v>
                </c:pt>
                <c:pt idx="101">
                  <c:v>0.148454151399765</c:v>
                </c:pt>
                <c:pt idx="102">
                  <c:v>0.14289740037104</c:v>
                </c:pt>
                <c:pt idx="103">
                  <c:v>0.145252043438998</c:v>
                </c:pt>
                <c:pt idx="104">
                  <c:v>0.14521723256663</c:v>
                </c:pt>
                <c:pt idx="105">
                  <c:v>0.14087086272382</c:v>
                </c:pt>
                <c:pt idx="106">
                  <c:v>0.132099837463541</c:v>
                </c:pt>
                <c:pt idx="107">
                  <c:v>0.132766931525543</c:v>
                </c:pt>
                <c:pt idx="108">
                  <c:v>0.135303940491423</c:v>
                </c:pt>
                <c:pt idx="109">
                  <c:v>0.132331917980669</c:v>
                </c:pt>
                <c:pt idx="110">
                  <c:v>0.130905656417253</c:v>
                </c:pt>
                <c:pt idx="111">
                  <c:v>0.141713255923491</c:v>
                </c:pt>
                <c:pt idx="112">
                  <c:v>0.136038475528432</c:v>
                </c:pt>
                <c:pt idx="113">
                  <c:v>0.140987883699326</c:v>
                </c:pt>
                <c:pt idx="114">
                  <c:v>0.141071011900132</c:v>
                </c:pt>
                <c:pt idx="115">
                  <c:v>0.139763854503904</c:v>
                </c:pt>
                <c:pt idx="116">
                  <c:v>0.145868701378654</c:v>
                </c:pt>
                <c:pt idx="117">
                  <c:v>0.144601730966701</c:v>
                </c:pt>
                <c:pt idx="118">
                  <c:v>0.143505214263768</c:v>
                </c:pt>
                <c:pt idx="119">
                  <c:v>0.140387337191178</c:v>
                </c:pt>
                <c:pt idx="120">
                  <c:v>0.138539969517002</c:v>
                </c:pt>
                <c:pt idx="121">
                  <c:v>0.140442267223238</c:v>
                </c:pt>
                <c:pt idx="122">
                  <c:v>0.135439100263221</c:v>
                </c:pt>
                <c:pt idx="123">
                  <c:v>0.125932261375299</c:v>
                </c:pt>
                <c:pt idx="124">
                  <c:v>0.126254209040509</c:v>
                </c:pt>
                <c:pt idx="125">
                  <c:v>0.127893324387789</c:v>
                </c:pt>
                <c:pt idx="126">
                  <c:v>0.130235179077515</c:v>
                </c:pt>
                <c:pt idx="127">
                  <c:v>0.133459171112023</c:v>
                </c:pt>
                <c:pt idx="128">
                  <c:v>0.127901529713926</c:v>
                </c:pt>
                <c:pt idx="129">
                  <c:v>0.132545431439827</c:v>
                </c:pt>
                <c:pt idx="130">
                  <c:v>0.131508521526832</c:v>
                </c:pt>
                <c:pt idx="131">
                  <c:v>0.132653689786867</c:v>
                </c:pt>
                <c:pt idx="132">
                  <c:v>0.134005653602262</c:v>
                </c:pt>
                <c:pt idx="133">
                  <c:v>0.132921618071179</c:v>
                </c:pt>
                <c:pt idx="134">
                  <c:v>0.130885277275242</c:v>
                </c:pt>
                <c:pt idx="135">
                  <c:v>0.135460389210132</c:v>
                </c:pt>
                <c:pt idx="136">
                  <c:v>0.13923629686393</c:v>
                </c:pt>
                <c:pt idx="137">
                  <c:v>0.144187499112758</c:v>
                </c:pt>
                <c:pt idx="138">
                  <c:v>0.139684231189882</c:v>
                </c:pt>
                <c:pt idx="139">
                  <c:v>0.143952981429872</c:v>
                </c:pt>
                <c:pt idx="140">
                  <c:v>0.144286163909301</c:v>
                </c:pt>
                <c:pt idx="141">
                  <c:v>0.138937980913021</c:v>
                </c:pt>
                <c:pt idx="142">
                  <c:v>0.1409996645421</c:v>
                </c:pt>
                <c:pt idx="143">
                  <c:v>0.143984090155784</c:v>
                </c:pt>
                <c:pt idx="144">
                  <c:v>0.141525490298761</c:v>
                </c:pt>
                <c:pt idx="145">
                  <c:v>0.145397435897436</c:v>
                </c:pt>
                <c:pt idx="146">
                  <c:v>0.147693438240399</c:v>
                </c:pt>
                <c:pt idx="147">
                  <c:v>0.148921849682164</c:v>
                </c:pt>
                <c:pt idx="148">
                  <c:v>0.149010691901192</c:v>
                </c:pt>
                <c:pt idx="149">
                  <c:v>0.157113860429151</c:v>
                </c:pt>
                <c:pt idx="150">
                  <c:v>0.156803291358993</c:v>
                </c:pt>
                <c:pt idx="151">
                  <c:v>0.154907885300446</c:v>
                </c:pt>
                <c:pt idx="152">
                  <c:v>0.158186638141525</c:v>
                </c:pt>
                <c:pt idx="153">
                  <c:v>0.150564458648518</c:v>
                </c:pt>
                <c:pt idx="154">
                  <c:v>0.151324712903518</c:v>
                </c:pt>
                <c:pt idx="155">
                  <c:v>0.153619495984492</c:v>
                </c:pt>
                <c:pt idx="156">
                  <c:v>0.153619132982096</c:v>
                </c:pt>
                <c:pt idx="157">
                  <c:v>0.146315630201241</c:v>
                </c:pt>
                <c:pt idx="158">
                  <c:v>0.144772517038628</c:v>
                </c:pt>
                <c:pt idx="159">
                  <c:v>0.14539379872394</c:v>
                </c:pt>
                <c:pt idx="160">
                  <c:v>0.137071939852722</c:v>
                </c:pt>
                <c:pt idx="161">
                  <c:v>0.145390035279573</c:v>
                </c:pt>
                <c:pt idx="162">
                  <c:v>0.139336161716995</c:v>
                </c:pt>
                <c:pt idx="163">
                  <c:v>0.136962230251338</c:v>
                </c:pt>
                <c:pt idx="164">
                  <c:v>0.128468977186648</c:v>
                </c:pt>
                <c:pt idx="165">
                  <c:v>0.129663246386378</c:v>
                </c:pt>
                <c:pt idx="166">
                  <c:v>0.126479835422893</c:v>
                </c:pt>
                <c:pt idx="167">
                  <c:v>0.117486575854855</c:v>
                </c:pt>
                <c:pt idx="168">
                  <c:v>0.119357634754779</c:v>
                </c:pt>
                <c:pt idx="169">
                  <c:v>0.116016940359747</c:v>
                </c:pt>
                <c:pt idx="170">
                  <c:v>0.113486642309166</c:v>
                </c:pt>
                <c:pt idx="171">
                  <c:v>0.109725176234571</c:v>
                </c:pt>
                <c:pt idx="172">
                  <c:v>0.107270790087624</c:v>
                </c:pt>
                <c:pt idx="173">
                  <c:v>0.106633005194522</c:v>
                </c:pt>
                <c:pt idx="174">
                  <c:v>0.110669829677213</c:v>
                </c:pt>
                <c:pt idx="175">
                  <c:v>0.11515751480534</c:v>
                </c:pt>
                <c:pt idx="176">
                  <c:v>0.112796486596088</c:v>
                </c:pt>
                <c:pt idx="177">
                  <c:v>0.114767616829183</c:v>
                </c:pt>
                <c:pt idx="178">
                  <c:v>0.11439055653762</c:v>
                </c:pt>
                <c:pt idx="179">
                  <c:v>0.113560817888633</c:v>
                </c:pt>
                <c:pt idx="180">
                  <c:v>0.117571874646087</c:v>
                </c:pt>
                <c:pt idx="181">
                  <c:v>0.114008</c:v>
                </c:pt>
                <c:pt idx="182">
                  <c:v>0.112557547570039</c:v>
                </c:pt>
                <c:pt idx="183">
                  <c:v>0.115258809121491</c:v>
                </c:pt>
                <c:pt idx="184">
                  <c:v>0.118581609859133</c:v>
                </c:pt>
                <c:pt idx="185">
                  <c:v>0.117820920602533</c:v>
                </c:pt>
                <c:pt idx="186">
                  <c:v>0.113736525519624</c:v>
                </c:pt>
                <c:pt idx="187">
                  <c:v>0.115737400803875</c:v>
                </c:pt>
                <c:pt idx="188">
                  <c:v>0.112832067449213</c:v>
                </c:pt>
                <c:pt idx="189">
                  <c:v>0.114468261690802</c:v>
                </c:pt>
                <c:pt idx="190">
                  <c:v>0.113979697300052</c:v>
                </c:pt>
                <c:pt idx="191">
                  <c:v>0.109891112171302</c:v>
                </c:pt>
                <c:pt idx="192">
                  <c:v>0.101121627586014</c:v>
                </c:pt>
                <c:pt idx="193">
                  <c:v>0.0984634594707086</c:v>
                </c:pt>
                <c:pt idx="194">
                  <c:v>0.0923578162013463</c:v>
                </c:pt>
                <c:pt idx="195">
                  <c:v>0.093688972212162</c:v>
                </c:pt>
                <c:pt idx="196">
                  <c:v>0.0905238662970252</c:v>
                </c:pt>
                <c:pt idx="197">
                  <c:v>0.0838074524320509</c:v>
                </c:pt>
                <c:pt idx="198">
                  <c:v>0.0764753945614313</c:v>
                </c:pt>
                <c:pt idx="199">
                  <c:v>0.081444218033622</c:v>
                </c:pt>
                <c:pt idx="200">
                  <c:v>0.0820094882378085</c:v>
                </c:pt>
                <c:pt idx="201">
                  <c:v>0.0834981094113158</c:v>
                </c:pt>
                <c:pt idx="202">
                  <c:v>0.0864503293084522</c:v>
                </c:pt>
                <c:pt idx="203">
                  <c:v>0.0861026472763794</c:v>
                </c:pt>
                <c:pt idx="204">
                  <c:v>0.0810332840586167</c:v>
                </c:pt>
                <c:pt idx="205">
                  <c:v>0.0830800607854116</c:v>
                </c:pt>
                <c:pt idx="206">
                  <c:v>0.0860174633322782</c:v>
                </c:pt>
                <c:pt idx="207">
                  <c:v>0.0911298218131976</c:v>
                </c:pt>
                <c:pt idx="208">
                  <c:v>0.0915152180795047</c:v>
                </c:pt>
                <c:pt idx="209">
                  <c:v>0.0939777743558156</c:v>
                </c:pt>
                <c:pt idx="210">
                  <c:v>0.0988742015052811</c:v>
                </c:pt>
                <c:pt idx="211">
                  <c:v>0.0975762087412941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Sheet1!$K$7</c:f>
              <c:strCache>
                <c:ptCount val="1"/>
                <c:pt idx="0">
                  <c:v>NCO</c:v>
                </c:pt>
              </c:strCache>
            </c:strRef>
          </c:tx>
          <c:spPr>
            <a:ln w="44450" cap="rnd" cmpd="sng" algn="ctr">
              <a:solidFill>
                <a:srgbClr val="996633"/>
              </a:solidFill>
              <a:prstDash val="solid"/>
              <a:round/>
            </a:ln>
          </c:spPr>
          <c:marker>
            <c:symbol val="none"/>
          </c:marker>
          <c:dLbls>
            <c:delete val="1"/>
          </c:dLbls>
          <c:xVal>
            <c:numRef>
              <c:f>Sheet1!$H$8:$H$219</c:f>
              <c:numCache>
                <c:formatCode>0.00</c:formatCode>
                <c:ptCount val="212"/>
                <c:pt idx="0">
                  <c:v>1960</c:v>
                </c:pt>
                <c:pt idx="1">
                  <c:v>1960.25</c:v>
                </c:pt>
                <c:pt idx="2">
                  <c:v>1960.5</c:v>
                </c:pt>
                <c:pt idx="3">
                  <c:v>1960.75</c:v>
                </c:pt>
                <c:pt idx="4">
                  <c:v>1961</c:v>
                </c:pt>
                <c:pt idx="5">
                  <c:v>1961.25</c:v>
                </c:pt>
                <c:pt idx="6">
                  <c:v>1961.5</c:v>
                </c:pt>
                <c:pt idx="7">
                  <c:v>1961.75</c:v>
                </c:pt>
                <c:pt idx="8">
                  <c:v>1962</c:v>
                </c:pt>
                <c:pt idx="9">
                  <c:v>1962.25</c:v>
                </c:pt>
                <c:pt idx="10">
                  <c:v>1962.5</c:v>
                </c:pt>
                <c:pt idx="11">
                  <c:v>1962.75</c:v>
                </c:pt>
                <c:pt idx="12">
                  <c:v>1963</c:v>
                </c:pt>
                <c:pt idx="13">
                  <c:v>1963.25</c:v>
                </c:pt>
                <c:pt idx="14">
                  <c:v>1963.5</c:v>
                </c:pt>
                <c:pt idx="15">
                  <c:v>1963.75</c:v>
                </c:pt>
                <c:pt idx="16">
                  <c:v>1964</c:v>
                </c:pt>
                <c:pt idx="17">
                  <c:v>1964.25</c:v>
                </c:pt>
                <c:pt idx="18">
                  <c:v>1964.5</c:v>
                </c:pt>
                <c:pt idx="19">
                  <c:v>1964.75</c:v>
                </c:pt>
                <c:pt idx="20">
                  <c:v>1965</c:v>
                </c:pt>
                <c:pt idx="21">
                  <c:v>1965.25</c:v>
                </c:pt>
                <c:pt idx="22">
                  <c:v>1965.5</c:v>
                </c:pt>
                <c:pt idx="23">
                  <c:v>1965.75</c:v>
                </c:pt>
                <c:pt idx="24">
                  <c:v>1966</c:v>
                </c:pt>
                <c:pt idx="25">
                  <c:v>1966.25</c:v>
                </c:pt>
                <c:pt idx="26">
                  <c:v>1966.5</c:v>
                </c:pt>
                <c:pt idx="27">
                  <c:v>1966.75</c:v>
                </c:pt>
                <c:pt idx="28">
                  <c:v>1967</c:v>
                </c:pt>
                <c:pt idx="29">
                  <c:v>1967.25</c:v>
                </c:pt>
                <c:pt idx="30">
                  <c:v>1967.5</c:v>
                </c:pt>
                <c:pt idx="31">
                  <c:v>1967.75</c:v>
                </c:pt>
                <c:pt idx="32">
                  <c:v>1968</c:v>
                </c:pt>
                <c:pt idx="33">
                  <c:v>1968.25</c:v>
                </c:pt>
                <c:pt idx="34">
                  <c:v>1968.5</c:v>
                </c:pt>
                <c:pt idx="35">
                  <c:v>1968.75</c:v>
                </c:pt>
                <c:pt idx="36">
                  <c:v>1969</c:v>
                </c:pt>
                <c:pt idx="37">
                  <c:v>1969.25</c:v>
                </c:pt>
                <c:pt idx="38">
                  <c:v>1969.5</c:v>
                </c:pt>
                <c:pt idx="39">
                  <c:v>1969.75</c:v>
                </c:pt>
                <c:pt idx="40">
                  <c:v>1970</c:v>
                </c:pt>
                <c:pt idx="41">
                  <c:v>1970.25</c:v>
                </c:pt>
                <c:pt idx="42">
                  <c:v>1970.5</c:v>
                </c:pt>
                <c:pt idx="43">
                  <c:v>1970.75</c:v>
                </c:pt>
                <c:pt idx="44">
                  <c:v>1971</c:v>
                </c:pt>
                <c:pt idx="45">
                  <c:v>1971.25</c:v>
                </c:pt>
                <c:pt idx="46">
                  <c:v>1971.5</c:v>
                </c:pt>
                <c:pt idx="47">
                  <c:v>1971.75</c:v>
                </c:pt>
                <c:pt idx="48">
                  <c:v>1972</c:v>
                </c:pt>
                <c:pt idx="49">
                  <c:v>1972.25</c:v>
                </c:pt>
                <c:pt idx="50">
                  <c:v>1972.5</c:v>
                </c:pt>
                <c:pt idx="51">
                  <c:v>1972.75</c:v>
                </c:pt>
                <c:pt idx="52">
                  <c:v>1973</c:v>
                </c:pt>
                <c:pt idx="53">
                  <c:v>1973.25</c:v>
                </c:pt>
                <c:pt idx="54">
                  <c:v>1973.5</c:v>
                </c:pt>
                <c:pt idx="55">
                  <c:v>1973.75</c:v>
                </c:pt>
                <c:pt idx="56">
                  <c:v>1974</c:v>
                </c:pt>
                <c:pt idx="57">
                  <c:v>1974.25</c:v>
                </c:pt>
                <c:pt idx="58">
                  <c:v>1974.5</c:v>
                </c:pt>
                <c:pt idx="59">
                  <c:v>1974.75</c:v>
                </c:pt>
                <c:pt idx="60">
                  <c:v>1975</c:v>
                </c:pt>
                <c:pt idx="61">
                  <c:v>1975.25</c:v>
                </c:pt>
                <c:pt idx="62">
                  <c:v>1975.5</c:v>
                </c:pt>
                <c:pt idx="63">
                  <c:v>1975.75</c:v>
                </c:pt>
                <c:pt idx="64">
                  <c:v>1976</c:v>
                </c:pt>
                <c:pt idx="65">
                  <c:v>1976.25</c:v>
                </c:pt>
                <c:pt idx="66">
                  <c:v>1976.5</c:v>
                </c:pt>
                <c:pt idx="67">
                  <c:v>1976.75</c:v>
                </c:pt>
                <c:pt idx="68">
                  <c:v>1977</c:v>
                </c:pt>
                <c:pt idx="69">
                  <c:v>1977.25</c:v>
                </c:pt>
                <c:pt idx="70">
                  <c:v>1977.5</c:v>
                </c:pt>
                <c:pt idx="71">
                  <c:v>1977.75</c:v>
                </c:pt>
                <c:pt idx="72">
                  <c:v>1978</c:v>
                </c:pt>
                <c:pt idx="73">
                  <c:v>1978.25</c:v>
                </c:pt>
                <c:pt idx="74">
                  <c:v>1978.5</c:v>
                </c:pt>
                <c:pt idx="75">
                  <c:v>1978.75</c:v>
                </c:pt>
                <c:pt idx="76">
                  <c:v>1979</c:v>
                </c:pt>
                <c:pt idx="77">
                  <c:v>1979.25</c:v>
                </c:pt>
                <c:pt idx="78">
                  <c:v>1979.5</c:v>
                </c:pt>
                <c:pt idx="79">
                  <c:v>1979.75</c:v>
                </c:pt>
                <c:pt idx="80">
                  <c:v>1980</c:v>
                </c:pt>
                <c:pt idx="81">
                  <c:v>1980.25</c:v>
                </c:pt>
                <c:pt idx="82">
                  <c:v>1980.5</c:v>
                </c:pt>
                <c:pt idx="83">
                  <c:v>1980.75</c:v>
                </c:pt>
                <c:pt idx="84">
                  <c:v>1981</c:v>
                </c:pt>
                <c:pt idx="85">
                  <c:v>1981.25</c:v>
                </c:pt>
                <c:pt idx="86">
                  <c:v>1981.5</c:v>
                </c:pt>
                <c:pt idx="87">
                  <c:v>1981.75</c:v>
                </c:pt>
                <c:pt idx="88">
                  <c:v>1982</c:v>
                </c:pt>
                <c:pt idx="89">
                  <c:v>1982.25</c:v>
                </c:pt>
                <c:pt idx="90">
                  <c:v>1982.5</c:v>
                </c:pt>
                <c:pt idx="91">
                  <c:v>1982.75</c:v>
                </c:pt>
                <c:pt idx="92">
                  <c:v>1983</c:v>
                </c:pt>
                <c:pt idx="93">
                  <c:v>1983.25</c:v>
                </c:pt>
                <c:pt idx="94">
                  <c:v>1983.5</c:v>
                </c:pt>
                <c:pt idx="95">
                  <c:v>1983.75</c:v>
                </c:pt>
                <c:pt idx="96">
                  <c:v>1984</c:v>
                </c:pt>
                <c:pt idx="97">
                  <c:v>1984.25</c:v>
                </c:pt>
                <c:pt idx="98">
                  <c:v>1984.5</c:v>
                </c:pt>
                <c:pt idx="99">
                  <c:v>1984.75</c:v>
                </c:pt>
                <c:pt idx="100">
                  <c:v>1985</c:v>
                </c:pt>
                <c:pt idx="101">
                  <c:v>1985.25</c:v>
                </c:pt>
                <c:pt idx="102">
                  <c:v>1985.5</c:v>
                </c:pt>
                <c:pt idx="103">
                  <c:v>1985.75</c:v>
                </c:pt>
                <c:pt idx="104">
                  <c:v>1986</c:v>
                </c:pt>
                <c:pt idx="105">
                  <c:v>1986.25</c:v>
                </c:pt>
                <c:pt idx="106">
                  <c:v>1986.5</c:v>
                </c:pt>
                <c:pt idx="107">
                  <c:v>1986.75</c:v>
                </c:pt>
                <c:pt idx="108">
                  <c:v>1987</c:v>
                </c:pt>
                <c:pt idx="109">
                  <c:v>1987.25</c:v>
                </c:pt>
                <c:pt idx="110">
                  <c:v>1987.5</c:v>
                </c:pt>
                <c:pt idx="111">
                  <c:v>1987.75</c:v>
                </c:pt>
                <c:pt idx="112">
                  <c:v>1988</c:v>
                </c:pt>
                <c:pt idx="113">
                  <c:v>1988.25</c:v>
                </c:pt>
                <c:pt idx="114">
                  <c:v>1988.5</c:v>
                </c:pt>
                <c:pt idx="115">
                  <c:v>1988.75</c:v>
                </c:pt>
                <c:pt idx="116">
                  <c:v>1989</c:v>
                </c:pt>
                <c:pt idx="117">
                  <c:v>1989.25</c:v>
                </c:pt>
                <c:pt idx="118">
                  <c:v>1989.5</c:v>
                </c:pt>
                <c:pt idx="119">
                  <c:v>1989.75</c:v>
                </c:pt>
                <c:pt idx="120">
                  <c:v>1990</c:v>
                </c:pt>
                <c:pt idx="121">
                  <c:v>1990.25</c:v>
                </c:pt>
                <c:pt idx="122">
                  <c:v>1990.5</c:v>
                </c:pt>
                <c:pt idx="123">
                  <c:v>1990.75</c:v>
                </c:pt>
                <c:pt idx="124">
                  <c:v>1991</c:v>
                </c:pt>
                <c:pt idx="125">
                  <c:v>1991.25</c:v>
                </c:pt>
                <c:pt idx="126">
                  <c:v>1991.5</c:v>
                </c:pt>
                <c:pt idx="127">
                  <c:v>1991.75</c:v>
                </c:pt>
                <c:pt idx="128">
                  <c:v>1992</c:v>
                </c:pt>
                <c:pt idx="129">
                  <c:v>1992.25</c:v>
                </c:pt>
                <c:pt idx="130">
                  <c:v>1992.5</c:v>
                </c:pt>
                <c:pt idx="131">
                  <c:v>1992.75</c:v>
                </c:pt>
                <c:pt idx="132">
                  <c:v>1993</c:v>
                </c:pt>
                <c:pt idx="133">
                  <c:v>1993.25</c:v>
                </c:pt>
                <c:pt idx="134">
                  <c:v>1993.5</c:v>
                </c:pt>
                <c:pt idx="135">
                  <c:v>1993.75</c:v>
                </c:pt>
                <c:pt idx="136">
                  <c:v>1994</c:v>
                </c:pt>
                <c:pt idx="137">
                  <c:v>1994.25</c:v>
                </c:pt>
                <c:pt idx="138">
                  <c:v>1994.5</c:v>
                </c:pt>
                <c:pt idx="139">
                  <c:v>1994.75</c:v>
                </c:pt>
                <c:pt idx="140">
                  <c:v>1995</c:v>
                </c:pt>
                <c:pt idx="141">
                  <c:v>1995.25</c:v>
                </c:pt>
                <c:pt idx="142">
                  <c:v>1995.5</c:v>
                </c:pt>
                <c:pt idx="143">
                  <c:v>1995.75</c:v>
                </c:pt>
                <c:pt idx="144">
                  <c:v>1996</c:v>
                </c:pt>
                <c:pt idx="145">
                  <c:v>1996.25</c:v>
                </c:pt>
                <c:pt idx="146">
                  <c:v>1996.5</c:v>
                </c:pt>
                <c:pt idx="147">
                  <c:v>1996.75</c:v>
                </c:pt>
                <c:pt idx="148">
                  <c:v>1997</c:v>
                </c:pt>
                <c:pt idx="149">
                  <c:v>1997.25</c:v>
                </c:pt>
                <c:pt idx="150">
                  <c:v>1997.5</c:v>
                </c:pt>
                <c:pt idx="151">
                  <c:v>1997.75</c:v>
                </c:pt>
                <c:pt idx="152">
                  <c:v>1998</c:v>
                </c:pt>
                <c:pt idx="153">
                  <c:v>1998.25</c:v>
                </c:pt>
                <c:pt idx="154">
                  <c:v>1998.5</c:v>
                </c:pt>
                <c:pt idx="155">
                  <c:v>1998.75</c:v>
                </c:pt>
                <c:pt idx="156">
                  <c:v>1999</c:v>
                </c:pt>
                <c:pt idx="157">
                  <c:v>1999.25</c:v>
                </c:pt>
                <c:pt idx="158">
                  <c:v>1999.5</c:v>
                </c:pt>
                <c:pt idx="159">
                  <c:v>1999.75</c:v>
                </c:pt>
                <c:pt idx="160">
                  <c:v>2000</c:v>
                </c:pt>
                <c:pt idx="161">
                  <c:v>2000.25</c:v>
                </c:pt>
                <c:pt idx="162">
                  <c:v>2000.5</c:v>
                </c:pt>
                <c:pt idx="163">
                  <c:v>2000.75</c:v>
                </c:pt>
                <c:pt idx="164">
                  <c:v>2001</c:v>
                </c:pt>
                <c:pt idx="165">
                  <c:v>2001.25</c:v>
                </c:pt>
                <c:pt idx="166">
                  <c:v>2001.5</c:v>
                </c:pt>
                <c:pt idx="167">
                  <c:v>2001.75</c:v>
                </c:pt>
                <c:pt idx="168">
                  <c:v>2002</c:v>
                </c:pt>
                <c:pt idx="169">
                  <c:v>2002.25</c:v>
                </c:pt>
                <c:pt idx="170">
                  <c:v>2002.5</c:v>
                </c:pt>
                <c:pt idx="171">
                  <c:v>2002.75</c:v>
                </c:pt>
                <c:pt idx="172">
                  <c:v>2003</c:v>
                </c:pt>
                <c:pt idx="173">
                  <c:v>2003.25</c:v>
                </c:pt>
                <c:pt idx="174">
                  <c:v>2003.5</c:v>
                </c:pt>
                <c:pt idx="175">
                  <c:v>2003.75</c:v>
                </c:pt>
                <c:pt idx="176">
                  <c:v>2004</c:v>
                </c:pt>
                <c:pt idx="177">
                  <c:v>2004.25</c:v>
                </c:pt>
                <c:pt idx="178">
                  <c:v>2004.5</c:v>
                </c:pt>
                <c:pt idx="179">
                  <c:v>2004.75</c:v>
                </c:pt>
                <c:pt idx="180">
                  <c:v>2005</c:v>
                </c:pt>
                <c:pt idx="181">
                  <c:v>2005.25</c:v>
                </c:pt>
                <c:pt idx="182">
                  <c:v>2005.5</c:v>
                </c:pt>
                <c:pt idx="183">
                  <c:v>2005.75</c:v>
                </c:pt>
                <c:pt idx="184">
                  <c:v>2006</c:v>
                </c:pt>
                <c:pt idx="185">
                  <c:v>2006.25</c:v>
                </c:pt>
                <c:pt idx="186">
                  <c:v>2006.5</c:v>
                </c:pt>
                <c:pt idx="187">
                  <c:v>2006.75</c:v>
                </c:pt>
                <c:pt idx="188">
                  <c:v>2007</c:v>
                </c:pt>
                <c:pt idx="189">
                  <c:v>2007.25</c:v>
                </c:pt>
                <c:pt idx="190">
                  <c:v>2007.5</c:v>
                </c:pt>
                <c:pt idx="191">
                  <c:v>2007.75</c:v>
                </c:pt>
                <c:pt idx="192">
                  <c:v>2008</c:v>
                </c:pt>
                <c:pt idx="193">
                  <c:v>2008.25</c:v>
                </c:pt>
                <c:pt idx="194">
                  <c:v>2008.5</c:v>
                </c:pt>
                <c:pt idx="195">
                  <c:v>2008.75</c:v>
                </c:pt>
                <c:pt idx="196">
                  <c:v>2009</c:v>
                </c:pt>
                <c:pt idx="197">
                  <c:v>2009.25</c:v>
                </c:pt>
                <c:pt idx="198">
                  <c:v>2009.5</c:v>
                </c:pt>
                <c:pt idx="199">
                  <c:v>2009.75</c:v>
                </c:pt>
                <c:pt idx="200">
                  <c:v>2010</c:v>
                </c:pt>
                <c:pt idx="201">
                  <c:v>2010.25</c:v>
                </c:pt>
                <c:pt idx="202">
                  <c:v>2010.5</c:v>
                </c:pt>
                <c:pt idx="203">
                  <c:v>2010.75</c:v>
                </c:pt>
                <c:pt idx="204">
                  <c:v>2011</c:v>
                </c:pt>
                <c:pt idx="205">
                  <c:v>2011.25</c:v>
                </c:pt>
                <c:pt idx="206">
                  <c:v>2011.5</c:v>
                </c:pt>
                <c:pt idx="207">
                  <c:v>2011.75</c:v>
                </c:pt>
                <c:pt idx="208">
                  <c:v>2012</c:v>
                </c:pt>
                <c:pt idx="209">
                  <c:v>2012.25</c:v>
                </c:pt>
                <c:pt idx="210">
                  <c:v>2012.5</c:v>
                </c:pt>
                <c:pt idx="211">
                  <c:v>2012.75</c:v>
                </c:pt>
              </c:numCache>
            </c:numRef>
          </c:xVal>
          <c:yVal>
            <c:numRef>
              <c:f>Sheet1!$K$8:$K$219</c:f>
              <c:numCache>
                <c:formatCode>0.00%</c:formatCode>
                <c:ptCount val="212"/>
                <c:pt idx="0">
                  <c:v>0.00531309297912718</c:v>
                </c:pt>
                <c:pt idx="1">
                  <c:v>0.00798175598631705</c:v>
                </c:pt>
                <c:pt idx="2">
                  <c:v>0.00793950850661624</c:v>
                </c:pt>
                <c:pt idx="3">
                  <c:v>0.0110750429635289</c:v>
                </c:pt>
                <c:pt idx="4">
                  <c:v>0.0109848484848485</c:v>
                </c:pt>
                <c:pt idx="5">
                  <c:v>0.0100185528756958</c:v>
                </c:pt>
                <c:pt idx="6">
                  <c:v>0.00709736123748858</c:v>
                </c:pt>
                <c:pt idx="7">
                  <c:v>0.00799857803057237</c:v>
                </c:pt>
                <c:pt idx="8">
                  <c:v>0.0069432390210033</c:v>
                </c:pt>
                <c:pt idx="9">
                  <c:v>0.00994513031550076</c:v>
                </c:pt>
                <c:pt idx="10">
                  <c:v>0.00644067796610164</c:v>
                </c:pt>
                <c:pt idx="11">
                  <c:v>0.00455081746165513</c:v>
                </c:pt>
                <c:pt idx="12">
                  <c:v>0.00647302904564317</c:v>
                </c:pt>
                <c:pt idx="13">
                  <c:v>0.0106348167539267</c:v>
                </c:pt>
                <c:pt idx="14">
                  <c:v>0.00609071966661317</c:v>
                </c:pt>
                <c:pt idx="15">
                  <c:v>0.00868192580899763</c:v>
                </c:pt>
                <c:pt idx="16">
                  <c:v>0.0110837438423646</c:v>
                </c:pt>
                <c:pt idx="17">
                  <c:v>0.0106237668842009</c:v>
                </c:pt>
                <c:pt idx="18">
                  <c:v>0.00939597315436239</c:v>
                </c:pt>
                <c:pt idx="19">
                  <c:v>0.0102131438721137</c:v>
                </c:pt>
                <c:pt idx="20">
                  <c:v>0.0066120454218773</c:v>
                </c:pt>
                <c:pt idx="21">
                  <c:v>0.0104505013416184</c:v>
                </c:pt>
                <c:pt idx="22">
                  <c:v>0.00675675675675678</c:v>
                </c:pt>
                <c:pt idx="23">
                  <c:v>0.00735785953177256</c:v>
                </c:pt>
                <c:pt idx="24">
                  <c:v>0.00583809029579654</c:v>
                </c:pt>
                <c:pt idx="25">
                  <c:v>0.0066675214771124</c:v>
                </c:pt>
                <c:pt idx="26">
                  <c:v>0.00264783759929394</c:v>
                </c:pt>
                <c:pt idx="27">
                  <c:v>0.00433758830090466</c:v>
                </c:pt>
                <c:pt idx="28">
                  <c:v>0.0056248471508926</c:v>
                </c:pt>
                <c:pt idx="29">
                  <c:v>0.00535084519031976</c:v>
                </c:pt>
                <c:pt idx="30">
                  <c:v>0.00346475507765828</c:v>
                </c:pt>
                <c:pt idx="31">
                  <c:v>0.00258003987334358</c:v>
                </c:pt>
                <c:pt idx="32">
                  <c:v>0.00136394635144353</c:v>
                </c:pt>
                <c:pt idx="33">
                  <c:v>0.0022121446742617</c:v>
                </c:pt>
                <c:pt idx="34">
                  <c:v>0.00152289785706516</c:v>
                </c:pt>
                <c:pt idx="35">
                  <c:v>0.0010681478316599</c:v>
                </c:pt>
                <c:pt idx="36">
                  <c:v>0.000312207305650964</c:v>
                </c:pt>
                <c:pt idx="37">
                  <c:v>0.00122938223542677</c:v>
                </c:pt>
                <c:pt idx="38">
                  <c:v>0.00100371374084103</c:v>
                </c:pt>
                <c:pt idx="39">
                  <c:v>0.00338476854156294</c:v>
                </c:pt>
                <c:pt idx="40">
                  <c:v>0.00334283747910724</c:v>
                </c:pt>
                <c:pt idx="41">
                  <c:v>0.00532378278966207</c:v>
                </c:pt>
                <c:pt idx="42">
                  <c:v>0.00361732508329365</c:v>
                </c:pt>
                <c:pt idx="43">
                  <c:v>0.00303980241284323</c:v>
                </c:pt>
                <c:pt idx="44">
                  <c:v>0.00400692104544208</c:v>
                </c:pt>
                <c:pt idx="45">
                  <c:v>-0.000178762960314663</c:v>
                </c:pt>
                <c:pt idx="46">
                  <c:v>-8.77886050391108e-5</c:v>
                </c:pt>
                <c:pt idx="47">
                  <c:v>-0.00138961264547499</c:v>
                </c:pt>
                <c:pt idx="48">
                  <c:v>-0.00302495588606006</c:v>
                </c:pt>
                <c:pt idx="49">
                  <c:v>-0.00342689295039168</c:v>
                </c:pt>
                <c:pt idx="50">
                  <c:v>-0.00208116545265353</c:v>
                </c:pt>
                <c:pt idx="51">
                  <c:v>-0.00240945126690515</c:v>
                </c:pt>
                <c:pt idx="52">
                  <c:v>-0.00104861059096699</c:v>
                </c:pt>
                <c:pt idx="53">
                  <c:v>0.00189573459715641</c:v>
                </c:pt>
                <c:pt idx="54">
                  <c:v>0.00460199899331275</c:v>
                </c:pt>
                <c:pt idx="55">
                  <c:v>0.00621595194859612</c:v>
                </c:pt>
                <c:pt idx="56">
                  <c:v>0.00435534047701347</c:v>
                </c:pt>
                <c:pt idx="57">
                  <c:v>-0.001818426724138</c:v>
                </c:pt>
                <c:pt idx="58">
                  <c:v>-0.00455836691550502</c:v>
                </c:pt>
                <c:pt idx="59">
                  <c:v>6.43997939206375e-5</c:v>
                </c:pt>
                <c:pt idx="60">
                  <c:v>0.0104498534471773</c:v>
                </c:pt>
                <c:pt idx="61">
                  <c:v>0.0134579439252337</c:v>
                </c:pt>
                <c:pt idx="62">
                  <c:v>0.00721847930702609</c:v>
                </c:pt>
                <c:pt idx="63">
                  <c:v>0.00805181165762309</c:v>
                </c:pt>
                <c:pt idx="64">
                  <c:v>0.00259608330041197</c:v>
                </c:pt>
                <c:pt idx="65">
                  <c:v>-0.000277131138454717</c:v>
                </c:pt>
                <c:pt idx="66">
                  <c:v>-0.00217663383577301</c:v>
                </c:pt>
                <c:pt idx="67">
                  <c:v>-0.00350225524011675</c:v>
                </c:pt>
                <c:pt idx="68">
                  <c:v>-0.0108847046685582</c:v>
                </c:pt>
                <c:pt idx="69">
                  <c:v>-0.0105725114701775</c:v>
                </c:pt>
                <c:pt idx="70">
                  <c:v>-0.00997095837366896</c:v>
                </c:pt>
                <c:pt idx="71">
                  <c:v>-0.014023119196513</c:v>
                </c:pt>
                <c:pt idx="72">
                  <c:v>-0.0180075380391792</c:v>
                </c:pt>
                <c:pt idx="73">
                  <c:v>-0.00993537609355088</c:v>
                </c:pt>
                <c:pt idx="74">
                  <c:v>-0.0101918465227818</c:v>
                </c:pt>
                <c:pt idx="75">
                  <c:v>-0.0068294701986755</c:v>
                </c:pt>
                <c:pt idx="76">
                  <c:v>-0.00738846263142929</c:v>
                </c:pt>
                <c:pt idx="77">
                  <c:v>-0.00882678910702975</c:v>
                </c:pt>
                <c:pt idx="78">
                  <c:v>-0.00888564065084441</c:v>
                </c:pt>
                <c:pt idx="79">
                  <c:v>-0.0100774610814469</c:v>
                </c:pt>
                <c:pt idx="80">
                  <c:v>-0.0131419551411476</c:v>
                </c:pt>
                <c:pt idx="81">
                  <c:v>-0.00553519061583579</c:v>
                </c:pt>
                <c:pt idx="82">
                  <c:v>0.0019747235387045</c:v>
                </c:pt>
                <c:pt idx="83">
                  <c:v>-0.00229821973724821</c:v>
                </c:pt>
                <c:pt idx="84">
                  <c:v>-0.0046536016254834</c:v>
                </c:pt>
                <c:pt idx="85">
                  <c:v>-0.00437700612780851</c:v>
                </c:pt>
                <c:pt idx="86">
                  <c:v>-0.00239219389361033</c:v>
                </c:pt>
                <c:pt idx="87">
                  <c:v>-0.00460137102075321</c:v>
                </c:pt>
                <c:pt idx="88">
                  <c:v>-0.00511790009105465</c:v>
                </c:pt>
                <c:pt idx="89">
                  <c:v>-0.00138850319355731</c:v>
                </c:pt>
                <c:pt idx="90">
                  <c:v>-0.00907036403615924</c:v>
                </c:pt>
                <c:pt idx="91">
                  <c:v>-0.00890566037735853</c:v>
                </c:pt>
                <c:pt idx="92">
                  <c:v>-0.00724637681159417</c:v>
                </c:pt>
                <c:pt idx="93">
                  <c:v>-0.0130664522428351</c:v>
                </c:pt>
                <c:pt idx="94">
                  <c:v>-0.0181762426472639</c:v>
                </c:pt>
                <c:pt idx="95">
                  <c:v>-0.0193866760662672</c:v>
                </c:pt>
                <c:pt idx="96">
                  <c:v>-0.0249514104113043</c:v>
                </c:pt>
                <c:pt idx="97">
                  <c:v>-0.0267004582341345</c:v>
                </c:pt>
                <c:pt idx="98">
                  <c:v>-0.0261317907444668</c:v>
                </c:pt>
                <c:pt idx="99">
                  <c:v>-0.0267228557263262</c:v>
                </c:pt>
                <c:pt idx="100">
                  <c:v>-0.0222967064995629</c:v>
                </c:pt>
                <c:pt idx="101">
                  <c:v>-0.0276360849677899</c:v>
                </c:pt>
                <c:pt idx="102">
                  <c:v>-0.0278749735810065</c:v>
                </c:pt>
                <c:pt idx="103">
                  <c:v>-0.031236251649802</c:v>
                </c:pt>
                <c:pt idx="104">
                  <c:v>-0.029070828769624</c:v>
                </c:pt>
                <c:pt idx="105">
                  <c:v>-0.0293678784590342</c:v>
                </c:pt>
                <c:pt idx="106">
                  <c:v>-0.0309932536236724</c:v>
                </c:pt>
                <c:pt idx="107">
                  <c:v>-0.0293839279818634</c:v>
                </c:pt>
                <c:pt idx="108">
                  <c:v>-0.0306000737351174</c:v>
                </c:pt>
                <c:pt idx="109">
                  <c:v>-0.0314507009196237</c:v>
                </c:pt>
                <c:pt idx="110">
                  <c:v>-0.0306013222793578</c:v>
                </c:pt>
                <c:pt idx="111">
                  <c:v>-0.0298580819561343</c:v>
                </c:pt>
                <c:pt idx="112">
                  <c:v>-0.0251384229883199</c:v>
                </c:pt>
                <c:pt idx="113">
                  <c:v>-0.0211689364141284</c:v>
                </c:pt>
                <c:pt idx="114">
                  <c:v>-0.0194835498172202</c:v>
                </c:pt>
                <c:pt idx="115">
                  <c:v>-0.0207008188916397</c:v>
                </c:pt>
                <c:pt idx="116">
                  <c:v>-0.019066097046807</c:v>
                </c:pt>
                <c:pt idx="117">
                  <c:v>-0.0164295144491711</c:v>
                </c:pt>
                <c:pt idx="118">
                  <c:v>-0.0137902365847929</c:v>
                </c:pt>
                <c:pt idx="119">
                  <c:v>-0.014995431499364</c:v>
                </c:pt>
                <c:pt idx="120">
                  <c:v>-0.0156269161367179</c:v>
                </c:pt>
                <c:pt idx="121">
                  <c:v>-0.0117811432711216</c:v>
                </c:pt>
                <c:pt idx="122">
                  <c:v>-0.0127166444467233</c:v>
                </c:pt>
                <c:pt idx="123">
                  <c:v>-0.013410879233664</c:v>
                </c:pt>
                <c:pt idx="124">
                  <c:v>-0.00773783204652901</c:v>
                </c:pt>
                <c:pt idx="125">
                  <c:v>-0.00362294532036234</c:v>
                </c:pt>
                <c:pt idx="126">
                  <c:v>-0.00323184778825596</c:v>
                </c:pt>
                <c:pt idx="127">
                  <c:v>-0.00347968814115713</c:v>
                </c:pt>
                <c:pt idx="128">
                  <c:v>-0.00297220023583771</c:v>
                </c:pt>
                <c:pt idx="129">
                  <c:v>-0.00492438683441354</c:v>
                </c:pt>
                <c:pt idx="130">
                  <c:v>-0.00571231826220323</c:v>
                </c:pt>
                <c:pt idx="131">
                  <c:v>-0.00697609954416649</c:v>
                </c:pt>
                <c:pt idx="132">
                  <c:v>-0.00829704331881725</c:v>
                </c:pt>
                <c:pt idx="133">
                  <c:v>-0.00936174067978324</c:v>
                </c:pt>
                <c:pt idx="134">
                  <c:v>-0.010167008058849</c:v>
                </c:pt>
                <c:pt idx="135">
                  <c:v>-0.0107722563033843</c:v>
                </c:pt>
                <c:pt idx="136">
                  <c:v>-0.0116536298309789</c:v>
                </c:pt>
                <c:pt idx="137">
                  <c:v>-0.0129466377070823</c:v>
                </c:pt>
                <c:pt idx="138">
                  <c:v>-0.0135589893154603</c:v>
                </c:pt>
                <c:pt idx="139">
                  <c:v>-0.0141138489556028</c:v>
                </c:pt>
                <c:pt idx="140">
                  <c:v>-0.0145326162814565</c:v>
                </c:pt>
                <c:pt idx="141">
                  <c:v>-0.0150493488131814</c:v>
                </c:pt>
                <c:pt idx="142">
                  <c:v>-0.0101174102650117</c:v>
                </c:pt>
                <c:pt idx="143">
                  <c:v>-0.00937354988399079</c:v>
                </c:pt>
                <c:pt idx="144">
                  <c:v>-0.011651959885837</c:v>
                </c:pt>
                <c:pt idx="145">
                  <c:v>-0.0120128205128205</c:v>
                </c:pt>
                <c:pt idx="146">
                  <c:v>-0.0144563964169422</c:v>
                </c:pt>
                <c:pt idx="147">
                  <c:v>-0.0110058581577963</c:v>
                </c:pt>
                <c:pt idx="148">
                  <c:v>-0.0132849944697063</c:v>
                </c:pt>
                <c:pt idx="149">
                  <c:v>-0.0102213415812876</c:v>
                </c:pt>
                <c:pt idx="150">
                  <c:v>-0.0114388993923829</c:v>
                </c:pt>
                <c:pt idx="151">
                  <c:v>-0.0136966975087294</c:v>
                </c:pt>
                <c:pt idx="152">
                  <c:v>-0.0156268167337162</c:v>
                </c:pt>
                <c:pt idx="153">
                  <c:v>-0.0186006943646103</c:v>
                </c:pt>
                <c:pt idx="154">
                  <c:v>-0.0196559363414413</c:v>
                </c:pt>
                <c:pt idx="155">
                  <c:v>-0.0196289116588202</c:v>
                </c:pt>
                <c:pt idx="156">
                  <c:v>-0.0231620138600441</c:v>
                </c:pt>
                <c:pt idx="157">
                  <c:v>-0.0271167023323174</c:v>
                </c:pt>
                <c:pt idx="158">
                  <c:v>-0.030079424992823</c:v>
                </c:pt>
                <c:pt idx="159">
                  <c:v>-0.0314955712605513</c:v>
                </c:pt>
                <c:pt idx="160">
                  <c:v>-0.0368608064266955</c:v>
                </c:pt>
                <c:pt idx="161">
                  <c:v>-0.0366264285211727</c:v>
                </c:pt>
                <c:pt idx="162">
                  <c:v>-0.039520838532568</c:v>
                </c:pt>
                <c:pt idx="163">
                  <c:v>-0.0404746391833996</c:v>
                </c:pt>
                <c:pt idx="164">
                  <c:v>-0.0388977973654956</c:v>
                </c:pt>
                <c:pt idx="165">
                  <c:v>-0.0353062234863562</c:v>
                </c:pt>
                <c:pt idx="166">
                  <c:v>-0.0356130885378255</c:v>
                </c:pt>
                <c:pt idx="167">
                  <c:v>-0.0345027041096682</c:v>
                </c:pt>
                <c:pt idx="168">
                  <c:v>-0.0357091830417098</c:v>
                </c:pt>
                <c:pt idx="169">
                  <c:v>-0.03943632745074</c:v>
                </c:pt>
                <c:pt idx="170">
                  <c:v>-0.0407318463421698</c:v>
                </c:pt>
                <c:pt idx="171">
                  <c:v>-0.044571789465863</c:v>
                </c:pt>
                <c:pt idx="172">
                  <c:v>-0.0462553042967099</c:v>
                </c:pt>
                <c:pt idx="173">
                  <c:v>-0.0457971593592211</c:v>
                </c:pt>
                <c:pt idx="174">
                  <c:v>-0.0443798811205586</c:v>
                </c:pt>
                <c:pt idx="175">
                  <c:v>-0.0445999929915549</c:v>
                </c:pt>
                <c:pt idx="176">
                  <c:v>-0.0471358682991226</c:v>
                </c:pt>
                <c:pt idx="177">
                  <c:v>-0.0515179079988778</c:v>
                </c:pt>
                <c:pt idx="178">
                  <c:v>-0.0532744652865629</c:v>
                </c:pt>
                <c:pt idx="179">
                  <c:v>-0.0566236936959229</c:v>
                </c:pt>
                <c:pt idx="180">
                  <c:v>-0.054797844974033</c:v>
                </c:pt>
                <c:pt idx="181">
                  <c:v>-0.0552159999999999</c:v>
                </c:pt>
                <c:pt idx="182">
                  <c:v>-0.0576654148924468</c:v>
                </c:pt>
                <c:pt idx="183">
                  <c:v>-0.0611794068860745</c:v>
                </c:pt>
                <c:pt idx="184">
                  <c:v>-0.0589526950020515</c:v>
                </c:pt>
                <c:pt idx="185">
                  <c:v>-0.0586253975874692</c:v>
                </c:pt>
                <c:pt idx="186">
                  <c:v>-0.0599726043713896</c:v>
                </c:pt>
                <c:pt idx="187">
                  <c:v>-0.0525831480690801</c:v>
                </c:pt>
                <c:pt idx="188">
                  <c:v>-0.0526946978231639</c:v>
                </c:pt>
                <c:pt idx="189">
                  <c:v>-0.0522079445938985</c:v>
                </c:pt>
                <c:pt idx="190">
                  <c:v>-0.0497869207571746</c:v>
                </c:pt>
                <c:pt idx="191">
                  <c:v>-0.0487048522437067</c:v>
                </c:pt>
                <c:pt idx="192">
                  <c:v>-0.0520040073140487</c:v>
                </c:pt>
                <c:pt idx="193">
                  <c:v>-0.0517498525892269</c:v>
                </c:pt>
                <c:pt idx="194">
                  <c:v>-0.0525734451306347</c:v>
                </c:pt>
                <c:pt idx="195">
                  <c:v>-0.0421611027077695</c:v>
                </c:pt>
                <c:pt idx="196">
                  <c:v>-0.0276800206846029</c:v>
                </c:pt>
                <c:pt idx="197">
                  <c:v>-0.0238811989571781</c:v>
                </c:pt>
                <c:pt idx="198">
                  <c:v>-0.0285689712016742</c:v>
                </c:pt>
                <c:pt idx="199">
                  <c:v>-0.0310819607177223</c:v>
                </c:pt>
                <c:pt idx="200">
                  <c:v>-0.0343440572377596</c:v>
                </c:pt>
                <c:pt idx="201">
                  <c:v>-0.0361605439345058</c:v>
                </c:pt>
                <c:pt idx="202">
                  <c:v>-0.0365806805708014</c:v>
                </c:pt>
                <c:pt idx="203">
                  <c:v>-0.0340732496827476</c:v>
                </c:pt>
                <c:pt idx="204">
                  <c:v>-0.0374892844366145</c:v>
                </c:pt>
                <c:pt idx="205">
                  <c:v>-0.0381575088645391</c:v>
                </c:pt>
                <c:pt idx="206">
                  <c:v>-0.0362390524427561</c:v>
                </c:pt>
                <c:pt idx="207">
                  <c:v>-0.0388290581554728</c:v>
                </c:pt>
                <c:pt idx="208">
                  <c:v>-0.0397782702234742</c:v>
                </c:pt>
                <c:pt idx="209">
                  <c:v>-0.0370213530438354</c:v>
                </c:pt>
                <c:pt idx="210">
                  <c:v>-0.032686104610714</c:v>
                </c:pt>
                <c:pt idx="211">
                  <c:v>-0.0336630665186232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8221440"/>
        <c:axId val="498222976"/>
      </c:scatterChart>
      <c:valAx>
        <c:axId val="498221440"/>
        <c:scaling>
          <c:orientation val="minMax"/>
          <c:max val="2013"/>
          <c:min val="1960"/>
        </c:scaling>
        <c:delete val="0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98222976"/>
        <c:crossesAt val="-1000"/>
        <c:crossBetween val="midCat"/>
        <c:majorUnit val="5"/>
        <c:minorUnit val="1"/>
      </c:valAx>
      <c:valAx>
        <c:axId val="498222976"/>
        <c:scaling>
          <c:orientation val="minMax"/>
          <c:max val="0.24"/>
          <c:min val="-0.06"/>
        </c:scaling>
        <c:delete val="0"/>
        <c:axPos val="l"/>
        <c:majorGridlines>
          <c:spPr>
            <a:ln w="9525" cap="flat" cmpd="sng" algn="ctr">
              <a:noFill/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pPr>
          </a:p>
        </c:txPr>
        <c:crossAx val="498221440"/>
        <c:crosses val="autoZero"/>
        <c:crossBetween val="midCat"/>
        <c:majorUnit val="0.03"/>
        <c:minorUnit val="0.01"/>
      </c:valAx>
      <c:spPr>
        <a:solidFill>
          <a:schemeClr val="tx2">
            <a:lumMod val="40000"/>
            <a:lumOff val="60000"/>
          </a:schemeClr>
        </a:solidFill>
        <a:ln>
          <a:solidFill>
            <a:schemeClr val="tx1"/>
          </a:solidFill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8c4244b3-c060-404b-b6f7-ed9fe17ec455}"/>
      </c:ext>
    </c:extLst>
  </c:chart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0851770002806253"/>
          <c:y val="0.0329002165583875"/>
          <c:w val="0.867725981317325"/>
          <c:h val="0.863401632517075"/>
        </c:manualLayout>
      </c:layout>
      <c:scatterChart>
        <c:scatterStyle val="lineMarker"/>
        <c:varyColors val="0"/>
        <c:dLbls>
          <c:showLegendKey val="0"/>
          <c:showVal val="0"/>
          <c:showCatName val="0"/>
          <c:showSerName val="0"/>
          <c:showPercent val="0"/>
          <c:showBubbleSize val="0"/>
        </c:dLbls>
        <c:axId val="497943296"/>
        <c:axId val="497944832"/>
      </c:scatterChart>
      <c:valAx>
        <c:axId val="497943296"/>
        <c:scaling>
          <c:orientation val="minMax"/>
          <c:max val="2013"/>
          <c:min val="1960"/>
        </c:scaling>
        <c:delete val="1"/>
        <c:axPos val="b"/>
        <c:numFmt formatCode="0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97944832"/>
        <c:crossesAt val="-1000"/>
        <c:crossBetween val="midCat"/>
        <c:majorUnit val="5"/>
        <c:minorUnit val="1"/>
      </c:valAx>
      <c:valAx>
        <c:axId val="497944832"/>
        <c:scaling>
          <c:orientation val="minMax"/>
          <c:max val="0.24"/>
          <c:min val="-0.06"/>
        </c:scaling>
        <c:delete val="1"/>
        <c:axPos val="l"/>
        <c:majorGridlines>
          <c:spPr>
            <a:ln w="9525" cap="flat" cmpd="sng" algn="ctr">
              <a:solidFill>
                <a:schemeClr val="tx2">
                  <a:lumMod val="20000"/>
                  <a:lumOff val="80000"/>
                </a:schemeClr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</a:p>
        </c:txPr>
        <c:crossAx val="497943296"/>
        <c:crosses val="autoZero"/>
        <c:crossBetween val="midCat"/>
        <c:majorUnit val="0.03"/>
        <c:minorUnit val="0.01"/>
      </c:valAx>
      <c:spPr>
        <a:noFill/>
        <a:ln w="25400">
          <a:noFill/>
        </a:ln>
      </c:spPr>
    </c:plotArea>
    <c:plotVisOnly val="1"/>
    <c:dispBlanksAs val="gap"/>
    <c:showDLblsOverMax val="0"/>
    <c:extLst>
      <c:ext uri="{0b15fc19-7d7d-44ad-8c2d-2c3a37ce22c3}">
        <chartProps xmlns="https://web.wps.cn/et/2018/main" chartId="{070eb80d-2b50-4fda-b1c5-9213e5606e15}"/>
      </c:ext>
    </c:extLst>
  </c:chart>
  <c:txPr>
    <a:bodyPr/>
    <a:lstStyle/>
    <a:p>
      <a:pPr>
        <a:defRPr lang="zh-CN"/>
      </a:pPr>
    </a:p>
  </c:txPr>
  <c:externalData r:id="rId1">
    <c:autoUpdate val="0"/>
  </c:externalData>
  <c:userShapes r:id="rId2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第九章!$T$78</c:f>
              <c:strCache>
                <c:ptCount val="1"/>
                <c:pt idx="0">
                  <c:v>储蓄</c:v>
                </c:pt>
              </c:strCache>
            </c:strRef>
          </c:tx>
          <c:spPr>
            <a:ln w="50800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第九章!$S$79:$S$116</c:f>
              <c:numCache>
                <c:formatCode>General</c:formatCode>
                <c:ptCount val="38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</c:numCache>
            </c:numRef>
          </c:cat>
          <c:val>
            <c:numRef>
              <c:f>第九章!$T$79:$T$116</c:f>
              <c:numCache>
                <c:formatCode>0.00%</c:formatCode>
                <c:ptCount val="38"/>
                <c:pt idx="0">
                  <c:v>0.338</c:v>
                </c:pt>
                <c:pt idx="1">
                  <c:v>0.3315</c:v>
                </c:pt>
                <c:pt idx="2">
                  <c:v>0.349</c:v>
                </c:pt>
                <c:pt idx="3">
                  <c:v>0.3528</c:v>
                </c:pt>
                <c:pt idx="4">
                  <c:v>0.3525</c:v>
                </c:pt>
                <c:pt idx="5">
                  <c:v>0.3723</c:v>
                </c:pt>
                <c:pt idx="6">
                  <c:v>0.3798</c:v>
                </c:pt>
                <c:pt idx="7">
                  <c:v>0.3588</c:v>
                </c:pt>
                <c:pt idx="8">
                  <c:v>0.3669</c:v>
                </c:pt>
                <c:pt idx="9">
                  <c:v>0.385</c:v>
                </c:pt>
                <c:pt idx="10">
                  <c:v>0.4061</c:v>
                </c:pt>
                <c:pt idx="11">
                  <c:v>0.4171</c:v>
                </c:pt>
                <c:pt idx="12">
                  <c:v>0.417</c:v>
                </c:pt>
                <c:pt idx="13">
                  <c:v>0.3953</c:v>
                </c:pt>
                <c:pt idx="14">
                  <c:v>0.3876</c:v>
                </c:pt>
                <c:pt idx="15">
                  <c:v>0.3974</c:v>
                </c:pt>
                <c:pt idx="16">
                  <c:v>0.3835</c:v>
                </c:pt>
                <c:pt idx="17">
                  <c:v>0.3656</c:v>
                </c:pt>
                <c:pt idx="18">
                  <c:v>0.3574</c:v>
                </c:pt>
                <c:pt idx="19">
                  <c:v>0.3727</c:v>
                </c:pt>
                <c:pt idx="20">
                  <c:v>0.3888</c:v>
                </c:pt>
                <c:pt idx="21">
                  <c:v>0.4241</c:v>
                </c:pt>
                <c:pt idx="22">
                  <c:v>0.4567</c:v>
                </c:pt>
                <c:pt idx="23">
                  <c:v>0.4595</c:v>
                </c:pt>
                <c:pt idx="24">
                  <c:v>0.4826</c:v>
                </c:pt>
                <c:pt idx="25">
                  <c:v>0.5028</c:v>
                </c:pt>
                <c:pt idx="26">
                  <c:v>0.5179</c:v>
                </c:pt>
                <c:pt idx="27">
                  <c:v>0.5037</c:v>
                </c:pt>
                <c:pt idx="28">
                  <c:v>0.5133</c:v>
                </c:pt>
                <c:pt idx="29">
                  <c:v>0.4923</c:v>
                </c:pt>
                <c:pt idx="30">
                  <c:v>0.4867</c:v>
                </c:pt>
                <c:pt idx="31">
                  <c:v>0.4738</c:v>
                </c:pt>
                <c:pt idx="32">
                  <c:v>0.4762</c:v>
                </c:pt>
                <c:pt idx="33">
                  <c:v>0.4552</c:v>
                </c:pt>
                <c:pt idx="34">
                  <c:v>0.4448</c:v>
                </c:pt>
                <c:pt idx="35">
                  <c:v>0.4496</c:v>
                </c:pt>
                <c:pt idx="36">
                  <c:v>0.4439</c:v>
                </c:pt>
                <c:pt idx="37">
                  <c:v>0.4382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第九章!$U$78</c:f>
              <c:strCache>
                <c:ptCount val="1"/>
                <c:pt idx="0">
                  <c:v>净出口</c:v>
                </c:pt>
              </c:strCache>
            </c:strRef>
          </c:tx>
          <c:spPr>
            <a:ln w="50800" cap="rnd">
              <a:solidFill>
                <a:schemeClr val="accent6">
                  <a:lumMod val="5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第九章!$S$79:$S$116</c:f>
              <c:numCache>
                <c:formatCode>General</c:formatCode>
                <c:ptCount val="38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</c:numCache>
            </c:numRef>
          </c:cat>
          <c:val>
            <c:numRef>
              <c:f>第九章!$U$79:$U$116</c:f>
              <c:numCache>
                <c:formatCode>0.00%</c:formatCode>
                <c:ptCount val="38"/>
                <c:pt idx="0">
                  <c:v>0.014780487804878</c:v>
                </c:pt>
                <c:pt idx="1">
                  <c:v>0.00364267129228102</c:v>
                </c:pt>
                <c:pt idx="2">
                  <c:v>0</c:v>
                </c:pt>
                <c:pt idx="3">
                  <c:v>0</c:v>
                </c:pt>
                <c:pt idx="4">
                  <c:v>-0.0398071167276355</c:v>
                </c:pt>
                <c:pt idx="5">
                  <c:v>-0.0138145840967387</c:v>
                </c:pt>
                <c:pt idx="6">
                  <c:v>-0.0248158821645854</c:v>
                </c:pt>
                <c:pt idx="7">
                  <c:v>-0.0189818809318378</c:v>
                </c:pt>
                <c:pt idx="8">
                  <c:v>0.0242239467849224</c:v>
                </c:pt>
                <c:pt idx="9">
                  <c:v>0.0211844508218106</c:v>
                </c:pt>
                <c:pt idx="10">
                  <c:v>0.0101897399859452</c:v>
                </c:pt>
                <c:pt idx="11">
                  <c:v>-0.0274791994603103</c:v>
                </c:pt>
                <c:pt idx="12">
                  <c:v>0.00956937799043062</c:v>
                </c:pt>
                <c:pt idx="13">
                  <c:v>0.0227365554799183</c:v>
                </c:pt>
                <c:pt idx="14">
                  <c:v>0.0141484311682297</c:v>
                </c:pt>
                <c:pt idx="15">
                  <c:v>0.0420341098169717</c:v>
                </c:pt>
                <c:pt idx="16">
                  <c:v>0.0422038834951456</c:v>
                </c:pt>
                <c:pt idx="17">
                  <c:v>0.0268165137614679</c:v>
                </c:pt>
                <c:pt idx="18">
                  <c:v>0.0199173553719008</c:v>
                </c:pt>
                <c:pt idx="19">
                  <c:v>0.0168283582089552</c:v>
                </c:pt>
                <c:pt idx="20">
                  <c:v>0.0207006802721089</c:v>
                </c:pt>
                <c:pt idx="21">
                  <c:v>0.0153433734939759</c:v>
                </c:pt>
                <c:pt idx="22">
                  <c:v>0.0163826530612245</c:v>
                </c:pt>
                <c:pt idx="23">
                  <c:v>0.0445414847161572</c:v>
                </c:pt>
                <c:pt idx="24">
                  <c:v>0.0645512727272727</c:v>
                </c:pt>
                <c:pt idx="25">
                  <c:v>0.0744625352112676</c:v>
                </c:pt>
                <c:pt idx="26">
                  <c:v>0.0649511982570806</c:v>
                </c:pt>
                <c:pt idx="27">
                  <c:v>0.0383694117647059</c:v>
                </c:pt>
                <c:pt idx="28">
                  <c:v>0.0298042692939245</c:v>
                </c:pt>
                <c:pt idx="29">
                  <c:v>0.0205483443708609</c:v>
                </c:pt>
                <c:pt idx="30">
                  <c:v>0.0270926143024619</c:v>
                </c:pt>
                <c:pt idx="31">
                  <c:v>0.0270653082549634</c:v>
                </c:pt>
                <c:pt idx="32">
                  <c:v>0.0364939885496183</c:v>
                </c:pt>
                <c:pt idx="33">
                  <c:v>0.0536980108499096</c:v>
                </c:pt>
                <c:pt idx="34">
                  <c:v>0.0454107747105966</c:v>
                </c:pt>
                <c:pt idx="35">
                  <c:v>0.0343225020308693</c:v>
                </c:pt>
                <c:pt idx="36">
                  <c:v>0.025324694024478</c:v>
                </c:pt>
                <c:pt idx="37">
                  <c:v>0.0294817927170868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第九章!$V$78</c:f>
              <c:strCache>
                <c:ptCount val="1"/>
                <c:pt idx="0">
                  <c:v>投资</c:v>
                </c:pt>
              </c:strCache>
            </c:strRef>
          </c:tx>
          <c:spPr>
            <a:ln w="50800" cap="rnd">
              <a:solidFill>
                <a:schemeClr val="tx2">
                  <a:lumMod val="60000"/>
                  <a:lumOff val="40000"/>
                </a:schemeClr>
              </a:solidFill>
              <a:round/>
            </a:ln>
            <a:effectLst/>
          </c:spPr>
          <c:marker>
            <c:symbol val="none"/>
          </c:marker>
          <c:dLbls>
            <c:delete val="1"/>
          </c:dLbls>
          <c:cat>
            <c:numRef>
              <c:f>第九章!$S$79:$S$116</c:f>
              <c:numCache>
                <c:formatCode>General</c:formatCode>
                <c:ptCount val="38"/>
                <c:pt idx="0">
                  <c:v>1982</c:v>
                </c:pt>
                <c:pt idx="1">
                  <c:v>1983</c:v>
                </c:pt>
                <c:pt idx="2">
                  <c:v>1984</c:v>
                </c:pt>
                <c:pt idx="3">
                  <c:v>1985</c:v>
                </c:pt>
                <c:pt idx="4">
                  <c:v>1986</c:v>
                </c:pt>
                <c:pt idx="5">
                  <c:v>1987</c:v>
                </c:pt>
                <c:pt idx="6">
                  <c:v>1988</c:v>
                </c:pt>
                <c:pt idx="7">
                  <c:v>1989</c:v>
                </c:pt>
                <c:pt idx="8">
                  <c:v>1990</c:v>
                </c:pt>
                <c:pt idx="9">
                  <c:v>1991</c:v>
                </c:pt>
                <c:pt idx="10">
                  <c:v>1992</c:v>
                </c:pt>
                <c:pt idx="11">
                  <c:v>1993</c:v>
                </c:pt>
                <c:pt idx="12">
                  <c:v>1994</c:v>
                </c:pt>
                <c:pt idx="13">
                  <c:v>1995</c:v>
                </c:pt>
                <c:pt idx="14">
                  <c:v>1996</c:v>
                </c:pt>
                <c:pt idx="15">
                  <c:v>1997</c:v>
                </c:pt>
                <c:pt idx="16">
                  <c:v>1998</c:v>
                </c:pt>
                <c:pt idx="17">
                  <c:v>1999</c:v>
                </c:pt>
                <c:pt idx="18">
                  <c:v>2000</c:v>
                </c:pt>
                <c:pt idx="19">
                  <c:v>2001</c:v>
                </c:pt>
                <c:pt idx="20">
                  <c:v>2002</c:v>
                </c:pt>
                <c:pt idx="21">
                  <c:v>2003</c:v>
                </c:pt>
                <c:pt idx="22">
                  <c:v>2004</c:v>
                </c:pt>
                <c:pt idx="23">
                  <c:v>2005</c:v>
                </c:pt>
                <c:pt idx="24">
                  <c:v>2006</c:v>
                </c:pt>
                <c:pt idx="25">
                  <c:v>2007</c:v>
                </c:pt>
                <c:pt idx="26">
                  <c:v>2008</c:v>
                </c:pt>
                <c:pt idx="27">
                  <c:v>2009</c:v>
                </c:pt>
                <c:pt idx="28">
                  <c:v>2010</c:v>
                </c:pt>
                <c:pt idx="29">
                  <c:v>2011</c:v>
                </c:pt>
                <c:pt idx="30">
                  <c:v>2012</c:v>
                </c:pt>
                <c:pt idx="31">
                  <c:v>2013</c:v>
                </c:pt>
                <c:pt idx="32">
                  <c:v>2014</c:v>
                </c:pt>
                <c:pt idx="33">
                  <c:v>2015</c:v>
                </c:pt>
                <c:pt idx="34">
                  <c:v>2016</c:v>
                </c:pt>
                <c:pt idx="35">
                  <c:v>2017</c:v>
                </c:pt>
                <c:pt idx="36">
                  <c:v>2018</c:v>
                </c:pt>
                <c:pt idx="37">
                  <c:v>2019</c:v>
                </c:pt>
              </c:numCache>
            </c:numRef>
          </c:cat>
          <c:val>
            <c:numRef>
              <c:f>第九章!$V$79:$V$116</c:f>
              <c:numCache>
                <c:formatCode>0.00%</c:formatCode>
                <c:ptCount val="38"/>
                <c:pt idx="0">
                  <c:v>0.323219512195122</c:v>
                </c:pt>
                <c:pt idx="1">
                  <c:v>0.327857328707719</c:v>
                </c:pt>
                <c:pt idx="2">
                  <c:v>0.349</c:v>
                </c:pt>
                <c:pt idx="3">
                  <c:v>0.3528</c:v>
                </c:pt>
                <c:pt idx="4">
                  <c:v>0.392307116727636</c:v>
                </c:pt>
                <c:pt idx="5">
                  <c:v>0.386114584096739</c:v>
                </c:pt>
                <c:pt idx="6">
                  <c:v>0.404615882164585</c:v>
                </c:pt>
                <c:pt idx="7">
                  <c:v>0.377781880931838</c:v>
                </c:pt>
                <c:pt idx="8">
                  <c:v>0.342676053215078</c:v>
                </c:pt>
                <c:pt idx="9">
                  <c:v>0.363815549178189</c:v>
                </c:pt>
                <c:pt idx="10">
                  <c:v>0.395910260014055</c:v>
                </c:pt>
                <c:pt idx="11">
                  <c:v>0.44457919946031</c:v>
                </c:pt>
                <c:pt idx="12">
                  <c:v>0.407430622009569</c:v>
                </c:pt>
                <c:pt idx="13">
                  <c:v>0.372563444520082</c:v>
                </c:pt>
                <c:pt idx="14">
                  <c:v>0.37345156883177</c:v>
                </c:pt>
                <c:pt idx="15">
                  <c:v>0.355365890183028</c:v>
                </c:pt>
                <c:pt idx="16">
                  <c:v>0.341296116504854</c:v>
                </c:pt>
                <c:pt idx="17">
                  <c:v>0.338783486238532</c:v>
                </c:pt>
                <c:pt idx="18">
                  <c:v>0.337482644628099</c:v>
                </c:pt>
                <c:pt idx="19">
                  <c:v>0.355871641791045</c:v>
                </c:pt>
                <c:pt idx="20">
                  <c:v>0.368099319727891</c:v>
                </c:pt>
                <c:pt idx="21">
                  <c:v>0.408756626506024</c:v>
                </c:pt>
                <c:pt idx="22">
                  <c:v>0.440317346938775</c:v>
                </c:pt>
                <c:pt idx="23">
                  <c:v>0.414958515283843</c:v>
                </c:pt>
                <c:pt idx="24">
                  <c:v>0.418048727272727</c:v>
                </c:pt>
                <c:pt idx="25">
                  <c:v>0.428337464788732</c:v>
                </c:pt>
                <c:pt idx="26">
                  <c:v>0.452948801742919</c:v>
                </c:pt>
                <c:pt idx="27">
                  <c:v>0.465330588235294</c:v>
                </c:pt>
                <c:pt idx="28">
                  <c:v>0.483495730706075</c:v>
                </c:pt>
                <c:pt idx="29">
                  <c:v>0.471751655629139</c:v>
                </c:pt>
                <c:pt idx="30">
                  <c:v>0.459607385697538</c:v>
                </c:pt>
                <c:pt idx="31">
                  <c:v>0.446734691745037</c:v>
                </c:pt>
                <c:pt idx="32">
                  <c:v>0.439706011450382</c:v>
                </c:pt>
                <c:pt idx="33">
                  <c:v>0.40150198915009</c:v>
                </c:pt>
                <c:pt idx="34">
                  <c:v>0.399389225289403</c:v>
                </c:pt>
                <c:pt idx="35">
                  <c:v>0.415277497969131</c:v>
                </c:pt>
                <c:pt idx="36">
                  <c:v>0.418575305975522</c:v>
                </c:pt>
                <c:pt idx="37">
                  <c:v>0.408718207282913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0"/>
        <c:smooth val="0"/>
        <c:axId val="497988352"/>
        <c:axId val="497989888"/>
      </c:lineChart>
      <c:dateAx>
        <c:axId val="497988352"/>
        <c:scaling>
          <c:orientation val="minMax"/>
        </c:scaling>
        <c:delete val="0"/>
        <c:axPos val="b"/>
        <c:numFmt formatCode="General" sourceLinked="1"/>
        <c:majorTickMark val="in"/>
        <c:minorTickMark val="out"/>
        <c:tickLblPos val="nextTo"/>
        <c:spPr>
          <a:noFill/>
          <a:ln w="1905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97989888"/>
        <c:crosses val="autoZero"/>
        <c:auto val="0"/>
        <c:lblOffset val="100"/>
        <c:baseTimeUnit val="days"/>
      </c:dateAx>
      <c:valAx>
        <c:axId val="497989888"/>
        <c:scaling>
          <c:orientation val="minMax"/>
        </c:scaling>
        <c:delete val="0"/>
        <c:axPos val="l"/>
        <c:majorGridlines>
          <c:spPr>
            <a:ln w="9525" cap="flat" cmpd="sng" algn="ctr">
              <a:noFill/>
              <a:round/>
            </a:ln>
            <a:effectLst/>
          </c:spPr>
        </c:majorGridlines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497988352"/>
        <c:crosses val="autoZero"/>
        <c:crossBetween val="midCat"/>
        <c:majorUnit val="0.0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e7343620-166b-4a1b-b7e1-fff39b8be252}"/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0.2069</cdr:x>
      <cdr:y>0.49462</cdr:y>
    </cdr:from>
    <cdr:to>
      <cdr:x>0.82204</cdr:x>
      <cdr:y>0.68555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1708146" y="2763964"/>
          <a:ext cx="5078491" cy="1066959"/>
        </a:xfrm>
        <a:prstGeom xmlns:a="http://schemas.openxmlformats.org/drawingml/2006/main" prst="rect">
          <a:avLst/>
        </a:prstGeom>
        <a:noFill/>
      </cdr:spPr>
      <cdr:txBody xmlns:a="http://schemas.openxmlformats.org/drawingml/2006/main">
        <a:bodyPr wrap="square" rtlCol="0">
          <a:spAutoFit/>
        </a:bodyPr>
        <a:lstStyle>
          <a:defPPr>
            <a:defRPr lang="zh-CN"/>
          </a:defPPr>
          <a:lvl1pPr marL="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1pPr>
          <a:lvl2pPr marL="457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2pPr>
          <a:lvl3pPr marL="914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3pPr>
          <a:lvl4pPr marL="1371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4pPr>
          <a:lvl5pPr marL="18288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5pPr>
          <a:lvl6pPr marL="22860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6pPr>
          <a:lvl7pPr marL="27432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7pPr>
          <a:lvl8pPr marL="32004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8pPr>
          <a:lvl9pPr marL="3657600" algn="l" defTabSz="914400" rtl="0" eaLnBrk="1" latinLnBrk="0" hangingPunct="1">
            <a:defRPr sz="1800" kern="1200">
              <a:solidFill>
                <a:schemeClr val="tx1"/>
              </a:solidFill>
              <a:latin typeface="+mn-lt"/>
              <a:ea typeface="+mn-ea"/>
              <a:cs typeface="+mn-cs"/>
            </a:defRPr>
          </a:lvl9pPr>
        </a:lstStyle>
        <a:p>
          <a:pPr>
            <a:lnSpc>
              <a:spcPts val="3800"/>
            </a:lnSpc>
          </a:pP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美国</a:t>
          </a:r>
          <a:r>
            <a: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多年以来，都是外国资金支撑着美国国内的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投资（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NCO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长期小于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sz="2400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cdr:txBody>
    </cdr:sp>
  </cdr:relSizeAnchor>
</c:userShapes>
</file>

<file path=ppt/drawings/drawing2.xml><?xml version="1.0" encoding="utf-8"?>
<c:userShapes xmlns:c="http://schemas.openxmlformats.org/drawingml/2006/chart">
  <cdr:relSizeAnchor xmlns:cdr="http://schemas.openxmlformats.org/drawingml/2006/chartDrawing">
    <cdr:from>
      <cdr:x>0.22146</cdr:x>
      <cdr:y>0.3928</cdr:y>
    </cdr:from>
    <cdr:to>
      <cdr:x>0.80363</cdr:x>
      <cdr:y>0.6674</cdr:y>
    </cdr:to>
    <cdr:sp>
      <cdr:nvSpPr>
        <cdr:cNvPr id="2" name="矩形 1"/>
        <cdr:cNvSpPr/>
      </cdr:nvSpPr>
      <cdr:spPr xmlns:a="http://schemas.openxmlformats.org/drawingml/2006/main">
        <a:xfrm xmlns:a="http://schemas.openxmlformats.org/drawingml/2006/main">
          <a:off x="1844256" y="2223295"/>
          <a:ext cx="4848221" cy="1554272"/>
        </a:xfrm>
        <a:prstGeom xmlns:a="http://schemas.openxmlformats.org/drawingml/2006/main" prst="rect">
          <a:avLst/>
        </a:prstGeom>
        <a:noFill/>
      </cdr:spPr>
      <cdr:txBody xmlns:a="http://schemas.openxmlformats.org/drawingml/2006/main">
        <a:bodyPr wrap="square" rtlCol="0">
          <a:spAutoFit/>
        </a:bodyPr>
        <a:lstStyle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>
          <a:pPr>
            <a:lnSpc>
              <a:spcPts val="3800"/>
            </a:lnSpc>
          </a:pP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相反，中国多年以来，尤其是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2000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年以来，都是正向的资金外流（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NCO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长期大于</a:t>
          </a:r>
          <a:r>
            <a: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0</a:t>
          </a:r>
          <a:r>
            <a:rPr lang="zh-CN" alt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rPr>
            <a:t>）</a:t>
          </a:r>
          <a:endParaRPr sz="2400" dirty="0">
            <a:solidFill>
              <a:srgbClr val="002060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76B4DBC-CCB2-421A-9400-2E47FEC2643D}" type="slidenum">
              <a:rPr lang="en-US" smtClean="0">
                <a:solidFill>
                  <a:srgbClr val="000000"/>
                </a:solidFill>
              </a:rPr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3491" name="Rectangle 7"/>
          <p:cNvSpPr txBox="1">
            <a:spLocks noGrp="1" noChangeArrowheads="1"/>
          </p:cNvSpPr>
          <p:nvPr/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AA22E77B-B370-4B38-BDDB-DEAF6FB21CE8}" type="slidenum">
              <a:rPr lang="en-US" sz="1200" b="1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sz="1200" b="1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6349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581025"/>
            <a:ext cx="4962525" cy="3722688"/>
          </a:xfrm>
        </p:spPr>
      </p:sp>
      <p:sp>
        <p:nvSpPr>
          <p:cNvPr id="6349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612488"/>
            <a:ext cx="5438140" cy="4571120"/>
          </a:xfrm>
          <a:noFill/>
        </p:spPr>
        <p:txBody>
          <a:bodyPr>
            <a:normAutofit/>
          </a:bodyPr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FB8EAD-7C7D-44EE-AEBD-E171B4628C44}" type="slidenum">
              <a:rPr lang="en-US" smtClean="0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2707" name="Rectangle 7"/>
          <p:cNvSpPr txBox="1">
            <a:spLocks noGrp="1" noChangeArrowheads="1"/>
          </p:cNvSpPr>
          <p:nvPr/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7B6B4BD-3262-4483-A70F-357068D46798}" type="slidenum">
              <a:rPr lang="en-US" sz="1200" b="1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sz="12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581025"/>
            <a:ext cx="4962525" cy="3722688"/>
          </a:xfrm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612488"/>
            <a:ext cx="5438140" cy="457112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FB8EAD-7C7D-44EE-AEBD-E171B4628C44}" type="slidenum">
              <a:rPr lang="en-US" smtClean="0">
                <a:solidFill>
                  <a:srgbClr val="000000"/>
                </a:solidFill>
              </a:rPr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2707" name="Rectangle 7"/>
          <p:cNvSpPr txBox="1">
            <a:spLocks noGrp="1" noChangeArrowheads="1"/>
          </p:cNvSpPr>
          <p:nvPr/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D7B6B4BD-3262-4483-A70F-357068D46798}" type="slidenum">
              <a:rPr lang="en-US" sz="1200" b="1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sz="1200" b="1" dirty="0">
              <a:solidFill>
                <a:srgbClr val="000000"/>
              </a:solidFill>
              <a:cs typeface="Arial" panose="020B0604020202020204" pitchFamily="34" charset="0"/>
            </a:endParaRPr>
          </a:p>
        </p:txBody>
      </p:sp>
      <p:sp>
        <p:nvSpPr>
          <p:cNvPr id="7270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581025"/>
            <a:ext cx="4962525" cy="3722688"/>
          </a:xfrm>
        </p:spPr>
      </p:sp>
      <p:sp>
        <p:nvSpPr>
          <p:cNvPr id="7270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612488"/>
            <a:ext cx="5438140" cy="457112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118183-2FA9-4F30-803B-21E2B20D2011}" type="slidenum">
              <a:rPr lang="en-US" smtClean="0"/>
            </a:fld>
            <a:endParaRPr lang="en-US"/>
          </a:p>
        </p:txBody>
      </p:sp>
      <p:sp>
        <p:nvSpPr>
          <p:cNvPr id="91139" name="Rectangle 7"/>
          <p:cNvSpPr txBox="1">
            <a:spLocks noGrp="1" noChangeArrowheads="1"/>
          </p:cNvSpPr>
          <p:nvPr/>
        </p:nvSpPr>
        <p:spPr bwMode="auto">
          <a:xfrm>
            <a:off x="3850443" y="9430091"/>
            <a:ext cx="2945659" cy="49641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b"/>
          <a:lstStyle/>
          <a:p>
            <a:pPr algn="r"/>
            <a:fld id="{0C2FFA73-CB5F-4034-AB40-607CABC6A90C}" type="slidenum">
              <a:rPr lang="en-US" sz="1200">
                <a:cs typeface="Arial" panose="020B0604020202020204" pitchFamily="34" charset="0"/>
              </a:rPr>
            </a:fld>
            <a:endParaRPr lang="en-US" sz="1200">
              <a:cs typeface="Arial" panose="020B0604020202020204" pitchFamily="34" charset="0"/>
            </a:endParaRPr>
          </a:p>
        </p:txBody>
      </p:sp>
      <p:sp>
        <p:nvSpPr>
          <p:cNvPr id="9114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581025"/>
            <a:ext cx="4962525" cy="3722688"/>
          </a:xfrm>
        </p:spPr>
      </p:sp>
      <p:sp>
        <p:nvSpPr>
          <p:cNvPr id="9114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79768" y="4612488"/>
            <a:ext cx="5438140" cy="4571120"/>
          </a:xfrm>
          <a:noFill/>
        </p:spPr>
        <p:txBody>
          <a:bodyPr/>
          <a:lstStyle/>
          <a:p>
            <a:pPr eaLnBrk="1" hangingPunct="1"/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AA64FD-7149-435D-96E3-3ACA0174F577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57BC0115-0B13-42EC-9FB9-4F869F4A7DB3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6437907F-AD33-4DE4-ABEF-0521B41A0CB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>
            <a:normAutofit/>
          </a:bodyPr>
          <a:lstStyle>
            <a:lvl1pPr algn="l">
              <a:defRPr sz="3600" b="0">
                <a:solidFill>
                  <a:srgbClr val="006699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79581"/>
          </a:xfrm>
        </p:spPr>
        <p:txBody>
          <a:bodyPr/>
          <a:lstStyle>
            <a:lvl1pPr>
              <a:lnSpc>
                <a:spcPct val="105000"/>
              </a:lnSpc>
              <a:spcBef>
                <a:spcPts val="1200"/>
              </a:spcBef>
              <a:buClr>
                <a:srgbClr val="A3C167"/>
              </a:buClr>
              <a:buFont typeface="Wingdings" panose="05000000000000000000" pitchFamily="2" charset="2"/>
              <a:buChar char="§"/>
              <a:defRPr sz="2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5000"/>
              </a:lnSpc>
              <a:spcBef>
                <a:spcPts val="300"/>
              </a:spcBef>
              <a:buClr>
                <a:srgbClr val="CC9900"/>
              </a:buClr>
              <a:buFont typeface="Wingdings" panose="05000000000000000000" pitchFamily="2" charset="2"/>
              <a:buChar char="§"/>
              <a:defRPr sz="27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5000"/>
              </a:lnSpc>
              <a:spcBef>
                <a:spcPts val="300"/>
              </a:spcBef>
              <a:buClr>
                <a:srgbClr val="B3A2C7"/>
              </a:buClr>
              <a:buFont typeface="Wingdings" panose="05000000000000000000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lnSpc>
                <a:spcPct val="105000"/>
              </a:lnSpc>
              <a:spcBef>
                <a:spcPts val="300"/>
              </a:spcBef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5" build="p">
        <p:tmplLst>
          <p:tmpl lvl="1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A0150222-B3E2-42E8-8B2E-B8ED8BD6EB0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6" Type="http://schemas.openxmlformats.org/officeDocument/2006/relationships/theme" Target="../theme/theme3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4.xml.rels><?xml version="1.0" encoding="UTF-8" standalone="yes"?>
<Relationships xmlns="http://schemas.openxmlformats.org/package/2006/relationships"><Relationship Id="rId6" Type="http://schemas.openxmlformats.org/officeDocument/2006/relationships/theme" Target="../theme/theme4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5" Type="http://schemas.openxmlformats.org/officeDocument/2006/relationships/theme" Target="../theme/theme5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38145"/>
            <a:ext cx="8229600" cy="8845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47424"/>
            <a:ext cx="8229600" cy="4878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6" name="TextBox 5"/>
          <p:cNvSpPr txBox="1"/>
          <p:nvPr userDrawn="1"/>
        </p:nvSpPr>
        <p:spPr>
          <a:xfrm>
            <a:off x="7543800" y="6324600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-10633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b="0" i="1" dirty="0" err="1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b="0" i="1" dirty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b="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3600" kern="1200">
          <a:solidFill>
            <a:srgbClr val="006699"/>
          </a:solidFill>
          <a:latin typeface="Arial" panose="020B0604020202020204"/>
          <a:ea typeface="+mj-ea"/>
          <a:cs typeface="Arial" panose="020B0604020202020204"/>
        </a:defRPr>
      </a:lvl1pPr>
    </p:titleStyle>
    <p:bodyStyle>
      <a:lvl1pPr marL="342900" marR="0" indent="-342900" algn="l" defTabSz="914400" rtl="0" eaLnBrk="1" fontAlgn="auto" latinLnBrk="0" hangingPunct="1">
        <a:lnSpc>
          <a:spcPct val="105000"/>
        </a:lnSpc>
        <a:spcBef>
          <a:spcPts val="1200"/>
        </a:spcBef>
        <a:spcAft>
          <a:spcPts val="0"/>
        </a:spcAft>
        <a:buClr>
          <a:srgbClr val="A3C167"/>
        </a:buClr>
        <a:buSzTx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1pPr>
      <a:lvl2pPr marL="742950" marR="0" indent="-28575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CC9900"/>
        </a:buClr>
        <a:buSzTx/>
        <a:buFont typeface="Wingdings" panose="05000000000000000000" pitchFamily="2" charset="2"/>
        <a:buChar char="§"/>
        <a:defRPr sz="27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2pPr>
      <a:lvl3pPr marL="11430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>
          <a:srgbClr val="B3A2C7"/>
        </a:buClr>
        <a:buSzTx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3pPr>
      <a:lvl4pPr marL="16002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4pPr>
      <a:lvl5pPr marL="2057400" marR="0" indent="-228600" algn="l" defTabSz="914400" rtl="0" eaLnBrk="1" fontAlgn="auto" latinLnBrk="0" hangingPunct="1">
        <a:lnSpc>
          <a:spcPct val="105000"/>
        </a:lnSpc>
        <a:spcBef>
          <a:spcPts val="300"/>
        </a:spcBef>
        <a:spcAft>
          <a:spcPts val="0"/>
        </a:spcAft>
        <a:buClrTx/>
        <a:buSzTx/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anose="020B0604020202020204"/>
          <a:ea typeface="+mn-ea"/>
          <a:cs typeface="Arial" panose="020B0604020202020204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3.jpeg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3.jpeg"/><Relationship Id="rId1" Type="http://schemas.openxmlformats.org/officeDocument/2006/relationships/chart" Target="../charts/char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.jpeg"/><Relationship Id="rId2" Type="http://schemas.openxmlformats.org/officeDocument/2006/relationships/chart" Target="../charts/chart5.xml"/><Relationship Id="rId1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1.xml"/><Relationship Id="rId4" Type="http://schemas.openxmlformats.org/officeDocument/2006/relationships/image" Target="../media/image3.jpeg"/><Relationship Id="rId3" Type="http://schemas.openxmlformats.org/officeDocument/2006/relationships/hyperlink" Target="../../../../../../Program%20Files/TurningPoint/2003/Questions.html" TargetMode="External"/><Relationship Id="rId2" Type="http://schemas.openxmlformats.org/officeDocument/2006/relationships/image" Target="../media/image6.emf"/><Relationship Id="rId1" Type="http://schemas.openxmlformats.org/officeDocument/2006/relationships/oleObject" Target="../embeddings/oleObject1.bin"/></Relationships>
</file>

<file path=ppt/slides/_rels/slide3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339752" y="1737428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7360" y="3263900"/>
            <a:ext cx="78492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9</a:t>
            </a:r>
            <a:r>
              <a:rPr lang="zh-CN" altLang="en-US" sz="3200" b="1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3200" b="1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：开放经济宏观经济学： 基本概念</a:t>
            </a:r>
            <a:endParaRPr lang="zh-CN" altLang="en-US" sz="3200" b="1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本章回答如下问题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755576" y="1556792"/>
            <a:ext cx="7344816" cy="24560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60000"/>
              </a:lnSpc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商品流动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国际资金流动（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）的区别与联系是什么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Font typeface="+mj-lt"/>
              <a:buAutoNum type="arabicPeriod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名义汇率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区别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与联系是什么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60000"/>
              </a:lnSpc>
              <a:buFont typeface="+mj-lt"/>
              <a:buAutoNum type="arabi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购买力平价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的理论与实践是什么？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39552" y="1412776"/>
            <a:ext cx="820891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封闭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封闭经济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不与其他经济体互动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，自给自足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我们之前学习的章节主要是假设封闭经济的情况。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开放经济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与其他经济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自由互动。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涉及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等等。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340768"/>
            <a:ext cx="837120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外贸：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在本国和外国之间的流动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生产的商品和服务销售到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生产的商品和服务销售到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净出口（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减去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称为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外贸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余额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架马车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之一（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484784"/>
            <a:ext cx="8352928" cy="36379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几种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情况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净出口将发生什么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变化？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加拿大经历了衰退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，国民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：加拿大购买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的商品和服务下降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净出口下降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中国消费者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更多华为手机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美国生产的商品比中国生产的商品价格上升得更快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484784"/>
            <a:ext cx="849694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：以下几种情况下，中国的净出口将发生什么变化？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加拿大经历了衰退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，国民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中国消费者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更多华为手机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：外国手机的进口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量下跌，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净出口上升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美国生产的商品比中国生产的商品价格上升得更快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412776"/>
            <a:ext cx="8496944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：以下几种情况下，中国的净出口将发生什么变化？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加拿大经历了衰退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，国民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失业率上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中国消费者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爱国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更多华为手机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美国生产的商品比中国生产的商品价格上升得更快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371600" lvl="2" indent="-4572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中国商品相对于美国商品更具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吸引力，从而中国商品的出口增加，美国商品的进口减少，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中国净出口上升。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67544" y="1484784"/>
            <a:ext cx="837120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影响净出口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（外贸余额）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的变量</a:t>
            </a:r>
            <a:endParaRPr lang="en-US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消费者对外国和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偏好</a:t>
            </a:r>
            <a:endParaRPr lang="en-US" altLang="zh-CN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收入</a:t>
            </a:r>
            <a:endParaRPr lang="zh-CN" altLang="en-US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内外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商品和服务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endParaRPr lang="en-US" sz="240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两国之间的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运输成本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413696"/>
            <a:ext cx="837120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净出口（外贸余额）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一个国家商品和服务贸易的不平衡。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贸易逆差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超过出口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贸易顺差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出口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超过进口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均衡贸易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进口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39552" y="1052736"/>
          <a:ext cx="8244408" cy="48245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638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2627784" y="1268760"/>
            <a:ext cx="2376264" cy="649288"/>
          </a:xfrm>
        </p:spPr>
        <p:txBody>
          <a:bodyPr>
            <a:noAutofit/>
          </a:bodyPr>
          <a:lstStyle/>
          <a:p>
            <a:pPr eaLnBrk="1" hangingPunct="1"/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中国经济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不断提高的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开放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程度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34854" name="Text Box 6"/>
          <p:cNvSpPr txBox="1">
            <a:spLocks noChangeArrowheads="1"/>
          </p:cNvSpPr>
          <p:nvPr/>
        </p:nvSpPr>
        <p:spPr bwMode="auto">
          <a:xfrm>
            <a:off x="1043608" y="2132856"/>
            <a:ext cx="553998" cy="252894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vert270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占</a:t>
            </a:r>
            <a:r>
              <a:rPr 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GDP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百分比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68617" name="Text Box 4"/>
          <p:cNvSpPr txBox="1">
            <a:spLocks noChangeArrowheads="1"/>
          </p:cNvSpPr>
          <p:nvPr/>
        </p:nvSpPr>
        <p:spPr bwMode="auto">
          <a:xfrm>
            <a:off x="6516216" y="3870325"/>
            <a:ext cx="1865784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出口</a:t>
            </a:r>
            <a:r>
              <a:rPr lang="en-US" altLang="zh-CN" sz="2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-</a:t>
            </a:r>
            <a:r>
              <a:rPr lang="zh-CN" altLang="en-US" sz="2500" b="1" dirty="0">
                <a:solidFill>
                  <a:srgbClr val="C00000"/>
                </a:solidFill>
                <a:latin typeface="Arial" panose="020B0604020202020204"/>
                <a:cs typeface="Arial" panose="020B0604020202020204"/>
              </a:rPr>
              <a:t>进口</a:t>
            </a:r>
            <a:endParaRPr lang="zh-CN" altLang="en-US" sz="2500" b="1" dirty="0">
              <a:solidFill>
                <a:srgbClr val="C00000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68616" name="Text Box 5"/>
          <p:cNvSpPr txBox="1">
            <a:spLocks noChangeArrowheads="1"/>
          </p:cNvSpPr>
          <p:nvPr/>
        </p:nvSpPr>
        <p:spPr bwMode="auto">
          <a:xfrm>
            <a:off x="5021796" y="1134061"/>
            <a:ext cx="1876807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5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进口</a:t>
            </a:r>
            <a:r>
              <a:rPr lang="en-US" altLang="zh-CN" sz="25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+</a:t>
            </a:r>
            <a:r>
              <a:rPr lang="zh-CN" altLang="en-US" sz="2500" b="1" dirty="0">
                <a:solidFill>
                  <a:srgbClr val="0070C0"/>
                </a:solidFill>
                <a:latin typeface="Arial" panose="020B0604020202020204"/>
                <a:cs typeface="Arial" panose="020B0604020202020204"/>
              </a:rPr>
              <a:t>出口</a:t>
            </a:r>
            <a:endParaRPr lang="zh-CN" altLang="en-US" sz="2500" b="1" dirty="0">
              <a:solidFill>
                <a:srgbClr val="0070C0"/>
              </a:solidFill>
              <a:latin typeface="Arial" panose="020B0604020202020204"/>
              <a:cs typeface="Arial" panose="020B0604020202020204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1691680" y="1124744"/>
          <a:ext cx="6618312" cy="460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矩形 7"/>
          <p:cNvSpPr/>
          <p:nvPr/>
        </p:nvSpPr>
        <p:spPr>
          <a:xfrm>
            <a:off x="827584" y="188640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1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899592" y="692696"/>
            <a:ext cx="3960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86080" y="1310005"/>
            <a:ext cx="8371205" cy="4461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：资金在本国和外国之间的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两种形式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直接投资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在别国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投资并且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管理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例如华为在非洲国家开设工厂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并管理工厂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证券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居民购买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国股票或债券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等证券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别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国提供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直接融资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净外流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Net Capital Outflow)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居民的</a:t>
            </a:r>
            <a:r>
              <a:rPr lang="zh-CN" altLang="en-US" sz="2400" smtClean="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资金流出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减去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外国居民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资金流入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1637" y="1556792"/>
            <a:ext cx="83712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衡量了一个国家在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中的不平衡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&gt;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金净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流出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购买外国资产超出外国购买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，“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流入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外国购买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资产超过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购买外国资产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9182" y="1413412"/>
            <a:ext cx="837120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（资金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净流出）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的变量</a:t>
            </a:r>
            <a:endParaRPr lang="en-US" altLang="zh-CN" sz="240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外国资产支付的实际利率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持有外国资产的风险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持有外国资产的限制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政策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261527" y="1353133"/>
            <a:ext cx="8712967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外资和外贸的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会计</a:t>
            </a:r>
            <a:r>
              <a:rPr 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恒等式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 = NX</a:t>
            </a:r>
            <a:endParaRPr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的每次交易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也会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同量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、同时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影响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比如：美国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购买中国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中国出口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增加，从而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NX增加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；同时，美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国进口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商品需要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因此人民币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流入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，导致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再比如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：中国购买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中国进口增加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，从而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；同时，中国进口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用美元支付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，因此需要美元流入中国，导致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减少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51322" y="1328552"/>
            <a:ext cx="8371205" cy="3503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会计恒等式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（三驾马车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Y= C+I+NX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→：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I+NX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（简单移项）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→：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               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（因为第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章：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ts val="38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→：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    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因为</a:t>
            </a:r>
            <a:r>
              <a: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NX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S&gt; I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多余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资金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NCO&gt;0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形式</a:t>
            </a: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流入到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。当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 &lt;I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国外资金净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流入本国，即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NCO&lt;0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，为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投资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缺口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融资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37816" y="953068"/>
          <a:ext cx="8255832" cy="55880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603" name="Text Box 6"/>
          <p:cNvSpPr txBox="1">
            <a:spLocks noChangeArrowheads="1"/>
          </p:cNvSpPr>
          <p:nvPr/>
        </p:nvSpPr>
        <p:spPr bwMode="auto">
          <a:xfrm rot="-5400000">
            <a:off x="-1983579" y="3211662"/>
            <a:ext cx="496411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占比</a:t>
            </a:r>
            <a:r>
              <a:rPr lang="en-US" sz="24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GDP</a:t>
            </a:r>
            <a:endParaRPr 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7047" name="Text Box 9"/>
          <p:cNvSpPr txBox="1">
            <a:spLocks noChangeArrowheads="1"/>
          </p:cNvSpPr>
          <p:nvPr/>
        </p:nvSpPr>
        <p:spPr bwMode="auto">
          <a:xfrm>
            <a:off x="4697816" y="1647166"/>
            <a:ext cx="191928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投资</a:t>
            </a:r>
            <a:endParaRPr lang="zh-CN" altLang="en-US" sz="24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7045" name="Text Box 10"/>
          <p:cNvSpPr txBox="1">
            <a:spLocks noChangeArrowheads="1"/>
          </p:cNvSpPr>
          <p:nvPr/>
        </p:nvSpPr>
        <p:spPr bwMode="auto">
          <a:xfrm>
            <a:off x="2212991" y="5045353"/>
            <a:ext cx="10096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rgbClr val="81562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NCO</a:t>
            </a:r>
            <a:r>
              <a:rPr lang="en-US" sz="2400" b="1" dirty="0">
                <a:solidFill>
                  <a:srgbClr val="81562B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b="1" dirty="0">
              <a:solidFill>
                <a:srgbClr val="81562B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7044" name="Text Box 11"/>
          <p:cNvSpPr txBox="1">
            <a:spLocks noChangeArrowheads="1"/>
          </p:cNvSpPr>
          <p:nvPr/>
        </p:nvSpPr>
        <p:spPr bwMode="auto">
          <a:xfrm>
            <a:off x="6224291" y="3124967"/>
            <a:ext cx="1300162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储蓄</a:t>
            </a:r>
            <a:endParaRPr lang="zh-CN" altLang="en-US" sz="2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98477" y="15032"/>
            <a:ext cx="2561356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1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737816" y="696737"/>
            <a:ext cx="3960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609852" y="897916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45868" y="1016740"/>
            <a:ext cx="8371205" cy="4964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长期处于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储蓄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&lt;投资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1980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年代和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2000 年代初期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巨额政府预算赤字和低私人储蓄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抑制了国民储蓄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，所以投资所需的资金缺口只能来自国外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1990年代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国民储蓄随着经济的增长而增加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，但由于信息技术的繁荣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国内投资增长得更快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，所以投资资金依然存在大量缺口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3800"/>
              </a:lnSpc>
              <a:buFont typeface="Wingdings" panose="05000000000000000000" pitchFamily="2" charset="2"/>
              <a:buChar char="ü"/>
            </a:pP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NCO&lt;0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意味着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贸易逆差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，这是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个问题吗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国家就像个人一样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可能会因为好的原因或坏的原因而负债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贸易逆差不一定是问题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可能是问题的征兆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11971" y="314351"/>
            <a:ext cx="2561356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4553" y="960438"/>
          <a:ext cx="8327840" cy="56601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8" name="图表 7"/>
          <p:cNvGraphicFramePr/>
          <p:nvPr/>
        </p:nvGraphicFramePr>
        <p:xfrm>
          <a:off x="845388" y="1127239"/>
          <a:ext cx="7704856" cy="47998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7047" name="Text Box 9"/>
          <p:cNvSpPr txBox="1">
            <a:spLocks noChangeArrowheads="1"/>
          </p:cNvSpPr>
          <p:nvPr/>
        </p:nvSpPr>
        <p:spPr bwMode="auto">
          <a:xfrm>
            <a:off x="5872561" y="2210375"/>
            <a:ext cx="1919287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投资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87045" name="Text Box 10"/>
          <p:cNvSpPr txBox="1">
            <a:spLocks noChangeArrowheads="1"/>
          </p:cNvSpPr>
          <p:nvPr/>
        </p:nvSpPr>
        <p:spPr bwMode="auto">
          <a:xfrm>
            <a:off x="7164288" y="4117406"/>
            <a:ext cx="100965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NCO</a:t>
            </a:r>
            <a:r>
              <a:rPr lang="en-US" sz="2400" b="1" dirty="0">
                <a:solidFill>
                  <a:srgbClr val="81562B"/>
                </a:solidFill>
                <a:latin typeface="Arial" panose="020B0604020202020204"/>
                <a:cs typeface="Arial" panose="020B0604020202020204"/>
              </a:rPr>
              <a:t> </a:t>
            </a:r>
            <a:endParaRPr lang="en-US" sz="2400" b="1" dirty="0">
              <a:solidFill>
                <a:srgbClr val="81562B"/>
              </a:solidFill>
              <a:latin typeface="Arial" panose="020B0604020202020204"/>
              <a:cs typeface="Arial" panose="020B0604020202020204"/>
            </a:endParaRPr>
          </a:p>
        </p:txBody>
      </p:sp>
      <p:sp>
        <p:nvSpPr>
          <p:cNvPr id="87044" name="Text Box 11"/>
          <p:cNvSpPr txBox="1">
            <a:spLocks noChangeArrowheads="1"/>
          </p:cNvSpPr>
          <p:nvPr/>
        </p:nvSpPr>
        <p:spPr bwMode="auto">
          <a:xfrm>
            <a:off x="4337309" y="1578345"/>
            <a:ext cx="1300162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储蓄</a:t>
            </a:r>
            <a:endParaRPr lang="zh-CN" altLang="en-US" sz="2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760218" y="304353"/>
            <a:ext cx="2561356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外贸与外资</a:t>
            </a:r>
            <a:endParaRPr lang="zh-CN" altLang="en-US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11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3" cstate="print"/>
          <a:srcRect t="-37500" b="-37500"/>
          <a:stretch>
            <a:fillRect/>
          </a:stretch>
        </p:blipFill>
        <p:spPr bwMode="auto">
          <a:xfrm flipV="1">
            <a:off x="760218" y="902432"/>
            <a:ext cx="3960000" cy="36000"/>
          </a:xfrm>
          <a:prstGeom prst="rect">
            <a:avLst/>
          </a:prstGeom>
          <a:noFill/>
        </p:spPr>
      </p:pic>
      <p:sp>
        <p:nvSpPr>
          <p:cNvPr id="12" name="Text Box 6"/>
          <p:cNvSpPr txBox="1">
            <a:spLocks noChangeArrowheads="1"/>
          </p:cNvSpPr>
          <p:nvPr/>
        </p:nvSpPr>
        <p:spPr bwMode="auto">
          <a:xfrm rot="16200000">
            <a:off x="-1983579" y="3211662"/>
            <a:ext cx="496411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24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占比</a:t>
            </a:r>
            <a:r>
              <a:rPr lang="en-US" sz="24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GDP</a:t>
            </a:r>
            <a:endParaRPr 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</p:spTree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33071" y="554355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628862" y="1163402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281" y="1314038"/>
            <a:ext cx="8371205" cy="5221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名义汇率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：一国货币兑换另一国货币的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国际上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通常将所有汇率表示为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每单位美元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可以兑换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其他国家的货币数量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2020.5.21 的部分汇率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每单位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美元兑换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：7.75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欧元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：0.91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日元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：107.67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7.10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各大银行网站均有当日名义汇率。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ts val="4000"/>
              </a:lnSpc>
              <a:buFont typeface="Arial" panose="020B0604020202020204" pitchFamily="34" charset="0"/>
              <a:buChar char="•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281" y="1438507"/>
            <a:ext cx="837120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一国货币价值的增加，表现为每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单位本国货币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可以兑换更多的外币数量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贬值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货币价值的下降，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表现为每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单位本国货币可以兑换更少的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外币数量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比如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：20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06-2020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年期间，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兑换人民币</a:t>
            </a:r>
            <a:endParaRPr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年平均：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6.98</a:t>
            </a:r>
            <a:endParaRPr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2006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年平均：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7.81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因此，从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2006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年至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人民币升值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11.89%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833" y="689742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95536" y="1340768"/>
            <a:ext cx="869062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：一国商品与服务交换另一国商品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与服务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比例。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l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 =</a:t>
            </a:r>
            <a:endParaRPr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国内价格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（以本国货币计量）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国外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（以外币计量）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名义汇率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，每单位本国货币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可以兑换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的外币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数量</a:t>
            </a:r>
            <a:endParaRPr sz="24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3" name="Group 10"/>
          <p:cNvGrpSpPr/>
          <p:nvPr/>
        </p:nvGrpSpPr>
        <p:grpSpPr bwMode="auto">
          <a:xfrm>
            <a:off x="2459388" y="2222935"/>
            <a:ext cx="993775" cy="933451"/>
            <a:chOff x="4073" y="3298"/>
            <a:chExt cx="430" cy="588"/>
          </a:xfrm>
        </p:grpSpPr>
        <p:sp>
          <p:nvSpPr>
            <p:cNvPr id="31752" name="Rectangle 6"/>
            <p:cNvSpPr>
              <a:spLocks noChangeArrowheads="1"/>
            </p:cNvSpPr>
            <p:nvPr/>
          </p:nvSpPr>
          <p:spPr bwMode="auto">
            <a:xfrm>
              <a:off x="4073" y="3298"/>
              <a:ext cx="43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/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e</a:t>
              </a: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x</a:t>
              </a:r>
              <a:r>
                <a: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rPr>
                <a:t> </a:t>
              </a:r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sp>
          <p:nvSpPr>
            <p:cNvPr id="31753" name="Rectangle 7"/>
            <p:cNvSpPr>
              <a:spLocks noChangeArrowheads="1"/>
            </p:cNvSpPr>
            <p:nvPr/>
          </p:nvSpPr>
          <p:spPr bwMode="auto">
            <a:xfrm>
              <a:off x="4185" y="3595"/>
              <a:ext cx="221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pPr algn="ctr"/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P*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  <a:sym typeface="+mn-ea"/>
              </a:endParaRPr>
            </a:p>
          </p:txBody>
        </p:sp>
        <p:sp>
          <p:nvSpPr>
            <p:cNvPr id="31754" name="Line 8"/>
            <p:cNvSpPr>
              <a:spLocks noChangeShapeType="1"/>
            </p:cNvSpPr>
            <p:nvPr/>
          </p:nvSpPr>
          <p:spPr bwMode="auto">
            <a:xfrm>
              <a:off x="4102" y="3613"/>
              <a:ext cx="3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" name="矩形 9"/>
          <p:cNvSpPr/>
          <p:nvPr/>
        </p:nvSpPr>
        <p:spPr>
          <a:xfrm>
            <a:off x="428833" y="689742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854777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58320" y="1060691"/>
            <a:ext cx="8427720" cy="1505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8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2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巴克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在美国售价2.50美元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售价40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已知，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= 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美元，或者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e=0.14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人民币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</a:t>
            </a: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grpSp>
        <p:nvGrpSpPr>
          <p:cNvPr id="3" name="Group 39"/>
          <p:cNvGrpSpPr/>
          <p:nvPr/>
        </p:nvGrpSpPr>
        <p:grpSpPr bwMode="auto">
          <a:xfrm>
            <a:off x="931294" y="2780930"/>
            <a:ext cx="5986462" cy="962026"/>
            <a:chOff x="455" y="2704"/>
            <a:chExt cx="3771" cy="606"/>
          </a:xfrm>
        </p:grpSpPr>
        <p:grpSp>
          <p:nvGrpSpPr>
            <p:cNvPr id="4" name="Group 32"/>
            <p:cNvGrpSpPr/>
            <p:nvPr/>
          </p:nvGrpSpPr>
          <p:grpSpPr bwMode="auto">
            <a:xfrm>
              <a:off x="1256" y="2714"/>
              <a:ext cx="2970" cy="596"/>
              <a:chOff x="1158" y="3395"/>
              <a:chExt cx="2970" cy="596"/>
            </a:xfrm>
          </p:grpSpPr>
          <p:sp>
            <p:nvSpPr>
              <p:cNvPr id="32783" name="Rectangle 26"/>
              <p:cNvSpPr>
                <a:spLocks noChangeArrowheads="1"/>
              </p:cNvSpPr>
              <p:nvPr/>
            </p:nvSpPr>
            <p:spPr bwMode="auto">
              <a:xfrm>
                <a:off x="1158" y="3395"/>
                <a:ext cx="2930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altLang="zh-CN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5.6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美元</a:t>
                </a:r>
                <a:r>
                  <a:rPr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</a:t>
                </a:r>
                <a:r>
                  <a:rPr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国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的星巴克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84" name="Rectangle 27"/>
              <p:cNvSpPr>
                <a:spLocks noChangeArrowheads="1"/>
              </p:cNvSpPr>
              <p:nvPr/>
            </p:nvSpPr>
            <p:spPr bwMode="auto">
              <a:xfrm>
                <a:off x="1614" y="3700"/>
                <a:ext cx="2025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2.5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美元</a:t>
                </a:r>
                <a:r>
                  <a:rPr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美国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的星巴克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85" name="Line 28"/>
              <p:cNvSpPr>
                <a:spLocks noChangeShapeType="1"/>
              </p:cNvSpPr>
              <p:nvPr/>
            </p:nvSpPr>
            <p:spPr bwMode="auto">
              <a:xfrm flipV="1">
                <a:off x="1520" y="3670"/>
                <a:ext cx="2608" cy="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32778" name="Rectangle 29"/>
            <p:cNvSpPr>
              <a:spLocks noChangeArrowheads="1"/>
            </p:cNvSpPr>
            <p:nvPr/>
          </p:nvSpPr>
          <p:spPr bwMode="auto">
            <a:xfrm>
              <a:off x="1094" y="2860"/>
              <a:ext cx="26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7" name="Group 33"/>
            <p:cNvGrpSpPr/>
            <p:nvPr/>
          </p:nvGrpSpPr>
          <p:grpSpPr bwMode="auto">
            <a:xfrm>
              <a:off x="455" y="2704"/>
              <a:ext cx="626" cy="588"/>
              <a:chOff x="4073" y="3298"/>
              <a:chExt cx="430" cy="588"/>
            </a:xfrm>
          </p:grpSpPr>
          <p:sp>
            <p:nvSpPr>
              <p:cNvPr id="32780" name="Rectangle 34"/>
              <p:cNvSpPr>
                <a:spLocks noChangeArrowheads="1"/>
              </p:cNvSpPr>
              <p:nvPr/>
            </p:nvSpPr>
            <p:spPr bwMode="auto">
              <a:xfrm>
                <a:off x="4073" y="3298"/>
                <a:ext cx="430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  <a:sym typeface="+mn-ea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  <a:sym typeface="+mn-ea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781" name="Rectangle 35"/>
              <p:cNvSpPr>
                <a:spLocks noChangeArrowheads="1"/>
              </p:cNvSpPr>
              <p:nvPr/>
            </p:nvSpPr>
            <p:spPr bwMode="auto">
              <a:xfrm>
                <a:off x="4185" y="3595"/>
                <a:ext cx="221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P*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32782" name="Line 36"/>
              <p:cNvSpPr>
                <a:spLocks noChangeShapeType="1"/>
              </p:cNvSpPr>
              <p:nvPr/>
            </p:nvSpPr>
            <p:spPr bwMode="auto">
              <a:xfrm>
                <a:off x="4102" y="3613"/>
                <a:ext cx="3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8" name="文本框 7"/>
          <p:cNvSpPr txBox="1"/>
          <p:nvPr/>
        </p:nvSpPr>
        <p:spPr>
          <a:xfrm>
            <a:off x="1925068" y="3932741"/>
            <a:ext cx="6960972" cy="175432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杯美国的星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巴克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的星巴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：每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杯中国星巴克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能交换到将近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2.5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杯美国星巴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克，中国的星巴克比美国的星巴克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贵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倍多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28833" y="260648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273810"/>
            <a:ext cx="8459410" cy="413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lang="zh-CN" altLang="en-US" sz="2400" smtClean="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美元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台本田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越野车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美元，在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香港的价格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港币，则：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计算的美国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的价格是多少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x P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/1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美元）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万美元）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60000"/>
              </a:lnSpc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23.4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 startAt="2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计算实际汇率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/美国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8833" y="260648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273810"/>
            <a:ext cx="8459410" cy="4130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lang="zh-CN" altLang="en-US" sz="2400" smtClean="0">
                <a:solidFill>
                  <a:srgbClr val="002060"/>
                </a:solidFill>
                <a:latin typeface="华文琥珀" pitchFamily="2" charset="-122"/>
                <a:ea typeface="华文琥珀" pitchFamily="2" charset="-122"/>
              </a:rPr>
              <a:t>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7.8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美元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台本田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越野车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在美国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b="1" i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3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美元，在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香港的价格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24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港币，则：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计算的美国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的价格是多少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 startAt="2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计算实际汇率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/美国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来衡量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6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914400" lvl="1" indent="-457200">
              <a:lnSpc>
                <a:spcPct val="160000"/>
              </a:lnSpc>
              <a:buFont typeface="+mj-lt"/>
              <a:buAutoNum type="alphaUcPeriod" startAt="2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>
              <a:lnSpc>
                <a:spcPct val="160000"/>
              </a:lnSpc>
              <a:buFont typeface="Wingdings" panose="05000000000000000000" charset="0"/>
              <a:buNone/>
            </a:pPr>
            <a:endParaRPr sz="2000" dirty="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281" y="552430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6" name="Group 39"/>
          <p:cNvGrpSpPr/>
          <p:nvPr/>
        </p:nvGrpSpPr>
        <p:grpSpPr bwMode="auto">
          <a:xfrm>
            <a:off x="2377917" y="3732693"/>
            <a:ext cx="5986462" cy="962027"/>
            <a:chOff x="455" y="2704"/>
            <a:chExt cx="3771" cy="606"/>
          </a:xfrm>
        </p:grpSpPr>
        <p:grpSp>
          <p:nvGrpSpPr>
            <p:cNvPr id="8" name="Group 32"/>
            <p:cNvGrpSpPr/>
            <p:nvPr/>
          </p:nvGrpSpPr>
          <p:grpSpPr bwMode="auto">
            <a:xfrm>
              <a:off x="1256" y="2714"/>
              <a:ext cx="2970" cy="596"/>
              <a:chOff x="1158" y="3395"/>
              <a:chExt cx="2970" cy="596"/>
            </a:xfrm>
          </p:grpSpPr>
          <p:sp>
            <p:nvSpPr>
              <p:cNvPr id="14" name="Rectangle 26"/>
              <p:cNvSpPr>
                <a:spLocks noChangeArrowheads="1"/>
              </p:cNvSpPr>
              <p:nvPr/>
            </p:nvSpPr>
            <p:spPr bwMode="auto">
              <a:xfrm>
                <a:off x="1158" y="3395"/>
                <a:ext cx="2930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23.4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港币</a:t>
                </a:r>
                <a:r>
                  <a:rPr lang="en-US" altLang="zh-CN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美国</a:t>
                </a:r>
                <a:r>
                  <a:rPr lang="en-US" altLang="zh-CN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CRV 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5" name="Rectangle 27"/>
              <p:cNvSpPr>
                <a:spLocks noChangeArrowheads="1"/>
              </p:cNvSpPr>
              <p:nvPr/>
            </p:nvSpPr>
            <p:spPr bwMode="auto">
              <a:xfrm>
                <a:off x="1736" y="3700"/>
                <a:ext cx="1783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24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万</a:t>
                </a:r>
                <a:r>
                  <a:rPr lang="zh-CN" altLang="en-US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港币</a:t>
                </a:r>
                <a:r>
                  <a:rPr lang="en-US" altLang="zh-CN" sz="2400" smtClean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/</a:t>
                </a:r>
                <a:r>
                  <a:rPr lang="zh-CN" altLang="en-US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香港</a:t>
                </a:r>
                <a:r>
                  <a:rPr lang="en-US" altLang="zh-CN" sz="240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CRV</a:t>
                </a:r>
                <a:endPara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" name="Line 28"/>
              <p:cNvSpPr>
                <a:spLocks noChangeShapeType="1"/>
              </p:cNvSpPr>
              <p:nvPr/>
            </p:nvSpPr>
            <p:spPr bwMode="auto">
              <a:xfrm flipV="1">
                <a:off x="1520" y="3670"/>
                <a:ext cx="2608" cy="1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  <p:sp>
          <p:nvSpPr>
            <p:cNvPr id="9" name="Rectangle 29"/>
            <p:cNvSpPr>
              <a:spLocks noChangeArrowheads="1"/>
            </p:cNvSpPr>
            <p:nvPr/>
          </p:nvSpPr>
          <p:spPr bwMode="auto">
            <a:xfrm>
              <a:off x="1094" y="2860"/>
              <a:ext cx="260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sz="2400" dirty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endPara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endParaRPr>
            </a:p>
          </p:txBody>
        </p:sp>
        <p:grpSp>
          <p:nvGrpSpPr>
            <p:cNvPr id="10" name="Group 33"/>
            <p:cNvGrpSpPr/>
            <p:nvPr/>
          </p:nvGrpSpPr>
          <p:grpSpPr bwMode="auto">
            <a:xfrm>
              <a:off x="455" y="2704"/>
              <a:ext cx="626" cy="588"/>
              <a:chOff x="4073" y="3298"/>
              <a:chExt cx="430" cy="588"/>
            </a:xfrm>
          </p:grpSpPr>
          <p:sp>
            <p:nvSpPr>
              <p:cNvPr id="11" name="Rectangle 34"/>
              <p:cNvSpPr>
                <a:spLocks noChangeArrowheads="1"/>
              </p:cNvSpPr>
              <p:nvPr/>
            </p:nvSpPr>
            <p:spPr bwMode="auto">
              <a:xfrm>
                <a:off x="4073" y="3298"/>
                <a:ext cx="430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e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  <a:sym typeface="+mn-ea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x</a:t>
                </a:r>
                <a:r>
                  <a:rPr lang="en-US" sz="2400">
                    <a:latin typeface="微软雅黑" panose="020B0503020204020204" pitchFamily="34" charset="-122"/>
                    <a:ea typeface="微软雅黑" panose="020B0503020204020204" pitchFamily="34" charset="-122"/>
                    <a:cs typeface="Arial" panose="020B0604020202020204"/>
                    <a:sym typeface="+mn-ea"/>
                  </a:rPr>
                  <a:t> </a:t>
                </a:r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12" name="Rectangle 35"/>
              <p:cNvSpPr>
                <a:spLocks noChangeArrowheads="1"/>
              </p:cNvSpPr>
              <p:nvPr/>
            </p:nvSpPr>
            <p:spPr bwMode="auto">
              <a:xfrm>
                <a:off x="4185" y="3595"/>
                <a:ext cx="221" cy="291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wrap="none">
                <a:spAutoFit/>
              </a:bodyPr>
              <a:lstStyle/>
              <a:p>
                <a:pPr algn="ctr"/>
                <a:r>
                  <a:rPr sz="2400" dirty="0">
                    <a:solidFill>
                      <a:srgbClr val="00206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+mn-ea"/>
                  </a:rPr>
                  <a:t>P*</a:t>
                </a:r>
                <a:endParaRPr lang="en-US" sz="240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/>
                </a:endParaRPr>
              </a:p>
            </p:txBody>
          </p:sp>
          <p:sp>
            <p:nvSpPr>
              <p:cNvPr id="13" name="Line 36"/>
              <p:cNvSpPr>
                <a:spLocks noChangeShapeType="1"/>
              </p:cNvSpPr>
              <p:nvPr/>
            </p:nvSpPr>
            <p:spPr bwMode="auto">
              <a:xfrm>
                <a:off x="4102" y="3613"/>
                <a:ext cx="3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/>
                  <a:cs typeface="Arial" panose="020B0604020202020204"/>
                </a:endParaRPr>
              </a:p>
            </p:txBody>
          </p:sp>
        </p:grpSp>
      </p:grpSp>
      <p:sp>
        <p:nvSpPr>
          <p:cNvPr id="17" name="文本框 7"/>
          <p:cNvSpPr txBox="1"/>
          <p:nvPr/>
        </p:nvSpPr>
        <p:spPr>
          <a:xfrm>
            <a:off x="1287349" y="4742414"/>
            <a:ext cx="5873660" cy="120032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即：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大概等于</a:t>
            </a:r>
            <a:r>
              <a:rPr 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台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美国</a:t>
            </a:r>
            <a:r>
              <a:rPr 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CRV</a:t>
            </a:r>
            <a:endParaRPr lang="en-US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香港是免税天堂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273810"/>
            <a:ext cx="8165465" cy="4819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多种商品下的实际汇率</a:t>
            </a:r>
            <a:endParaRPr lang="zh-CN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物价水平，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本国的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消费者物价指数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衡量一篮子商品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物价水平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，例如外国的消费者物价指数。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 = (e x P)/P*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物品价格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相对于外国一</a:t>
            </a:r>
            <a:r>
              <a:rPr 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篮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实际汇率升值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相对于外国商品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变得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更加昂贵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281" y="552430"/>
            <a:ext cx="1186602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汇率</a:t>
            </a:r>
            <a:endParaRPr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23528" y="6381328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39552" y="764704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251520" y="764704"/>
            <a:ext cx="871296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购买力平价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Purchasing Power Parity: PPP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一种汇率理论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名义汇率的调整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一篮子商品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和服务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价格均等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。购买力平价基于“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一价定律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36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一价定律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一种商品在所有市场应该以相同的价格出售。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ts val="36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假设咖啡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东莞售价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在深圳售价高，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并且可以无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成本运输，那么可以在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东莞购买咖啡并在深圳出售来快速获利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。但是，这种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套利推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高东莞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压低深圳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的价格，直到两个市场上的价格相等。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 algn="just">
              <a:lnSpc>
                <a:spcPts val="36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如果没有运输成本或者很低、没有关税等相关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成本，一价定律是存在的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我们前面举例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显示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台香港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大概等于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台美国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，即同一种商品在所有市场以大致相同的价格出售，这个其实是“一价定律”</a:t>
            </a:r>
            <a:r>
              <a:rPr lang="zh-CN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例子。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39552" y="188640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购买力平价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571500" y="1273810"/>
            <a:ext cx="8371205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之前的</a:t>
            </a:r>
            <a:r>
              <a:rPr lang="zh-CN" altLang="en-US" sz="2400" smtClean="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举例</a:t>
            </a:r>
            <a:r>
              <a:rPr lang="en-US" altLang="zh-CN" sz="2400">
                <a:solidFill>
                  <a:srgbClr val="002060"/>
                </a:solidFill>
                <a:latin typeface="华光琥珀_CNKI" panose="02000500000000000000" pitchFamily="2" charset="-122"/>
                <a:ea typeface="华光琥珀_CNKI" panose="02000500000000000000" pitchFamily="2" charset="-122"/>
              </a:rPr>
              <a:t>3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越野车的例子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美国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（美元）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香港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CRV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的价格（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港币</a:t>
            </a:r>
            <a:r>
              <a: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美元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根据</a:t>
            </a:r>
            <a:r>
              <a:rPr 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</a:t>
            </a:r>
            <a:r>
              <a:rPr 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zh-CN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612" name="Text Box 4"/>
          <p:cNvSpPr txBox="1">
            <a:spLocks noChangeArrowheads="1"/>
          </p:cNvSpPr>
          <p:nvPr/>
        </p:nvSpPr>
        <p:spPr bwMode="auto">
          <a:xfrm>
            <a:off x="4283968" y="3356992"/>
            <a:ext cx="2279650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e x P  =  P*</a:t>
            </a:r>
            <a:endParaRPr lang="en-US" sz="240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3" name="Group 34"/>
          <p:cNvGrpSpPr/>
          <p:nvPr/>
        </p:nvGrpSpPr>
        <p:grpSpPr bwMode="auto">
          <a:xfrm>
            <a:off x="6084168" y="3789040"/>
            <a:ext cx="2755900" cy="1183926"/>
            <a:chOff x="3798" y="2256"/>
            <a:chExt cx="1736" cy="732"/>
          </a:xfrm>
        </p:grpSpPr>
        <p:sp>
          <p:nvSpPr>
            <p:cNvPr id="39957" name="Line 26"/>
            <p:cNvSpPr>
              <a:spLocks noChangeShapeType="1"/>
            </p:cNvSpPr>
            <p:nvPr/>
          </p:nvSpPr>
          <p:spPr bwMode="auto">
            <a:xfrm flipH="1" flipV="1">
              <a:off x="3807" y="2256"/>
              <a:ext cx="158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958" name="Text Box 6"/>
            <p:cNvSpPr txBox="1">
              <a:spLocks noChangeArrowheads="1"/>
            </p:cNvSpPr>
            <p:nvPr/>
          </p:nvSpPr>
          <p:spPr bwMode="auto">
            <a:xfrm>
              <a:off x="3798" y="2474"/>
              <a:ext cx="1736" cy="514"/>
            </a:xfrm>
            <a:prstGeom prst="rect">
              <a:avLst/>
            </a:prstGeom>
            <a:solidFill>
              <a:srgbClr val="FFCCCC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zh-CN" alt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香港</a:t>
              </a:r>
              <a:r>
                <a:rPr lang="en-US" altLang="zh-CN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CRV</a:t>
              </a:r>
              <a:r>
                <a:rPr 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的价格</a:t>
              </a:r>
              <a:b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港币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Group 33"/>
          <p:cNvGrpSpPr/>
          <p:nvPr/>
        </p:nvGrpSpPr>
        <p:grpSpPr bwMode="auto">
          <a:xfrm>
            <a:off x="2195736" y="3789040"/>
            <a:ext cx="3098800" cy="1195388"/>
            <a:chOff x="1362" y="2244"/>
            <a:chExt cx="1952" cy="753"/>
          </a:xfrm>
        </p:grpSpPr>
        <p:sp>
          <p:nvSpPr>
            <p:cNvPr id="39948" name="Line 27"/>
            <p:cNvSpPr>
              <a:spLocks noChangeShapeType="1"/>
            </p:cNvSpPr>
            <p:nvPr/>
          </p:nvSpPr>
          <p:spPr bwMode="auto">
            <a:xfrm flipV="1">
              <a:off x="2835" y="2421"/>
              <a:ext cx="232" cy="2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39949" name="Text Box 5"/>
            <p:cNvSpPr txBox="1">
              <a:spLocks noChangeArrowheads="1"/>
            </p:cNvSpPr>
            <p:nvPr/>
          </p:nvSpPr>
          <p:spPr bwMode="auto">
            <a:xfrm>
              <a:off x="1362" y="2474"/>
              <a:ext cx="1525" cy="523"/>
            </a:xfrm>
            <a:prstGeom prst="rect">
              <a:avLst/>
            </a:prstGeom>
            <a:solidFill>
              <a:srgbClr val="A7E2FF"/>
            </a:solidFill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美国</a:t>
              </a:r>
              <a:r>
                <a:rPr lang="en-US" altLang="zh-CN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CRV</a:t>
              </a:r>
              <a:r>
                <a:rPr 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的价格</a:t>
              </a:r>
              <a:b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</a:br>
              <a:r>
                <a:rPr 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（</a:t>
              </a:r>
              <a:r>
                <a:rPr lang="zh-CN" altLang="en-US" sz="2400" smtClean="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港币币</a:t>
              </a:r>
              <a:r>
                <a:rPr lang="en-US" sz="2400">
                  <a:solidFill>
                    <a:srgbClr val="00206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）</a:t>
              </a:r>
              <a:endParaRPr 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950" name="AutoShape 25"/>
            <p:cNvSpPr/>
            <p:nvPr/>
          </p:nvSpPr>
          <p:spPr bwMode="auto">
            <a:xfrm rot="-5400000">
              <a:off x="3004" y="2061"/>
              <a:ext cx="128" cy="493"/>
            </a:xfrm>
            <a:prstGeom prst="leftBrace">
              <a:avLst>
                <a:gd name="adj1" fmla="val 66404"/>
                <a:gd name="adj2" fmla="val 50000"/>
              </a:avLst>
            </a:prstGeom>
            <a:noFill/>
            <a:ln w="19050">
              <a:solidFill>
                <a:srgbClr val="0000FF"/>
              </a:solidFill>
              <a:round/>
            </a:ln>
          </p:spPr>
          <p:txBody>
            <a:bodyPr wrap="none" anchor="ctr"/>
            <a:lstStyle/>
            <a:p>
              <a:endParaRPr lang="en-US" b="1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22" name="矩形 21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购买力平价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115616" y="5445224"/>
            <a:ext cx="38164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因此推导出：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e 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=  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*/P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323528" y="1340768"/>
            <a:ext cx="8568952" cy="422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购买力平价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含义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en-US" altLang="zh-CN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e =  P*/</a:t>
            </a:r>
            <a:r>
              <a:rPr lang="en-US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/>
              </a:rPr>
              <a:t>P: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两国之间的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名义汇率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等于</a:t>
            </a:r>
            <a:r>
              <a:rPr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价格水平的比率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如果两个国家的通货膨胀率不同，那么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会随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之调整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P* 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涨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快于 P，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上升——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升值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257300" lvl="2" indent="-342900">
              <a:lnSpc>
                <a:spcPct val="160000"/>
              </a:lnSpc>
              <a:buFont typeface="Arial" panose="020B0604020202020204" pitchFamily="34" charset="0"/>
              <a:buChar char="•"/>
            </a:pP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通货膨胀高于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外国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上涨快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于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 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那么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会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下降——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本国货币贬值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购买力平价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logo-VI系统0630-PPT-12.pn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433281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2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  <p:sp>
        <p:nvSpPr>
          <p:cNvPr id="2" name="TextBox 16"/>
          <p:cNvSpPr txBox="1"/>
          <p:nvPr/>
        </p:nvSpPr>
        <p:spPr>
          <a:xfrm>
            <a:off x="433070" y="1445502"/>
            <a:ext cx="8599170" cy="5734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4000"/>
              </a:lnSpc>
              <a:buFont typeface="Wingdings" panose="05000000000000000000" pitchFamily="2" charset="2"/>
              <a:buChar char="Ø"/>
            </a:pP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购买力平价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zh-CN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局限性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：实际中，名义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汇率并不总是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及时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调整以使各国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商品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的价格均等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原因</a:t>
            </a:r>
            <a:r>
              <a:rPr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异地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的存在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跨境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关税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存在；</a:t>
            </a: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偏好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的不同，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国内外商品不完全替代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：比如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，韩国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消费者更喜欢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三星</a:t>
            </a: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而不是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索尼。</a:t>
            </a:r>
            <a:endParaRPr lang="en-US" altLang="zh-CN" sz="2400" smtClean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尽管如此，购买力平价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长期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趋势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有较好的解释力度。例如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个国家的通胀率越高，其货币贬值的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速度在趋势上就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越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endParaRPr lang="zh-CN" altLang="en-US" sz="2400">
              <a:solidFill>
                <a:srgbClr val="002060"/>
              </a:solidFill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  <a:p>
            <a:pPr marL="800100" lvl="1" indent="-342900">
              <a:lnSpc>
                <a:spcPts val="4000"/>
              </a:lnSpc>
              <a:buFont typeface="Wingdings" panose="05000000000000000000" pitchFamily="2" charset="2"/>
              <a:buChar char="ü"/>
            </a:pPr>
            <a:endParaRPr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33070" y="554355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购买力平价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869281" y="935038"/>
          <a:ext cx="7116762" cy="513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72" name="Worksheet" r:id="rId1" imgW="4374515" imgH="2965450" progId="Excel.Sheet.8">
                  <p:embed/>
                </p:oleObj>
              </mc:Choice>
              <mc:Fallback>
                <p:oleObj name="Worksheet" r:id="rId1" imgW="4374515" imgH="2965450" progId="Excel.Sheet.8">
                  <p:embed/>
                  <p:pic>
                    <p:nvPicPr>
                      <p:cNvPr id="0" name="图片 11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281" y="935038"/>
                        <a:ext cx="7116762" cy="51371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3491880" y="6093296"/>
            <a:ext cx="5328592" cy="46166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各国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年均通胀率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）：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1993-2003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1187624" y="1124744"/>
            <a:ext cx="572464" cy="468052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vert270" wrap="square">
            <a:spAutoFit/>
          </a:bodyPr>
          <a:lstStyle/>
          <a:p>
            <a:pPr algn="ctr">
              <a:lnSpc>
                <a:spcPct val="105000"/>
              </a:lnSpc>
              <a:spcBef>
                <a:spcPct val="50000"/>
              </a:spcBef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各国货币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相对美元的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</a:t>
            </a:r>
            <a:r>
              <a:rPr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均贬值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/>
            </a:endParaRPr>
          </a:p>
        </p:txBody>
      </p:sp>
      <p:grpSp>
        <p:nvGrpSpPr>
          <p:cNvPr id="2" name="Group 6"/>
          <p:cNvGrpSpPr/>
          <p:nvPr/>
        </p:nvGrpSpPr>
        <p:grpSpPr bwMode="auto">
          <a:xfrm>
            <a:off x="7651750" y="1338263"/>
            <a:ext cx="1187450" cy="560388"/>
            <a:chOff x="4764" y="829"/>
            <a:chExt cx="748" cy="353"/>
          </a:xfrm>
        </p:grpSpPr>
        <p:sp>
          <p:nvSpPr>
            <p:cNvPr id="1054" name="Text Box 7"/>
            <p:cNvSpPr txBox="1">
              <a:spLocks noChangeArrowheads="1"/>
            </p:cNvSpPr>
            <p:nvPr/>
          </p:nvSpPr>
          <p:spPr bwMode="auto">
            <a:xfrm>
              <a:off x="4764" y="829"/>
              <a:ext cx="748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乌克兰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5" name="Line 8"/>
            <p:cNvSpPr>
              <a:spLocks noChangeShapeType="1"/>
            </p:cNvSpPr>
            <p:nvPr/>
          </p:nvSpPr>
          <p:spPr bwMode="auto">
            <a:xfrm flipV="1">
              <a:off x="5042" y="1062"/>
              <a:ext cx="60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3" name="Group 9"/>
          <p:cNvGrpSpPr/>
          <p:nvPr/>
        </p:nvGrpSpPr>
        <p:grpSpPr bwMode="auto">
          <a:xfrm>
            <a:off x="7866063" y="2173290"/>
            <a:ext cx="973137" cy="673100"/>
            <a:chOff x="4892" y="1369"/>
            <a:chExt cx="613" cy="424"/>
          </a:xfrm>
        </p:grpSpPr>
        <p:sp>
          <p:nvSpPr>
            <p:cNvPr id="1052" name="Text Box 10"/>
            <p:cNvSpPr txBox="1">
              <a:spLocks noChangeArrowheads="1"/>
            </p:cNvSpPr>
            <p:nvPr/>
          </p:nvSpPr>
          <p:spPr bwMode="auto">
            <a:xfrm>
              <a:off x="4907" y="1561"/>
              <a:ext cx="598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 dirty="0">
                  <a:latin typeface="Arial" panose="020B0604020202020204"/>
                  <a:cs typeface="Arial" panose="020B0604020202020204"/>
                </a:rPr>
                <a:t>巴西</a:t>
              </a:r>
              <a:endParaRPr lang="zh-CN" altLang="en-US" sz="2400" dirty="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3" name="Line 11"/>
            <p:cNvSpPr>
              <a:spLocks noChangeShapeType="1"/>
            </p:cNvSpPr>
            <p:nvPr/>
          </p:nvSpPr>
          <p:spPr bwMode="auto">
            <a:xfrm>
              <a:off x="4892" y="1369"/>
              <a:ext cx="68" cy="1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4" name="Group 12"/>
          <p:cNvGrpSpPr/>
          <p:nvPr/>
        </p:nvGrpSpPr>
        <p:grpSpPr bwMode="auto">
          <a:xfrm>
            <a:off x="3821113" y="4594231"/>
            <a:ext cx="1081087" cy="368300"/>
            <a:chOff x="2386" y="2929"/>
            <a:chExt cx="681" cy="232"/>
          </a:xfrm>
        </p:grpSpPr>
        <p:sp>
          <p:nvSpPr>
            <p:cNvPr id="1050" name="Text Box 13"/>
            <p:cNvSpPr txBox="1">
              <a:spLocks noChangeArrowheads="1"/>
            </p:cNvSpPr>
            <p:nvPr/>
          </p:nvSpPr>
          <p:spPr bwMode="auto">
            <a:xfrm>
              <a:off x="2521" y="2929"/>
              <a:ext cx="546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日本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51" name="Line 14"/>
            <p:cNvSpPr>
              <a:spLocks noChangeShapeType="1"/>
            </p:cNvSpPr>
            <p:nvPr/>
          </p:nvSpPr>
          <p:spPr bwMode="auto">
            <a:xfrm>
              <a:off x="2386" y="2955"/>
              <a:ext cx="142" cy="5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15"/>
          <p:cNvGrpSpPr/>
          <p:nvPr/>
        </p:nvGrpSpPr>
        <p:grpSpPr bwMode="auto">
          <a:xfrm>
            <a:off x="3765550" y="3797300"/>
            <a:ext cx="1266825" cy="487363"/>
            <a:chOff x="2316" y="2399"/>
            <a:chExt cx="798" cy="307"/>
          </a:xfrm>
        </p:grpSpPr>
        <p:sp>
          <p:nvSpPr>
            <p:cNvPr id="1048" name="Text Box 16"/>
            <p:cNvSpPr txBox="1">
              <a:spLocks noChangeArrowheads="1"/>
            </p:cNvSpPr>
            <p:nvPr/>
          </p:nvSpPr>
          <p:spPr bwMode="auto">
            <a:xfrm>
              <a:off x="2316" y="2399"/>
              <a:ext cx="698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加拿大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9" name="Line 17"/>
            <p:cNvSpPr>
              <a:spLocks noChangeShapeType="1"/>
            </p:cNvSpPr>
            <p:nvPr/>
          </p:nvSpPr>
          <p:spPr bwMode="auto">
            <a:xfrm flipH="1" flipV="1">
              <a:off x="3006" y="2598"/>
              <a:ext cx="108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18"/>
          <p:cNvGrpSpPr/>
          <p:nvPr/>
        </p:nvGrpSpPr>
        <p:grpSpPr bwMode="auto">
          <a:xfrm>
            <a:off x="6269038" y="3313116"/>
            <a:ext cx="1316037" cy="488950"/>
            <a:chOff x="3900" y="2094"/>
            <a:chExt cx="829" cy="308"/>
          </a:xfrm>
        </p:grpSpPr>
        <p:sp>
          <p:nvSpPr>
            <p:cNvPr id="1046" name="Text Box 19"/>
            <p:cNvSpPr txBox="1">
              <a:spLocks noChangeArrowheads="1"/>
            </p:cNvSpPr>
            <p:nvPr/>
          </p:nvSpPr>
          <p:spPr bwMode="auto">
            <a:xfrm>
              <a:off x="4085" y="2170"/>
              <a:ext cx="644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墨西哥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7" name="Line 20"/>
            <p:cNvSpPr>
              <a:spLocks noChangeShapeType="1"/>
            </p:cNvSpPr>
            <p:nvPr/>
          </p:nvSpPr>
          <p:spPr bwMode="auto">
            <a:xfrm>
              <a:off x="3900" y="2094"/>
              <a:ext cx="168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7" name="Group 21"/>
          <p:cNvGrpSpPr/>
          <p:nvPr/>
        </p:nvGrpSpPr>
        <p:grpSpPr bwMode="auto">
          <a:xfrm>
            <a:off x="3983038" y="2833688"/>
            <a:ext cx="1563687" cy="450850"/>
            <a:chOff x="2453" y="1792"/>
            <a:chExt cx="985" cy="284"/>
          </a:xfrm>
        </p:grpSpPr>
        <p:sp>
          <p:nvSpPr>
            <p:cNvPr id="1044" name="Text Box 22"/>
            <p:cNvSpPr txBox="1">
              <a:spLocks noChangeArrowheads="1"/>
            </p:cNvSpPr>
            <p:nvPr/>
          </p:nvSpPr>
          <p:spPr bwMode="auto">
            <a:xfrm>
              <a:off x="2453" y="1792"/>
              <a:ext cx="866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400">
                  <a:latin typeface="Arial" panose="020B0604020202020204"/>
                  <a:cs typeface="Arial" panose="020B0604020202020204"/>
                </a:rPr>
                <a:t>阿根廷</a:t>
              </a:r>
              <a:endParaRPr lang="zh-CN" alt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5" name="Line 23"/>
            <p:cNvSpPr>
              <a:spLocks noChangeShapeType="1"/>
            </p:cNvSpPr>
            <p:nvPr/>
          </p:nvSpPr>
          <p:spPr bwMode="auto">
            <a:xfrm flipH="1" flipV="1">
              <a:off x="3288" y="1980"/>
              <a:ext cx="150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24"/>
          <p:cNvGrpSpPr/>
          <p:nvPr/>
        </p:nvGrpSpPr>
        <p:grpSpPr bwMode="auto">
          <a:xfrm>
            <a:off x="5278438" y="2235203"/>
            <a:ext cx="1639887" cy="368300"/>
            <a:chOff x="3269" y="1408"/>
            <a:chExt cx="1033" cy="232"/>
          </a:xfrm>
        </p:grpSpPr>
        <p:sp>
          <p:nvSpPr>
            <p:cNvPr id="1042" name="Text Box 25"/>
            <p:cNvSpPr txBox="1">
              <a:spLocks noChangeArrowheads="1"/>
            </p:cNvSpPr>
            <p:nvPr/>
          </p:nvSpPr>
          <p:spPr bwMode="auto">
            <a:xfrm>
              <a:off x="3269" y="1408"/>
              <a:ext cx="806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罗马尼亚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3" name="Line 26"/>
            <p:cNvSpPr>
              <a:spLocks noChangeShapeType="1"/>
            </p:cNvSpPr>
            <p:nvPr/>
          </p:nvSpPr>
          <p:spPr bwMode="auto">
            <a:xfrm flipV="1">
              <a:off x="4062" y="1482"/>
              <a:ext cx="240" cy="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9" name="Group 27"/>
          <p:cNvGrpSpPr/>
          <p:nvPr/>
        </p:nvGrpSpPr>
        <p:grpSpPr bwMode="auto">
          <a:xfrm>
            <a:off x="5932488" y="4024316"/>
            <a:ext cx="955675" cy="593725"/>
            <a:chOff x="3695" y="2556"/>
            <a:chExt cx="602" cy="374"/>
          </a:xfrm>
        </p:grpSpPr>
        <p:sp>
          <p:nvSpPr>
            <p:cNvPr id="1040" name="Text Box 28"/>
            <p:cNvSpPr txBox="1">
              <a:spLocks noChangeArrowheads="1"/>
            </p:cNvSpPr>
            <p:nvPr/>
          </p:nvSpPr>
          <p:spPr bwMode="auto">
            <a:xfrm>
              <a:off x="3695" y="2698"/>
              <a:ext cx="602" cy="23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lIns="0" tIns="0" rIns="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400">
                  <a:latin typeface="Arial" panose="020B0604020202020204"/>
                  <a:cs typeface="Arial" panose="020B0604020202020204"/>
                </a:rPr>
                <a:t>肯尼亚</a:t>
              </a:r>
              <a:endParaRPr lang="en-US" sz="2400">
                <a:latin typeface="Arial" panose="020B0604020202020204"/>
                <a:cs typeface="Arial" panose="020B0604020202020204"/>
              </a:endParaRPr>
            </a:p>
          </p:txBody>
        </p:sp>
        <p:sp>
          <p:nvSpPr>
            <p:cNvPr id="1041" name="Line 29"/>
            <p:cNvSpPr>
              <a:spLocks noChangeShapeType="1"/>
            </p:cNvSpPr>
            <p:nvPr/>
          </p:nvSpPr>
          <p:spPr bwMode="auto">
            <a:xfrm flipH="1" flipV="1">
              <a:off x="3816" y="2556"/>
              <a:ext cx="126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>
                <a:latin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039" name="FlagCount" hidden="1">
            <a:hlinkClick r:id="rId3" action="ppaction://hlinkfile"/>
          </p:cNvPr>
          <p:cNvSpPr>
            <a:spLocks noChangeArrowheads="1"/>
          </p:cNvSpPr>
          <p:nvPr/>
        </p:nvSpPr>
        <p:spPr bwMode="auto">
          <a:xfrm>
            <a:off x="8255000" y="254000"/>
            <a:ext cx="381000" cy="317500"/>
          </a:xfrm>
          <a:prstGeom prst="wedgeRoundRectCallout">
            <a:avLst>
              <a:gd name="adj1" fmla="val -43750"/>
              <a:gd name="adj2" fmla="val 70000"/>
              <a:gd name="adj3" fmla="val 16667"/>
            </a:avLst>
          </a:prstGeom>
          <a:solidFill>
            <a:schemeClr val="accent1">
              <a:alpha val="25098"/>
            </a:schemeClr>
          </a:solidFill>
          <a:ln w="19050">
            <a:solidFill>
              <a:schemeClr val="tx1"/>
            </a:solidFill>
            <a:miter lim="800000"/>
          </a:ln>
        </p:spPr>
        <p:txBody>
          <a:bodyPr wrap="none" anchor="ctr"/>
          <a:lstStyle/>
          <a:p>
            <a:pPr algn="ctr"/>
            <a:r>
              <a:rPr lang="en-US" sz="1400" b="1">
                <a:latin typeface="Tahoma" panose="020B0604030504040204" pitchFamily="34" charset="0"/>
                <a:cs typeface="Arial" panose="020B0604020202020204" pitchFamily="34" charset="0"/>
              </a:rPr>
              <a:t>0</a:t>
            </a:r>
            <a:endParaRPr lang="en-US" sz="1400" b="1">
              <a:latin typeface="Tahoma" panose="020B0604030504040204" pitchFamily="34" charset="0"/>
              <a:cs typeface="Arial" panose="020B0604020202020204" pitchFamily="34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539552" y="188640"/>
            <a:ext cx="6660515" cy="5835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购买力平价</a:t>
            </a:r>
            <a:endParaRPr lang="zh-CN" sz="3200" dirty="0">
              <a:solidFill>
                <a:srgbClr val="00206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pic>
        <p:nvPicPr>
          <p:cNvPr id="32" name="Picture 2" descr="I:\BOBO Z\哈工大\JPG\2020\7月\0707-ppt\素材01\logo-VI系统0630-PPT-24.jpg"/>
          <p:cNvPicPr>
            <a:picLocks noChangeArrowheads="1"/>
          </p:cNvPicPr>
          <p:nvPr/>
        </p:nvPicPr>
        <p:blipFill>
          <a:blip r:embed="rId4" cstate="print"/>
          <a:srcRect t="-37500" b="-37500"/>
          <a:stretch>
            <a:fillRect/>
          </a:stretch>
        </p:blipFill>
        <p:spPr bwMode="auto">
          <a:xfrm flipV="1">
            <a:off x="539552" y="764704"/>
            <a:ext cx="3960000" cy="36000"/>
          </a:xfrm>
          <a:prstGeom prst="rect">
            <a:avLst/>
          </a:prstGeom>
          <a:noFill/>
        </p:spPr>
      </p:pic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1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969696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09272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哈尔滨工业大学（</a:t>
            </a:r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深圳）</a:t>
            </a:r>
            <a:endParaRPr lang="en-US" altLang="zh-CN" sz="240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  <a:p>
            <a:r>
              <a:rPr lang="zh-CN" altLang="en-US" sz="24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经济管理</a:t>
            </a:r>
            <a:r>
              <a:rPr lang="zh-CN" altLang="en-US" sz="24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学院</a:t>
            </a:r>
            <a:endParaRPr lang="zh-CN" altLang="en-US" sz="24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r>
              <a:rPr lang="en-US" altLang="zh-CN" sz="1200" dirty="0">
                <a:solidFill>
                  <a:srgbClr val="9D7B55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THE HITSZ SCHOOL OF ECONOMICS AND MANAGEMENT</a:t>
            </a:r>
            <a:endParaRPr lang="zh-CN" altLang="en-US" sz="1200" dirty="0">
              <a:solidFill>
                <a:srgbClr val="9D7B55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53152" y="1897388"/>
            <a:ext cx="4450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《</a:t>
            </a:r>
            <a:r>
              <a:rPr lang="zh-CN" altLang="en-US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经济学原理</a:t>
            </a:r>
            <a:r>
              <a:rPr lang="en-US" altLang="zh-CN" sz="48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》</a:t>
            </a:r>
            <a:endParaRPr lang="zh-CN" altLang="en-US" sz="48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72185" y="3209864"/>
            <a:ext cx="799973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第</a:t>
            </a:r>
            <a:r>
              <a:rPr lang="en-US" altLang="zh-CN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10</a:t>
            </a:r>
            <a:r>
              <a:rPr lang="zh-CN" altLang="en-US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章</a:t>
            </a:r>
            <a:r>
              <a:rPr lang="zh-CN" altLang="en-US" sz="4000" dirty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：</a:t>
            </a:r>
            <a:r>
              <a:rPr lang="zh-CN" altLang="en-US" sz="400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开放</a:t>
            </a:r>
            <a:r>
              <a:rPr lang="zh-CN" altLang="en-US" sz="4000" smtClean="0">
                <a:solidFill>
                  <a:schemeClr val="bg1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经济宏观经济学理论</a:t>
            </a:r>
            <a:endParaRPr lang="zh-CN" altLang="en-US" sz="4000" dirty="0">
              <a:solidFill>
                <a:schemeClr val="bg1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3827</Words>
  <Application>WPS 演示</Application>
  <PresentationFormat>全屏显示(4:3)</PresentationFormat>
  <Paragraphs>309</Paragraphs>
  <Slides>31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55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Times New Roman</vt:lpstr>
      <vt:lpstr>Verdana</vt:lpstr>
      <vt:lpstr>Arial</vt:lpstr>
      <vt:lpstr>Tahoma</vt:lpstr>
      <vt:lpstr>华光中雅_CNKI</vt:lpstr>
      <vt:lpstr>微软雅黑</vt:lpstr>
      <vt:lpstr>华光琥珀_CNKI</vt:lpstr>
      <vt:lpstr>Arial Unicode MS</vt:lpstr>
      <vt:lpstr>Calibri</vt:lpstr>
      <vt:lpstr>Wingdings</vt:lpstr>
      <vt:lpstr>华文琥珀</vt:lpstr>
      <vt:lpstr>Office 主题</vt:lpstr>
      <vt:lpstr>Office Theme</vt:lpstr>
      <vt:lpstr>1_Office Theme</vt:lpstr>
      <vt:lpstr>2_Office Theme</vt:lpstr>
      <vt:lpstr>1_Office 主题</vt:lpstr>
      <vt:lpstr>Excel.Sheet.8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中国经济不断提高的开放程度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ASUS</dc:creator>
  <cp:lastModifiedBy>YZ</cp:lastModifiedBy>
  <cp:revision>321</cp:revision>
  <dcterms:created xsi:type="dcterms:W3CDTF">2021-08-07T09:12:00Z</dcterms:created>
  <dcterms:modified xsi:type="dcterms:W3CDTF">2025-12-23T13:00:11Z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ICV">
    <vt:lpwstr>33D3403439134561944F7B8712B91574_12</vt:lpwstr>
  </property>
</Properties>
</file>