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66" r:id="rId3"/>
    <p:sldId id="257" r:id="rId5"/>
    <p:sldId id="268" r:id="rId6"/>
    <p:sldId id="319" r:id="rId7"/>
    <p:sldId id="324" r:id="rId8"/>
    <p:sldId id="325" r:id="rId9"/>
    <p:sldId id="326" r:id="rId10"/>
    <p:sldId id="269" r:id="rId11"/>
    <p:sldId id="270" r:id="rId12"/>
    <p:sldId id="335" r:id="rId13"/>
    <p:sldId id="271" r:id="rId14"/>
    <p:sldId id="273" r:id="rId15"/>
    <p:sldId id="327" r:id="rId16"/>
    <p:sldId id="277" r:id="rId17"/>
    <p:sldId id="275" r:id="rId18"/>
    <p:sldId id="336" r:id="rId19"/>
    <p:sldId id="276" r:id="rId20"/>
    <p:sldId id="334" r:id="rId21"/>
    <p:sldId id="337" r:id="rId22"/>
    <p:sldId id="279" r:id="rId23"/>
    <p:sldId id="280" r:id="rId24"/>
    <p:sldId id="287" r:id="rId25"/>
    <p:sldId id="281" r:id="rId26"/>
    <p:sldId id="282" r:id="rId27"/>
    <p:sldId id="283" r:id="rId28"/>
    <p:sldId id="316" r:id="rId29"/>
    <p:sldId id="339" r:id="rId30"/>
    <p:sldId id="338" r:id="rId31"/>
    <p:sldId id="284" r:id="rId32"/>
    <p:sldId id="288" r:id="rId33"/>
    <p:sldId id="289" r:id="rId34"/>
    <p:sldId id="290" r:id="rId35"/>
    <p:sldId id="285" r:id="rId36"/>
    <p:sldId id="286" r:id="rId37"/>
    <p:sldId id="298" r:id="rId38"/>
    <p:sldId id="299" r:id="rId39"/>
    <p:sldId id="297" r:id="rId40"/>
    <p:sldId id="296" r:id="rId41"/>
    <p:sldId id="295" r:id="rId42"/>
    <p:sldId id="303" r:id="rId43"/>
    <p:sldId id="304" r:id="rId44"/>
    <p:sldId id="305" r:id="rId45"/>
    <p:sldId id="330" r:id="rId46"/>
    <p:sldId id="331" r:id="rId47"/>
    <p:sldId id="332" r:id="rId48"/>
    <p:sldId id="333" r:id="rId49"/>
    <p:sldId id="345" r:id="rId50"/>
    <p:sldId id="341" r:id="rId51"/>
    <p:sldId id="342" r:id="rId52"/>
    <p:sldId id="343" r:id="rId53"/>
    <p:sldId id="344" r:id="rId54"/>
    <p:sldId id="292" r:id="rId55"/>
    <p:sldId id="311" r:id="rId56"/>
    <p:sldId id="313" r:id="rId57"/>
    <p:sldId id="314" r:id="rId5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Z" initials="Y" lastIdx="3" clrIdx="0"/>
  <p:cmAuthor id="1" name="潘 柏蕙" initials="潘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8453"/>
    <a:srgbClr val="9D7B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9" autoAdjust="0"/>
    <p:restoredTop sz="93727" autoAdjust="0"/>
  </p:normalViewPr>
  <p:slideViewPr>
    <p:cSldViewPr showGuides="1">
      <p:cViewPr varScale="1">
        <p:scale>
          <a:sx n="109" d="100"/>
          <a:sy n="109" d="100"/>
        </p:scale>
        <p:origin x="870" y="102"/>
      </p:cViewPr>
      <p:guideLst>
        <p:guide orient="horz" pos="2198"/>
        <p:guide pos="29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2" Type="http://schemas.openxmlformats.org/officeDocument/2006/relationships/commentAuthors" Target="commentAuthors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3.xml"/><Relationship Id="rId59" Type="http://schemas.openxmlformats.org/officeDocument/2006/relationships/presProps" Target="presProps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组合数据!$B$1</c:f>
              <c:strCache>
                <c:ptCount val="1"/>
                <c:pt idx="0">
                  <c:v>支出法国内生产总值GDP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组合数据!$A$2:$A$6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组合数据!$B$2:$B$6</c:f>
              <c:numCache>
                <c:formatCode>0</c:formatCode>
                <c:ptCount val="5"/>
                <c:pt idx="0">
                  <c:v>745980.508193</c:v>
                </c:pt>
                <c:pt idx="1">
                  <c:v>828982.763984</c:v>
                </c:pt>
                <c:pt idx="2">
                  <c:v>915774.255087</c:v>
                </c:pt>
                <c:pt idx="3">
                  <c:v>990708.3953</c:v>
                </c:pt>
                <c:pt idx="4">
                  <c:v>1025916.6</c:v>
                </c:pt>
              </c:numCache>
            </c:numRef>
          </c:val>
        </c:ser>
        <c:ser>
          <c:idx val="2"/>
          <c:order val="1"/>
          <c:tx>
            <c:strRef>
              <c:f>组合数据!$C$1</c:f>
              <c:strCache>
                <c:ptCount val="1"/>
                <c:pt idx="0">
                  <c:v>居民消费C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组合数据!$A$2:$A$6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组合数据!$C$2:$C$6</c:f>
              <c:numCache>
                <c:formatCode>0</c:formatCode>
                <c:ptCount val="5"/>
                <c:pt idx="0">
                  <c:v>288668.15453</c:v>
                </c:pt>
                <c:pt idx="1">
                  <c:v>320689.504087</c:v>
                </c:pt>
                <c:pt idx="2">
                  <c:v>354124.378168</c:v>
                </c:pt>
                <c:pt idx="3">
                  <c:v>387188.0995</c:v>
                </c:pt>
                <c:pt idx="4">
                  <c:v>387176.1</c:v>
                </c:pt>
              </c:numCache>
            </c:numRef>
          </c:val>
        </c:ser>
        <c:ser>
          <c:idx val="3"/>
          <c:order val="2"/>
          <c:tx>
            <c:strRef>
              <c:f>组合数据!$D$1</c:f>
              <c:strCache>
                <c:ptCount val="1"/>
                <c:pt idx="0">
                  <c:v>资本形成总额I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组合数据!$A$2:$A$6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组合数据!$D$2:$D$6</c:f>
              <c:numCache>
                <c:formatCode>0</c:formatCode>
                <c:ptCount val="5"/>
                <c:pt idx="0">
                  <c:v>318198.491213</c:v>
                </c:pt>
                <c:pt idx="1">
                  <c:v>357886.096911</c:v>
                </c:pt>
                <c:pt idx="2">
                  <c:v>402585.147747</c:v>
                </c:pt>
                <c:pt idx="3">
                  <c:v>426678.7323</c:v>
                </c:pt>
                <c:pt idx="4">
                  <c:v>442400.6</c:v>
                </c:pt>
              </c:numCache>
            </c:numRef>
          </c:val>
        </c:ser>
        <c:ser>
          <c:idx val="4"/>
          <c:order val="3"/>
          <c:tx>
            <c:strRef>
              <c:f>组合数据!$E$1</c:f>
              <c:strCache>
                <c:ptCount val="1"/>
                <c:pt idx="0">
                  <c:v>政府消费G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组合数据!$A$2:$A$6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组合数据!$E$2:$E$6</c:f>
              <c:numCache>
                <c:formatCode>0</c:formatCode>
                <c:ptCount val="5"/>
                <c:pt idx="0">
                  <c:v>122138.26306</c:v>
                </c:pt>
                <c:pt idx="1">
                  <c:v>135828.722193</c:v>
                </c:pt>
                <c:pt idx="2">
                  <c:v>152010.56564</c:v>
                </c:pt>
                <c:pt idx="3">
                  <c:v>165443.6396</c:v>
                </c:pt>
                <c:pt idx="4">
                  <c:v>169810.3</c:v>
                </c:pt>
              </c:numCache>
            </c:numRef>
          </c:val>
        </c:ser>
        <c:ser>
          <c:idx val="5"/>
          <c:order val="4"/>
          <c:tx>
            <c:strRef>
              <c:f>组合数据!$F$1</c:f>
              <c:strCache>
                <c:ptCount val="1"/>
                <c:pt idx="0">
                  <c:v>货物和服务净出口NX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组合数据!$A$2:$A$6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组合数据!$F$2:$F$6</c:f>
              <c:numCache>
                <c:formatCode>0</c:formatCode>
                <c:ptCount val="5"/>
                <c:pt idx="0">
                  <c:v>16975.599389</c:v>
                </c:pt>
                <c:pt idx="1">
                  <c:v>14578.440793</c:v>
                </c:pt>
                <c:pt idx="2">
                  <c:v>7054.163532</c:v>
                </c:pt>
                <c:pt idx="3">
                  <c:v>11397.9238</c:v>
                </c:pt>
                <c:pt idx="4">
                  <c:v>26529.5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79527680"/>
        <c:axId val="979528224"/>
      </c:barChart>
      <c:lineChart>
        <c:grouping val="standard"/>
        <c:varyColors val="0"/>
        <c:ser>
          <c:idx val="7"/>
          <c:order val="5"/>
          <c:tx>
            <c:strRef>
              <c:f>组合数据!$H$1</c:f>
              <c:strCache>
                <c:ptCount val="1"/>
                <c:pt idx="0">
                  <c:v>C/Y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dLbls>
            <c:spPr>
              <a:solidFill>
                <a:srgbClr val="FFFF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组合数据!$A$2:$A$6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组合数据!$H$2:$H$6</c:f>
              <c:numCache>
                <c:formatCode>0%</c:formatCode>
                <c:ptCount val="5"/>
                <c:pt idx="0">
                  <c:v>0.386964741517503</c:v>
                </c:pt>
                <c:pt idx="1">
                  <c:v>0.386847010601043</c:v>
                </c:pt>
                <c:pt idx="2">
                  <c:v>0.386693965462436</c:v>
                </c:pt>
                <c:pt idx="3">
                  <c:v>0.39081943923848</c:v>
                </c:pt>
                <c:pt idx="4">
                  <c:v>0.377395297044614</c:v>
                </c:pt>
              </c:numCache>
            </c:numRef>
          </c:val>
          <c:smooth val="0"/>
        </c:ser>
        <c:ser>
          <c:idx val="8"/>
          <c:order val="6"/>
          <c:tx>
            <c:strRef>
              <c:f>组合数据!$I$1</c:f>
              <c:strCache>
                <c:ptCount val="1"/>
                <c:pt idx="0">
                  <c:v>I/Y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dLbls>
            <c:spPr>
              <a:solidFill>
                <a:srgbClr val="FFFF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组合数据!$A$2:$A$6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组合数据!$I$2:$I$6</c:f>
              <c:numCache>
                <c:formatCode>0%</c:formatCode>
                <c:ptCount val="5"/>
                <c:pt idx="0">
                  <c:v>0.426550677555607</c:v>
                </c:pt>
                <c:pt idx="1">
                  <c:v>0.43171717490366</c:v>
                </c:pt>
                <c:pt idx="2">
                  <c:v>0.439611777149985</c:v>
                </c:pt>
                <c:pt idx="3">
                  <c:v>0.430680444744587</c:v>
                </c:pt>
                <c:pt idx="4">
                  <c:v>0.431224721385734</c:v>
                </c:pt>
              </c:numCache>
            </c:numRef>
          </c:val>
          <c:smooth val="0"/>
        </c:ser>
        <c:ser>
          <c:idx val="9"/>
          <c:order val="7"/>
          <c:tx>
            <c:strRef>
              <c:f>组合数据!$J$1</c:f>
              <c:strCache>
                <c:ptCount val="1"/>
                <c:pt idx="0">
                  <c:v>G/Y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triangle"/>
            <c:size val="5"/>
            <c:spPr>
              <a:solidFill>
                <a:schemeClr val="accent4">
                  <a:lumMod val="60000"/>
                </a:schemeClr>
              </a:solidFill>
              <a:ln w="9525">
                <a:solidFill>
                  <a:schemeClr val="accent4">
                    <a:lumMod val="60000"/>
                  </a:schemeClr>
                </a:solidFill>
              </a:ln>
              <a:effectLst/>
            </c:spPr>
          </c:marker>
          <c:dLbls>
            <c:spPr>
              <a:solidFill>
                <a:srgbClr val="FFFF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组合数据!$A$2:$A$6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组合数据!$J$2:$J$6</c:f>
              <c:numCache>
                <c:formatCode>0%</c:formatCode>
                <c:ptCount val="5"/>
                <c:pt idx="0">
                  <c:v>0.163728491185188</c:v>
                </c:pt>
                <c:pt idx="1">
                  <c:v>0.163849874924084</c:v>
                </c:pt>
                <c:pt idx="2">
                  <c:v>0.165991307132301</c:v>
                </c:pt>
                <c:pt idx="3">
                  <c:v>0.166995293857282</c:v>
                </c:pt>
                <c:pt idx="4">
                  <c:v>0.165520569605755</c:v>
                </c:pt>
              </c:numCache>
            </c:numRef>
          </c:val>
          <c:smooth val="0"/>
        </c:ser>
        <c:ser>
          <c:idx val="10"/>
          <c:order val="8"/>
          <c:tx>
            <c:strRef>
              <c:f>组合数据!$K$1</c:f>
              <c:strCache>
                <c:ptCount val="1"/>
                <c:pt idx="0">
                  <c:v>NX/Y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Pt>
            <c:idx val="3"/>
            <c:marker>
              <c:symbol val="circle"/>
              <c:size val="5"/>
              <c:spPr>
                <a:solidFill>
                  <a:schemeClr val="accent5">
                    <a:lumMod val="60000"/>
                  </a:schemeClr>
                </a:solidFill>
                <a:ln w="9525">
                  <a:solidFill>
                    <a:schemeClr val="accent5">
                      <a:lumMod val="60000"/>
                    </a:schemeClr>
                  </a:solidFill>
                </a:ln>
                <a:effectLst/>
              </c:spPr>
            </c:marker>
            <c:bubble3D val="0"/>
          </c:dPt>
          <c:dLbls>
            <c:spPr>
              <a:solidFill>
                <a:srgbClr val="FFFF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组合数据!$A$2:$A$6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组合数据!$K$2:$K$6</c:f>
              <c:numCache>
                <c:formatCode>0%</c:formatCode>
                <c:ptCount val="5"/>
                <c:pt idx="0">
                  <c:v>0.022756089740361</c:v>
                </c:pt>
                <c:pt idx="1">
                  <c:v>0.0175859395712133</c:v>
                </c:pt>
                <c:pt idx="2">
                  <c:v>0.00770295025527863</c:v>
                </c:pt>
                <c:pt idx="3">
                  <c:v>0.0115048220587134</c:v>
                </c:pt>
                <c:pt idx="4">
                  <c:v>0.0258593144900862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79529856"/>
        <c:axId val="979527136"/>
      </c:lineChart>
      <c:catAx>
        <c:axId val="97952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979528224"/>
        <c:crosses val="autoZero"/>
        <c:auto val="1"/>
        <c:lblAlgn val="ctr"/>
        <c:lblOffset val="100"/>
        <c:noMultiLvlLbl val="0"/>
      </c:catAx>
      <c:valAx>
        <c:axId val="979528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979527680"/>
        <c:crosses val="autoZero"/>
        <c:crossBetween val="between"/>
      </c:valAx>
      <c:catAx>
        <c:axId val="9795298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79527136"/>
        <c:crosses val="autoZero"/>
        <c:auto val="1"/>
        <c:lblAlgn val="ctr"/>
        <c:lblOffset val="100"/>
        <c:noMultiLvlLbl val="0"/>
      </c:catAx>
      <c:valAx>
        <c:axId val="979527136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97952985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2922138607952"/>
          <c:y val="0.832372073601018"/>
          <c:w val="0.75389680019973"/>
          <c:h val="0.14938282719544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1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40f7aa8-14a8-42f9-b94b-39981449d26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Sheet3!$B$2</c:f>
              <c:strCache>
                <c:ptCount val="1"/>
                <c:pt idx="0">
                  <c:v>名义GDP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Sheet3!$A$3:$A$23</c:f>
              <c:numCache>
                <c:formatCode>General</c:formatCode>
                <c:ptCount val="21"/>
                <c:pt idx="0">
                  <c:v>2000</c:v>
                </c:pt>
                <c:pt idx="5">
                  <c:v>2005</c:v>
                </c:pt>
                <c:pt idx="10">
                  <c:v>2010</c:v>
                </c:pt>
                <c:pt idx="15">
                  <c:v>2015</c:v>
                </c:pt>
                <c:pt idx="20">
                  <c:v>2020</c:v>
                </c:pt>
              </c:numCache>
            </c:numRef>
          </c:cat>
          <c:val>
            <c:numRef>
              <c:f>Sheet3!$B$3:$B$23</c:f>
              <c:numCache>
                <c:formatCode>###,###,###,###,##0_ </c:formatCode>
                <c:ptCount val="21"/>
                <c:pt idx="0">
                  <c:v>99798.962671</c:v>
                </c:pt>
                <c:pt idx="1">
                  <c:v>110388.354618</c:v>
                </c:pt>
                <c:pt idx="2">
                  <c:v>121326.680661</c:v>
                </c:pt>
                <c:pt idx="3">
                  <c:v>137146.70983</c:v>
                </c:pt>
                <c:pt idx="4">
                  <c:v>161355.605166</c:v>
                </c:pt>
                <c:pt idx="5">
                  <c:v>187657.543629</c:v>
                </c:pt>
                <c:pt idx="6">
                  <c:v>219597.519598</c:v>
                </c:pt>
                <c:pt idx="7">
                  <c:v>270499.406328</c:v>
                </c:pt>
                <c:pt idx="8">
                  <c:v>318067.55915</c:v>
                </c:pt>
                <c:pt idx="9">
                  <c:v>347650.271631</c:v>
                </c:pt>
                <c:pt idx="10">
                  <c:v>408505.399144</c:v>
                </c:pt>
                <c:pt idx="11">
                  <c:v>484109.305967</c:v>
                </c:pt>
                <c:pt idx="12">
                  <c:v>539039.906012</c:v>
                </c:pt>
                <c:pt idx="13">
                  <c:v>596344.481645</c:v>
                </c:pt>
                <c:pt idx="14">
                  <c:v>646547.960703</c:v>
                </c:pt>
                <c:pt idx="15">
                  <c:v>692093.699096</c:v>
                </c:pt>
                <c:pt idx="16">
                  <c:v>745980.508193</c:v>
                </c:pt>
                <c:pt idx="17">
                  <c:v>828982.763984</c:v>
                </c:pt>
                <c:pt idx="18">
                  <c:v>915774.255087</c:v>
                </c:pt>
                <c:pt idx="19">
                  <c:v>994927.388277</c:v>
                </c:pt>
                <c:pt idx="20">
                  <c:v>1025916.6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Sheet3!$C$2</c:f>
              <c:strCache>
                <c:ptCount val="1"/>
                <c:pt idx="0">
                  <c:v>实际GDP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Sheet3!$A$3:$A$23</c:f>
              <c:numCache>
                <c:formatCode>General</c:formatCode>
                <c:ptCount val="21"/>
                <c:pt idx="0">
                  <c:v>2000</c:v>
                </c:pt>
                <c:pt idx="5">
                  <c:v>2005</c:v>
                </c:pt>
                <c:pt idx="10">
                  <c:v>2010</c:v>
                </c:pt>
                <c:pt idx="15">
                  <c:v>2015</c:v>
                </c:pt>
                <c:pt idx="20">
                  <c:v>2020</c:v>
                </c:pt>
              </c:numCache>
            </c:numRef>
          </c:cat>
          <c:val>
            <c:numRef>
              <c:f>Sheet3!$C$3:$C$23</c:f>
              <c:numCache>
                <c:formatCode>###,###,###,###,##0_ </c:formatCode>
                <c:ptCount val="21"/>
                <c:pt idx="0">
                  <c:v>50886.73589</c:v>
                </c:pt>
                <c:pt idx="1">
                  <c:v>108639.2244</c:v>
                </c:pt>
                <c:pt idx="2">
                  <c:v>118561.93</c:v>
                </c:pt>
                <c:pt idx="3">
                  <c:v>130463.2127</c:v>
                </c:pt>
                <c:pt idx="4">
                  <c:v>143657.7681</c:v>
                </c:pt>
                <c:pt idx="5">
                  <c:v>160026.9844</c:v>
                </c:pt>
                <c:pt idx="6">
                  <c:v>211147.6577</c:v>
                </c:pt>
                <c:pt idx="7">
                  <c:v>241195.7873</c:v>
                </c:pt>
                <c:pt idx="8">
                  <c:v>264472.8183</c:v>
                </c:pt>
                <c:pt idx="9">
                  <c:v>289329.8928</c:v>
                </c:pt>
                <c:pt idx="10">
                  <c:v>320102.6472</c:v>
                </c:pt>
                <c:pt idx="11">
                  <c:v>451480.0743</c:v>
                </c:pt>
                <c:pt idx="12">
                  <c:v>486983.2775</c:v>
                </c:pt>
                <c:pt idx="13">
                  <c:v>524803.1297</c:v>
                </c:pt>
                <c:pt idx="14">
                  <c:v>563773.7698</c:v>
                </c:pt>
                <c:pt idx="15">
                  <c:v>603470.9351</c:v>
                </c:pt>
                <c:pt idx="16">
                  <c:v>736036.4793</c:v>
                </c:pt>
                <c:pt idx="17">
                  <c:v>787170.4115</c:v>
                </c:pt>
                <c:pt idx="18">
                  <c:v>840302.6339</c:v>
                </c:pt>
                <c:pt idx="19">
                  <c:v>890304.8</c:v>
                </c:pt>
                <c:pt idx="20">
                  <c:v>911205.3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979532576"/>
        <c:axId val="979526048"/>
      </c:lineChart>
      <c:catAx>
        <c:axId val="97953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979526048"/>
        <c:crosses val="autoZero"/>
        <c:auto val="1"/>
        <c:lblAlgn val="ctr"/>
        <c:lblOffset val="100"/>
        <c:noMultiLvlLbl val="0"/>
      </c:catAx>
      <c:valAx>
        <c:axId val="979526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,###,###,##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979532576"/>
        <c:crosses val="autoZero"/>
        <c:crossBetween val="between"/>
      </c:valAx>
      <c:spPr>
        <a:solidFill>
          <a:schemeClr val="accent2">
            <a:lumMod val="40000"/>
            <a:lumOff val="60000"/>
          </a:schemeClr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3421b07-3301-44bb-b61d-e5f9a158605a}"/>
      </c:ext>
    </c:extLst>
  </c:chart>
  <c:spPr>
    <a:solidFill>
      <a:schemeClr val="accent2">
        <a:lumMod val="40000"/>
        <a:lumOff val="60000"/>
      </a:scheme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5E59EA-CC10-43D2-A3FB-8F02493EA186}" type="doc">
      <dgm:prSet loTypeId="urn:microsoft.com/office/officeart/2005/8/layout/hierarchy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6417E06B-7874-4B49-B5CB-73AD655B0BF1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2400" b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经济</a:t>
          </a:r>
          <a:r>
            <a:rPr lang="en-US" altLang="zh-CN" sz="2400" b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br>
            <a:rPr lang="en-US" altLang="zh-CN" sz="2400" b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</a:br>
          <a:r>
            <a:rPr lang="zh-CN" altLang="en-US" sz="2400" b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增长</a:t>
          </a:r>
          <a:endParaRPr lang="zh-CN" altLang="en-US" sz="2400" b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C443CB2-D6E6-41BF-A4C1-6D27B1802C47}" cxnId="{060692D4-611A-486A-AECC-B5AEEF819DAC}" type="parTrans">
      <dgm:prSet/>
      <dgm:spPr/>
      <dgm:t>
        <a:bodyPr/>
        <a:lstStyle/>
        <a:p>
          <a:endParaRPr lang="zh-CN" altLang="en-US" sz="2400"/>
        </a:p>
      </dgm:t>
    </dgm:pt>
    <dgm:pt modelId="{8986E81B-8D83-4818-9C17-C1C957302C92}" cxnId="{060692D4-611A-486A-AECC-B5AEEF819DAC}" type="sibTrans">
      <dgm:prSet/>
      <dgm:spPr/>
      <dgm:t>
        <a:bodyPr/>
        <a:lstStyle/>
        <a:p>
          <a:endParaRPr lang="zh-CN" altLang="en-US" sz="2400"/>
        </a:p>
      </dgm:t>
    </dgm:pt>
    <dgm:pt modelId="{8B59F1DF-E7C4-48F0-8432-9F5699EDFD94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2400" b="0" smtClean="0">
              <a:latin typeface="微软雅黑" panose="020B0503020204020204" pitchFamily="34" charset="-122"/>
              <a:ea typeface="微软雅黑" panose="020B0503020204020204" pitchFamily="34" charset="-122"/>
            </a:rPr>
            <a:t>就业</a:t>
          </a:r>
          <a:r>
            <a:rPr lang="en-US" altLang="zh-CN" sz="2400" b="0" smtClean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br>
            <a:rPr lang="en-US" altLang="zh-CN" sz="2400" b="0" smtClean="0">
              <a:latin typeface="微软雅黑" panose="020B0503020204020204" pitchFamily="34" charset="-122"/>
              <a:ea typeface="微软雅黑" panose="020B0503020204020204" pitchFamily="34" charset="-122"/>
            </a:rPr>
          </a:br>
          <a:r>
            <a:rPr lang="zh-CN" altLang="en-US" sz="2400" b="0" smtClean="0">
              <a:latin typeface="微软雅黑" panose="020B0503020204020204" pitchFamily="34" charset="-122"/>
              <a:ea typeface="微软雅黑" panose="020B0503020204020204" pitchFamily="34" charset="-122"/>
            </a:rPr>
            <a:t>充分</a:t>
          </a:r>
          <a:endParaRPr lang="zh-CN" altLang="en-US" sz="2400" b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2106E50-1F54-44E4-A188-0A49BA8D5106}" cxnId="{4AC6B8BD-7AFA-4361-94AD-5FE1E9365A1B}" type="parTrans">
      <dgm:prSet/>
      <dgm:spPr/>
      <dgm:t>
        <a:bodyPr/>
        <a:lstStyle/>
        <a:p>
          <a:endParaRPr lang="zh-CN" altLang="en-US" sz="2400"/>
        </a:p>
      </dgm:t>
    </dgm:pt>
    <dgm:pt modelId="{C8FE1949-E6BB-4CD8-98A4-4EFA3D974449}" cxnId="{4AC6B8BD-7AFA-4361-94AD-5FE1E9365A1B}" type="sibTrans">
      <dgm:prSet/>
      <dgm:spPr/>
      <dgm:t>
        <a:bodyPr/>
        <a:lstStyle/>
        <a:p>
          <a:endParaRPr lang="zh-CN" altLang="en-US" sz="2400"/>
        </a:p>
      </dgm:t>
    </dgm:pt>
    <dgm:pt modelId="{EC43782C-EA90-41EE-8D54-34D6F565182D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2400" b="0" smtClean="0">
              <a:latin typeface="微软雅黑" panose="020B0503020204020204" pitchFamily="34" charset="-122"/>
              <a:ea typeface="微软雅黑" panose="020B0503020204020204" pitchFamily="34" charset="-122"/>
            </a:rPr>
            <a:t>价格</a:t>
          </a:r>
          <a:r>
            <a:rPr lang="en-US" altLang="zh-CN" sz="2400" b="0" smtClean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br>
            <a:rPr lang="en-US" altLang="zh-CN" sz="2400" b="0" smtClean="0">
              <a:latin typeface="微软雅黑" panose="020B0503020204020204" pitchFamily="34" charset="-122"/>
              <a:ea typeface="微软雅黑" panose="020B0503020204020204" pitchFamily="34" charset="-122"/>
            </a:rPr>
          </a:br>
          <a:r>
            <a:rPr lang="zh-CN" altLang="en-US" sz="2400" b="0" smtClean="0">
              <a:latin typeface="微软雅黑" panose="020B0503020204020204" pitchFamily="34" charset="-122"/>
              <a:ea typeface="微软雅黑" panose="020B0503020204020204" pitchFamily="34" charset="-122"/>
            </a:rPr>
            <a:t>稳定</a:t>
          </a:r>
          <a:endParaRPr lang="zh-CN" altLang="en-US" sz="2400" b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1AC641C-575A-4304-9284-94A58FF3856C}" cxnId="{88BEEC83-ADAC-426D-BAE1-77C488A4B64A}" type="parTrans">
      <dgm:prSet/>
      <dgm:spPr/>
      <dgm:t>
        <a:bodyPr/>
        <a:lstStyle/>
        <a:p>
          <a:endParaRPr lang="zh-CN" altLang="en-US" sz="2400"/>
        </a:p>
      </dgm:t>
    </dgm:pt>
    <dgm:pt modelId="{7F5B8BB6-4EE4-48FE-A396-4FEAFDE36B5C}" cxnId="{88BEEC83-ADAC-426D-BAE1-77C488A4B64A}" type="sibTrans">
      <dgm:prSet/>
      <dgm:spPr/>
      <dgm:t>
        <a:bodyPr/>
        <a:lstStyle/>
        <a:p>
          <a:endParaRPr lang="zh-CN" altLang="en-US" sz="2400"/>
        </a:p>
      </dgm:t>
    </dgm:pt>
    <dgm:pt modelId="{D8F6D797-95B4-4592-8202-4B074FF905C8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zh-CN" sz="2400" b="0" smtClean="0">
              <a:latin typeface="微软雅黑" panose="020B0503020204020204" pitchFamily="34" charset="-122"/>
              <a:ea typeface="微软雅黑" panose="020B0503020204020204" pitchFamily="34" charset="-122"/>
            </a:rPr>
            <a:t>国际</a:t>
          </a:r>
          <a:r>
            <a:rPr lang="zh-CN" sz="2400" b="0">
              <a:latin typeface="微软雅黑" panose="020B0503020204020204" pitchFamily="34" charset="-122"/>
              <a:ea typeface="微软雅黑" panose="020B0503020204020204" pitchFamily="34" charset="-122"/>
            </a:rPr>
            <a:t>收支平衡</a:t>
          </a:r>
          <a:r>
            <a:rPr lang="en-US" sz="2400" b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endParaRPr lang="zh-CN" sz="2400" b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636832C-62FC-4CFE-8282-8A0DFBFAA478}" cxnId="{1DB5FD59-93D1-48FA-8295-47331442B06B}" type="parTrans">
      <dgm:prSet/>
      <dgm:spPr/>
      <dgm:t>
        <a:bodyPr/>
        <a:lstStyle/>
        <a:p>
          <a:endParaRPr lang="zh-CN" altLang="en-US" sz="2400"/>
        </a:p>
      </dgm:t>
    </dgm:pt>
    <dgm:pt modelId="{1A2FA2E3-9320-4078-85C0-938E72DD07A0}" cxnId="{1DB5FD59-93D1-48FA-8295-47331442B06B}" type="sibTrans">
      <dgm:prSet/>
      <dgm:spPr/>
      <dgm:t>
        <a:bodyPr/>
        <a:lstStyle/>
        <a:p>
          <a:endParaRPr lang="zh-CN" altLang="en-US" sz="2400"/>
        </a:p>
      </dgm:t>
    </dgm:pt>
    <dgm:pt modelId="{C3E164FF-6D33-4B76-96F4-5A684580F1AB}" type="pres">
      <dgm:prSet presAssocID="{935E59EA-CC10-43D2-A3FB-8F02493EA186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FCD5CEB3-76B1-4026-A0FE-03983BE01D88}" type="pres">
      <dgm:prSet presAssocID="{6417E06B-7874-4B49-B5CB-73AD655B0BF1}" presName="vertOne" presStyleCnt="0"/>
      <dgm:spPr/>
    </dgm:pt>
    <dgm:pt modelId="{5455315C-48C3-4AB2-972E-67CBD02842E4}" type="pres">
      <dgm:prSet presAssocID="{6417E06B-7874-4B49-B5CB-73AD655B0BF1}" presName="txOne" presStyleLbl="node0" presStyleIdx="0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17A683E-86A3-4482-8CFC-BF5543319F28}" type="pres">
      <dgm:prSet presAssocID="{6417E06B-7874-4B49-B5CB-73AD655B0BF1}" presName="horzOne" presStyleCnt="0"/>
      <dgm:spPr/>
    </dgm:pt>
    <dgm:pt modelId="{0BB69F7D-8218-4D77-BD7F-2DBEF97ABC66}" type="pres">
      <dgm:prSet presAssocID="{8986E81B-8D83-4818-9C17-C1C957302C92}" presName="sibSpaceOne" presStyleCnt="0"/>
      <dgm:spPr/>
    </dgm:pt>
    <dgm:pt modelId="{09B74C3A-0235-4CEA-B6DF-37EEF3F16189}" type="pres">
      <dgm:prSet presAssocID="{8B59F1DF-E7C4-48F0-8432-9F5699EDFD94}" presName="vertOne" presStyleCnt="0"/>
      <dgm:spPr/>
    </dgm:pt>
    <dgm:pt modelId="{4025B496-AAE9-47AD-9F23-709D5766292E}" type="pres">
      <dgm:prSet presAssocID="{8B59F1DF-E7C4-48F0-8432-9F5699EDFD94}" presName="txOne" presStyleLbl="node0" presStyleIdx="1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0358BC4-07EA-4ECD-99C0-6B2607861EF8}" type="pres">
      <dgm:prSet presAssocID="{8B59F1DF-E7C4-48F0-8432-9F5699EDFD94}" presName="horzOne" presStyleCnt="0"/>
      <dgm:spPr/>
    </dgm:pt>
    <dgm:pt modelId="{F767F33A-9896-42F4-8438-D3A60E0A6E29}" type="pres">
      <dgm:prSet presAssocID="{C8FE1949-E6BB-4CD8-98A4-4EFA3D974449}" presName="sibSpaceOne" presStyleCnt="0"/>
      <dgm:spPr/>
    </dgm:pt>
    <dgm:pt modelId="{33B3EE5F-1763-49AA-B2E2-2E4ED9718E4A}" type="pres">
      <dgm:prSet presAssocID="{EC43782C-EA90-41EE-8D54-34D6F565182D}" presName="vertOne" presStyleCnt="0"/>
      <dgm:spPr/>
    </dgm:pt>
    <dgm:pt modelId="{25D56145-1A03-41A1-89DC-7FC0252BC29A}" type="pres">
      <dgm:prSet presAssocID="{EC43782C-EA90-41EE-8D54-34D6F565182D}" presName="txOne" presStyleLbl="node0" presStyleIdx="2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F5266F2-2502-413C-B137-265F8D477768}" type="pres">
      <dgm:prSet presAssocID="{EC43782C-EA90-41EE-8D54-34D6F565182D}" presName="horzOne" presStyleCnt="0"/>
      <dgm:spPr/>
    </dgm:pt>
    <dgm:pt modelId="{86125809-10EB-4E2B-8EF5-85F38DC945B5}" type="pres">
      <dgm:prSet presAssocID="{7F5B8BB6-4EE4-48FE-A396-4FEAFDE36B5C}" presName="sibSpaceOne" presStyleCnt="0"/>
      <dgm:spPr/>
    </dgm:pt>
    <dgm:pt modelId="{9B2332ED-03EC-4BD4-ABA4-E0FC1AE5AD4F}" type="pres">
      <dgm:prSet presAssocID="{D8F6D797-95B4-4592-8202-4B074FF905C8}" presName="vertOne" presStyleCnt="0"/>
      <dgm:spPr/>
    </dgm:pt>
    <dgm:pt modelId="{B4B2A64F-6978-4E23-97E2-C700E01F029B}" type="pres">
      <dgm:prSet presAssocID="{D8F6D797-95B4-4592-8202-4B074FF905C8}" presName="txOne" presStyleLbl="node0" presStyleIdx="3" presStyleCnt="4" custScaleX="11805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69ABAAA-AE5C-4093-9B8A-797D38FEAD20}" type="pres">
      <dgm:prSet presAssocID="{D8F6D797-95B4-4592-8202-4B074FF905C8}" presName="horzOne" presStyleCnt="0"/>
      <dgm:spPr/>
    </dgm:pt>
  </dgm:ptLst>
  <dgm:cxnLst>
    <dgm:cxn modelId="{D7CA9762-690A-4E21-808C-156CF647C7B8}" type="presOf" srcId="{EC43782C-EA90-41EE-8D54-34D6F565182D}" destId="{25D56145-1A03-41A1-89DC-7FC0252BC29A}" srcOrd="0" destOrd="0" presId="urn:microsoft.com/office/officeart/2005/8/layout/hierarchy4"/>
    <dgm:cxn modelId="{28F145BD-7AB4-4813-BFF3-49652E1A2C58}" type="presOf" srcId="{935E59EA-CC10-43D2-A3FB-8F02493EA186}" destId="{C3E164FF-6D33-4B76-96F4-5A684580F1AB}" srcOrd="0" destOrd="0" presId="urn:microsoft.com/office/officeart/2005/8/layout/hierarchy4"/>
    <dgm:cxn modelId="{8B06BEE6-2CE0-493B-92F3-51D7B8DAD050}" type="presOf" srcId="{8B59F1DF-E7C4-48F0-8432-9F5699EDFD94}" destId="{4025B496-AAE9-47AD-9F23-709D5766292E}" srcOrd="0" destOrd="0" presId="urn:microsoft.com/office/officeart/2005/8/layout/hierarchy4"/>
    <dgm:cxn modelId="{26D08256-F6FA-44E5-8258-C40026CF02D3}" type="presOf" srcId="{6417E06B-7874-4B49-B5CB-73AD655B0BF1}" destId="{5455315C-48C3-4AB2-972E-67CBD02842E4}" srcOrd="0" destOrd="0" presId="urn:microsoft.com/office/officeart/2005/8/layout/hierarchy4"/>
    <dgm:cxn modelId="{88BEEC83-ADAC-426D-BAE1-77C488A4B64A}" srcId="{935E59EA-CC10-43D2-A3FB-8F02493EA186}" destId="{EC43782C-EA90-41EE-8D54-34D6F565182D}" srcOrd="2" destOrd="0" parTransId="{71AC641C-575A-4304-9284-94A58FF3856C}" sibTransId="{7F5B8BB6-4EE4-48FE-A396-4FEAFDE36B5C}"/>
    <dgm:cxn modelId="{4AC6B8BD-7AFA-4361-94AD-5FE1E9365A1B}" srcId="{935E59EA-CC10-43D2-A3FB-8F02493EA186}" destId="{8B59F1DF-E7C4-48F0-8432-9F5699EDFD94}" srcOrd="1" destOrd="0" parTransId="{F2106E50-1F54-44E4-A188-0A49BA8D5106}" sibTransId="{C8FE1949-E6BB-4CD8-98A4-4EFA3D974449}"/>
    <dgm:cxn modelId="{060692D4-611A-486A-AECC-B5AEEF819DAC}" srcId="{935E59EA-CC10-43D2-A3FB-8F02493EA186}" destId="{6417E06B-7874-4B49-B5CB-73AD655B0BF1}" srcOrd="0" destOrd="0" parTransId="{BC443CB2-D6E6-41BF-A4C1-6D27B1802C47}" sibTransId="{8986E81B-8D83-4818-9C17-C1C957302C92}"/>
    <dgm:cxn modelId="{4FC47745-325D-4DFF-8E5F-2D8271B9C6CE}" type="presOf" srcId="{D8F6D797-95B4-4592-8202-4B074FF905C8}" destId="{B4B2A64F-6978-4E23-97E2-C700E01F029B}" srcOrd="0" destOrd="0" presId="urn:microsoft.com/office/officeart/2005/8/layout/hierarchy4"/>
    <dgm:cxn modelId="{1DB5FD59-93D1-48FA-8295-47331442B06B}" srcId="{935E59EA-CC10-43D2-A3FB-8F02493EA186}" destId="{D8F6D797-95B4-4592-8202-4B074FF905C8}" srcOrd="3" destOrd="0" parTransId="{E636832C-62FC-4CFE-8282-8A0DFBFAA478}" sibTransId="{1A2FA2E3-9320-4078-85C0-938E72DD07A0}"/>
    <dgm:cxn modelId="{506599E9-7653-4A59-A859-CB49AE39ED63}" type="presParOf" srcId="{C3E164FF-6D33-4B76-96F4-5A684580F1AB}" destId="{FCD5CEB3-76B1-4026-A0FE-03983BE01D88}" srcOrd="0" destOrd="0" presId="urn:microsoft.com/office/officeart/2005/8/layout/hierarchy4"/>
    <dgm:cxn modelId="{F576A18E-20D3-4495-ADAD-E0D6635E08A7}" type="presParOf" srcId="{FCD5CEB3-76B1-4026-A0FE-03983BE01D88}" destId="{5455315C-48C3-4AB2-972E-67CBD02842E4}" srcOrd="0" destOrd="0" presId="urn:microsoft.com/office/officeart/2005/8/layout/hierarchy4"/>
    <dgm:cxn modelId="{ED47CF28-1247-42D4-A315-862DC259ED70}" type="presParOf" srcId="{FCD5CEB3-76B1-4026-A0FE-03983BE01D88}" destId="{E17A683E-86A3-4482-8CFC-BF5543319F28}" srcOrd="1" destOrd="0" presId="urn:microsoft.com/office/officeart/2005/8/layout/hierarchy4"/>
    <dgm:cxn modelId="{CFD5B69D-A50C-4A0A-8134-AD79EEE004D8}" type="presParOf" srcId="{C3E164FF-6D33-4B76-96F4-5A684580F1AB}" destId="{0BB69F7D-8218-4D77-BD7F-2DBEF97ABC66}" srcOrd="1" destOrd="0" presId="urn:microsoft.com/office/officeart/2005/8/layout/hierarchy4"/>
    <dgm:cxn modelId="{5E0025E7-6959-48F3-8811-9C7F11AEDD20}" type="presParOf" srcId="{C3E164FF-6D33-4B76-96F4-5A684580F1AB}" destId="{09B74C3A-0235-4CEA-B6DF-37EEF3F16189}" srcOrd="2" destOrd="0" presId="urn:microsoft.com/office/officeart/2005/8/layout/hierarchy4"/>
    <dgm:cxn modelId="{CCABE3F9-3696-412B-BD38-FFE8E5F0D240}" type="presParOf" srcId="{09B74C3A-0235-4CEA-B6DF-37EEF3F16189}" destId="{4025B496-AAE9-47AD-9F23-709D5766292E}" srcOrd="0" destOrd="0" presId="urn:microsoft.com/office/officeart/2005/8/layout/hierarchy4"/>
    <dgm:cxn modelId="{8CE9D674-EF00-4C14-A51F-4DDE9531AD63}" type="presParOf" srcId="{09B74C3A-0235-4CEA-B6DF-37EEF3F16189}" destId="{C0358BC4-07EA-4ECD-99C0-6B2607861EF8}" srcOrd="1" destOrd="0" presId="urn:microsoft.com/office/officeart/2005/8/layout/hierarchy4"/>
    <dgm:cxn modelId="{3ECA1B3F-E26F-428D-8924-5D77E12A866B}" type="presParOf" srcId="{C3E164FF-6D33-4B76-96F4-5A684580F1AB}" destId="{F767F33A-9896-42F4-8438-D3A60E0A6E29}" srcOrd="3" destOrd="0" presId="urn:microsoft.com/office/officeart/2005/8/layout/hierarchy4"/>
    <dgm:cxn modelId="{4D820F59-0A64-4CED-BEA6-662161D971C5}" type="presParOf" srcId="{C3E164FF-6D33-4B76-96F4-5A684580F1AB}" destId="{33B3EE5F-1763-49AA-B2E2-2E4ED9718E4A}" srcOrd="4" destOrd="0" presId="urn:microsoft.com/office/officeart/2005/8/layout/hierarchy4"/>
    <dgm:cxn modelId="{A416DD48-2926-48BA-A1A0-0B6883B68A51}" type="presParOf" srcId="{33B3EE5F-1763-49AA-B2E2-2E4ED9718E4A}" destId="{25D56145-1A03-41A1-89DC-7FC0252BC29A}" srcOrd="0" destOrd="0" presId="urn:microsoft.com/office/officeart/2005/8/layout/hierarchy4"/>
    <dgm:cxn modelId="{1343BFEB-A729-415E-A93E-A22B4049AF62}" type="presParOf" srcId="{33B3EE5F-1763-49AA-B2E2-2E4ED9718E4A}" destId="{9F5266F2-2502-413C-B137-265F8D477768}" srcOrd="1" destOrd="0" presId="urn:microsoft.com/office/officeart/2005/8/layout/hierarchy4"/>
    <dgm:cxn modelId="{BC0609F2-9D83-486A-AA0B-C72D4570422F}" type="presParOf" srcId="{C3E164FF-6D33-4B76-96F4-5A684580F1AB}" destId="{86125809-10EB-4E2B-8EF5-85F38DC945B5}" srcOrd="5" destOrd="0" presId="urn:microsoft.com/office/officeart/2005/8/layout/hierarchy4"/>
    <dgm:cxn modelId="{79EE8403-FE7A-4969-8092-FCAF326FC26C}" type="presParOf" srcId="{C3E164FF-6D33-4B76-96F4-5A684580F1AB}" destId="{9B2332ED-03EC-4BD4-ABA4-E0FC1AE5AD4F}" srcOrd="6" destOrd="0" presId="urn:microsoft.com/office/officeart/2005/8/layout/hierarchy4"/>
    <dgm:cxn modelId="{F8B4CE99-6485-499C-8CD2-818F95614F57}" type="presParOf" srcId="{9B2332ED-03EC-4BD4-ABA4-E0FC1AE5AD4F}" destId="{B4B2A64F-6978-4E23-97E2-C700E01F029B}" srcOrd="0" destOrd="0" presId="urn:microsoft.com/office/officeart/2005/8/layout/hierarchy4"/>
    <dgm:cxn modelId="{EF35261A-A7A5-42C5-858C-B1A0B78892D7}" type="presParOf" srcId="{9B2332ED-03EC-4BD4-ABA4-E0FC1AE5AD4F}" destId="{569ABAAA-AE5C-4093-9B8A-797D38FEAD20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5E59EA-CC10-43D2-A3FB-8F02493EA186}" type="doc">
      <dgm:prSet loTypeId="urn:microsoft.com/office/officeart/2005/8/layout/hierarchy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6417E06B-7874-4B49-B5CB-73AD655B0BF1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ctr"/>
          <a:r>
            <a:rPr lang="zh-CN" altLang="en-US" sz="6000" b="1" smtClean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rPr>
            <a:t>经济增长</a:t>
          </a:r>
          <a:endParaRPr lang="zh-CN" altLang="en-US" sz="6000" b="0">
            <a:solidFill>
              <a:schemeClr val="tx1"/>
            </a:solidFill>
            <a:latin typeface="华光中雅_CNKI" panose="02000500000000000000" pitchFamily="2" charset="-122"/>
            <a:ea typeface="华光中雅_CNKI" panose="02000500000000000000" pitchFamily="2" charset="-122"/>
          </a:endParaRPr>
        </a:p>
      </dgm:t>
    </dgm:pt>
    <dgm:pt modelId="{BC443CB2-D6E6-41BF-A4C1-6D27B1802C47}" cxnId="{060692D4-611A-486A-AECC-B5AEEF819DAC}" type="parTrans">
      <dgm:prSet/>
      <dgm:spPr/>
      <dgm:t>
        <a:bodyPr/>
        <a:lstStyle/>
        <a:p>
          <a:endParaRPr lang="zh-CN" altLang="en-US" sz="2400"/>
        </a:p>
      </dgm:t>
    </dgm:pt>
    <dgm:pt modelId="{8986E81B-8D83-4818-9C17-C1C957302C92}" cxnId="{060692D4-611A-486A-AECC-B5AEEF819DAC}" type="sibTrans">
      <dgm:prSet/>
      <dgm:spPr/>
      <dgm:t>
        <a:bodyPr/>
        <a:lstStyle/>
        <a:p>
          <a:endParaRPr lang="zh-CN" altLang="en-US" sz="2400"/>
        </a:p>
      </dgm:t>
    </dgm:pt>
    <dgm:pt modelId="{C3E164FF-6D33-4B76-96F4-5A684580F1AB}" type="pres">
      <dgm:prSet presAssocID="{935E59EA-CC10-43D2-A3FB-8F02493EA186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FCD5CEB3-76B1-4026-A0FE-03983BE01D88}" type="pres">
      <dgm:prSet presAssocID="{6417E06B-7874-4B49-B5CB-73AD655B0BF1}" presName="vertOne" presStyleCnt="0"/>
      <dgm:spPr/>
    </dgm:pt>
    <dgm:pt modelId="{5455315C-48C3-4AB2-972E-67CBD02842E4}" type="pres">
      <dgm:prSet presAssocID="{6417E06B-7874-4B49-B5CB-73AD655B0BF1}" presName="txOne" presStyleLbl="node0" presStyleIdx="0" presStyleCnt="1" custLinFactNeighborX="535" custLinFactNeighborY="-5030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17A683E-86A3-4482-8CFC-BF5543319F28}" type="pres">
      <dgm:prSet presAssocID="{6417E06B-7874-4B49-B5CB-73AD655B0BF1}" presName="horzOne" presStyleCnt="0"/>
      <dgm:spPr/>
    </dgm:pt>
  </dgm:ptLst>
  <dgm:cxnLst>
    <dgm:cxn modelId="{6E8D7197-7812-4B58-87A0-AC302F0B8F67}" type="presOf" srcId="{6417E06B-7874-4B49-B5CB-73AD655B0BF1}" destId="{5455315C-48C3-4AB2-972E-67CBD02842E4}" srcOrd="0" destOrd="0" presId="urn:microsoft.com/office/officeart/2005/8/layout/hierarchy4"/>
    <dgm:cxn modelId="{060692D4-611A-486A-AECC-B5AEEF819DAC}" srcId="{935E59EA-CC10-43D2-A3FB-8F02493EA186}" destId="{6417E06B-7874-4B49-B5CB-73AD655B0BF1}" srcOrd="0" destOrd="0" parTransId="{BC443CB2-D6E6-41BF-A4C1-6D27B1802C47}" sibTransId="{8986E81B-8D83-4818-9C17-C1C957302C92}"/>
    <dgm:cxn modelId="{18D28366-0148-4781-B399-950076F80118}" type="presOf" srcId="{935E59EA-CC10-43D2-A3FB-8F02493EA186}" destId="{C3E164FF-6D33-4B76-96F4-5A684580F1AB}" srcOrd="0" destOrd="0" presId="urn:microsoft.com/office/officeart/2005/8/layout/hierarchy4"/>
    <dgm:cxn modelId="{8EF6C248-73FB-4E8D-8008-109486BAB73E}" type="presParOf" srcId="{C3E164FF-6D33-4B76-96F4-5A684580F1AB}" destId="{FCD5CEB3-76B1-4026-A0FE-03983BE01D88}" srcOrd="0" destOrd="0" presId="urn:microsoft.com/office/officeart/2005/8/layout/hierarchy4"/>
    <dgm:cxn modelId="{260B030E-22B8-4B0F-BB12-06FB7B369A1D}" type="presParOf" srcId="{FCD5CEB3-76B1-4026-A0FE-03983BE01D88}" destId="{5455315C-48C3-4AB2-972E-67CBD02842E4}" srcOrd="0" destOrd="0" presId="urn:microsoft.com/office/officeart/2005/8/layout/hierarchy4"/>
    <dgm:cxn modelId="{721FE833-4D58-432E-BF9B-8CE0F3FBC8C4}" type="presParOf" srcId="{FCD5CEB3-76B1-4026-A0FE-03983BE01D88}" destId="{E17A683E-86A3-4482-8CFC-BF5543319F28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732748" cy="2376264"/>
        <a:chOff x="0" y="0"/>
        <a:chExt cx="6732748" cy="2376264"/>
      </a:xfrm>
    </dsp:grpSpPr>
    <dsp:sp modelId="{5455315C-48C3-4AB2-972E-67CBD02842E4}">
      <dsp:nvSpPr>
        <dsp:cNvPr id="3" name="圆角矩形 2"/>
        <dsp:cNvSpPr/>
      </dsp:nvSpPr>
      <dsp:spPr bwMode="white">
        <a:xfrm>
          <a:off x="0" y="0"/>
          <a:ext cx="1437221" cy="2376264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91439" tIns="91439" rIns="91439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经济</a:t>
          </a:r>
          <a:br>
            <a:rPr lang="en-US" altLang="zh-CN" sz="2400" b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</a:br>
          <a:r>
            <a:rPr lang="zh-CN" altLang="en-US" sz="2400" b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增长</a:t>
          </a:r>
          <a:endParaRPr lang="zh-CN" altLang="en-US" sz="2400" b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0"/>
        <a:ext cx="1437221" cy="2376264"/>
      </dsp:txXfrm>
    </dsp:sp>
    <dsp:sp modelId="{4025B496-AAE9-47AD-9F23-709D5766292E}">
      <dsp:nvSpPr>
        <dsp:cNvPr id="4" name="圆角矩形 3"/>
        <dsp:cNvSpPr/>
      </dsp:nvSpPr>
      <dsp:spPr bwMode="white">
        <a:xfrm>
          <a:off x="1678674" y="0"/>
          <a:ext cx="1437221" cy="2376264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91439" tIns="91439" rIns="91439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0" smtClea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就业</a:t>
          </a:r>
          <a:br>
            <a:rPr lang="en-US" altLang="zh-CN" sz="2400" b="0" smtClea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</a:br>
          <a:r>
            <a:rPr lang="zh-CN" altLang="en-US" sz="2400" b="0" smtClea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充分</a:t>
          </a:r>
          <a:endParaRPr lang="zh-CN" altLang="en-US" sz="2400" b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678674" y="0"/>
        <a:ext cx="1437221" cy="2376264"/>
      </dsp:txXfrm>
    </dsp:sp>
    <dsp:sp modelId="{25D56145-1A03-41A1-89DC-7FC0252BC29A}">
      <dsp:nvSpPr>
        <dsp:cNvPr id="5" name="圆角矩形 4"/>
        <dsp:cNvSpPr/>
      </dsp:nvSpPr>
      <dsp:spPr bwMode="white">
        <a:xfrm>
          <a:off x="3357348" y="0"/>
          <a:ext cx="1437221" cy="2376264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91439" tIns="91439" rIns="91439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0" smtClea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价格</a:t>
          </a:r>
          <a:br>
            <a:rPr lang="en-US" altLang="zh-CN" sz="2400" b="0" smtClea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</a:br>
          <a:r>
            <a:rPr lang="zh-CN" altLang="en-US" sz="2400" b="0" smtClea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稳定</a:t>
          </a:r>
          <a:endParaRPr lang="zh-CN" altLang="en-US" sz="2400" b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357348" y="0"/>
        <a:ext cx="1437221" cy="2376264"/>
      </dsp:txXfrm>
    </dsp:sp>
    <dsp:sp modelId="{B4B2A64F-6978-4E23-97E2-C700E01F029B}">
      <dsp:nvSpPr>
        <dsp:cNvPr id="6" name="圆角矩形 5"/>
        <dsp:cNvSpPr/>
      </dsp:nvSpPr>
      <dsp:spPr bwMode="white">
        <a:xfrm>
          <a:off x="5036022" y="0"/>
          <a:ext cx="1696726" cy="2376264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91439" tIns="91439" rIns="91439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2400" b="0" smtClea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国际</a:t>
          </a:r>
          <a:r>
            <a:rPr lang="zh-CN" sz="2400" b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收支平衡</a:t>
          </a:r>
          <a:r>
            <a:rPr lang="en-US" sz="2400" b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endParaRPr lang="zh-CN" sz="2400" b="0">
            <a:solidFill>
              <a:schemeClr val="dk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036022" y="0"/>
        <a:ext cx="1696726" cy="23762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732748" cy="2376264"/>
        <a:chOff x="0" y="0"/>
        <a:chExt cx="6732748" cy="2376264"/>
      </a:xfrm>
    </dsp:grpSpPr>
    <dsp:sp modelId="{5455315C-48C3-4AB2-972E-67CBD02842E4}">
      <dsp:nvSpPr>
        <dsp:cNvPr id="3" name="圆角矩形 2"/>
        <dsp:cNvSpPr/>
      </dsp:nvSpPr>
      <dsp:spPr bwMode="white">
        <a:xfrm>
          <a:off x="0" y="0"/>
          <a:ext cx="6732748" cy="2376264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228600" tIns="228600" rIns="228600" bIns="2286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6000" b="1" smtClean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rPr>
            <a:t>经济增长</a:t>
          </a:r>
          <a:endParaRPr lang="zh-CN" altLang="en-US" sz="6000" b="0">
            <a:solidFill>
              <a:schemeClr val="tx1"/>
            </a:solidFill>
            <a:latin typeface="华光中雅_CNKI" panose="02000500000000000000" pitchFamily="2" charset="-122"/>
            <a:ea typeface="华光中雅_CNKI" panose="02000500000000000000" pitchFamily="2" charset="-122"/>
          </a:endParaRPr>
        </a:p>
      </dsp:txBody>
      <dsp:txXfrm>
        <a:off x="0" y="0"/>
        <a:ext cx="6732748" cy="23762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4C77-742A-429E-850A-11BA0946D8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microsoft.com/office/2007/relationships/hdphoto" Target="../media/image7.wdp"/><Relationship Id="rId2" Type="http://schemas.openxmlformats.org/officeDocument/2006/relationships/image" Target="../media/image6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Relationship Id="rId3" Type="http://schemas.microsoft.com/office/2007/relationships/hdphoto" Target="../media/image13.wdp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Relationship Id="rId3" Type="http://schemas.microsoft.com/office/2007/relationships/hdphoto" Target="../media/image15.wdp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2.xml"/><Relationship Id="rId3" Type="http://schemas.microsoft.com/office/2007/relationships/hdphoto" Target="../media/image17.wdp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7744" y="1412776"/>
            <a:ext cx="485902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B</a:t>
            </a:r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en-US" altLang="zh-CN" sz="4800" smtClean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（宏观经济学原理）</a:t>
            </a:r>
            <a:endParaRPr lang="en-US" altLang="zh-CN" sz="30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endParaRPr lang="en-US" altLang="zh-CN" sz="3000" smtClean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主讲人：周豫</a:t>
            </a:r>
            <a:endParaRPr lang="zh-CN" altLang="en-US" sz="30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9632" y="3933056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1</a:t>
            </a:r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</a:t>
            </a:r>
            <a:r>
              <a:rPr lang="zh-CN" altLang="en-US" sz="40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：衡量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一个国家的收入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5304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5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个问题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5576" y="1700808"/>
            <a:ext cx="803296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宏观经济是研究什么的？宏观经济的政策目标有哪些？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国内生产总值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如何衡量？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如何根据通货膨胀进行修正？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能衡量社会的福祉吗？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2624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宏观经济是什么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?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3568" y="1340768"/>
            <a:ext cx="8064896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微观经济学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研究个体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家庭和个体企业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如何决策。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比如：消费者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如何决定购买每种商品的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？企业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如何决定生产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产量？什么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了商品的市场价格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和数量？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600"/>
              </a:lnSpc>
            </a:pP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宏观经济学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对经济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运行总体的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比如：长期增长、短期波动、财政政策、货币政策、总需求、总供给等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宏观经济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的政策目标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6" name="图示 5"/>
          <p:cNvGraphicFramePr/>
          <p:nvPr/>
        </p:nvGraphicFramePr>
        <p:xfrm>
          <a:off x="1439653" y="2464124"/>
          <a:ext cx="6732748" cy="2376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宏观经济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的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政策目标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395536" y="1556792"/>
            <a:ext cx="80648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：狭义指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国内生产总值，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ross 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omestic 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roduct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）。通常指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在一个较长的时间跨度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上（一季度、半年、一年），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个经济体产出水平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的持续增加。涉及的章节包括第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章等。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充分就业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：也叫完全就业。凡是愿意且有能力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的劳动者都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较为满意的就业岗位。在充分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就业下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，仍然会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存在一定的失业。涉及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的章节包括第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smtClean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宏观经济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的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政策目标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544" y="1340768"/>
            <a:ext cx="8280920" cy="4964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：通货膨胀对经济有不良影响，所以价格稳定是宏观经济政策的目标之一，即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经济体维持合理的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通货膨胀水平。价格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稳定不是指每种商品的价格固定不变，而是指价格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指数（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，消费价格指数）的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稳定。涉及章节第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800"/>
              </a:lnSpc>
              <a:buFont typeface="Arial" panose="020B0604020202020204" pitchFamily="34" charset="0"/>
              <a:buChar char="•"/>
            </a:pP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国际收支平衡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指一个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经济体的国际收支净额，即净出口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与净资本流出的差额为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零。</a:t>
            </a:r>
            <a:r>
              <a:rPr lang="zh-CN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收支净额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净出口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净资本</a:t>
            </a:r>
            <a:r>
              <a:rPr lang="zh-CN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流出。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净出口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外贸出口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外贸进口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；净资本流出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本国对外国投资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外国对本国投资。</a:t>
            </a:r>
            <a:r>
              <a:rPr lang="zh-CN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</a:t>
            </a:r>
            <a:r>
              <a:rPr lang="zh-CN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收支净额为零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就是说</a:t>
            </a:r>
            <a:r>
              <a:rPr lang="zh-CN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净出口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净资本</a:t>
            </a:r>
            <a:r>
              <a:rPr lang="zh-CN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。涉及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章节包括第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示 5"/>
          <p:cNvGraphicFramePr/>
          <p:nvPr/>
        </p:nvGraphicFramePr>
        <p:xfrm>
          <a:off x="1331640" y="2060848"/>
          <a:ext cx="6732748" cy="2376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6"/>
            <a:ext cx="3672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：国内生产总值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9552" y="1412776"/>
            <a:ext cx="792088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GDP: 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国内生产总值（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ross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omestic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roduct 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收入法：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经济体所有个体收入的总和，即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总收入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，因此通常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“国民收入”。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支出法：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还衡量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经济体所有个体支出的总和，即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总支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。对于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经济体而言，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总收入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总支出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，买家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元支出都是卖方获得的每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生产法：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还衡量经济中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出的所有商品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总价值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总结：三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衡量方法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收入法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支出法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生产法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循环流量图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3568" y="1340768"/>
            <a:ext cx="792087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对宏观经济过程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的最简单描述。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描述为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（家庭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支出和要素收入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（企业）要素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支付和商品营收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之间的循环流动。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要素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（生产要素）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劳动力、土地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资本、自然资源、企业家精神。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要素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支付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指支付报酬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给要素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（工资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、租金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、利息、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利润）。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循环流量图忽略了：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征税，购买商品（公共支出）等功能。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金融系统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匹配资金供给与资金需求等功能。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：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外资、外贸等功能。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循环流量图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" name="AutoShape 2" descr="查看源图像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" name="AutoShape 4" descr="查看源图像"/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30" b="10322"/>
          <a:stretch>
            <a:fillRect/>
          </a:stretch>
        </p:blipFill>
        <p:spPr>
          <a:xfrm>
            <a:off x="943980" y="1440970"/>
            <a:ext cx="7560840" cy="468052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314417" y="1429060"/>
            <a:ext cx="6495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=GDP</a:t>
            </a:r>
            <a:endParaRPr lang="zh-CN" altLang="en-US" sz="1600" dirty="0"/>
          </a:p>
        </p:txBody>
      </p:sp>
      <p:sp>
        <p:nvSpPr>
          <p:cNvPr id="11" name="文本框 10"/>
          <p:cNvSpPr txBox="1"/>
          <p:nvPr/>
        </p:nvSpPr>
        <p:spPr>
          <a:xfrm>
            <a:off x="6180047" y="1385950"/>
            <a:ext cx="6495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=GDP</a:t>
            </a:r>
            <a:endParaRPr lang="zh-CN" altLang="en-US" sz="1600" dirty="0"/>
          </a:p>
        </p:txBody>
      </p:sp>
      <p:sp>
        <p:nvSpPr>
          <p:cNvPr id="12" name="文本框 11"/>
          <p:cNvSpPr txBox="1"/>
          <p:nvPr/>
        </p:nvSpPr>
        <p:spPr>
          <a:xfrm>
            <a:off x="3131841" y="5782936"/>
            <a:ext cx="6495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=GDP</a:t>
            </a:r>
            <a:endParaRPr lang="zh-CN" altLang="en-US" sz="1600" dirty="0"/>
          </a:p>
        </p:txBody>
      </p:sp>
      <p:sp>
        <p:nvSpPr>
          <p:cNvPr id="13" name="文本框 12"/>
          <p:cNvSpPr txBox="1"/>
          <p:nvPr/>
        </p:nvSpPr>
        <p:spPr>
          <a:xfrm>
            <a:off x="5969239" y="5696174"/>
            <a:ext cx="6495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=GDP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循环流量图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7584" y="1484784"/>
            <a:ext cx="792088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家庭：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要素市场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：拥有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生产要素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，出售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企业，获得要素收入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产品市场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：购买商品，满足自身消费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600"/>
              </a:lnSpc>
            </a:pP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要素市场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：购买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租用生产因素，生产商品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：拥有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商品，销售商品给家庭，获得营业收入</a:t>
            </a:r>
            <a:endParaRPr lang="zh-CN" altLang="en-US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国内生产总值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7544" y="1772816"/>
            <a:ext cx="73133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定义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：在</a:t>
            </a:r>
            <a:r>
              <a:rPr lang="zh-CN" altLang="en-US" sz="240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特定</a:t>
            </a:r>
            <a:r>
              <a:rPr lang="zh-CN" altLang="en-US" sz="2400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时间内</a:t>
            </a:r>
            <a:r>
              <a:rPr lang="zh-CN" altLang="en-US" sz="2400" dirty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在</a:t>
            </a:r>
            <a:r>
              <a:rPr lang="zh-CN" altLang="en-US" sz="240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一</a:t>
            </a:r>
            <a:r>
              <a:rPr lang="zh-CN" altLang="en-US" sz="2400" smtClean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个经济体地理范围之内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生产</a:t>
            </a:r>
            <a:r>
              <a:rPr lang="zh-CN" altLang="en-US" sz="2400" dirty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所有</a:t>
            </a:r>
            <a:r>
              <a:rPr lang="zh-CN" altLang="en-US" sz="2400" smtClean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最终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商品</a:t>
            </a:r>
            <a:r>
              <a:rPr lang="zh-CN" altLang="en-US" sz="2400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和服务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市场价格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总和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五</a:t>
            </a:r>
            <a:r>
              <a:rPr lang="zh-CN" altLang="en-US" sz="2400" smtClean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个关键词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缺一不可。</a:t>
            </a:r>
            <a:endParaRPr lang="en-US" altLang="zh-CN" sz="24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国内生产总值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9552" y="1700808"/>
            <a:ext cx="73133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市场价格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商品和服务按其市场价格计价，因此没有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市场价格的</a:t>
            </a:r>
            <a:r>
              <a:rPr lang="zh-CN" altLang="en-US" sz="2400" dirty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东西是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排除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在外的，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例如自己</a:t>
            </a:r>
            <a:r>
              <a:rPr lang="zh-CN" altLang="en-US" sz="2400" dirty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做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的家务、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“地下经济”</a:t>
            </a:r>
            <a:r>
              <a:rPr lang="zh-CN" altLang="en-US" sz="24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等。</a:t>
            </a:r>
            <a:endParaRPr lang="zh-CN" altLang="en-US" sz="24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3568" y="1412776"/>
            <a:ext cx="78488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：供最终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用户使用；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：用作其他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商品生产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的部件和原料。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只包括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最终产品。最终产品已经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体现中间品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1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：农民将</a:t>
            </a:r>
            <a:r>
              <a:rPr lang="zh-CN" altLang="en-US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面粉</a:t>
            </a:r>
            <a:r>
              <a:rPr lang="en-US" altLang="zh-CN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卖给面包商，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面包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商做成</a:t>
            </a:r>
            <a:r>
              <a:rPr lang="zh-CN" altLang="en-US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面包</a:t>
            </a:r>
            <a:r>
              <a:rPr lang="en-US" altLang="zh-CN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卖给餐厅，餐厅做成</a:t>
            </a:r>
            <a:r>
              <a:rPr lang="zh-CN" altLang="en-US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三明治</a:t>
            </a:r>
            <a:r>
              <a:rPr lang="en-US" altLang="zh-CN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卖给消费者。请问：这个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三明治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产业链形成了多少</a:t>
            </a:r>
            <a:r>
              <a:rPr lang="en-US" altLang="zh-CN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GDP? 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（答案：</a:t>
            </a:r>
            <a:r>
              <a:rPr lang="en-US" altLang="zh-CN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元。</a:t>
            </a:r>
            <a:r>
              <a:rPr lang="zh-CN" altLang="en-US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不是</a:t>
            </a:r>
            <a:r>
              <a:rPr lang="en-US" altLang="zh-CN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18</a:t>
            </a:r>
            <a:r>
              <a:rPr lang="zh-CN" altLang="en-US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国内生产总值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71600" y="1701860"/>
            <a:ext cx="73133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有形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如手机、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山地自行车、啤酒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无形服务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：如干洗、音乐会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手机维修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包括有形商品和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无形服务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国内生产总值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71600" y="1701860"/>
            <a:ext cx="73133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特定时间</a:t>
            </a:r>
            <a:r>
              <a:rPr lang="zh-CN" altLang="en-US" sz="2400" smtClean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内：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一年、半年或一个季度。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仅仅包括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当前生产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的商品和服务，不包括过去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的商品和服务。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国内生产总值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3568" y="1772816"/>
            <a:ext cx="73133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一个经济体地理范围</a:t>
            </a:r>
            <a:r>
              <a:rPr lang="zh-CN" altLang="en-US" sz="2400" smtClean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之内：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遵循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属地原则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一个经济体地理边界内的商品和服务才纳入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无论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国内的本国</a:t>
            </a:r>
            <a:r>
              <a:rPr lang="zh-CN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还是</a:t>
            </a:r>
            <a:r>
              <a:rPr lang="zh-CN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</a:t>
            </a:r>
            <a:r>
              <a:rPr lang="zh-CN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外国企业完成的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本国企业在国外设立工厂，生产出来的商品和服务属于外国的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4270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国内生产总值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146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的衡量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1628800"/>
            <a:ext cx="74168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ea typeface="思源黑体 CN Regular" panose="020B0500000000000000" pitchFamily="34" charset="-122"/>
              </a:rPr>
              <a:t>收入</a:t>
            </a:r>
            <a:r>
              <a:rPr lang="zh-CN" altLang="en-US" sz="2400" smtClean="0">
                <a:solidFill>
                  <a:srgbClr val="FF0000"/>
                </a:solidFill>
                <a:ea typeface="思源黑体 CN Regular" panose="020B0500000000000000" pitchFamily="34" charset="-122"/>
              </a:rPr>
              <a:t>法</a:t>
            </a:r>
            <a:r>
              <a:rPr lang="zh-CN" altLang="en-US" sz="2400">
                <a:solidFill>
                  <a:srgbClr val="FF0000"/>
                </a:solidFill>
                <a:ea typeface="思源黑体 CN Regular" panose="020B0500000000000000" pitchFamily="34" charset="-122"/>
              </a:rPr>
              <a:t>衡量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：生产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要素获得报酬：工资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、租金、利息、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利润。</a:t>
            </a:r>
            <a:endParaRPr lang="zh-CN" altLang="en-US" sz="2400" dirty="0">
              <a:solidFill>
                <a:srgbClr val="002060"/>
              </a:solidFill>
              <a:ea typeface="思源黑体 CN Regular" panose="020B05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将这些收入加起来</a:t>
            </a: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即为 </a:t>
            </a:r>
            <a:r>
              <a:rPr lang="en-US" altLang="zh-CN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146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的衡量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713" y="1341150"/>
            <a:ext cx="8136904" cy="296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ea typeface="思源黑体 CN Regular" panose="020B0500000000000000" pitchFamily="34" charset="-122"/>
              </a:rPr>
              <a:t>生产法衡量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：既可以用</a:t>
            </a:r>
            <a:r>
              <a:rPr lang="zh-CN" altLang="en-US" sz="2400" smtClean="0">
                <a:solidFill>
                  <a:srgbClr val="FF0000"/>
                </a:solidFill>
                <a:ea typeface="思源黑体 CN Regular" panose="020B0500000000000000" pitchFamily="34" charset="-122"/>
              </a:rPr>
              <a:t>最终产品的总价值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，也可以用各个</a:t>
            </a:r>
            <a:r>
              <a:rPr lang="zh-CN" altLang="en-US" sz="2400" smtClean="0">
                <a:solidFill>
                  <a:srgbClr val="FF0000"/>
                </a:solidFill>
                <a:ea typeface="思源黑体 CN Regular" panose="020B0500000000000000" pitchFamily="34" charset="-122"/>
              </a:rPr>
              <a:t>中间环节的增加值相加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。</a:t>
            </a:r>
            <a:endParaRPr lang="zh-CN" altLang="en-US" sz="2400" smtClean="0">
              <a:solidFill>
                <a:srgbClr val="002060"/>
              </a:solidFill>
              <a:ea typeface="思源黑体 CN Regular" panose="020B0500000000000000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三个产业的增加值的总和，</a:t>
            </a:r>
            <a:r>
              <a:rPr lang="zh-CN" altLang="en-US" sz="2400" smtClean="0">
                <a:solidFill>
                  <a:srgbClr val="FF0000"/>
                </a:solidFill>
                <a:ea typeface="思源黑体 CN Regular" panose="020B0500000000000000" pitchFamily="34" charset="-122"/>
                <a:sym typeface="+mn-ea"/>
              </a:rPr>
              <a:t>所有产品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  <a:sym typeface="+mn-ea"/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  <a:ea typeface="思源黑体 CN Regular" panose="020B0500000000000000" pitchFamily="34" charset="-122"/>
                <a:sym typeface="+mn-ea"/>
              </a:rPr>
              <a:t>增加值加总</a:t>
            </a:r>
            <a:r>
              <a:rPr lang="en-US" altLang="zh-CN" sz="2400" smtClean="0">
                <a:solidFill>
                  <a:srgbClr val="FF0000"/>
                </a:solidFill>
                <a:ea typeface="思源黑体 CN Regular" panose="020B0500000000000000" pitchFamily="34" charset="-122"/>
                <a:sym typeface="+mn-ea"/>
              </a:rPr>
              <a:t>=</a:t>
            </a:r>
            <a:r>
              <a:rPr lang="zh-CN" altLang="en-US" sz="2400" smtClean="0">
                <a:solidFill>
                  <a:srgbClr val="FF0000"/>
                </a:solidFill>
                <a:ea typeface="思源黑体 CN Regular" panose="020B0500000000000000" pitchFamily="34" charset="-122"/>
                <a:sym typeface="+mn-ea"/>
              </a:rPr>
              <a:t>最终产品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  <a:sym typeface="+mn-ea"/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  <a:ea typeface="思源黑体 CN Regular" panose="020B0500000000000000" pitchFamily="34" charset="-122"/>
                <a:sym typeface="+mn-ea"/>
              </a:rPr>
              <a:t>总产值</a:t>
            </a:r>
            <a:r>
              <a:rPr lang="en-US" altLang="zh-CN" sz="2400" smtClean="0">
                <a:solidFill>
                  <a:srgbClr val="FF0000"/>
                </a:solidFill>
                <a:ea typeface="思源黑体 CN Regular" panose="020B0500000000000000" pitchFamily="34" charset="-122"/>
                <a:sym typeface="+mn-ea"/>
              </a:rPr>
              <a:t>=GDP</a:t>
            </a:r>
            <a:endParaRPr lang="en-US" altLang="zh-CN" sz="2400" smtClean="0">
              <a:solidFill>
                <a:srgbClr val="FF0000"/>
              </a:solidFill>
              <a:ea typeface="思源黑体 CN Regular" panose="020B0500000000000000" pitchFamily="34" charset="-122"/>
            </a:endParaRPr>
          </a:p>
          <a:p>
            <a:pPr marL="800100" lvl="1" indent="-34290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一产（农业）增加值 </a:t>
            </a:r>
            <a:endParaRPr lang="zh-CN" altLang="en-US" sz="2400" smtClean="0">
              <a:solidFill>
                <a:srgbClr val="002060"/>
              </a:solidFill>
              <a:ea typeface="思源黑体 CN Regular" panose="020B0500000000000000" pitchFamily="34" charset="-122"/>
            </a:endParaRPr>
          </a:p>
          <a:p>
            <a:pPr marL="800100" lvl="1" indent="-34290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二产（工业）增加值</a:t>
            </a:r>
            <a:r>
              <a:rPr lang="en-US" altLang="zh-CN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 </a:t>
            </a:r>
            <a:endParaRPr lang="en-US" altLang="zh-CN" sz="2400" dirty="0">
              <a:solidFill>
                <a:srgbClr val="002060"/>
              </a:solidFill>
              <a:ea typeface="思源黑体 CN Regular" panose="020B0500000000000000" pitchFamily="34" charset="-122"/>
            </a:endParaRPr>
          </a:p>
          <a:p>
            <a:pPr marL="800100" lvl="1" indent="-34290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三产（服务业）增加值</a:t>
            </a:r>
            <a:r>
              <a:rPr lang="en-US" altLang="zh-CN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 </a:t>
            </a:r>
            <a:endParaRPr lang="en-US" altLang="zh-CN" sz="2400" dirty="0">
              <a:solidFill>
                <a:srgbClr val="002060"/>
              </a:solidFill>
              <a:ea typeface="思源黑体 CN Regular" panose="020B0500000000000000" pitchFamily="34" charset="-122"/>
            </a:endParaRPr>
          </a:p>
          <a:p>
            <a:pPr marL="342900" indent="-342900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zh-CN" altLang="en-US" sz="2400" dirty="0">
              <a:solidFill>
                <a:srgbClr val="002060"/>
              </a:solidFill>
              <a:ea typeface="思源黑体 CN Regular" panose="020B0500000000000000" pitchFamily="34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827713" y="3861301"/>
            <a:ext cx="78488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1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：农民将</a:t>
            </a:r>
            <a:r>
              <a:rPr lang="zh-CN" altLang="en-US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面粉</a:t>
            </a:r>
            <a:r>
              <a:rPr lang="en-US" altLang="zh-CN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卖给面包商，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面包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商做成</a:t>
            </a:r>
            <a:r>
              <a:rPr lang="zh-CN" altLang="en-US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面包</a:t>
            </a:r>
            <a:r>
              <a:rPr lang="en-US" altLang="zh-CN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卖给餐厅，餐厅做成</a:t>
            </a:r>
            <a:r>
              <a:rPr lang="zh-CN" altLang="en-US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三明治</a:t>
            </a:r>
            <a:r>
              <a:rPr lang="en-US" altLang="zh-CN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400" u="sng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卖给消费者。请问：这个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三明治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产业链形成了多少</a:t>
            </a:r>
            <a:r>
              <a:rPr lang="en-US" altLang="zh-CN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GDP? </a:t>
            </a:r>
            <a:endParaRPr lang="en-US" altLang="zh-CN" sz="240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答案：（</a:t>
            </a:r>
            <a:r>
              <a:rPr lang="en-US" altLang="zh-CN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3-0</a:t>
            </a:r>
            <a:r>
              <a:rPr lang="zh-CN" altLang="en-US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5-3</a:t>
            </a:r>
            <a:r>
              <a:rPr lang="zh-CN" altLang="en-US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10-5</a:t>
            </a:r>
            <a:r>
              <a:rPr lang="zh-CN" altLang="en-US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=10</a:t>
            </a:r>
            <a:r>
              <a:rPr lang="zh-CN" altLang="en-US" sz="240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146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的衡量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568" y="1340768"/>
            <a:ext cx="78488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ea typeface="思源黑体 CN Regular" panose="020B0500000000000000" pitchFamily="34" charset="-122"/>
              </a:rPr>
              <a:t>支出</a:t>
            </a:r>
            <a:r>
              <a:rPr lang="zh-CN" altLang="en-US" sz="2400">
                <a:solidFill>
                  <a:srgbClr val="FF0000"/>
                </a:solidFill>
                <a:ea typeface="思源黑体 CN Regular" panose="020B0500000000000000" pitchFamily="34" charset="-122"/>
              </a:rPr>
              <a:t>法衡量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：四</a:t>
            </a: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个组成部分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（俗称：</a:t>
            </a:r>
            <a:r>
              <a:rPr lang="zh-CN" altLang="en-US" sz="2400" smtClean="0">
                <a:solidFill>
                  <a:srgbClr val="FF0000"/>
                </a:solidFill>
                <a:ea typeface="思源黑体 CN Regular" panose="020B0500000000000000" pitchFamily="34" charset="-122"/>
              </a:rPr>
              <a:t>四</a:t>
            </a:r>
            <a:r>
              <a:rPr lang="zh-CN" altLang="en-US" sz="2400">
                <a:solidFill>
                  <a:srgbClr val="FF0000"/>
                </a:solidFill>
                <a:ea typeface="思源黑体 CN Regular" panose="020B0500000000000000" pitchFamily="34" charset="-122"/>
              </a:rPr>
              <a:t>架马车</a:t>
            </a: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）：</a:t>
            </a:r>
            <a:endParaRPr lang="zh-CN" altLang="en-US" sz="2400" dirty="0">
              <a:solidFill>
                <a:srgbClr val="002060"/>
              </a:solidFill>
              <a:ea typeface="思源黑体 CN Regular" panose="020B05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私人消费 </a:t>
            </a:r>
            <a:r>
              <a:rPr lang="en-US" altLang="zh-CN" sz="2400" dirty="0">
                <a:solidFill>
                  <a:srgbClr val="002060"/>
                </a:solidFill>
                <a:ea typeface="思源黑体 CN Regular" panose="020B0500000000000000" pitchFamily="34" charset="-122"/>
              </a:rPr>
              <a:t>(C) </a:t>
            </a:r>
            <a:endParaRPr lang="en-US" altLang="zh-CN" sz="2400" dirty="0">
              <a:solidFill>
                <a:srgbClr val="002060"/>
              </a:solidFill>
              <a:ea typeface="思源黑体 CN Regular" panose="020B05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私人投资 </a:t>
            </a:r>
            <a:r>
              <a:rPr lang="en-US" altLang="zh-CN" sz="2400" dirty="0">
                <a:solidFill>
                  <a:srgbClr val="002060"/>
                </a:solidFill>
                <a:ea typeface="思源黑体 CN Regular" panose="020B0500000000000000" pitchFamily="34" charset="-122"/>
              </a:rPr>
              <a:t>(I) </a:t>
            </a:r>
            <a:endParaRPr lang="en-US" altLang="zh-CN" sz="2400" dirty="0">
              <a:solidFill>
                <a:srgbClr val="002060"/>
              </a:solidFill>
              <a:ea typeface="思源黑体 CN Regular" panose="020B05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政府购买 </a:t>
            </a:r>
            <a:r>
              <a:rPr lang="en-US" altLang="zh-CN" sz="2400" dirty="0">
                <a:solidFill>
                  <a:srgbClr val="002060"/>
                </a:solidFill>
                <a:ea typeface="思源黑体 CN Regular" panose="020B0500000000000000" pitchFamily="34" charset="-122"/>
              </a:rPr>
              <a:t>(G) </a:t>
            </a:r>
            <a:endParaRPr lang="en-US" altLang="zh-CN" sz="2400" dirty="0">
              <a:solidFill>
                <a:srgbClr val="002060"/>
              </a:solidFill>
              <a:ea typeface="思源黑体 CN Regular" panose="020B05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净出口 </a:t>
            </a:r>
            <a:r>
              <a:rPr lang="en-US" altLang="zh-CN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(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即外国的净购买</a:t>
            </a:r>
            <a:r>
              <a:rPr lang="en-US" altLang="zh-CN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=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外贸出口</a:t>
            </a:r>
            <a:r>
              <a:rPr lang="en-US" altLang="zh-CN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-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外贸进口，</a:t>
            </a:r>
            <a:r>
              <a:rPr lang="en-US" altLang="zh-CN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NX</a:t>
            </a:r>
            <a:r>
              <a:rPr lang="en-US" altLang="zh-CN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) </a:t>
            </a:r>
            <a:endParaRPr lang="en-US" altLang="zh-CN" sz="2400" smtClean="0">
              <a:solidFill>
                <a:srgbClr val="002060"/>
              </a:solidFill>
              <a:ea typeface="思源黑体 CN Regular" panose="020B0500000000000000" pitchFamily="34" charset="-122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其中，</a:t>
            </a:r>
            <a:r>
              <a:rPr lang="en-US" altLang="zh-CN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C, I, G</a:t>
            </a: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是</a:t>
            </a:r>
            <a:r>
              <a:rPr lang="zh-CN" altLang="en-US" sz="2400">
                <a:solidFill>
                  <a:srgbClr val="FF0000"/>
                </a:solidFill>
                <a:ea typeface="思源黑体 CN Regular" panose="020B0500000000000000" pitchFamily="34" charset="-122"/>
              </a:rPr>
              <a:t>内需</a:t>
            </a: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，</a:t>
            </a:r>
            <a:r>
              <a:rPr lang="en-US" altLang="zh-CN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NX</a:t>
            </a: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是</a:t>
            </a:r>
            <a:r>
              <a:rPr lang="zh-CN" altLang="en-US" sz="2400">
                <a:solidFill>
                  <a:srgbClr val="FF0000"/>
                </a:solidFill>
                <a:ea typeface="思源黑体 CN Regular" panose="020B0500000000000000" pitchFamily="34" charset="-122"/>
              </a:rPr>
              <a:t>外需</a:t>
            </a: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。</a:t>
            </a:r>
            <a:endParaRPr lang="en-US" altLang="zh-CN" sz="2400">
              <a:solidFill>
                <a:srgbClr val="002060"/>
              </a:solidFill>
              <a:ea typeface="思源黑体 CN Regular" panose="020B05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 </a:t>
            </a: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这四个部分加起来即为 </a:t>
            </a:r>
            <a:r>
              <a:rPr lang="en-US" altLang="zh-CN" sz="2400" dirty="0">
                <a:solidFill>
                  <a:srgbClr val="002060"/>
                </a:solidFill>
                <a:ea typeface="思源黑体 CN Regular" panose="020B0500000000000000" pitchFamily="34" charset="-122"/>
              </a:rPr>
              <a:t>GDP</a:t>
            </a:r>
            <a:r>
              <a:rPr lang="zh-CN" altLang="en-US" sz="2400" dirty="0">
                <a:solidFill>
                  <a:srgbClr val="002060"/>
                </a:solidFill>
                <a:ea typeface="思源黑体 CN Regular" panose="020B0500000000000000" pitchFamily="34" charset="-122"/>
              </a:rPr>
              <a:t>（用 </a:t>
            </a:r>
            <a:r>
              <a:rPr lang="en-US" altLang="zh-CN" sz="2400" dirty="0">
                <a:solidFill>
                  <a:srgbClr val="002060"/>
                </a:solidFill>
                <a:ea typeface="思源黑体 CN Regular" panose="020B0500000000000000" pitchFamily="34" charset="-122"/>
              </a:rPr>
              <a:t>Y </a:t>
            </a:r>
            <a:r>
              <a:rPr lang="zh-CN" altLang="en-US" sz="2400" dirty="0">
                <a:solidFill>
                  <a:srgbClr val="002060"/>
                </a:solidFill>
                <a:ea typeface="思源黑体 CN Regular" panose="020B0500000000000000" pitchFamily="34" charset="-122"/>
              </a:rPr>
              <a:t>表示</a:t>
            </a: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）：</a:t>
            </a:r>
            <a:endParaRPr lang="zh-CN" altLang="en-US" sz="2400" dirty="0">
              <a:solidFill>
                <a:srgbClr val="002060"/>
              </a:solidFill>
              <a:ea typeface="思源黑体 CN Regular" panose="020B0500000000000000" pitchFamily="34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835696" y="5373216"/>
            <a:ext cx="5070475" cy="7270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spcBef>
                <a:spcPct val="50000"/>
              </a:spcBef>
              <a:defRPr/>
            </a:pPr>
            <a:r>
              <a:rPr lang="en-US" sz="3000" b="1" dirty="0">
                <a:latin typeface="Tahoma" panose="020B0604030504040204" pitchFamily="34" charset="0"/>
                <a:cs typeface="Arial" panose="020B0604020202020204" pitchFamily="34" charset="0"/>
              </a:rPr>
              <a:t>Y  =  C  +  I  +  G  +  NX</a:t>
            </a:r>
            <a:endParaRPr lang="en-US" sz="3000" b="1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1002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消费（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C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TextBox 15"/>
          <p:cNvSpPr txBox="1"/>
          <p:nvPr/>
        </p:nvSpPr>
        <p:spPr>
          <a:xfrm>
            <a:off x="971600" y="1701860"/>
            <a:ext cx="7313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私人部门出于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消费目的，在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商品和服务上的总支出。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私人消费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1946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投资（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I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TextBox 15"/>
          <p:cNvSpPr txBox="1"/>
          <p:nvPr/>
        </p:nvSpPr>
        <p:spPr>
          <a:xfrm>
            <a:off x="827584" y="1340768"/>
            <a:ext cx="79208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固定资产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的形成过程，未来生产更多的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商品和服务。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私人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。包括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 资本设备（例如机器、工具）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 结构（工厂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办公楼）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 库存（已生产但尚未销售的商品）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注</a:t>
            </a: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：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经济学意义上的</a:t>
            </a:r>
            <a:r>
              <a:rPr lang="zh-CN" altLang="en-US" sz="2400" b="1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“投资”，并非</a:t>
            </a:r>
            <a:r>
              <a:rPr lang="zh-CN" altLang="en-US" sz="24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购买股票、债券等金融资产。</a:t>
            </a:r>
            <a:endParaRPr lang="en-US" altLang="zh-CN" sz="2400" b="1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9514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政府购买（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TextBox 15"/>
          <p:cNvSpPr txBox="1"/>
          <p:nvPr/>
        </p:nvSpPr>
        <p:spPr>
          <a:xfrm>
            <a:off x="683568" y="1484784"/>
            <a:ext cx="79208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政府购买商品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和服务的所有支出。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公共消费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公共投资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不包括转移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支付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（社会保障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或失业保险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福利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等）。比如，失业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人员将部分或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全部转移支付用于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食品、房租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、药品等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，所有这些都计算在消费方面。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如果计入政府购买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就会形成重复计算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“注水” </a:t>
            </a:r>
            <a:r>
              <a:rPr lang="en-US" altLang="zh-CN" sz="240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552" y="692696"/>
            <a:ext cx="2834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净出口（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NX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TextBox 15"/>
          <p:cNvSpPr txBox="1"/>
          <p:nvPr/>
        </p:nvSpPr>
        <p:spPr>
          <a:xfrm>
            <a:off x="827584" y="1484784"/>
            <a:ext cx="79208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外贸出口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外贸进口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外贸出口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代表国外购买国内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商品和服务的国外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，不区分是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外国政府部门，还是外国私人部门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，不区分是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还是投资。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外贸进口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代表国内购买国外生产的商品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和服务的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国内支出，用于补充本国的私人消费、私人投资和政府购买</a:t>
            </a:r>
            <a:r>
              <a:rPr lang="zh-CN" altLang="en-US" sz="2400" smtClean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984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2020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年中国 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 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及其构成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4" name="表格 6"/>
          <p:cNvGraphicFramePr>
            <a:graphicFrameLocks noGrp="1"/>
          </p:cNvGraphicFramePr>
          <p:nvPr/>
        </p:nvGraphicFramePr>
        <p:xfrm>
          <a:off x="899592" y="1499417"/>
          <a:ext cx="7992888" cy="2934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/>
                <a:gridCol w="2376264"/>
                <a:gridCol w="2304256"/>
                <a:gridCol w="2376264"/>
              </a:tblGrid>
              <a:tr h="495415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GDP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（亿元）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GDP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百分比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人均（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元）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4954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1,025,917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72,447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954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387,176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37.7%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27,343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433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442,401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43.1%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31,243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954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169,810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16.6%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11,992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954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NX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26,529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2.6%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1,874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83568" y="4797152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数据来源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国家统计局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54"/>
          <p:cNvGrpSpPr/>
          <p:nvPr/>
        </p:nvGrpSpPr>
        <p:grpSpPr bwMode="auto">
          <a:xfrm>
            <a:off x="5868144" y="2708920"/>
            <a:ext cx="1289050" cy="1016704"/>
            <a:chOff x="4024" y="1600"/>
            <a:chExt cx="812" cy="355"/>
          </a:xfrm>
        </p:grpSpPr>
        <p:sp>
          <p:nvSpPr>
            <p:cNvPr id="9" name="Text Box 55"/>
            <p:cNvSpPr txBox="1">
              <a:spLocks noChangeArrowheads="1"/>
            </p:cNvSpPr>
            <p:nvPr/>
          </p:nvSpPr>
          <p:spPr bwMode="auto">
            <a:xfrm>
              <a:off x="4211" y="1654"/>
              <a:ext cx="625" cy="301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</a:ln>
          </p:spPr>
          <p:txBody>
            <a:bodyPr lIns="45720" rIns="4572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内需</a:t>
              </a:r>
              <a:r>
                <a:rPr lang="en-US" altLang="zh-CN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97</a:t>
              </a:r>
              <a:r>
                <a: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r>
                <a:rPr lang="en-US" altLang="zh-CN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%</a:t>
              </a:r>
              <a:endPara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AutoShape 56"/>
            <p:cNvSpPr/>
            <p:nvPr/>
          </p:nvSpPr>
          <p:spPr bwMode="auto">
            <a:xfrm>
              <a:off x="4024" y="1600"/>
              <a:ext cx="149" cy="341"/>
            </a:xfrm>
            <a:prstGeom prst="rightBrace">
              <a:avLst>
                <a:gd name="adj1" fmla="val 19072"/>
                <a:gd name="adj2" fmla="val 50000"/>
              </a:avLst>
            </a:prstGeom>
            <a:noFill/>
            <a:ln w="19050">
              <a:solidFill>
                <a:srgbClr val="660066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2016-2020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中国</a:t>
            </a:r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及构成（</a:t>
            </a:r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单位：亿元）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7" name="图表 6"/>
          <p:cNvGraphicFramePr/>
          <p:nvPr/>
        </p:nvGraphicFramePr>
        <p:xfrm>
          <a:off x="457200" y="1628800"/>
          <a:ext cx="8363272" cy="4176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三驾马车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7544" y="2708920"/>
            <a:ext cx="74168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之前四驾马车中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的“</a:t>
            </a:r>
            <a:r>
              <a:rPr lang="en-US" altLang="zh-CN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G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”包括</a:t>
            </a:r>
            <a:r>
              <a:rPr lang="zh-CN" altLang="en-US" sz="2400" smtClean="0">
                <a:solidFill>
                  <a:srgbClr val="FF0000"/>
                </a:solidFill>
                <a:ea typeface="思源黑体 CN Regular" panose="020B0500000000000000" pitchFamily="34" charset="-122"/>
              </a:rPr>
              <a:t>：</a:t>
            </a:r>
            <a:r>
              <a:rPr lang="zh-CN" altLang="en-US" sz="2400">
                <a:solidFill>
                  <a:srgbClr val="FF0000"/>
                </a:solidFill>
                <a:ea typeface="思源黑体 CN Regular" panose="020B0500000000000000" pitchFamily="34" charset="-122"/>
              </a:rPr>
              <a:t>公共</a:t>
            </a:r>
            <a:r>
              <a:rPr lang="zh-CN" altLang="en-US" sz="2400" smtClean="0">
                <a:solidFill>
                  <a:srgbClr val="FF0000"/>
                </a:solidFill>
                <a:ea typeface="思源黑体 CN Regular" panose="020B0500000000000000" pitchFamily="34" charset="-122"/>
              </a:rPr>
              <a:t>消费</a:t>
            </a:r>
            <a:r>
              <a:rPr lang="en-US" altLang="zh-CN" sz="2400" smtClean="0">
                <a:solidFill>
                  <a:srgbClr val="FF0000"/>
                </a:solidFill>
                <a:ea typeface="思源黑体 CN Regular" panose="020B0500000000000000" pitchFamily="34" charset="-122"/>
              </a:rPr>
              <a:t>+</a:t>
            </a:r>
            <a:r>
              <a:rPr lang="zh-CN" altLang="en-US" sz="2400">
                <a:solidFill>
                  <a:srgbClr val="FF0000"/>
                </a:solidFill>
                <a:ea typeface="思源黑体 CN Regular" panose="020B0500000000000000" pitchFamily="34" charset="-122"/>
              </a:rPr>
              <a:t>公共</a:t>
            </a:r>
            <a:r>
              <a:rPr lang="zh-CN" altLang="en-US" sz="2400" smtClean="0">
                <a:solidFill>
                  <a:srgbClr val="FF0000"/>
                </a:solidFill>
                <a:ea typeface="思源黑体 CN Regular" panose="020B0500000000000000" pitchFamily="34" charset="-122"/>
              </a:rPr>
              <a:t>投资</a:t>
            </a:r>
            <a:endParaRPr lang="en-US" altLang="zh-CN" sz="2400" smtClean="0">
              <a:solidFill>
                <a:srgbClr val="FF0000"/>
              </a:solidFill>
              <a:ea typeface="思源黑体 CN Regular" panose="020B05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消费 </a:t>
            </a:r>
            <a:r>
              <a:rPr lang="en-US" altLang="zh-CN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(C) </a:t>
            </a: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：包括私人消费</a:t>
            </a:r>
            <a:r>
              <a:rPr lang="en-US" altLang="zh-CN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+</a:t>
            </a:r>
            <a:r>
              <a:rPr lang="zh-CN" altLang="en-US" sz="2400">
                <a:solidFill>
                  <a:srgbClr val="FF0000"/>
                </a:solidFill>
                <a:ea typeface="思源黑体 CN Regular" panose="020B0500000000000000" pitchFamily="34" charset="-122"/>
              </a:rPr>
              <a:t>公共消费</a:t>
            </a:r>
            <a:endParaRPr lang="en-US" altLang="zh-CN" sz="2400">
              <a:solidFill>
                <a:srgbClr val="FF0000"/>
              </a:solidFill>
              <a:ea typeface="思源黑体 CN Regular" panose="020B05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投资 </a:t>
            </a:r>
            <a:r>
              <a:rPr lang="en-US" altLang="zh-CN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(I) </a:t>
            </a: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：包括私人投资</a:t>
            </a:r>
            <a:r>
              <a:rPr lang="en-US" altLang="zh-CN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+</a:t>
            </a:r>
            <a:r>
              <a:rPr lang="zh-CN" altLang="en-US" sz="2400">
                <a:solidFill>
                  <a:srgbClr val="FF0000"/>
                </a:solidFill>
                <a:ea typeface="思源黑体 CN Regular" panose="020B0500000000000000" pitchFamily="34" charset="-122"/>
              </a:rPr>
              <a:t>公共</a:t>
            </a:r>
            <a:r>
              <a:rPr lang="zh-CN" altLang="en-US" sz="2400" smtClean="0">
                <a:solidFill>
                  <a:srgbClr val="FF0000"/>
                </a:solidFill>
                <a:ea typeface="思源黑体 CN Regular" panose="020B0500000000000000" pitchFamily="34" charset="-122"/>
              </a:rPr>
              <a:t>投资</a:t>
            </a:r>
            <a:endParaRPr lang="en-US" altLang="zh-CN" sz="2400" smtClean="0">
              <a:solidFill>
                <a:srgbClr val="FF0000"/>
              </a:solidFill>
              <a:ea typeface="思源黑体 CN Regular" panose="020B05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净出口（</a:t>
            </a:r>
            <a:r>
              <a:rPr lang="en-US" altLang="zh-CN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NX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）：</a:t>
            </a:r>
            <a:r>
              <a:rPr lang="zh-CN" altLang="en-US" sz="2400">
                <a:solidFill>
                  <a:srgbClr val="002060"/>
                </a:solidFill>
                <a:ea typeface="思源黑体 CN Regular" panose="020B0500000000000000" pitchFamily="34" charset="-122"/>
              </a:rPr>
              <a:t>定义</a:t>
            </a:r>
            <a:r>
              <a:rPr lang="zh-CN" altLang="en-US" sz="2400" smtClean="0">
                <a:solidFill>
                  <a:srgbClr val="002060"/>
                </a:solidFill>
                <a:ea typeface="思源黑体 CN Regular" panose="020B0500000000000000" pitchFamily="34" charset="-122"/>
              </a:rPr>
              <a:t>不变</a:t>
            </a:r>
            <a:endParaRPr lang="en-US" altLang="zh-CN" sz="2400" dirty="0">
              <a:solidFill>
                <a:srgbClr val="FF0000"/>
              </a:solidFill>
              <a:ea typeface="思源黑体 CN Regular" panose="020B0500000000000000" pitchFamily="34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187624" y="1700808"/>
            <a:ext cx="5070475" cy="7270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spcBef>
                <a:spcPct val="50000"/>
              </a:spcBef>
              <a:defRPr/>
            </a:pPr>
            <a:r>
              <a:rPr lang="en-US" sz="3000" b="1" dirty="0">
                <a:latin typeface="Tahoma" panose="020B0604030504040204" pitchFamily="34" charset="0"/>
                <a:cs typeface="Arial" panose="020B0604020202020204" pitchFamily="34" charset="0"/>
              </a:rPr>
              <a:t>Y  =  C  +  I  </a:t>
            </a:r>
            <a:r>
              <a:rPr lang="en-US" sz="3000" b="1">
                <a:latin typeface="Tahoma" panose="020B0604030504040204" pitchFamily="34" charset="0"/>
                <a:cs typeface="Arial" panose="020B0604020202020204" pitchFamily="34" charset="0"/>
              </a:rPr>
              <a:t>+ </a:t>
            </a:r>
            <a:r>
              <a:rPr lang="en-US" sz="3000" b="1" smtClean="0">
                <a:latin typeface="Tahoma" panose="020B0604030504040204" pitchFamily="34" charset="0"/>
                <a:cs typeface="Arial" panose="020B0604020202020204" pitchFamily="34" charset="0"/>
              </a:rPr>
              <a:t>NX</a:t>
            </a:r>
            <a:endParaRPr lang="en-US" sz="3000" b="1" dirty="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1279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2</a:t>
            </a:r>
            <a:endParaRPr lang="zh-CN" altLang="en-US" sz="3200" dirty="0">
              <a:solidFill>
                <a:srgbClr val="002060"/>
              </a:solidFill>
              <a:latin typeface="华光琥珀_CNKI" panose="02000500000000000000" pitchFamily="2" charset="-122"/>
              <a:ea typeface="华光琥珀_CNKI" panose="020005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0248" y="1412776"/>
            <a:ext cx="7880183" cy="2861310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为什么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“新基建”很重要？为什么中国</a:t>
            </a:r>
            <a:r>
              <a:rPr lang="en-US" altLang="zh-CN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2008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年要实行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四万亿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计划？为什么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美国政府</a:t>
            </a:r>
            <a:r>
              <a:rPr lang="en-US" altLang="zh-CN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2021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-2025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年要实行两万亿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美元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）的基建计划？</a:t>
            </a:r>
            <a:endParaRPr lang="zh-CN" altLang="en-US" sz="24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为什么国家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确立“以国内大循环为主体、国内国际双循环相互促进的新发展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格局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”？</a:t>
            </a:r>
            <a:endParaRPr lang="zh-CN" altLang="en-US" sz="24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5417" y="620688"/>
            <a:ext cx="4847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3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及其组成部分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7" name="TextBox 15"/>
          <p:cNvSpPr txBox="1"/>
          <p:nvPr/>
        </p:nvSpPr>
        <p:spPr>
          <a:xfrm>
            <a:off x="395536" y="1340768"/>
            <a:ext cx="85312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在以下每种情况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支出法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哪个组成部分受到影响？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A. 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男朋友花 </a:t>
            </a:r>
            <a:r>
              <a:rPr lang="en-US" altLang="zh-CN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800 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元请女朋友吃生日大餐。</a:t>
            </a:r>
            <a:endParaRPr lang="zh-CN" altLang="en-US" sz="24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B. 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小邹花了 </a:t>
            </a:r>
            <a:r>
              <a:rPr lang="en-US" altLang="zh-CN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6000 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元购买了一台新笔记本电脑，用于他的图文印刷业务。笔记本电脑是美国制造的。</a:t>
            </a:r>
            <a:endParaRPr lang="zh-CN" altLang="en-US" sz="24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C. 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小邹又花了</a:t>
            </a:r>
            <a:r>
              <a:rPr lang="en-US" altLang="zh-CN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3000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元购买了一台打折的国产台式机，这是去年的旧款。</a:t>
            </a:r>
            <a:endParaRPr lang="zh-CN" altLang="en-US" sz="24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  <a:r>
              <a:rPr lang="en-US" altLang="zh-CN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BYD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公司制造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了价值 </a:t>
            </a:r>
            <a:r>
              <a:rPr lang="en-US" altLang="zh-CN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亿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的某款汽车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，但消费者只购买了价值 </a:t>
            </a:r>
            <a:r>
              <a:rPr lang="en-US" altLang="zh-CN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70 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亿元的汽车</a:t>
            </a:r>
            <a:r>
              <a:rPr lang="zh-CN" altLang="en-US" sz="20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5417" y="62068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320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3 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答案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7" name="TextBox 15"/>
          <p:cNvSpPr txBox="1"/>
          <p:nvPr/>
        </p:nvSpPr>
        <p:spPr>
          <a:xfrm>
            <a:off x="433281" y="1556792"/>
            <a:ext cx="86032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A.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男朋友花 </a:t>
            </a:r>
            <a:r>
              <a:rPr lang="en-US" altLang="zh-CN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800 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元请女朋友吃生日大餐。</a:t>
            </a:r>
            <a:endParaRPr lang="zh-CN" altLang="en-US" sz="24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私人消费增加</a:t>
            </a:r>
            <a:r>
              <a:rPr lang="en-US" altLang="zh-CN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800</a:t>
            </a: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元，因此</a:t>
            </a:r>
            <a:r>
              <a:rPr lang="en-US" altLang="zh-CN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GDP</a:t>
            </a: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增加</a:t>
            </a:r>
            <a:r>
              <a:rPr lang="en-US" altLang="zh-CN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800</a:t>
            </a:r>
            <a:r>
              <a:rPr lang="zh-CN" altLang="en-US" sz="240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B.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小邹花了 </a:t>
            </a:r>
            <a:r>
              <a:rPr lang="en-US" altLang="zh-CN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6000 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元购买了一台新笔记本电脑，用于他的图文印刷业务。笔记本电脑是美国制造的。</a:t>
            </a:r>
            <a:endParaRPr lang="zh-CN" altLang="en-US" sz="24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私人投资</a:t>
            </a:r>
            <a:r>
              <a:rPr lang="zh-CN" altLang="en-US" sz="240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增加</a:t>
            </a:r>
            <a:r>
              <a:rPr lang="en-US" altLang="zh-CN" sz="240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6000</a:t>
            </a:r>
            <a:r>
              <a:rPr lang="zh-CN" altLang="en-US" sz="240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</a:t>
            </a: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，但是净出口</a:t>
            </a:r>
            <a:r>
              <a:rPr lang="zh-CN" altLang="en-US" sz="240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减少</a:t>
            </a:r>
            <a:r>
              <a:rPr lang="en-US" altLang="zh-CN" sz="240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6000</a:t>
            </a:r>
            <a:r>
              <a:rPr lang="zh-CN" altLang="en-US" sz="240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</a:t>
            </a: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，所以</a:t>
            </a:r>
            <a:r>
              <a:rPr lang="en-US" altLang="zh-CN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GDP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不变。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7" name="TextBox 15"/>
          <p:cNvSpPr txBox="1"/>
          <p:nvPr/>
        </p:nvSpPr>
        <p:spPr>
          <a:xfrm>
            <a:off x="467544" y="1484784"/>
            <a:ext cx="85312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C.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小邹又花了</a:t>
            </a:r>
            <a:r>
              <a:rPr lang="en-US" altLang="zh-CN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3000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元购买了一台打折的国产台式机，这是去年的旧款。</a:t>
            </a:r>
            <a:endParaRPr lang="zh-CN" altLang="en-US" sz="24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私人投资不变，因为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计算机是去年</a:t>
            </a:r>
            <a:r>
              <a:rPr lang="zh-CN" altLang="en-US" sz="240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制造</a:t>
            </a: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的，所以</a:t>
            </a:r>
            <a:r>
              <a:rPr lang="en-US" altLang="zh-CN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GDP</a:t>
            </a: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也不变。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D.BYD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制造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了价值 </a:t>
            </a:r>
            <a:r>
              <a:rPr lang="en-US" altLang="zh-CN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亿元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的某款汽车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，但消费者只购买了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价值</a:t>
            </a:r>
            <a:r>
              <a:rPr lang="en-US" altLang="zh-CN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70</a:t>
            </a:r>
            <a:r>
              <a:rPr lang="zh-CN" altLang="en-US" sz="24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亿</a:t>
            </a:r>
            <a:r>
              <a:rPr lang="zh-CN" altLang="en-US" sz="24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元的汽车。</a:t>
            </a:r>
            <a:endParaRPr lang="zh-CN" altLang="en-US" sz="24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私人消费增加</a:t>
            </a:r>
            <a:r>
              <a:rPr lang="en-US" altLang="zh-CN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70</a:t>
            </a:r>
            <a:r>
              <a:rPr lang="zh-CN" altLang="en-US" sz="240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亿元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，库存</a:t>
            </a:r>
            <a:r>
              <a:rPr lang="zh-CN" altLang="en-US" sz="240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投资</a:t>
            </a: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增加</a:t>
            </a:r>
            <a:r>
              <a:rPr lang="en-US" altLang="zh-CN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30</a:t>
            </a:r>
            <a:r>
              <a:rPr lang="zh-CN" altLang="en-US" sz="240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亿元</a:t>
            </a: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，所以</a:t>
            </a:r>
            <a:r>
              <a:rPr lang="en-US" altLang="zh-CN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GDP</a:t>
            </a: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增加</a:t>
            </a:r>
            <a:r>
              <a:rPr lang="en-US" altLang="zh-CN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亿</a:t>
            </a:r>
            <a:r>
              <a:rPr lang="zh-CN" altLang="en-US" sz="240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元</a:t>
            </a: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。（当年没有卖出的产品作为当年的库存，计入投资部分，是</a:t>
            </a:r>
            <a:r>
              <a:rPr lang="en-US" altLang="zh-CN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GDP</a:t>
            </a:r>
            <a:r>
              <a:rPr lang="zh-CN" altLang="en-US" sz="2400" smtClean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的增量）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415417" y="62068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320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3 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答案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5417" y="620688"/>
            <a:ext cx="3815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实际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与名义 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7" name="TextBox 15"/>
          <p:cNvSpPr txBox="1"/>
          <p:nvPr/>
        </p:nvSpPr>
        <p:spPr>
          <a:xfrm>
            <a:off x="415417" y="1412776"/>
            <a:ext cx="85312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通货膨胀会扭曲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等经济变量，因此我们有两个版本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，一个叫做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，一个叫做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▪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当期价格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当期数量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▪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未调整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▪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基期年价格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当期数量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产出价值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▪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541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4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名义和实际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4" name="Group 47"/>
          <p:cNvGraphicFramePr>
            <a:graphicFrameLocks noGrp="1"/>
          </p:cNvGraphicFramePr>
          <p:nvPr/>
        </p:nvGraphicFramePr>
        <p:xfrm>
          <a:off x="1043608" y="1340768"/>
          <a:ext cx="6824868" cy="2377440"/>
        </p:xfrm>
        <a:graphic>
          <a:graphicData uri="http://schemas.openxmlformats.org/drawingml/2006/table">
            <a:tbl>
              <a:tblPr/>
              <a:tblGrid>
                <a:gridCol w="1364974"/>
                <a:gridCol w="1364973"/>
                <a:gridCol w="1364974"/>
                <a:gridCol w="1364973"/>
                <a:gridCol w="1364974"/>
              </a:tblGrid>
              <a:tr h="3600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面包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牛奶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</a:tr>
              <a:tr h="4306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产量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306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1,000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306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1,100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306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1,200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00050" y="3722688"/>
            <a:ext cx="6188174" cy="229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60000"/>
              </a:spcBef>
              <a:buFont typeface="Wingdings" panose="05000000000000000000" pitchFamily="2" charset="2"/>
              <a:buNone/>
              <a:tabLst>
                <a:tab pos="1146175" algn="l"/>
                <a:tab pos="5195570" algn="l"/>
              </a:tabLs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计算每年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ct val="60000"/>
              </a:spcBef>
              <a:buFont typeface="Wingdings" panose="05000000000000000000" pitchFamily="2" charset="2"/>
              <a:buNone/>
              <a:tabLst>
                <a:tab pos="1146175" algn="l"/>
                <a:tab pos="5195570" algn="l"/>
              </a:tabLst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2011: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	10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400 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+ 2 x </a:t>
            </a: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1,000 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=   6,000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ct val="60000"/>
              </a:spcBef>
              <a:buFont typeface="Wingdings" panose="05000000000000000000" pitchFamily="2" charset="2"/>
              <a:buNone/>
              <a:tabLst>
                <a:tab pos="1146175" algn="l"/>
                <a:tab pos="5195570" algn="l"/>
              </a:tabLst>
            </a:pP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2012: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11 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500  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+ 2.50 x 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1,100 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8,250</a:t>
            </a:r>
            <a:endParaRPr 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ct val="60000"/>
              </a:spcBef>
              <a:buFont typeface="Wingdings" panose="05000000000000000000" pitchFamily="2" charset="2"/>
              <a:buNone/>
              <a:tabLst>
                <a:tab pos="1146175" algn="l"/>
                <a:tab pos="5195570" algn="l"/>
              </a:tabLst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2013: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	12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600 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+ 3 x </a:t>
            </a: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1,200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=  10,800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Group 40"/>
          <p:cNvGrpSpPr/>
          <p:nvPr/>
        </p:nvGrpSpPr>
        <p:grpSpPr bwMode="auto">
          <a:xfrm>
            <a:off x="6300192" y="4437118"/>
            <a:ext cx="2736305" cy="685801"/>
            <a:chOff x="4596" y="2877"/>
            <a:chExt cx="832" cy="426"/>
          </a:xfrm>
        </p:grpSpPr>
        <p:sp>
          <p:nvSpPr>
            <p:cNvPr id="11" name="Text Box 41"/>
            <p:cNvSpPr txBox="1">
              <a:spLocks noChangeArrowheads="1"/>
            </p:cNvSpPr>
            <p:nvPr/>
          </p:nvSpPr>
          <p:spPr bwMode="auto">
            <a:xfrm>
              <a:off x="4696" y="2918"/>
              <a:ext cx="732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wrap="square" lIns="45720" rIns="4572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5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r>
                <a:rPr lang="zh-CN" altLang="en-US" sz="15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（</a:t>
              </a:r>
              <a:r>
                <a:rPr lang="en-US" altLang="zh-CN" sz="15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8,250-6,000</a:t>
              </a:r>
              <a:r>
                <a:rPr lang="en-US" altLang="zh-CN" sz="1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)</a:t>
              </a:r>
              <a:r>
                <a:rPr lang="en-US" altLang="zh-CN" sz="15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/6,000 =</a:t>
              </a:r>
              <a:r>
                <a:rPr lang="en-US" sz="15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37.5</a:t>
              </a:r>
              <a:r>
                <a:rPr lang="en-US" sz="15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%</a:t>
              </a:r>
              <a:endParaRPr 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2" name="AutoShape 42"/>
            <p:cNvSpPr/>
            <p:nvPr/>
          </p:nvSpPr>
          <p:spPr bwMode="auto">
            <a:xfrm>
              <a:off x="4596" y="2877"/>
              <a:ext cx="85" cy="426"/>
            </a:xfrm>
            <a:prstGeom prst="rightBrace">
              <a:avLst>
                <a:gd name="adj1" fmla="val 22756"/>
                <a:gd name="adj2" fmla="val 50000"/>
              </a:avLst>
            </a:prstGeom>
            <a:noFill/>
            <a:ln w="19050">
              <a:solidFill>
                <a:srgbClr val="3333CC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3" name="Group 44"/>
          <p:cNvGrpSpPr/>
          <p:nvPr/>
        </p:nvGrpSpPr>
        <p:grpSpPr bwMode="auto">
          <a:xfrm>
            <a:off x="6300192" y="5157192"/>
            <a:ext cx="2664296" cy="704850"/>
            <a:chOff x="4579" y="3302"/>
            <a:chExt cx="842" cy="432"/>
          </a:xfrm>
        </p:grpSpPr>
        <p:sp>
          <p:nvSpPr>
            <p:cNvPr id="14" name="Text Box 45"/>
            <p:cNvSpPr txBox="1">
              <a:spLocks noChangeArrowheads="1"/>
            </p:cNvSpPr>
            <p:nvPr/>
          </p:nvSpPr>
          <p:spPr bwMode="auto">
            <a:xfrm>
              <a:off x="4693" y="3367"/>
              <a:ext cx="728" cy="34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</p:spPr>
          <p:txBody>
            <a:bodyPr wrap="square" lIns="45720" rIns="4572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r>
                <a:rPr lang="zh-CN" altLang="en-US" sz="15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（</a:t>
              </a:r>
              <a:r>
                <a:rPr lang="en-US" altLang="zh-CN" sz="15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10,800-8,250)/8,250 =30.9%</a:t>
              </a:r>
              <a:endPara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5" name="AutoShape 46"/>
            <p:cNvSpPr/>
            <p:nvPr/>
          </p:nvSpPr>
          <p:spPr bwMode="auto">
            <a:xfrm>
              <a:off x="4579" y="3302"/>
              <a:ext cx="88" cy="432"/>
            </a:xfrm>
            <a:prstGeom prst="rightBrace">
              <a:avLst>
                <a:gd name="adj1" fmla="val 23077"/>
                <a:gd name="adj2" fmla="val 50000"/>
              </a:avLst>
            </a:prstGeom>
            <a:noFill/>
            <a:ln w="19050">
              <a:solidFill>
                <a:srgbClr val="3333CC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6" name="Text Box 43"/>
          <p:cNvSpPr txBox="1">
            <a:spLocks noChangeArrowheads="1"/>
          </p:cNvSpPr>
          <p:nvPr/>
        </p:nvSpPr>
        <p:spPr bwMode="auto">
          <a:xfrm>
            <a:off x="7239000" y="3906838"/>
            <a:ext cx="1562100" cy="484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增长率</a:t>
            </a:r>
            <a:r>
              <a:rPr 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: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5" build="p"/>
      <p:bldP spid="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9" name="Line 50"/>
          <p:cNvSpPr>
            <a:spLocks noChangeShapeType="1"/>
          </p:cNvSpPr>
          <p:nvPr/>
        </p:nvSpPr>
        <p:spPr bwMode="auto">
          <a:xfrm flipV="1">
            <a:off x="539552" y="2564904"/>
            <a:ext cx="433388" cy="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433281" y="3866470"/>
            <a:ext cx="6592888" cy="1001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50000"/>
              </a:spcBef>
              <a:buFont typeface="Wingdings" panose="05000000000000000000" pitchFamily="2" charset="2"/>
              <a:buNone/>
              <a:tabLst>
                <a:tab pos="1146175" algn="l"/>
                <a:tab pos="4859020" algn="l"/>
              </a:tabLs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2011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年为基准年，计算每年的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000" dirty="0"/>
              <a:t>：</a:t>
            </a:r>
            <a:endParaRPr lang="en-US" sz="2000" dirty="0"/>
          </a:p>
        </p:txBody>
      </p:sp>
      <p:sp>
        <p:nvSpPr>
          <p:cNvPr id="11" name="Rectangle 52"/>
          <p:cNvSpPr>
            <a:spLocks noChangeArrowheads="1"/>
          </p:cNvSpPr>
          <p:nvPr/>
        </p:nvSpPr>
        <p:spPr bwMode="auto">
          <a:xfrm>
            <a:off x="438044" y="4370955"/>
            <a:ext cx="6588125" cy="1766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5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tabLst>
                <a:tab pos="1146175" algn="l"/>
                <a:tab pos="4859020" algn="l"/>
              </a:tabLst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2011: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10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x 400 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+  2 x </a:t>
            </a: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1,000 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6,000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5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tabLst>
                <a:tab pos="1146175" algn="l"/>
                <a:tab pos="4859020" algn="l"/>
              </a:tabLst>
            </a:pP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2012: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10 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x 500  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+  2 x 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1,100 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 7,200</a:t>
            </a:r>
            <a:endParaRPr 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5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tabLst>
                <a:tab pos="1146175" algn="l"/>
                <a:tab pos="4859020" algn="l"/>
              </a:tabLst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2013: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10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x 600 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+  2 x </a:t>
            </a:r>
            <a:r>
              <a:rPr 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1,200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 8,400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2" name="Group 40"/>
          <p:cNvGrpSpPr/>
          <p:nvPr/>
        </p:nvGrpSpPr>
        <p:grpSpPr bwMode="auto">
          <a:xfrm>
            <a:off x="6684438" y="4612577"/>
            <a:ext cx="1373187" cy="657225"/>
            <a:chOff x="4311" y="3003"/>
            <a:chExt cx="865" cy="414"/>
          </a:xfrm>
        </p:grpSpPr>
        <p:sp>
          <p:nvSpPr>
            <p:cNvPr id="13" name="Text Box 41"/>
            <p:cNvSpPr txBox="1">
              <a:spLocks noChangeArrowheads="1"/>
            </p:cNvSpPr>
            <p:nvPr/>
          </p:nvSpPr>
          <p:spPr bwMode="auto">
            <a:xfrm>
              <a:off x="4504" y="3035"/>
              <a:ext cx="672" cy="308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</p:spPr>
          <p:txBody>
            <a:bodyPr lIns="45720" rIns="4572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600" dirty="0">
                  <a:latin typeface="Arial" panose="020B0604020202020204"/>
                  <a:cs typeface="Arial" panose="020B0604020202020204"/>
                </a:rPr>
                <a:t>20.0%</a:t>
              </a:r>
              <a:endParaRPr lang="en-US" sz="260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AutoShape 42"/>
            <p:cNvSpPr/>
            <p:nvPr/>
          </p:nvSpPr>
          <p:spPr bwMode="auto">
            <a:xfrm>
              <a:off x="4311" y="3003"/>
              <a:ext cx="156" cy="414"/>
            </a:xfrm>
            <a:prstGeom prst="rightBrace">
              <a:avLst>
                <a:gd name="adj1" fmla="val 22115"/>
                <a:gd name="adj2" fmla="val 50000"/>
              </a:avLst>
            </a:prstGeom>
            <a:noFill/>
            <a:ln w="19050">
              <a:solidFill>
                <a:srgbClr val="800000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5" name="Group 44"/>
          <p:cNvGrpSpPr/>
          <p:nvPr/>
        </p:nvGrpSpPr>
        <p:grpSpPr bwMode="auto">
          <a:xfrm>
            <a:off x="6664118" y="5296612"/>
            <a:ext cx="1350962" cy="657225"/>
            <a:chOff x="4321" y="3419"/>
            <a:chExt cx="851" cy="414"/>
          </a:xfrm>
        </p:grpSpPr>
        <p:sp>
          <p:nvSpPr>
            <p:cNvPr id="16" name="Text Box 45"/>
            <p:cNvSpPr txBox="1">
              <a:spLocks noChangeArrowheads="1"/>
            </p:cNvSpPr>
            <p:nvPr/>
          </p:nvSpPr>
          <p:spPr bwMode="auto">
            <a:xfrm>
              <a:off x="4517" y="3484"/>
              <a:ext cx="655" cy="308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</p:spPr>
          <p:txBody>
            <a:bodyPr lIns="45720" rIns="4572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600" dirty="0">
                  <a:latin typeface="Arial" panose="020B0604020202020204"/>
                  <a:cs typeface="Arial" panose="020B0604020202020204"/>
                </a:rPr>
                <a:t>16.7%</a:t>
              </a:r>
              <a:endParaRPr lang="en-US" sz="260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AutoShape 46"/>
            <p:cNvSpPr/>
            <p:nvPr/>
          </p:nvSpPr>
          <p:spPr bwMode="auto">
            <a:xfrm>
              <a:off x="4321" y="3419"/>
              <a:ext cx="156" cy="414"/>
            </a:xfrm>
            <a:prstGeom prst="rightBrace">
              <a:avLst>
                <a:gd name="adj1" fmla="val 22115"/>
                <a:gd name="adj2" fmla="val 50000"/>
              </a:avLst>
            </a:prstGeom>
            <a:noFill/>
            <a:ln w="19050">
              <a:solidFill>
                <a:srgbClr val="800000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8" name="Text Box 43"/>
          <p:cNvSpPr txBox="1">
            <a:spLocks noChangeArrowheads="1"/>
          </p:cNvSpPr>
          <p:nvPr/>
        </p:nvSpPr>
        <p:spPr bwMode="auto">
          <a:xfrm>
            <a:off x="6843713" y="4087813"/>
            <a:ext cx="1562100" cy="484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增长率</a:t>
            </a:r>
            <a:r>
              <a:rPr lang="en-US" sz="2400" b="1" u="sng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:</a:t>
            </a:r>
            <a:endParaRPr lang="en-US" sz="2400" b="1" u="sng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9" name="TextBox 5"/>
          <p:cNvSpPr txBox="1"/>
          <p:nvPr/>
        </p:nvSpPr>
        <p:spPr>
          <a:xfrm>
            <a:off x="414137" y="641967"/>
            <a:ext cx="4541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4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名义和实际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20" name="Group 47"/>
          <p:cNvGraphicFramePr>
            <a:graphicFrameLocks noGrp="1"/>
          </p:cNvGraphicFramePr>
          <p:nvPr/>
        </p:nvGraphicFramePr>
        <p:xfrm>
          <a:off x="1043608" y="1340768"/>
          <a:ext cx="6824868" cy="2377440"/>
        </p:xfrm>
        <a:graphic>
          <a:graphicData uri="http://schemas.openxmlformats.org/drawingml/2006/table">
            <a:tbl>
              <a:tblPr/>
              <a:tblGrid>
                <a:gridCol w="1364974"/>
                <a:gridCol w="1364973"/>
                <a:gridCol w="1364974"/>
                <a:gridCol w="1364973"/>
                <a:gridCol w="1364974"/>
              </a:tblGrid>
              <a:tr h="3600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面包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牛奶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</a:tr>
              <a:tr h="4306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产量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306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1,000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306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1,100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306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1,200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4" build="p"/>
      <p:bldP spid="11" grpId="0" build="p"/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aphicFrame>
        <p:nvGraphicFramePr>
          <p:cNvPr id="4" name="Group 26"/>
          <p:cNvGraphicFramePr>
            <a:graphicFrameLocks noGrp="1"/>
          </p:cNvGraphicFramePr>
          <p:nvPr/>
        </p:nvGraphicFramePr>
        <p:xfrm>
          <a:off x="1043609" y="1484784"/>
          <a:ext cx="6912767" cy="1941513"/>
        </p:xfrm>
        <a:graphic>
          <a:graphicData uri="http://schemas.openxmlformats.org/drawingml/2006/table">
            <a:tbl>
              <a:tblPr/>
              <a:tblGrid>
                <a:gridCol w="952840"/>
                <a:gridCol w="1487467"/>
                <a:gridCol w="1145084"/>
                <a:gridCol w="1671192"/>
                <a:gridCol w="1656184"/>
              </a:tblGrid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名义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GDP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增长率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GDP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增长率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6,000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R="2286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6,000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8,250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R="2286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37.5%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7,200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F845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20.0%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9F8453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84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10,800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R="2286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30.9%</a:t>
                      </a:r>
                      <a:endParaRPr kumimoji="0" lang="en-US" sz="2400" b="0" i="0" u="none" strike="noStrike" kern="1200" cap="none" normalizeH="0" baseline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8,400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9F845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16.7%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9F8453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27584" y="3501008"/>
            <a:ext cx="7632848" cy="175432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在每年：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使用当期价格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来衡量的。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是使用基期年价格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来衡量的。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414137" y="641967"/>
            <a:ext cx="4541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4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名义和实际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99592" y="3573016"/>
            <a:ext cx="7272808" cy="230832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的变化：反映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了价格和数量的变化。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的变化：是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在价格不变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即假设零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通货膨胀）的情况下，反映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是数量的变化。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 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是针对通货膨胀进行修正的。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2" name="Group 26"/>
          <p:cNvGraphicFramePr>
            <a:graphicFrameLocks noGrp="1"/>
          </p:cNvGraphicFramePr>
          <p:nvPr/>
        </p:nvGraphicFramePr>
        <p:xfrm>
          <a:off x="1043609" y="1484784"/>
          <a:ext cx="6912767" cy="1941513"/>
        </p:xfrm>
        <a:graphic>
          <a:graphicData uri="http://schemas.openxmlformats.org/drawingml/2006/table">
            <a:tbl>
              <a:tblPr/>
              <a:tblGrid>
                <a:gridCol w="952840"/>
                <a:gridCol w="1487467"/>
                <a:gridCol w="1145084"/>
                <a:gridCol w="1671192"/>
                <a:gridCol w="1656184"/>
              </a:tblGrid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名义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GDP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增长率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GDP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增长率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6,000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R="2286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6,000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8,250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R="2286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37.5%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7,200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20.0%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84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10,800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R="2286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30.9%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8,400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16.7%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" name="TextBox 5"/>
          <p:cNvSpPr txBox="1"/>
          <p:nvPr/>
        </p:nvSpPr>
        <p:spPr>
          <a:xfrm>
            <a:off x="414137" y="641967"/>
            <a:ext cx="4541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4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名义和实际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8694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2000-2019 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年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中国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名义和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实际 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（亿元）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791580" y="1556792"/>
          <a:ext cx="7560839" cy="4392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5571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平减指数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43608" y="1556792"/>
            <a:ext cx="6408712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公式：</a:t>
            </a:r>
            <a:endParaRPr lang="zh-CN" altLang="en-US" sz="2400" dirty="0">
              <a:solidFill>
                <a:srgbClr val="002060"/>
              </a:solidFill>
              <a:ea typeface="思源黑体 CN Regular" panose="020B0500000000000000" pitchFamily="34" charset="-122"/>
            </a:endParaRPr>
          </a:p>
        </p:txBody>
      </p:sp>
      <p:grpSp>
        <p:nvGrpSpPr>
          <p:cNvPr id="8" name="Group 11"/>
          <p:cNvGrpSpPr/>
          <p:nvPr/>
        </p:nvGrpSpPr>
        <p:grpSpPr bwMode="auto">
          <a:xfrm>
            <a:off x="1259632" y="2420888"/>
            <a:ext cx="6578600" cy="1061689"/>
            <a:chOff x="471" y="1777"/>
            <a:chExt cx="4144" cy="784"/>
          </a:xfrm>
        </p:grpSpPr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471" y="1777"/>
              <a:ext cx="4144" cy="779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74320" anchor="ctr"/>
            <a:lstStyle/>
            <a:p>
              <a:pPr>
                <a:spcBef>
                  <a:spcPct val="50000"/>
                </a:spcBef>
                <a:defRPr/>
              </a:pPr>
              <a:r>
                <a:rPr lang="en-US" sz="2900" dirty="0">
                  <a:latin typeface="Arial" panose="020B0604020202020204"/>
                  <a:cs typeface="Arial" panose="020B0604020202020204"/>
                </a:rPr>
                <a:t>GDP</a:t>
              </a:r>
              <a:r>
                <a:rPr lang="zh-CN" altLang="en-US" sz="2900" dirty="0">
                  <a:latin typeface="Arial" panose="020B0604020202020204"/>
                  <a:cs typeface="Arial" panose="020B0604020202020204"/>
                </a:rPr>
                <a:t>平减指数</a:t>
              </a:r>
              <a:r>
                <a:rPr lang="en-US" sz="2900" dirty="0">
                  <a:latin typeface="Arial" panose="020B0604020202020204"/>
                  <a:cs typeface="Arial" panose="020B0604020202020204"/>
                </a:rPr>
                <a:t>=  100 x </a:t>
              </a:r>
              <a:endParaRPr lang="en-US" sz="2900" dirty="0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10" name="Group 10"/>
            <p:cNvGrpSpPr/>
            <p:nvPr/>
          </p:nvGrpSpPr>
          <p:grpSpPr bwMode="auto">
            <a:xfrm>
              <a:off x="2935" y="1849"/>
              <a:ext cx="1578" cy="712"/>
              <a:chOff x="2942" y="1849"/>
              <a:chExt cx="1578" cy="712"/>
            </a:xfrm>
          </p:grpSpPr>
          <p:sp>
            <p:nvSpPr>
              <p:cNvPr id="11" name="Text Box 7"/>
              <p:cNvSpPr txBox="1">
                <a:spLocks noChangeArrowheads="1"/>
              </p:cNvSpPr>
              <p:nvPr/>
            </p:nvSpPr>
            <p:spPr bwMode="auto">
              <a:xfrm>
                <a:off x="2942" y="1849"/>
                <a:ext cx="1574" cy="3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900" dirty="0">
                    <a:latin typeface="Arial" panose="020B0604020202020204"/>
                    <a:cs typeface="Arial" panose="020B0604020202020204"/>
                  </a:rPr>
                  <a:t>名义</a:t>
                </a:r>
                <a:r>
                  <a:rPr lang="en-US" sz="2900" dirty="0">
                    <a:latin typeface="Arial" panose="020B0604020202020204"/>
                    <a:cs typeface="Arial" panose="020B0604020202020204"/>
                  </a:rPr>
                  <a:t>GDP</a:t>
                </a:r>
                <a:endParaRPr lang="en-US" sz="2900" dirty="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" name="Text Box 8"/>
              <p:cNvSpPr txBox="1">
                <a:spLocks noChangeArrowheads="1"/>
              </p:cNvSpPr>
              <p:nvPr/>
            </p:nvSpPr>
            <p:spPr bwMode="auto">
              <a:xfrm>
                <a:off x="2946" y="2163"/>
                <a:ext cx="1574" cy="3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900" dirty="0">
                    <a:latin typeface="Arial" panose="020B0604020202020204"/>
                    <a:cs typeface="Arial" panose="020B0604020202020204"/>
                  </a:rPr>
                  <a:t>实际</a:t>
                </a:r>
                <a:r>
                  <a:rPr lang="en-US" sz="2900" dirty="0">
                    <a:latin typeface="Arial" panose="020B0604020202020204"/>
                    <a:cs typeface="Arial" panose="020B0604020202020204"/>
                  </a:rPr>
                  <a:t>GDP</a:t>
                </a:r>
                <a:endParaRPr lang="en-US" sz="2900" dirty="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" name="Line 9"/>
              <p:cNvSpPr>
                <a:spLocks noChangeShapeType="1"/>
              </p:cNvSpPr>
              <p:nvPr/>
            </p:nvSpPr>
            <p:spPr bwMode="auto">
              <a:xfrm>
                <a:off x="3035" y="2185"/>
                <a:ext cx="13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14" name="文本框 13"/>
          <p:cNvSpPr txBox="1"/>
          <p:nvPr/>
        </p:nvSpPr>
        <p:spPr>
          <a:xfrm>
            <a:off x="1043608" y="3861048"/>
            <a:ext cx="73448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通货膨胀率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方法：计算相邻两年的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平减指数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增长率。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aphicFrame>
        <p:nvGraphicFramePr>
          <p:cNvPr id="4" name="Group 4"/>
          <p:cNvGraphicFramePr>
            <a:graphicFrameLocks noGrp="1"/>
          </p:cNvGraphicFramePr>
          <p:nvPr/>
        </p:nvGraphicFramePr>
        <p:xfrm>
          <a:off x="677068" y="1340768"/>
          <a:ext cx="8359427" cy="2315274"/>
        </p:xfrm>
        <a:graphic>
          <a:graphicData uri="http://schemas.openxmlformats.org/drawingml/2006/table">
            <a:tbl>
              <a:tblPr/>
              <a:tblGrid>
                <a:gridCol w="1183982"/>
                <a:gridCol w="1880433"/>
                <a:gridCol w="1853796"/>
                <a:gridCol w="1541733"/>
                <a:gridCol w="1899483"/>
              </a:tblGrid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名义</a:t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GDP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GDP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GDP 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平减指数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通货膨</a:t>
                      </a:r>
                      <a:br>
                        <a:rPr kumimoji="0" lang="en-US" altLang="zh-CN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kumimoji="0" lang="zh-CN" altLang="en-US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胀率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6,000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R="22860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6,000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8,250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R="2286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7,200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114.6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484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10,800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R="2286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8,400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128.6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51"/>
          <p:cNvGrpSpPr/>
          <p:nvPr/>
        </p:nvGrpSpPr>
        <p:grpSpPr bwMode="auto">
          <a:xfrm>
            <a:off x="6804248" y="2276872"/>
            <a:ext cx="2232248" cy="611189"/>
            <a:chOff x="4028" y="1270"/>
            <a:chExt cx="808" cy="385"/>
          </a:xfrm>
        </p:grpSpPr>
        <p:sp>
          <p:nvSpPr>
            <p:cNvPr id="8" name="Text Box 52"/>
            <p:cNvSpPr txBox="1">
              <a:spLocks noChangeArrowheads="1"/>
            </p:cNvSpPr>
            <p:nvPr/>
          </p:nvSpPr>
          <p:spPr bwMode="auto">
            <a:xfrm>
              <a:off x="4132" y="1282"/>
              <a:ext cx="704" cy="373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</a:ln>
          </p:spPr>
          <p:txBody>
            <a:bodyPr wrap="square" lIns="45720" rIns="45720">
              <a:spAutoFit/>
            </a:bodyPr>
            <a:lstStyle/>
            <a:p>
              <a:pPr>
                <a:lnSpc>
                  <a:spcPts val="1500"/>
                </a:lnSpc>
                <a:spcBef>
                  <a:spcPct val="50000"/>
                </a:spcBef>
              </a:pPr>
              <a:r>
                <a:rPr lang="en-US" altLang="zh-CN" sz="1500" smtClean="0">
                  <a:latin typeface="Arial" panose="020B0604020202020204"/>
                  <a:cs typeface="Arial" panose="020B0604020202020204"/>
                </a:rPr>
                <a:t>=(114.6-100)/100</a:t>
              </a:r>
              <a:endParaRPr lang="en-US" altLang="zh-CN" sz="1500" smtClean="0">
                <a:latin typeface="Arial" panose="020B0604020202020204"/>
                <a:cs typeface="Arial" panose="020B0604020202020204"/>
              </a:endParaRPr>
            </a:p>
            <a:p>
              <a:pPr>
                <a:lnSpc>
                  <a:spcPts val="1500"/>
                </a:lnSpc>
                <a:spcBef>
                  <a:spcPct val="50000"/>
                </a:spcBef>
              </a:pPr>
              <a:r>
                <a:rPr lang="en-US" altLang="zh-CN" sz="1500" smtClean="0">
                  <a:latin typeface="Arial" panose="020B0604020202020204"/>
                  <a:cs typeface="Arial" panose="020B0604020202020204"/>
                </a:rPr>
                <a:t>=</a:t>
              </a:r>
              <a:r>
                <a:rPr lang="en-US" sz="1500" smtClean="0">
                  <a:latin typeface="Arial" panose="020B0604020202020204"/>
                  <a:cs typeface="Arial" panose="020B0604020202020204"/>
                </a:rPr>
                <a:t>14.6</a:t>
              </a:r>
              <a:r>
                <a:rPr lang="en-US" sz="1500" dirty="0">
                  <a:latin typeface="Arial" panose="020B0604020202020204"/>
                  <a:cs typeface="Arial" panose="020B0604020202020204"/>
                </a:rPr>
                <a:t>%</a:t>
              </a:r>
              <a:endParaRPr lang="en-US" sz="150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" name="AutoShape 53"/>
            <p:cNvSpPr/>
            <p:nvPr/>
          </p:nvSpPr>
          <p:spPr bwMode="auto">
            <a:xfrm>
              <a:off x="4028" y="1270"/>
              <a:ext cx="78" cy="331"/>
            </a:xfrm>
            <a:prstGeom prst="rightBrace">
              <a:avLst>
                <a:gd name="adj1" fmla="val 18893"/>
                <a:gd name="adj2" fmla="val 51673"/>
              </a:avLst>
            </a:prstGeom>
            <a:noFill/>
            <a:ln w="19050">
              <a:solidFill>
                <a:srgbClr val="660066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1" name="Group 54"/>
          <p:cNvGrpSpPr/>
          <p:nvPr/>
        </p:nvGrpSpPr>
        <p:grpSpPr bwMode="auto">
          <a:xfrm>
            <a:off x="6876256" y="2924946"/>
            <a:ext cx="2232248" cy="677863"/>
            <a:chOff x="4024" y="1600"/>
            <a:chExt cx="812" cy="427"/>
          </a:xfrm>
        </p:grpSpPr>
        <p:sp>
          <p:nvSpPr>
            <p:cNvPr id="12" name="Text Box 55"/>
            <p:cNvSpPr txBox="1">
              <a:spLocks noChangeArrowheads="1"/>
            </p:cNvSpPr>
            <p:nvPr/>
          </p:nvSpPr>
          <p:spPr bwMode="auto">
            <a:xfrm>
              <a:off x="4103" y="1654"/>
              <a:ext cx="733" cy="373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</a:ln>
          </p:spPr>
          <p:txBody>
            <a:bodyPr wrap="square" lIns="45720" rIns="45720">
              <a:spAutoFit/>
            </a:bodyPr>
            <a:lstStyle/>
            <a:p>
              <a:pPr>
                <a:lnSpc>
                  <a:spcPts val="1500"/>
                </a:lnSpc>
                <a:spcBef>
                  <a:spcPct val="50000"/>
                </a:spcBef>
              </a:pPr>
              <a:r>
                <a:rPr lang="en-US" sz="1500">
                  <a:latin typeface="Arial" panose="020B0604020202020204"/>
                  <a:cs typeface="Arial" panose="020B0604020202020204"/>
                </a:rPr>
                <a:t>=</a:t>
              </a:r>
              <a:r>
                <a:rPr lang="en-US" altLang="zh-CN" sz="1500">
                  <a:latin typeface="Arial" panose="020B0604020202020204"/>
                  <a:cs typeface="Arial" panose="020B0604020202020204"/>
                </a:rPr>
                <a:t>(</a:t>
              </a:r>
              <a:r>
                <a:rPr lang="en-US" altLang="zh-CN" sz="1500" smtClean="0">
                  <a:latin typeface="Arial" panose="020B0604020202020204"/>
                  <a:cs typeface="Arial" panose="020B0604020202020204"/>
                </a:rPr>
                <a:t>128.6-114.6)/114.6</a:t>
              </a:r>
              <a:endParaRPr lang="en-US" altLang="zh-CN" sz="1500" smtClean="0">
                <a:latin typeface="Arial" panose="020B0604020202020204"/>
                <a:cs typeface="Arial" panose="020B0604020202020204"/>
              </a:endParaRPr>
            </a:p>
            <a:p>
              <a:pPr>
                <a:lnSpc>
                  <a:spcPts val="1500"/>
                </a:lnSpc>
                <a:spcBef>
                  <a:spcPct val="50000"/>
                </a:spcBef>
              </a:pPr>
              <a:r>
                <a:rPr lang="en-US" altLang="zh-CN" sz="1500" smtClean="0">
                  <a:latin typeface="Arial" panose="020B0604020202020204"/>
                  <a:cs typeface="Arial" panose="020B0604020202020204"/>
                </a:rPr>
                <a:t>=</a:t>
              </a:r>
              <a:r>
                <a:rPr lang="en-US" sz="1500" smtClean="0">
                  <a:latin typeface="Arial" panose="020B0604020202020204"/>
                  <a:cs typeface="Arial" panose="020B0604020202020204"/>
                </a:rPr>
                <a:t>12.2</a:t>
              </a:r>
              <a:r>
                <a:rPr lang="en-US" sz="1500" dirty="0">
                  <a:latin typeface="Arial" panose="020B0604020202020204"/>
                  <a:cs typeface="Arial" panose="020B0604020202020204"/>
                </a:rPr>
                <a:t>%</a:t>
              </a:r>
              <a:endParaRPr lang="en-US" sz="150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" name="AutoShape 56"/>
            <p:cNvSpPr/>
            <p:nvPr/>
          </p:nvSpPr>
          <p:spPr bwMode="auto">
            <a:xfrm>
              <a:off x="4024" y="1600"/>
              <a:ext cx="79" cy="341"/>
            </a:xfrm>
            <a:prstGeom prst="rightBrace">
              <a:avLst>
                <a:gd name="adj1" fmla="val 19072"/>
                <a:gd name="adj2" fmla="val 50000"/>
              </a:avLst>
            </a:prstGeom>
            <a:noFill/>
            <a:ln w="19050">
              <a:solidFill>
                <a:srgbClr val="660066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674688" y="3736215"/>
            <a:ext cx="8145463" cy="54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None/>
              <a:tabLst>
                <a:tab pos="4859020" algn="l"/>
              </a:tabLs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计算每年的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平减指数：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43"/>
          <p:cNvSpPr>
            <a:spLocks noChangeArrowheads="1"/>
          </p:cNvSpPr>
          <p:nvPr/>
        </p:nvSpPr>
        <p:spPr bwMode="auto">
          <a:xfrm>
            <a:off x="674688" y="4275138"/>
            <a:ext cx="6269037" cy="542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tabLst>
                <a:tab pos="1200150" algn="l"/>
              </a:tabLst>
            </a:pP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2011:	100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x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(6,000/6,000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) 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100.0</a:t>
            </a:r>
            <a:endParaRPr 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682625" y="4860925"/>
            <a:ext cx="6269038" cy="542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tabLst>
                <a:tab pos="1200150" algn="l"/>
              </a:tabLst>
            </a:pP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2012:	100 x 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(8,250/7,200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)  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114.6</a:t>
            </a:r>
            <a:endParaRPr 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7" name="Rectangle 49"/>
          <p:cNvSpPr>
            <a:spLocks noChangeArrowheads="1"/>
          </p:cNvSpPr>
          <p:nvPr/>
        </p:nvSpPr>
        <p:spPr bwMode="auto">
          <a:xfrm>
            <a:off x="679450" y="5480050"/>
            <a:ext cx="6269038" cy="542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tabLst>
                <a:tab pos="1080770" algn="l"/>
              </a:tabLst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2013:	100 x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(10,800/8,400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)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128.6</a:t>
            </a:r>
            <a:endParaRPr 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414137" y="641967"/>
            <a:ext cx="4541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4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名义和实际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4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3041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5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计算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4" name="Group 50"/>
          <p:cNvGraphicFramePr>
            <a:graphicFrameLocks noGrp="1"/>
          </p:cNvGraphicFramePr>
          <p:nvPr/>
        </p:nvGraphicFramePr>
        <p:xfrm>
          <a:off x="447777" y="1478280"/>
          <a:ext cx="8331200" cy="1865376"/>
        </p:xfrm>
        <a:graphic>
          <a:graphicData uri="http://schemas.openxmlformats.org/drawingml/2006/table">
            <a:tbl>
              <a:tblPr/>
              <a:tblGrid>
                <a:gridCol w="1363662"/>
                <a:gridCol w="1304925"/>
                <a:gridCol w="1165225"/>
                <a:gridCol w="1154507"/>
                <a:gridCol w="1028306"/>
                <a:gridCol w="1184275"/>
                <a:gridCol w="1130300"/>
              </a:tblGrid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2011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基期年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2012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2013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商品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30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31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1,000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36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1,050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商品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102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11560" y="3429000"/>
            <a:ext cx="59766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使用以上数据解决这些问题：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年的名义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年的实际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2013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平减指数。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11560" y="3429000"/>
            <a:ext cx="6048672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年的名义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900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+ 100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192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46,200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年的实际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 x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+ 100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200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50,000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414137" y="641967"/>
            <a:ext cx="33041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5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计算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10" name="Group 50"/>
          <p:cNvGraphicFramePr>
            <a:graphicFrameLocks noGrp="1"/>
          </p:cNvGraphicFramePr>
          <p:nvPr/>
        </p:nvGraphicFramePr>
        <p:xfrm>
          <a:off x="447777" y="1478280"/>
          <a:ext cx="8331200" cy="1865376"/>
        </p:xfrm>
        <a:graphic>
          <a:graphicData uri="http://schemas.openxmlformats.org/drawingml/2006/table">
            <a:tbl>
              <a:tblPr/>
              <a:tblGrid>
                <a:gridCol w="1363662"/>
                <a:gridCol w="1304925"/>
                <a:gridCol w="1165225"/>
                <a:gridCol w="1154507"/>
                <a:gridCol w="1028306"/>
                <a:gridCol w="1184275"/>
                <a:gridCol w="1130300"/>
              </a:tblGrid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2011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基期年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2012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2013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商品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30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31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1,000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36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1,050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商品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102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39552" y="3356992"/>
            <a:ext cx="83529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2013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平减指数。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36 x 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1,050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+ 100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205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58,300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30 x 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1,050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+ 100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205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52,000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GDP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平减指数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100 x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（名义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（实际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=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(58,300)/(52,000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= 112.1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33041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5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计算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9" name="Group 50"/>
          <p:cNvGraphicFramePr>
            <a:graphicFrameLocks noGrp="1"/>
          </p:cNvGraphicFramePr>
          <p:nvPr/>
        </p:nvGraphicFramePr>
        <p:xfrm>
          <a:off x="447777" y="1478280"/>
          <a:ext cx="8331200" cy="1865376"/>
        </p:xfrm>
        <a:graphic>
          <a:graphicData uri="http://schemas.openxmlformats.org/drawingml/2006/table">
            <a:tbl>
              <a:tblPr/>
              <a:tblGrid>
                <a:gridCol w="1363662"/>
                <a:gridCol w="1304925"/>
                <a:gridCol w="1165225"/>
                <a:gridCol w="1154507"/>
                <a:gridCol w="1028306"/>
                <a:gridCol w="1184275"/>
                <a:gridCol w="1130300"/>
              </a:tblGrid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2011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基期年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2012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2013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商品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30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31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1,000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36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1,050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商品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102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720" marR="18288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国家统计局宏观经济报告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340768"/>
            <a:ext cx="5256584" cy="529441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国家统计局宏观经济报告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1" y="1412776"/>
            <a:ext cx="5328592" cy="519088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国家统计局宏观经济报告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268760"/>
            <a:ext cx="5184576" cy="525658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国家统计局宏观经济报告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340768"/>
            <a:ext cx="5256584" cy="525658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99592" y="1700808"/>
            <a:ext cx="79208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一方面：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人均实际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是衡量人均生活水平的主要指标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需要关注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，因为：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更高的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使一个国家能够负担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得起更优质的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学校、更清洁的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环境、更完善的医疗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保健等。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生活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质量的许多指标与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呈正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414137" y="641967"/>
            <a:ext cx="2967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和经济福利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74173" y="1628800"/>
            <a:ext cx="6912769" cy="4374111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414137" y="641967"/>
            <a:ext cx="2967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和经济福利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9325" y="1703425"/>
            <a:ext cx="6824304" cy="3818226"/>
          </a:xfrm>
          <a:prstGeom prst="rect">
            <a:avLst/>
          </a:prstGeom>
        </p:spPr>
      </p:pic>
      <p:sp>
        <p:nvSpPr>
          <p:cNvPr id="8" name="Text Box 4"/>
          <p:cNvSpPr txBox="1">
            <a:spLocks noChangeArrowheads="1"/>
          </p:cNvSpPr>
          <p:nvPr/>
        </p:nvSpPr>
        <p:spPr bwMode="auto">
          <a:xfrm rot="-5400000">
            <a:off x="-1030112" y="3260119"/>
            <a:ext cx="381822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平均受教育年限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165037" y="5643237"/>
            <a:ext cx="627538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人均实际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2967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和经济福利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1640" y="1472224"/>
            <a:ext cx="6480720" cy="4320480"/>
          </a:xfrm>
          <a:prstGeom prst="rect">
            <a:avLst/>
          </a:prstGeom>
        </p:spPr>
      </p:pic>
      <p:sp>
        <p:nvSpPr>
          <p:cNvPr id="8" name="Text Box 4"/>
          <p:cNvSpPr txBox="1">
            <a:spLocks noChangeArrowheads="1"/>
          </p:cNvSpPr>
          <p:nvPr/>
        </p:nvSpPr>
        <p:spPr bwMode="auto">
          <a:xfrm rot="-5400000">
            <a:off x="-1315286" y="3278677"/>
            <a:ext cx="4510207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水质满意度</a:t>
            </a:r>
            <a:br>
              <a: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（人口百分比</a:t>
            </a:r>
            <a:r>
              <a: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331640" y="5839557"/>
            <a:ext cx="627538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人均实际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2967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和经济福利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1560" y="1484784"/>
            <a:ext cx="81369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 另一方面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并不是衡量幸福感的完美指标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衡量：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环境质量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劳动者的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闲暇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非市场活动，例如父母在家中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提供的育儿和家务服务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公平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等等其他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2967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和经济福利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967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和经济福利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1560" y="1556792"/>
            <a:ext cx="73448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GDP……</a:t>
            </a:r>
            <a:endParaRPr lang="en-US" altLang="zh-CN" sz="20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en-US" altLang="zh-CN" sz="20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  <a:r>
              <a:rPr lang="zh-CN" altLang="en-US" sz="20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不保证我们</a:t>
            </a:r>
            <a:r>
              <a:rPr lang="zh-CN" altLang="en-US" sz="20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孩子的健康、他们的教育质量或他们玩耍的</a:t>
            </a:r>
            <a:r>
              <a:rPr lang="zh-CN" altLang="en-US" sz="20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乐趣。它</a:t>
            </a:r>
            <a:r>
              <a:rPr lang="zh-CN" altLang="en-US" sz="20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不包括我们诗歌的美丽或我们婚姻的力量、我们公开辩论的智慧或我们公职人员的</a:t>
            </a:r>
            <a:r>
              <a:rPr lang="zh-CN" altLang="en-US" sz="20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正直。它</a:t>
            </a:r>
            <a:r>
              <a:rPr lang="zh-CN" altLang="en-US" sz="20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既不衡量我们的勇气，也不衡量我们的智慧，也不衡量我们对国家的</a:t>
            </a:r>
            <a:r>
              <a:rPr lang="zh-CN" altLang="en-US" sz="20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奉献</a:t>
            </a:r>
            <a:r>
              <a:rPr lang="zh-CN" altLang="en-US" sz="20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。简而言之</a:t>
            </a:r>
            <a:r>
              <a:rPr lang="zh-CN" altLang="en-US" sz="20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，它衡量一切，除了那些让生活变得有价值</a:t>
            </a:r>
            <a:r>
              <a:rPr lang="zh-CN" altLang="en-US" sz="20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sz="20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东西</a:t>
            </a:r>
            <a:r>
              <a:rPr lang="en-US" altLang="zh-CN" sz="200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  <a:r>
              <a:rPr lang="zh-CN" altLang="en-US" sz="200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endParaRPr lang="zh-CN" altLang="en-US" sz="20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8137922" cy="768052"/>
          </a:xfrm>
        </p:spPr>
        <p:txBody>
          <a:bodyPr>
            <a:norm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为什么新发展理念可以纠正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的缺陷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552" y="1772816"/>
            <a:ext cx="77048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0077B5"/>
              </a:buClr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习近平总书记指出：“发展必须是科学发展，必须坚定不移地贯彻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绿色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的发展理念”。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59144" y="1412776"/>
            <a:ext cx="8137922" cy="465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：是引领发展的第一动力。创新发展注重的是解决发展的动力问题。</a:t>
            </a:r>
            <a:endParaRPr lang="en-US" altLang="zh-CN" sz="20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协调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：是持续健康发展的内在要求。协调发展注重的是解决发展的不平衡问题，不断增强发展整体性。</a:t>
            </a:r>
            <a:endParaRPr lang="en-US" altLang="zh-CN" sz="20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绿色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：是永续发展的必要条件和人民对美好生活追求的重要体现。绿色发展注重的是解决人与自然和谐共生问题。</a:t>
            </a:r>
            <a:endParaRPr lang="en-US" altLang="zh-CN" sz="20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：是国家繁荣发展的必由之路。</a:t>
            </a:r>
            <a:r>
              <a:rPr lang="zh-CN" altLang="en-US" sz="20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开放发展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注重的是解决发展内外联问题，必须发展</a:t>
            </a:r>
            <a:r>
              <a:rPr lang="zh-CN" altLang="en-US" sz="20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更高层次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的开放型经济。</a:t>
            </a:r>
            <a:endParaRPr lang="en-US" altLang="zh-CN" sz="20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</a:t>
            </a: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：是中国特色社会主义的本质要求。共享发展注重的是解决社会公平正义问题，必须不断推进全体人民的共同富裕。</a:t>
            </a:r>
            <a:endParaRPr lang="zh-CN" altLang="en-US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8137922" cy="768052"/>
          </a:xfrm>
        </p:spPr>
        <p:txBody>
          <a:bodyPr>
            <a:norm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为什么新发展理念可以纠正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的缺陷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9861" y="1506771"/>
            <a:ext cx="4828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B》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6156" y="3264142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下一章：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衡量生活成本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6337</Words>
  <Application>WPS 演示</Application>
  <PresentationFormat>全屏显示(4:3)</PresentationFormat>
  <Paragraphs>780</Paragraphs>
  <Slides>55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73" baseType="lpstr">
      <vt:lpstr>Arial</vt:lpstr>
      <vt:lpstr>宋体</vt:lpstr>
      <vt:lpstr>Wingdings</vt:lpstr>
      <vt:lpstr>思源黑体 CN Bold</vt:lpstr>
      <vt:lpstr>黑体</vt:lpstr>
      <vt:lpstr>思源黑体 CN Regular</vt:lpstr>
      <vt:lpstr>思源黑体 CN Light</vt:lpstr>
      <vt:lpstr>华光中雅_CNKI</vt:lpstr>
      <vt:lpstr>微软雅黑</vt:lpstr>
      <vt:lpstr>Arial Unicode MS</vt:lpstr>
      <vt:lpstr>等线</vt:lpstr>
      <vt:lpstr>华光琥珀_CNKI</vt:lpstr>
      <vt:lpstr>楷体</vt:lpstr>
      <vt:lpstr>Tahoma</vt:lpstr>
      <vt:lpstr>Arial</vt:lpstr>
      <vt:lpstr>Times New Roman</vt:lpstr>
      <vt:lpstr>Calibri</vt:lpstr>
      <vt:lpstr>Office 主题</vt:lpstr>
      <vt:lpstr>PowerPoint 演示文稿</vt:lpstr>
      <vt:lpstr>PowerPoint 演示文稿</vt:lpstr>
      <vt:lpstr>PowerPoint 演示文稿</vt:lpstr>
      <vt:lpstr>宏观经济的政策目标</vt:lpstr>
      <vt:lpstr>宏观经济的政策目标</vt:lpstr>
      <vt:lpstr>宏观经济的政策目标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2016-2020中国GDP及构成（单位：亿元）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为什么新发展理念可以纠正GDP的缺陷</vt:lpstr>
      <vt:lpstr>为什么新发展理念可以纠正GDP的缺陷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ASUS</dc:creator>
  <cp:lastModifiedBy>YZ</cp:lastModifiedBy>
  <cp:revision>389</cp:revision>
  <dcterms:created xsi:type="dcterms:W3CDTF">2020-07-01T07:18:00Z</dcterms:created>
  <dcterms:modified xsi:type="dcterms:W3CDTF">2025-11-06T23:57:36Z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41DAACBDC7414AA596C1A8CADFF2E97D_12</vt:lpwstr>
  </property>
</Properties>
</file>