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theme/themeOverride2.xml" ContentType="application/vnd.openxmlformats-officedocument.themeOverride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theme/themeOverride3.xml" ContentType="application/vnd.openxmlformats-officedocument.themeOverride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2" r:id="rId2"/>
    <p:sldMasterId id="2147483657" r:id="rId3"/>
  </p:sldMasterIdLst>
  <p:notesMasterIdLst>
    <p:notesMasterId r:id="rId39"/>
  </p:notesMasterIdLst>
  <p:handoutMasterIdLst>
    <p:handoutMasterId r:id="rId40"/>
  </p:handoutMasterIdLst>
  <p:sldIdLst>
    <p:sldId id="474" r:id="rId4"/>
    <p:sldId id="460" r:id="rId5"/>
    <p:sldId id="461" r:id="rId6"/>
    <p:sldId id="462" r:id="rId7"/>
    <p:sldId id="463" r:id="rId8"/>
    <p:sldId id="464" r:id="rId9"/>
    <p:sldId id="465" r:id="rId10"/>
    <p:sldId id="466" r:id="rId11"/>
    <p:sldId id="468" r:id="rId12"/>
    <p:sldId id="469" r:id="rId13"/>
    <p:sldId id="471" r:id="rId14"/>
    <p:sldId id="472" r:id="rId15"/>
    <p:sldId id="353" r:id="rId16"/>
    <p:sldId id="476" r:id="rId17"/>
    <p:sldId id="475" r:id="rId18"/>
    <p:sldId id="369" r:id="rId19"/>
    <p:sldId id="432" r:id="rId20"/>
    <p:sldId id="433" r:id="rId21"/>
    <p:sldId id="435" r:id="rId22"/>
    <p:sldId id="436" r:id="rId23"/>
    <p:sldId id="437" r:id="rId24"/>
    <p:sldId id="438" r:id="rId25"/>
    <p:sldId id="439" r:id="rId26"/>
    <p:sldId id="440" r:id="rId27"/>
    <p:sldId id="477" r:id="rId28"/>
    <p:sldId id="478" r:id="rId29"/>
    <p:sldId id="441" r:id="rId30"/>
    <p:sldId id="445" r:id="rId31"/>
    <p:sldId id="447" r:id="rId32"/>
    <p:sldId id="448" r:id="rId33"/>
    <p:sldId id="449" r:id="rId34"/>
    <p:sldId id="450" r:id="rId35"/>
    <p:sldId id="451" r:id="rId36"/>
    <p:sldId id="452" r:id="rId37"/>
    <p:sldId id="47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8">
          <p15:clr>
            <a:srgbClr val="A4A3A4"/>
          </p15:clr>
        </p15:guide>
        <p15:guide id="2" pos="221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" clrIdx="0">
    <p:extLst>
      <p:ext uri="{19B8F6BF-5375-455C-9EA6-DF929625EA0E}">
        <p15:presenceInfo xmlns="" xmlns:p15="http://schemas.microsoft.com/office/powerpoint/2012/main" userId="Windows 用户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C167"/>
    <a:srgbClr val="B3A2C7"/>
    <a:srgbClr val="CC9900"/>
    <a:srgbClr val="800040"/>
    <a:srgbClr val="FFF5DB"/>
    <a:srgbClr val="E9DEA7"/>
    <a:srgbClr val="CCFF66"/>
    <a:srgbClr val="FAC200"/>
    <a:srgbClr val="C99C00"/>
    <a:srgbClr val="C9AB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87456" autoAdjust="0"/>
  </p:normalViewPr>
  <p:slideViewPr>
    <p:cSldViewPr snapToGrid="0">
      <p:cViewPr varScale="1">
        <p:scale>
          <a:sx n="61" d="100"/>
          <a:sy n="61" d="100"/>
        </p:scale>
        <p:origin x="-1842" y="-96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2560"/>
    </p:cViewPr>
  </p:sorterViewPr>
  <p:notesViewPr>
    <p:cSldViewPr>
      <p:cViewPr>
        <p:scale>
          <a:sx n="120" d="100"/>
          <a:sy n="120" d="100"/>
        </p:scale>
        <p:origin x="-1736" y="392"/>
      </p:cViewPr>
      <p:guideLst>
        <p:guide orient="horz" pos="2908"/>
        <p:guide pos="221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Ron\Documents\My%20Dropbox\!%20Mankiw%20Principles\5e%20slides\2011%20update%20-%20new\ch31%20ex%20im%20-%20gdp.xlsx" TargetMode="External"/><Relationship Id="rId1" Type="http://schemas.openxmlformats.org/officeDocument/2006/relationships/themeOverride" Target="../theme/themeOverride2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Ron\Documents\My%20Dropbox\!%20Mankiw%20Principles\5e%20slides\2011%20update%20-%20new\ch31%20ex%20im%20-%20gdp.xlsx" TargetMode="External"/><Relationship Id="rId1" Type="http://schemas.openxmlformats.org/officeDocument/2006/relationships/themeOverride" Target="../theme/themeOverride3.xm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Administrator\Desktop\&#35838;&#31243;&#24314;&#35774;\&#35838;&#31243;&#24605;&#25919;&#35838;&#20214;-&#32463;&#27982;&#23398;&#21407;&#29702;B-&#21608;&#35947;-&#20013;&#26399;&#26448;&#26009;\&#26032;&#24314;%20Microsoft%20Excel%20&#24037;&#20316;&#34920;.xlsx" TargetMode="External"/><Relationship Id="rId4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7103656775191093E-2"/>
          <c:y val="3.4814333386886699E-2"/>
          <c:w val="0.89211542109310205"/>
          <c:h val="0.67697586870141802"/>
        </c:manualLayout>
      </c:layout>
      <c:lineChart>
        <c:grouping val="standard"/>
        <c:varyColors val="0"/>
        <c:ser>
          <c:idx val="0"/>
          <c:order val="0"/>
          <c:tx>
            <c:strRef>
              <c:f>Sheet3!$O$2</c:f>
              <c:strCache>
                <c:ptCount val="1"/>
                <c:pt idx="0">
                  <c:v>budget deficit</c:v>
                </c:pt>
              </c:strCache>
            </c:strRef>
          </c:tx>
          <c:spPr>
            <a:ln w="44450" cap="rnd" cmpd="sng" algn="ctr">
              <a:solidFill>
                <a:srgbClr val="FF0000"/>
              </a:solidFill>
              <a:prstDash val="solid"/>
              <a:round/>
            </a:ln>
          </c:spPr>
          <c:marker>
            <c:symbol val="x"/>
            <c:size val="9"/>
            <c:spPr>
              <a:solidFill>
                <a:srgbClr val="C00000"/>
              </a:solidFill>
              <a:ln w="9525" cap="flat" cmpd="sng" algn="ctr">
                <a:noFill/>
                <a:prstDash val="solid"/>
                <a:round/>
              </a:ln>
            </c:spPr>
          </c:marker>
          <c:cat>
            <c:strRef>
              <c:f>Sheet3!$N$3:$N$12</c:f>
              <c:strCache>
                <c:ptCount val="10"/>
                <c:pt idx="0">
                  <c:v>1961-65</c:v>
                </c:pt>
                <c:pt idx="1">
                  <c:v>1966-70</c:v>
                </c:pt>
                <c:pt idx="2">
                  <c:v>1971-75</c:v>
                </c:pt>
                <c:pt idx="3">
                  <c:v>1976-80</c:v>
                </c:pt>
                <c:pt idx="4">
                  <c:v>1981-85</c:v>
                </c:pt>
                <c:pt idx="5">
                  <c:v>1986-90</c:v>
                </c:pt>
                <c:pt idx="6">
                  <c:v>1991-95</c:v>
                </c:pt>
                <c:pt idx="7">
                  <c:v>1996-2000</c:v>
                </c:pt>
                <c:pt idx="8">
                  <c:v>2001-2005</c:v>
                </c:pt>
                <c:pt idx="9">
                  <c:v>2006-2010</c:v>
                </c:pt>
              </c:strCache>
            </c:strRef>
          </c:cat>
          <c:val>
            <c:numRef>
              <c:f>Sheet3!$O$3:$O$12</c:f>
              <c:numCache>
                <c:formatCode>0.0%</c:formatCode>
                <c:ptCount val="10"/>
                <c:pt idx="0">
                  <c:v>-4.64208659656441E-3</c:v>
                </c:pt>
                <c:pt idx="1">
                  <c:v>3.4160684196328801E-3</c:v>
                </c:pt>
                <c:pt idx="2">
                  <c:v>2.1393029987154099E-2</c:v>
                </c:pt>
                <c:pt idx="3">
                  <c:v>1.81004837816209E-2</c:v>
                </c:pt>
                <c:pt idx="4">
                  <c:v>3.9103631383947297E-2</c:v>
                </c:pt>
                <c:pt idx="5">
                  <c:v>3.1432747732022003E-2</c:v>
                </c:pt>
                <c:pt idx="6">
                  <c:v>3.7017984603433703E-2</c:v>
                </c:pt>
                <c:pt idx="7">
                  <c:v>-1.3723821712005801E-3</c:v>
                </c:pt>
                <c:pt idx="8">
                  <c:v>2.1591872169687599E-2</c:v>
                </c:pt>
                <c:pt idx="9">
                  <c:v>5.1011019747310302E-2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255A-4301-9E4D-667B03AC5A5C}"/>
            </c:ext>
          </c:extLst>
        </c:ser>
        <c:ser>
          <c:idx val="1"/>
          <c:order val="1"/>
          <c:tx>
            <c:strRef>
              <c:f>Sheet3!$P$2</c:f>
              <c:strCache>
                <c:ptCount val="1"/>
                <c:pt idx="0">
                  <c:v>NX/Y</c:v>
                </c:pt>
              </c:strCache>
            </c:strRef>
          </c:tx>
          <c:spPr>
            <a:ln w="44450" cap="rnd" cmpd="sng" algn="ctr">
              <a:solidFill>
                <a:srgbClr val="0000FF"/>
              </a:solidFill>
              <a:prstDash val="solid"/>
              <a:round/>
            </a:ln>
          </c:spPr>
          <c:cat>
            <c:strRef>
              <c:f>Sheet3!$N$3:$N$12</c:f>
              <c:strCache>
                <c:ptCount val="10"/>
                <c:pt idx="0">
                  <c:v>1961-65</c:v>
                </c:pt>
                <c:pt idx="1">
                  <c:v>1966-70</c:v>
                </c:pt>
                <c:pt idx="2">
                  <c:v>1971-75</c:v>
                </c:pt>
                <c:pt idx="3">
                  <c:v>1976-80</c:v>
                </c:pt>
                <c:pt idx="4">
                  <c:v>1981-85</c:v>
                </c:pt>
                <c:pt idx="5">
                  <c:v>1986-90</c:v>
                </c:pt>
                <c:pt idx="6">
                  <c:v>1991-95</c:v>
                </c:pt>
                <c:pt idx="7">
                  <c:v>1996-2000</c:v>
                </c:pt>
                <c:pt idx="8">
                  <c:v>2001-2005</c:v>
                </c:pt>
                <c:pt idx="9">
                  <c:v>2006-2010</c:v>
                </c:pt>
              </c:strCache>
            </c:strRef>
          </c:cat>
          <c:val>
            <c:numRef>
              <c:f>Sheet3!$P$3:$P$12</c:f>
              <c:numCache>
                <c:formatCode>0.0%</c:formatCode>
                <c:ptCount val="10"/>
                <c:pt idx="0">
                  <c:v>8.45682145327286E-3</c:v>
                </c:pt>
                <c:pt idx="1">
                  <c:v>3.1937055918224199E-3</c:v>
                </c:pt>
                <c:pt idx="2">
                  <c:v>2.0111434807816701E-3</c:v>
                </c:pt>
                <c:pt idx="3">
                  <c:v>-7.3836592959186202E-3</c:v>
                </c:pt>
                <c:pt idx="4">
                  <c:v>-1.5599592548325899E-2</c:v>
                </c:pt>
                <c:pt idx="5">
                  <c:v>-2.2277298202278299E-2</c:v>
                </c:pt>
                <c:pt idx="6">
                  <c:v>-8.9297369625808906E-3</c:v>
                </c:pt>
                <c:pt idx="7">
                  <c:v>-2.1831665603454901E-2</c:v>
                </c:pt>
                <c:pt idx="8">
                  <c:v>-4.6133360273341598E-2</c:v>
                </c:pt>
                <c:pt idx="9">
                  <c:v>-4.4043577220497197E-2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255A-4301-9E4D-667B03AC5A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157440"/>
        <c:axId val="496158976"/>
      </c:lineChart>
      <c:catAx>
        <c:axId val="4961574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  <a:endParaRPr lang="zh-CN"/>
          </a:p>
        </c:txPr>
        <c:crossAx val="496158976"/>
        <c:crossesAt val="-1"/>
        <c:auto val="1"/>
        <c:lblAlgn val="ctr"/>
        <c:lblOffset val="100"/>
        <c:noMultiLvlLbl val="0"/>
      </c:catAx>
      <c:valAx>
        <c:axId val="496158976"/>
        <c:scaling>
          <c:orientation val="minMax"/>
          <c:max val="0.06"/>
          <c:min val="-0.05"/>
        </c:scaling>
        <c:delete val="0"/>
        <c:axPos val="l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  <a:endParaRPr lang="zh-CN"/>
          </a:p>
        </c:txPr>
        <c:crossAx val="496157440"/>
        <c:crosses val="autoZero"/>
        <c:crossBetween val="between"/>
        <c:majorUnit val="0.01"/>
        <c:minorUnit val="4.0000000000000001E-3"/>
      </c:valAx>
      <c:spPr>
        <a:solidFill>
          <a:srgbClr val="1F497D">
            <a:lumMod val="40000"/>
            <a:lumOff val="60000"/>
          </a:srgbClr>
        </a:solidFill>
        <a:ln>
          <a:solidFill>
            <a:schemeClr val="tx1"/>
          </a:solidFill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lang="zh-CN"/>
      </a:pPr>
      <a:endParaRPr lang="zh-CN"/>
    </a:p>
  </c:txPr>
  <c:externalData r:id="rId2">
    <c:autoUpdate val="0"/>
  </c:externalData>
  <c:userShapes r:id="rId3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7103656775191093E-2"/>
          <c:y val="3.4814333386886699E-2"/>
          <c:w val="0.89211542109310205"/>
          <c:h val="0.67697586870141802"/>
        </c:manualLayout>
      </c:layou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317568"/>
        <c:axId val="496319104"/>
      </c:lineChart>
      <c:catAx>
        <c:axId val="4963175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496319104"/>
        <c:crossesAt val="-1"/>
        <c:auto val="1"/>
        <c:lblAlgn val="ctr"/>
        <c:lblOffset val="100"/>
        <c:noMultiLvlLbl val="0"/>
      </c:catAx>
      <c:valAx>
        <c:axId val="496319104"/>
        <c:scaling>
          <c:orientation val="minMax"/>
          <c:max val="0.06"/>
          <c:min val="-0.05"/>
        </c:scaling>
        <c:delete val="0"/>
        <c:axPos val="l"/>
        <c:majorGridlines>
          <c:spPr>
            <a:ln w="9525" cap="flat" cmpd="sng" algn="ctr">
              <a:solidFill>
                <a:sysClr val="window" lastClr="FFFFFF">
                  <a:lumMod val="95000"/>
                </a:sysClr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496317568"/>
        <c:crosses val="autoZero"/>
        <c:crossBetween val="between"/>
        <c:majorUnit val="0.01"/>
        <c:minorUnit val="4.0000000000000001E-3"/>
      </c:valAx>
      <c:spPr>
        <a:solidFill>
          <a:schemeClr val="bg1"/>
        </a:solidFill>
        <a:ln>
          <a:solidFill>
            <a:schemeClr val="tx1"/>
          </a:solidFill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lang="zh-CN"/>
      </a:pPr>
      <a:endParaRPr lang="zh-CN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45741311565527E-2"/>
          <c:y val="3.6383410647874613E-2"/>
          <c:w val="0.89206277718207416"/>
          <c:h val="0.87728563086426348"/>
        </c:manualLayout>
      </c:layout>
      <c:lineChart>
        <c:grouping val="standard"/>
        <c:varyColors val="0"/>
        <c:ser>
          <c:idx val="0"/>
          <c:order val="0"/>
          <c:tx>
            <c:strRef>
              <c:f>第十章!$G$8</c:f>
              <c:strCache>
                <c:ptCount val="1"/>
                <c:pt idx="0">
                  <c:v>国家预算赤字</c:v>
                </c:pt>
              </c:strCache>
            </c:strRef>
          </c:tx>
          <c:spPr>
            <a:ln w="50800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第十章!$D$9:$D$17</c:f>
              <c:numCache>
                <c:formatCode>General</c:formatCode>
                <c:ptCount val="9"/>
                <c:pt idx="0">
                  <c:v>2011.12</c:v>
                </c:pt>
                <c:pt idx="1">
                  <c:v>2012.12</c:v>
                </c:pt>
                <c:pt idx="2">
                  <c:v>2013.12</c:v>
                </c:pt>
                <c:pt idx="3">
                  <c:v>2014.12</c:v>
                </c:pt>
                <c:pt idx="4">
                  <c:v>2015.12</c:v>
                </c:pt>
                <c:pt idx="5">
                  <c:v>2016.12</c:v>
                </c:pt>
                <c:pt idx="6">
                  <c:v>2017.12</c:v>
                </c:pt>
                <c:pt idx="7">
                  <c:v>2018.12</c:v>
                </c:pt>
                <c:pt idx="8">
                  <c:v>2019.12</c:v>
                </c:pt>
              </c:numCache>
            </c:numRef>
          </c:cat>
          <c:val>
            <c:numRef>
              <c:f>第十章!$G$9:$G$17</c:f>
              <c:numCache>
                <c:formatCode>0.00%</c:formatCode>
                <c:ptCount val="9"/>
                <c:pt idx="0">
                  <c:v>-1.1005936207557961E-2</c:v>
                </c:pt>
                <c:pt idx="1">
                  <c:v>-1.6371345716145281E-2</c:v>
                </c:pt>
                <c:pt idx="2">
                  <c:v>-1.8028329016579397E-2</c:v>
                </c:pt>
                <c:pt idx="3">
                  <c:v>-1.7773224837893169E-2</c:v>
                </c:pt>
                <c:pt idx="4">
                  <c:v>-3.4802307642291801E-2</c:v>
                </c:pt>
                <c:pt idx="5">
                  <c:v>-3.8016360110572522E-2</c:v>
                </c:pt>
                <c:pt idx="6">
                  <c:v>-3.7192820406179501E-2</c:v>
                </c:pt>
                <c:pt idx="7">
                  <c:v>-4.0851491546110494E-2</c:v>
                </c:pt>
                <c:pt idx="8">
                  <c:v>-4.8939058297548105E-2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D1E8-4764-811A-72591107F5D8}"/>
            </c:ext>
          </c:extLst>
        </c:ser>
        <c:ser>
          <c:idx val="1"/>
          <c:order val="1"/>
          <c:tx>
            <c:strRef>
              <c:f>第十章!$H$8</c:f>
              <c:strCache>
                <c:ptCount val="1"/>
                <c:pt idx="0">
                  <c:v>净出口</c:v>
                </c:pt>
              </c:strCache>
            </c:strRef>
          </c:tx>
          <c:spPr>
            <a:ln w="50800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第十章!$D$9:$D$17</c:f>
              <c:numCache>
                <c:formatCode>General</c:formatCode>
                <c:ptCount val="9"/>
                <c:pt idx="0">
                  <c:v>2011.12</c:v>
                </c:pt>
                <c:pt idx="1">
                  <c:v>2012.12</c:v>
                </c:pt>
                <c:pt idx="2">
                  <c:v>2013.12</c:v>
                </c:pt>
                <c:pt idx="3">
                  <c:v>2014.12</c:v>
                </c:pt>
                <c:pt idx="4">
                  <c:v>2015.12</c:v>
                </c:pt>
                <c:pt idx="5">
                  <c:v>2016.12</c:v>
                </c:pt>
                <c:pt idx="6">
                  <c:v>2017.12</c:v>
                </c:pt>
                <c:pt idx="7">
                  <c:v>2018.12</c:v>
                </c:pt>
                <c:pt idx="8">
                  <c:v>2019.12</c:v>
                </c:pt>
              </c:numCache>
            </c:numRef>
          </c:cat>
          <c:val>
            <c:numRef>
              <c:f>第十章!$H$9:$H$17</c:f>
              <c:numCache>
                <c:formatCode>0.00%</c:formatCode>
                <c:ptCount val="9"/>
                <c:pt idx="0">
                  <c:v>2.0548344370860946E-2</c:v>
                </c:pt>
                <c:pt idx="1">
                  <c:v>2.70926143024619E-2</c:v>
                </c:pt>
                <c:pt idx="2">
                  <c:v>2.7065308254963442E-2</c:v>
                </c:pt>
                <c:pt idx="3">
                  <c:v>3.6493988549618321E-2</c:v>
                </c:pt>
                <c:pt idx="4">
                  <c:v>5.3698010849909585E-2</c:v>
                </c:pt>
                <c:pt idx="5">
                  <c:v>4.5410774710596589E-2</c:v>
                </c:pt>
                <c:pt idx="6">
                  <c:v>3.4322502030869256E-2</c:v>
                </c:pt>
                <c:pt idx="7">
                  <c:v>2.5324694024478032E-2</c:v>
                </c:pt>
                <c:pt idx="8">
                  <c:v>2.9481792717086834E-2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D1E8-4764-811A-72591107F5D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marker val="1"/>
        <c:smooth val="0"/>
        <c:axId val="496349568"/>
        <c:axId val="496351104"/>
      </c:lineChart>
      <c:catAx>
        <c:axId val="496349568"/>
        <c:scaling>
          <c:orientation val="minMax"/>
        </c:scaling>
        <c:delete val="0"/>
        <c:axPos val="b"/>
        <c:numFmt formatCode="General" sourceLinked="0"/>
        <c:majorTickMark val="in"/>
        <c:minorTickMark val="out"/>
        <c:tickLblPos val="nextTo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spc="2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496351104"/>
        <c:crosses val="autoZero"/>
        <c:auto val="1"/>
        <c:lblAlgn val="ctr"/>
        <c:lblOffset val="100"/>
        <c:noMultiLvlLbl val="0"/>
      </c:catAx>
      <c:valAx>
        <c:axId val="496351104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496349568"/>
        <c:crosses val="autoZero"/>
        <c:crossBetween val="between"/>
      </c:valAx>
      <c:spPr>
        <a:solidFill>
          <a:schemeClr val="tx2">
            <a:lumMod val="40000"/>
            <a:lumOff val="60000"/>
          </a:schemeClr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tx2">
        <a:lumMod val="40000"/>
        <a:lumOff val="60000"/>
      </a:schemeClr>
    </a:solidFill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0.09052</cdr:x>
      <cdr:y>0.46687</cdr:y>
    </cdr:from>
    <cdr:to>
      <cdr:x>0.43502</cdr:x>
      <cdr:y>0.6491</cdr:y>
    </cdr:to>
    <cdr:sp macro="" textlink="">
      <cdr:nvSpPr>
        <cdr:cNvPr id="2" name="Rectangle 4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719138" y="2493168"/>
          <a:ext cx="2737032" cy="973138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5">
            <a:lumMod val="75000"/>
          </a:schemeClr>
        </a:solidFill>
        <a:ln xmlns:a="http://schemas.openxmlformats.org/drawingml/2006/main" w="9525">
          <a:noFill/>
          <a:miter lim="800000"/>
        </a:ln>
      </cdr:spPr>
      <cdr:txBody>
        <a:bodyPr xmlns:a="http://schemas.openxmlformats.org/drawingml/2006/main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defRPr/>
          </a:pP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双胞胎赤字（</a:t>
          </a:r>
          <a:r>
            <a:rPr lang="zh-CN" altLang="en-US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美国</a:t>
          </a: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r>
            <a: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:Twin Deficit</a:t>
          </a:r>
          <a:endParaRPr lang="en-US" sz="2400" dirty="0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0.2622</cdr:x>
      <cdr:y>0.14458</cdr:y>
    </cdr:from>
    <cdr:to>
      <cdr:x>0.5838</cdr:x>
      <cdr:y>0.22347</cdr:y>
    </cdr:to>
    <cdr:sp macro="" textlink="">
      <cdr:nvSpPr>
        <cdr:cNvPr id="2" name="文本框 1">
          <a:extLst xmlns:a="http://schemas.openxmlformats.org/drawingml/2006/main">
            <a:ext uri="{FF2B5EF4-FFF2-40B4-BE49-F238E27FC236}">
              <a16:creationId xmlns:a16="http://schemas.microsoft.com/office/drawing/2014/main" xmlns="" id="{B64B2DA4-13ED-4C54-88E8-E9EEAB26B8BF}"/>
            </a:ext>
          </a:extLst>
        </cdr:cNvPr>
        <cdr:cNvSpPr txBox="1"/>
      </cdr:nvSpPr>
      <cdr:spPr>
        <a:xfrm xmlns:a="http://schemas.openxmlformats.org/drawingml/2006/main">
          <a:off x="1747138" y="729070"/>
          <a:ext cx="2142907" cy="39786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净出口</a:t>
          </a:r>
        </a:p>
      </cdr:txBody>
    </cdr:sp>
  </cdr:relSizeAnchor>
  <cdr:relSizeAnchor xmlns:cdr="http://schemas.openxmlformats.org/drawingml/2006/chartDrawing">
    <cdr:from>
      <cdr:x>0.16493</cdr:x>
      <cdr:y>0.63495</cdr:y>
    </cdr:from>
    <cdr:to>
      <cdr:x>0.46998</cdr:x>
      <cdr:y>0.72208</cdr:y>
    </cdr:to>
    <cdr:sp macro="" textlink="">
      <cdr:nvSpPr>
        <cdr:cNvPr id="3" name="文本框 2">
          <a:extLst xmlns:a="http://schemas.openxmlformats.org/drawingml/2006/main">
            <a:ext uri="{FF2B5EF4-FFF2-40B4-BE49-F238E27FC236}">
              <a16:creationId xmlns:a16="http://schemas.microsoft.com/office/drawing/2014/main" xmlns="" id="{79C83F9E-3040-4E3E-8221-6FAA71CFA49F}"/>
            </a:ext>
          </a:extLst>
        </cdr:cNvPr>
        <cdr:cNvSpPr txBox="1"/>
      </cdr:nvSpPr>
      <cdr:spPr>
        <a:xfrm xmlns:a="http://schemas.openxmlformats.org/drawingml/2006/main">
          <a:off x="1098943" y="3201940"/>
          <a:ext cx="2032665" cy="4393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国家预算赤字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F15FA-6B4E-4FED-9D12-E83FDD5472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A24F5-E131-4EBA-BC25-A81BE41A18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81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23495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45720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69215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91440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488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AA24F5-E131-4EBA-BC25-A81BE41A185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551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BC0E93-4585-4C96-B172-AA7F13CA48B9}" type="slidenum">
              <a:rPr lang="en-US" smtClean="0"/>
              <a:t>6</a:t>
            </a:fld>
            <a:endParaRPr lang="en-US"/>
          </a:p>
        </p:txBody>
      </p:sp>
      <p:sp>
        <p:nvSpPr>
          <p:cNvPr id="5939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7AEAAFA5-D483-4EDC-92B1-01B03C39C115}" type="slidenum">
              <a:rPr lang="en-US" sz="1200">
                <a:cs typeface="Arial" panose="020B0604020202020204" pitchFamily="34" charset="0"/>
              </a:rPr>
              <a:t>6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59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69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B172776-8F08-4AB3-9D48-A0CA99175795}" type="slidenum">
              <a:rPr lang="en-US" smtClean="0"/>
              <a:t>7</a:t>
            </a:fld>
            <a:endParaRPr lang="en-US"/>
          </a:p>
        </p:txBody>
      </p:sp>
      <p:sp>
        <p:nvSpPr>
          <p:cNvPr id="6041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042C6477-E9A0-452E-A254-C307F20F523F}" type="slidenum">
              <a:rPr lang="en-US" sz="1200">
                <a:cs typeface="Arial" panose="020B0604020202020204" pitchFamily="34" charset="0"/>
              </a:rPr>
              <a:t>7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07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  <p:extLst>
      <p:ext uri="{BB962C8B-B14F-4D97-AF65-F5344CB8AC3E}">
        <p14:creationId xmlns:p14="http://schemas.microsoft.com/office/powerpoint/2010/main" val="921852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BE4CF99-E6EF-4420-889D-E04AB69DA036}" type="slidenum">
              <a:rPr lang="en-US" smtClean="0"/>
              <a:t>11</a:t>
            </a:fld>
            <a:endParaRPr lang="en-US"/>
          </a:p>
        </p:txBody>
      </p:sp>
      <p:sp>
        <p:nvSpPr>
          <p:cNvPr id="6553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3880025-55C8-49FD-8535-CDA46D90656B}" type="slidenum">
              <a:rPr lang="en-US" sz="1200">
                <a:cs typeface="Arial" panose="020B0604020202020204" pitchFamily="34" charset="0"/>
              </a:rPr>
              <a:t>11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655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655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182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  <a:t>13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  <p:extLst>
      <p:ext uri="{BB962C8B-B14F-4D97-AF65-F5344CB8AC3E}">
        <p14:creationId xmlns:p14="http://schemas.microsoft.com/office/powerpoint/2010/main" val="246229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562600" cy="4343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5A5B8D-F8A1-45CC-8966-F65390DCF8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29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562600" cy="4343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5A5B8D-F8A1-45CC-8966-F65390DCF8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78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573112-63C8-4FEC-9532-A9DB2C8BAFB1}" type="slidenum">
              <a:rPr lang="en-US" smtClean="0"/>
              <a:t>16</a:t>
            </a:fld>
            <a:endParaRPr lang="en-US"/>
          </a:p>
        </p:txBody>
      </p:sp>
      <p:sp>
        <p:nvSpPr>
          <p:cNvPr id="7168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151B902-7413-4270-9CA1-D80757E7AB84}" type="slidenum">
              <a:rPr lang="en-US" sz="1200">
                <a:cs typeface="Arial" panose="020B0604020202020204" pitchFamily="34" charset="0"/>
              </a:rPr>
              <a:t>16</a:t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26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925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210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724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2101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514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85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450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166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8355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429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©2015CengageLearning.AllRightsReserved.Maynotbecopied,scanned,orduplicated,inwholeorinpart,exceptforuseaspermittedinalicensedistributedwithacertainproductorserviceorotherwiseonapassword-protectedwebsiteforclassroomuse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‹#›</a:t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©2015CengageLearning.AllRightsReserved.Maynotbecopied,scanned,orduplicated,inwholeorinpart,exceptforuseaspermittedinalicensedistributedwithacertainproductorserviceorotherwiseonapassword-protectedwebsiteforclassroomuse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8145"/>
            <a:ext cx="8229600" cy="88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7424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‹#›</a:t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©2015CengageLearning.AllRightsReserved.Maynotbecopied,scanned,orduplicated,inwholeorinpart,exceptforuseaspermittedinalicensedistributedwithacertainproductorserviceorotherwiseonapassword-protectedwebsiteforclassroomuse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699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marR="0" indent="-342900" algn="l" defTabSz="914400" rtl="0" eaLnBrk="1" fontAlgn="auto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rgbClr val="A3C167"/>
        </a:buClr>
        <a:buSzTx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marR="0" indent="-28575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CC9900"/>
        </a:buClr>
        <a:buSzTx/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B3A2C7"/>
        </a:buClr>
        <a:buSz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8145"/>
            <a:ext cx="8229600" cy="88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7424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‹#›</a:t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©2015CengageLearning.AllRightsReserved.Maynotbecopied,scanned,orduplicated,inwholeorinpart,exceptforuseaspermittedinalicensedistributedwithacertainproductorserviceorotherwiseonapassword-protectedwebsiteforclassroomuse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699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marR="0" indent="-342900" algn="l" defTabSz="914400" rtl="0" eaLnBrk="1" fontAlgn="auto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rgbClr val="A3C167"/>
        </a:buClr>
        <a:buSzTx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marR="0" indent="-28575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CC9900"/>
        </a:buClr>
        <a:buSzTx/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B3A2C7"/>
        </a:buClr>
        <a:buSz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Program%20Files/TurningPoint/2003/Question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Program%20Files/TurningPoint/2003/Questions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Program%20Files/TurningPoint/2003/Question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Program%20Files/TurningPoint/2003/Question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4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09272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smtClean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THEHITSZSCHOOLOFECONOMICSANDMANAGEMENT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53152" y="1897388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2185" y="3209864"/>
            <a:ext cx="79997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10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开放</a:t>
            </a:r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经济宏观经济学理论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520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logo-VI系统0630-PPT-10.jpg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33070" y="653415"/>
            <a:ext cx="63709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71765" y="1624953"/>
            <a:ext cx="8032968" cy="17906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lnSpc>
                <a:spcPct val="16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贷资金市场和外汇市场是如何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联系起来？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6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预算赤字、投资激励如何影响利率、汇率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和贸易平衡？</a:t>
            </a: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贸易政策、资本外逃如何影响利率、汇率和贸易平衡？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logo-VI系统0630-PPT-10.jpg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33070" y="653415"/>
            <a:ext cx="637095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引言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52450" y="1621778"/>
            <a:ext cx="8191500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上一章解释了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开放经济的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净出口（NX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）、净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资本流出（NCO）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汇率（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）等等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这一章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将这些概念联系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一起，形成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经济的宏观经济理论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我们使用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理论来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探讨政府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政策和各种事件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流动、汇率、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logo-VI系统0630-PPT-10.jp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33070" y="65341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601027" y="1547983"/>
            <a:ext cx="8285798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上一章可知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S=I+NCO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贷资金的供给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（储蓄）。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贷资金需求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=I+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NCO，即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储蓄可满足如下两个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需求：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国内投资（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800100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国外投资(NCO)</a:t>
            </a:r>
          </a:p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zh-CN" altLang="en-US" sz="2400" smtClean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endParaRPr lang="zh-CN" altLang="en-US"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logo-VI系统0630-PPT-10.jp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71765" y="1624953"/>
            <a:ext cx="7981685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我们已知：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正相关</a:t>
            </a: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和实际利率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是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负相关</a:t>
            </a: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NCO和实际利率 r 是什么关系呢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8" name="矩形 7"/>
          <p:cNvSpPr/>
          <p:nvPr/>
        </p:nvSpPr>
        <p:spPr>
          <a:xfrm>
            <a:off x="433070" y="65341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3830" y="1402715"/>
            <a:ext cx="4465320" cy="4121785"/>
          </a:xfrm>
        </p:spPr>
        <p:txBody>
          <a:bodyPr>
            <a:noAutofit/>
          </a:bodyPr>
          <a:lstStyle/>
          <a:p>
            <a:pPr eaLnBrk="1" hangingPunct="1">
              <a:lnSpc>
                <a:spcPts val="36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实际利率 r 是国内资产的实际回报。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ts val="3600"/>
              </a:lnSpc>
              <a:spcBef>
                <a:spcPct val="35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 的下降使国内资产相对于国外资产的吸引力降低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lvl="2" indent="-342900">
              <a:lnSpc>
                <a:spcPts val="3600"/>
              </a:lnSpc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本国购买更多外国资产</a:t>
            </a:r>
            <a:r>
              <a:rPr lang="zh-CN" altLang="en-US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lvl="2" indent="-342900">
              <a:lnSpc>
                <a:spcPts val="3600"/>
              </a:lnSpc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</a:t>
            </a:r>
            <a:r>
              <a:rPr lang="en-US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</a:t>
            </a:r>
            <a:r>
              <a:rPr lang="zh-CN" altLang="en-US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减少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购买</a:t>
            </a:r>
            <a:r>
              <a:rPr lang="zh-CN" altLang="en-US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本国</a:t>
            </a:r>
            <a:r>
              <a:rPr lang="en-US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资产</a:t>
            </a:r>
            <a:r>
              <a:rPr lang="zh-CN" altLang="en-US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2" indent="-342900">
              <a:lnSpc>
                <a:spcPts val="3600"/>
              </a:lnSpc>
              <a:spcBef>
                <a:spcPts val="12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因此，</a:t>
            </a:r>
            <a:r>
              <a:rPr lang="en-US" altLang="zh-CN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实际利率 r </a:t>
            </a:r>
            <a:r>
              <a:rPr lang="zh-CN" altLang="en-US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下降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导致</a:t>
            </a:r>
            <a:r>
              <a:rPr 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NCO</a:t>
            </a:r>
            <a:r>
              <a:rPr lang="en-US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上升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，两者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负相关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246" name="Group 4"/>
          <p:cNvGrpSpPr/>
          <p:nvPr/>
        </p:nvGrpSpPr>
        <p:grpSpPr bwMode="auto">
          <a:xfrm>
            <a:off x="4875213" y="1781175"/>
            <a:ext cx="3905250" cy="3749675"/>
            <a:chOff x="3148" y="1437"/>
            <a:chExt cx="2460" cy="2362"/>
          </a:xfrm>
        </p:grpSpPr>
        <p:grpSp>
          <p:nvGrpSpPr>
            <p:cNvPr id="10271" name="Group 5"/>
            <p:cNvGrpSpPr/>
            <p:nvPr/>
          </p:nvGrpSpPr>
          <p:grpSpPr bwMode="auto">
            <a:xfrm>
              <a:off x="3247" y="1713"/>
              <a:ext cx="1828" cy="1938"/>
              <a:chOff x="1098" y="1361"/>
              <a:chExt cx="2116" cy="2027"/>
            </a:xfrm>
          </p:grpSpPr>
          <p:sp>
            <p:nvSpPr>
              <p:cNvPr id="10274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5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272" name="Text Box 8"/>
            <p:cNvSpPr txBox="1">
              <a:spLocks noChangeArrowheads="1"/>
            </p:cNvSpPr>
            <p:nvPr/>
          </p:nvSpPr>
          <p:spPr bwMode="auto">
            <a:xfrm>
              <a:off x="3148" y="1437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r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10273" name="Text Box 9"/>
            <p:cNvSpPr txBox="1">
              <a:spLocks noChangeArrowheads="1"/>
            </p:cNvSpPr>
            <p:nvPr/>
          </p:nvSpPr>
          <p:spPr bwMode="auto">
            <a:xfrm>
              <a:off x="5040" y="3511"/>
              <a:ext cx="5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NCO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10247" name="Group 23"/>
          <p:cNvGrpSpPr/>
          <p:nvPr/>
        </p:nvGrpSpPr>
        <p:grpSpPr bwMode="auto">
          <a:xfrm>
            <a:off x="5683250" y="2562225"/>
            <a:ext cx="2463800" cy="2424113"/>
            <a:chOff x="3657" y="1929"/>
            <a:chExt cx="1552" cy="1527"/>
          </a:xfrm>
        </p:grpSpPr>
        <p:sp>
          <p:nvSpPr>
            <p:cNvPr id="10269" name="Line 10"/>
            <p:cNvSpPr>
              <a:spLocks noChangeShapeType="1"/>
            </p:cNvSpPr>
            <p:nvPr/>
          </p:nvSpPr>
          <p:spPr bwMode="auto">
            <a:xfrm>
              <a:off x="3657" y="1929"/>
              <a:ext cx="991" cy="129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Text Box 11"/>
            <p:cNvSpPr txBox="1">
              <a:spLocks noChangeArrowheads="1"/>
            </p:cNvSpPr>
            <p:nvPr/>
          </p:nvSpPr>
          <p:spPr bwMode="auto">
            <a:xfrm>
              <a:off x="4575" y="3168"/>
              <a:ext cx="6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NCO</a:t>
              </a:r>
            </a:p>
          </p:txBody>
        </p:sp>
      </p:grpSp>
      <p:grpSp>
        <p:nvGrpSpPr>
          <p:cNvPr id="5" name="Group 32"/>
          <p:cNvGrpSpPr/>
          <p:nvPr/>
        </p:nvGrpSpPr>
        <p:grpSpPr bwMode="auto">
          <a:xfrm>
            <a:off x="4665663" y="3625856"/>
            <a:ext cx="1965325" cy="369888"/>
            <a:chOff x="3016" y="2599"/>
            <a:chExt cx="1238" cy="233"/>
          </a:xfrm>
        </p:grpSpPr>
        <p:sp>
          <p:nvSpPr>
            <p:cNvPr id="10267" name="Text Box 12"/>
            <p:cNvSpPr txBox="1">
              <a:spLocks noChangeArrowheads="1"/>
            </p:cNvSpPr>
            <p:nvPr/>
          </p:nvSpPr>
          <p:spPr bwMode="auto">
            <a:xfrm>
              <a:off x="3016" y="2599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solidFill>
                    <a:srgbClr val="CC0000"/>
                  </a:solidFill>
                  <a:cs typeface="Arial" panose="020B0604020202020204" pitchFamily="34" charset="0"/>
                </a:rPr>
                <a:t>r</a:t>
              </a:r>
              <a:r>
                <a:rPr lang="en-US" sz="2400" baseline="-25000">
                  <a:solidFill>
                    <a:srgbClr val="CC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268" name="Line 13"/>
            <p:cNvSpPr>
              <a:spLocks noChangeShapeType="1"/>
            </p:cNvSpPr>
            <p:nvPr/>
          </p:nvSpPr>
          <p:spPr bwMode="auto">
            <a:xfrm flipH="1">
              <a:off x="3253" y="2724"/>
              <a:ext cx="10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8258" name="Line 18"/>
          <p:cNvSpPr>
            <a:spLocks noChangeShapeType="1"/>
          </p:cNvSpPr>
          <p:nvPr/>
        </p:nvSpPr>
        <p:spPr bwMode="auto">
          <a:xfrm rot="10800000" flipV="1">
            <a:off x="5143500" y="3257550"/>
            <a:ext cx="0" cy="554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59" name="Line 19"/>
          <p:cNvSpPr>
            <a:spLocks noChangeShapeType="1"/>
          </p:cNvSpPr>
          <p:nvPr/>
        </p:nvSpPr>
        <p:spPr bwMode="auto">
          <a:xfrm rot="5400000" flipV="1">
            <a:off x="6422232" y="4972844"/>
            <a:ext cx="0" cy="427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1" name="Text Box 20"/>
          <p:cNvSpPr txBox="1">
            <a:spLocks noChangeArrowheads="1"/>
          </p:cNvSpPr>
          <p:nvPr/>
        </p:nvSpPr>
        <p:spPr bwMode="auto">
          <a:xfrm>
            <a:off x="7002463" y="3957638"/>
            <a:ext cx="20272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净资本流出</a:t>
            </a:r>
          </a:p>
        </p:txBody>
      </p:sp>
      <p:grpSp>
        <p:nvGrpSpPr>
          <p:cNvPr id="10252" name="Group 34"/>
          <p:cNvGrpSpPr/>
          <p:nvPr/>
        </p:nvGrpSpPr>
        <p:grpSpPr bwMode="auto">
          <a:xfrm>
            <a:off x="4667250" y="3044826"/>
            <a:ext cx="1763713" cy="2813051"/>
            <a:chOff x="3017" y="2233"/>
            <a:chExt cx="1111" cy="1772"/>
          </a:xfrm>
        </p:grpSpPr>
        <p:sp>
          <p:nvSpPr>
            <p:cNvPr id="10260" name="Text Box 14"/>
            <p:cNvSpPr txBox="1">
              <a:spLocks noChangeArrowheads="1"/>
            </p:cNvSpPr>
            <p:nvPr/>
          </p:nvSpPr>
          <p:spPr bwMode="auto">
            <a:xfrm>
              <a:off x="3017" y="2233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r</a:t>
              </a:r>
              <a:r>
                <a:rPr lang="en-US" sz="2400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261" name="Line 15"/>
            <p:cNvSpPr>
              <a:spLocks noChangeShapeType="1"/>
            </p:cNvSpPr>
            <p:nvPr/>
          </p:nvSpPr>
          <p:spPr bwMode="auto">
            <a:xfrm>
              <a:off x="3249" y="2358"/>
              <a:ext cx="7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Line 17"/>
            <p:cNvSpPr>
              <a:spLocks noChangeShapeType="1"/>
            </p:cNvSpPr>
            <p:nvPr/>
          </p:nvSpPr>
          <p:spPr bwMode="auto">
            <a:xfrm>
              <a:off x="3987" y="2355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Oval 21"/>
            <p:cNvSpPr>
              <a:spLocks noChangeAspect="1" noChangeArrowheads="1"/>
            </p:cNvSpPr>
            <p:nvPr/>
          </p:nvSpPr>
          <p:spPr bwMode="auto">
            <a:xfrm>
              <a:off x="3943" y="2318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grpSp>
          <p:nvGrpSpPr>
            <p:cNvPr id="10264" name="Group 31"/>
            <p:cNvGrpSpPr/>
            <p:nvPr/>
          </p:nvGrpSpPr>
          <p:grpSpPr bwMode="auto">
            <a:xfrm>
              <a:off x="3584" y="3671"/>
              <a:ext cx="544" cy="334"/>
              <a:chOff x="3584" y="3671"/>
              <a:chExt cx="544" cy="334"/>
            </a:xfrm>
          </p:grpSpPr>
          <p:sp>
            <p:nvSpPr>
              <p:cNvPr id="10265" name="Rectangle 25"/>
              <p:cNvSpPr>
                <a:spLocks noChangeArrowheads="1"/>
              </p:cNvSpPr>
              <p:nvPr/>
            </p:nvSpPr>
            <p:spPr bwMode="auto">
              <a:xfrm>
                <a:off x="3584" y="3772"/>
                <a:ext cx="54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i="1" dirty="0">
                    <a:latin typeface="Arial" panose="020B0604020202020204"/>
                    <a:cs typeface="Arial" panose="020B0604020202020204"/>
                  </a:rPr>
                  <a:t>NCO</a:t>
                </a:r>
                <a:r>
                  <a:rPr lang="en-US" sz="2400" b="1" baseline="-25000" dirty="0">
                    <a:latin typeface="Arial" panose="020B0604020202020204"/>
                    <a:cs typeface="Arial" panose="020B0604020202020204"/>
                  </a:rPr>
                  <a:t>1</a:t>
                </a:r>
              </a:p>
            </p:txBody>
          </p:sp>
          <p:sp>
            <p:nvSpPr>
              <p:cNvPr id="10266" name="Line 28"/>
              <p:cNvSpPr>
                <a:spLocks noChangeShapeType="1"/>
              </p:cNvSpPr>
              <p:nvPr/>
            </p:nvSpPr>
            <p:spPr bwMode="auto">
              <a:xfrm flipV="1">
                <a:off x="3859" y="3671"/>
                <a:ext cx="118" cy="1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" name="Group 33"/>
          <p:cNvGrpSpPr/>
          <p:nvPr/>
        </p:nvGrpSpPr>
        <p:grpSpPr bwMode="auto">
          <a:xfrm>
            <a:off x="6575425" y="3760787"/>
            <a:ext cx="890588" cy="2101849"/>
            <a:chOff x="4219" y="2684"/>
            <a:chExt cx="561" cy="1324"/>
          </a:xfrm>
        </p:grpSpPr>
        <p:sp>
          <p:nvSpPr>
            <p:cNvPr id="10255" name="Line 16"/>
            <p:cNvSpPr>
              <a:spLocks noChangeShapeType="1"/>
            </p:cNvSpPr>
            <p:nvPr/>
          </p:nvSpPr>
          <p:spPr bwMode="auto">
            <a:xfrm>
              <a:off x="4263" y="2721"/>
              <a:ext cx="0" cy="93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Oval 22"/>
            <p:cNvSpPr>
              <a:spLocks noChangeAspect="1" noChangeArrowheads="1"/>
            </p:cNvSpPr>
            <p:nvPr/>
          </p:nvSpPr>
          <p:spPr bwMode="auto">
            <a:xfrm>
              <a:off x="4219" y="2684"/>
              <a:ext cx="81" cy="8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grpSp>
          <p:nvGrpSpPr>
            <p:cNvPr id="10257" name="Group 30"/>
            <p:cNvGrpSpPr/>
            <p:nvPr/>
          </p:nvGrpSpPr>
          <p:grpSpPr bwMode="auto">
            <a:xfrm>
              <a:off x="4249" y="3666"/>
              <a:ext cx="531" cy="342"/>
              <a:chOff x="4249" y="3666"/>
              <a:chExt cx="531" cy="342"/>
            </a:xfrm>
          </p:grpSpPr>
          <p:sp>
            <p:nvSpPr>
              <p:cNvPr id="10258" name="Rectangle 26"/>
              <p:cNvSpPr>
                <a:spLocks noChangeArrowheads="1"/>
              </p:cNvSpPr>
              <p:nvPr/>
            </p:nvSpPr>
            <p:spPr bwMode="auto">
              <a:xfrm>
                <a:off x="4249" y="3775"/>
                <a:ext cx="53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i="1" dirty="0">
                    <a:solidFill>
                      <a:srgbClr val="CC0000"/>
                    </a:solidFill>
                    <a:latin typeface="Arial" panose="020B0604020202020204"/>
                    <a:cs typeface="Arial" panose="020B0604020202020204"/>
                  </a:rPr>
                  <a:t>NCO</a:t>
                </a:r>
                <a:r>
                  <a:rPr lang="en-US" sz="2400" b="1" baseline="-25000" dirty="0">
                    <a:solidFill>
                      <a:srgbClr val="CC0000"/>
                    </a:solidFill>
                    <a:latin typeface="Arial" panose="020B0604020202020204"/>
                    <a:cs typeface="Arial" panose="020B0604020202020204"/>
                  </a:rPr>
                  <a:t>2</a:t>
                </a:r>
              </a:p>
            </p:txBody>
          </p:sp>
          <p:sp>
            <p:nvSpPr>
              <p:cNvPr id="10259" name="Line 29"/>
              <p:cNvSpPr>
                <a:spLocks noChangeShapeType="1"/>
              </p:cNvSpPr>
              <p:nvPr/>
            </p:nvSpPr>
            <p:spPr bwMode="auto">
              <a:xfrm>
                <a:off x="4268" y="3666"/>
                <a:ext cx="118" cy="14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54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333346" y="1068606"/>
            <a:ext cx="3960000" cy="36000"/>
          </a:xfrm>
          <a:prstGeom prst="rect">
            <a:avLst/>
          </a:prstGeom>
          <a:noFill/>
        </p:spPr>
      </p:pic>
      <p:pic>
        <p:nvPicPr>
          <p:cNvPr id="35" name="图片 34" descr="logo-VI系统0630-PPT-1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366395" y="44386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uiExpand="1" build="p" bldLvl="5"/>
      <p:bldP spid="138258" grpId="0" bldLvl="0" animBg="1"/>
      <p:bldP spid="13825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1"/>
          <p:cNvGrpSpPr/>
          <p:nvPr/>
        </p:nvGrpSpPr>
        <p:grpSpPr bwMode="auto">
          <a:xfrm>
            <a:off x="1193800" y="3233739"/>
            <a:ext cx="3771900" cy="2065338"/>
            <a:chOff x="752" y="2037"/>
            <a:chExt cx="2376" cy="1301"/>
          </a:xfrm>
        </p:grpSpPr>
        <p:sp>
          <p:nvSpPr>
            <p:cNvPr id="11287" name="Line 38"/>
            <p:cNvSpPr>
              <a:spLocks noChangeShapeType="1"/>
            </p:cNvSpPr>
            <p:nvPr/>
          </p:nvSpPr>
          <p:spPr bwMode="auto">
            <a:xfrm>
              <a:off x="752" y="2037"/>
              <a:ext cx="1249" cy="112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Text Box 39"/>
            <p:cNvSpPr txBox="1">
              <a:spLocks noChangeArrowheads="1"/>
            </p:cNvSpPr>
            <p:nvPr/>
          </p:nvSpPr>
          <p:spPr bwMode="auto">
            <a:xfrm>
              <a:off x="2014" y="3105"/>
              <a:ext cx="11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 smtClean="0">
                  <a:cs typeface="Arial" panose="020B0604020202020204" pitchFamily="34" charset="0"/>
                </a:rPr>
                <a:t>D=I+NCO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124938" name="Text Box 10"/>
          <p:cNvSpPr txBox="1">
            <a:spLocks noChangeArrowheads="1"/>
          </p:cNvSpPr>
          <p:nvPr/>
        </p:nvSpPr>
        <p:spPr bwMode="auto">
          <a:xfrm>
            <a:off x="2909889" y="3539828"/>
            <a:ext cx="3062286" cy="867930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defRPr/>
            </a:pP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调整以平衡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可贷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市场的供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271" name="Group 77"/>
          <p:cNvGrpSpPr/>
          <p:nvPr/>
        </p:nvGrpSpPr>
        <p:grpSpPr bwMode="auto">
          <a:xfrm>
            <a:off x="727075" y="2278063"/>
            <a:ext cx="3830638" cy="3749675"/>
            <a:chOff x="458" y="1435"/>
            <a:chExt cx="2413" cy="2362"/>
          </a:xfrm>
        </p:grpSpPr>
        <p:grpSp>
          <p:nvGrpSpPr>
            <p:cNvPr id="11282" name="Group 32"/>
            <p:cNvGrpSpPr/>
            <p:nvPr/>
          </p:nvGrpSpPr>
          <p:grpSpPr bwMode="auto">
            <a:xfrm>
              <a:off x="565" y="1711"/>
              <a:ext cx="1964" cy="1938"/>
              <a:chOff x="1098" y="1361"/>
              <a:chExt cx="2116" cy="2027"/>
            </a:xfrm>
          </p:grpSpPr>
          <p:sp>
            <p:nvSpPr>
              <p:cNvPr id="11285" name="Line 33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6" name="Line 34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283" name="Text Box 35"/>
            <p:cNvSpPr txBox="1">
              <a:spLocks noChangeArrowheads="1"/>
            </p:cNvSpPr>
            <p:nvPr/>
          </p:nvSpPr>
          <p:spPr bwMode="auto">
            <a:xfrm>
              <a:off x="458" y="1435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r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11284" name="Text Box 36"/>
            <p:cNvSpPr txBox="1">
              <a:spLocks noChangeArrowheads="1"/>
            </p:cNvSpPr>
            <p:nvPr/>
          </p:nvSpPr>
          <p:spPr bwMode="auto">
            <a:xfrm>
              <a:off x="2497" y="3509"/>
              <a:ext cx="3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LF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11272" name="Group 99"/>
          <p:cNvGrpSpPr/>
          <p:nvPr/>
        </p:nvGrpSpPr>
        <p:grpSpPr bwMode="auto">
          <a:xfrm>
            <a:off x="1693863" y="2800350"/>
            <a:ext cx="3044825" cy="2662238"/>
            <a:chOff x="1067" y="1764"/>
            <a:chExt cx="1918" cy="1677"/>
          </a:xfrm>
        </p:grpSpPr>
        <p:sp>
          <p:nvSpPr>
            <p:cNvPr id="11280" name="Line 73"/>
            <p:cNvSpPr>
              <a:spLocks noChangeShapeType="1"/>
            </p:cNvSpPr>
            <p:nvPr/>
          </p:nvSpPr>
          <p:spPr bwMode="auto">
            <a:xfrm flipV="1">
              <a:off x="1067" y="2001"/>
              <a:ext cx="904" cy="144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1" name="Text Box 41"/>
            <p:cNvSpPr txBox="1">
              <a:spLocks noChangeArrowheads="1"/>
            </p:cNvSpPr>
            <p:nvPr/>
          </p:nvSpPr>
          <p:spPr bwMode="auto">
            <a:xfrm>
              <a:off x="1898" y="1764"/>
              <a:ext cx="1087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 smtClean="0">
                  <a:cs typeface="Arial" panose="020B0604020202020204" pitchFamily="34" charset="0"/>
                </a:rPr>
                <a:t>S</a:t>
              </a: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=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储蓄</a:t>
              </a: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1273" name="Text Box 47"/>
          <p:cNvSpPr txBox="1">
            <a:spLocks noChangeArrowheads="1"/>
          </p:cNvSpPr>
          <p:nvPr/>
        </p:nvSpPr>
        <p:spPr bwMode="auto">
          <a:xfrm>
            <a:off x="1373188" y="2035175"/>
            <a:ext cx="2430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可贷资金市场</a:t>
            </a:r>
          </a:p>
        </p:txBody>
      </p:sp>
      <p:grpSp>
        <p:nvGrpSpPr>
          <p:cNvPr id="6" name="Group 98"/>
          <p:cNvGrpSpPr/>
          <p:nvPr/>
        </p:nvGrpSpPr>
        <p:grpSpPr bwMode="auto">
          <a:xfrm>
            <a:off x="479425" y="4125919"/>
            <a:ext cx="1992313" cy="369888"/>
            <a:chOff x="302" y="2599"/>
            <a:chExt cx="1255" cy="233"/>
          </a:xfrm>
        </p:grpSpPr>
        <p:sp>
          <p:nvSpPr>
            <p:cNvPr id="11277" name="Text Box 44"/>
            <p:cNvSpPr txBox="1">
              <a:spLocks noChangeArrowheads="1"/>
            </p:cNvSpPr>
            <p:nvPr/>
          </p:nvSpPr>
          <p:spPr bwMode="auto">
            <a:xfrm>
              <a:off x="302" y="2599"/>
              <a:ext cx="2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r</a:t>
              </a:r>
              <a:r>
                <a:rPr lang="en-US" sz="2400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278" name="Oval 46"/>
            <p:cNvSpPr>
              <a:spLocks noChangeAspect="1" noChangeArrowheads="1"/>
            </p:cNvSpPr>
            <p:nvPr/>
          </p:nvSpPr>
          <p:spPr bwMode="auto">
            <a:xfrm>
              <a:off x="1476" y="2680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11279" name="Line 75"/>
            <p:cNvSpPr>
              <a:spLocks noChangeShapeType="1"/>
            </p:cNvSpPr>
            <p:nvPr/>
          </p:nvSpPr>
          <p:spPr bwMode="auto">
            <a:xfrm flipH="1">
              <a:off x="567" y="2724"/>
              <a:ext cx="9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5028" name="Text Box 100"/>
          <p:cNvSpPr txBox="1">
            <a:spLocks noChangeArrowheads="1"/>
          </p:cNvSpPr>
          <p:nvPr/>
        </p:nvSpPr>
        <p:spPr bwMode="auto">
          <a:xfrm>
            <a:off x="5116514" y="4661627"/>
            <a:ext cx="3636962" cy="86793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defRPr/>
            </a:pP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I和NCO都负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于r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因此D曲线向下倾斜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6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332711" y="994946"/>
            <a:ext cx="3960000" cy="36000"/>
          </a:xfrm>
          <a:prstGeom prst="rect">
            <a:avLst/>
          </a:prstGeom>
          <a:noFill/>
        </p:spPr>
      </p:pic>
      <p:pic>
        <p:nvPicPr>
          <p:cNvPr id="24" name="图片 23" descr="logo-VI系统0630-PPT-1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452120" y="37719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8" grpId="0" bldLvl="0" animBg="1"/>
      <p:bldP spid="12502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logo-VI系统0630-PPT-10.jp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-28575"/>
            <a:ext cx="9144000" cy="6858000"/>
          </a:xfrm>
          <a:prstGeom prst="rect">
            <a:avLst/>
          </a:prstGeom>
        </p:spPr>
      </p:pic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66991" y="1424928"/>
            <a:ext cx="7962634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假设政府的起始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平衡的，现在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政府预算赤字。使用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适当的图表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来确定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预算赤字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实际利率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流出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预算赤字减少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了政府储蓄，从而减少了国民储蓄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和可贷资金的供给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，供给曲线向左平移，导致r上升；较高的r使本国的资产相对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外国资产更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具吸引力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，本国NCO减少。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3070" y="65341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53"/>
          <p:cNvGrpSpPr/>
          <p:nvPr/>
        </p:nvGrpSpPr>
        <p:grpSpPr bwMode="auto">
          <a:xfrm>
            <a:off x="1279525" y="3641725"/>
            <a:ext cx="2578100" cy="2119313"/>
            <a:chOff x="3678" y="1961"/>
            <a:chExt cx="1289" cy="1153"/>
          </a:xfrm>
        </p:grpSpPr>
        <p:sp>
          <p:nvSpPr>
            <p:cNvPr id="9" name="Line 54"/>
            <p:cNvSpPr>
              <a:spLocks noChangeShapeType="1"/>
            </p:cNvSpPr>
            <p:nvPr/>
          </p:nvSpPr>
          <p:spPr bwMode="auto">
            <a:xfrm>
              <a:off x="3678" y="1961"/>
              <a:ext cx="991" cy="97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 Box 55"/>
            <p:cNvSpPr txBox="1">
              <a:spLocks noChangeArrowheads="1"/>
            </p:cNvSpPr>
            <p:nvPr/>
          </p:nvSpPr>
          <p:spPr bwMode="auto">
            <a:xfrm>
              <a:off x="4624" y="2865"/>
              <a:ext cx="343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</p:grpSp>
      <p:grpSp>
        <p:nvGrpSpPr>
          <p:cNvPr id="11" name="Group 56"/>
          <p:cNvGrpSpPr/>
          <p:nvPr/>
        </p:nvGrpSpPr>
        <p:grpSpPr bwMode="auto">
          <a:xfrm>
            <a:off x="5083175" y="2689225"/>
            <a:ext cx="3905250" cy="3749675"/>
            <a:chOff x="3148" y="1437"/>
            <a:chExt cx="2460" cy="2362"/>
          </a:xfrm>
        </p:grpSpPr>
        <p:grpSp>
          <p:nvGrpSpPr>
            <p:cNvPr id="12" name="Group 57"/>
            <p:cNvGrpSpPr/>
            <p:nvPr/>
          </p:nvGrpSpPr>
          <p:grpSpPr bwMode="auto">
            <a:xfrm>
              <a:off x="3247" y="1713"/>
              <a:ext cx="1828" cy="1938"/>
              <a:chOff x="1098" y="1361"/>
              <a:chExt cx="2116" cy="2027"/>
            </a:xfrm>
          </p:grpSpPr>
          <p:sp>
            <p:nvSpPr>
              <p:cNvPr id="15" name="Line 58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" name="Line 59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3" name="Text Box 60"/>
            <p:cNvSpPr txBox="1">
              <a:spLocks noChangeArrowheads="1"/>
            </p:cNvSpPr>
            <p:nvPr/>
          </p:nvSpPr>
          <p:spPr bwMode="auto">
            <a:xfrm>
              <a:off x="3148" y="1437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 Box 61"/>
            <p:cNvSpPr txBox="1">
              <a:spLocks noChangeArrowheads="1"/>
            </p:cNvSpPr>
            <p:nvPr/>
          </p:nvSpPr>
          <p:spPr bwMode="auto">
            <a:xfrm>
              <a:off x="5040" y="3511"/>
              <a:ext cx="5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NCO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7" name="Group 100"/>
          <p:cNvGrpSpPr/>
          <p:nvPr/>
        </p:nvGrpSpPr>
        <p:grpSpPr bwMode="auto">
          <a:xfrm>
            <a:off x="5891213" y="3470275"/>
            <a:ext cx="2463800" cy="2424113"/>
            <a:chOff x="3711" y="2186"/>
            <a:chExt cx="1552" cy="1527"/>
          </a:xfrm>
        </p:grpSpPr>
        <p:sp>
          <p:nvSpPr>
            <p:cNvPr id="18" name="Line 62"/>
            <p:cNvSpPr>
              <a:spLocks noChangeShapeType="1"/>
            </p:cNvSpPr>
            <p:nvPr/>
          </p:nvSpPr>
          <p:spPr bwMode="auto">
            <a:xfrm>
              <a:off x="3711" y="2186"/>
              <a:ext cx="991" cy="129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629" y="3425"/>
              <a:ext cx="6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NCO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</p:grpSp>
      <p:sp>
        <p:nvSpPr>
          <p:cNvPr id="20" name="Text Box 67"/>
          <p:cNvSpPr txBox="1">
            <a:spLocks noChangeArrowheads="1"/>
          </p:cNvSpPr>
          <p:nvPr/>
        </p:nvSpPr>
        <p:spPr bwMode="auto">
          <a:xfrm>
            <a:off x="5610225" y="2455863"/>
            <a:ext cx="29765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净资本流出</a:t>
            </a:r>
          </a:p>
        </p:txBody>
      </p:sp>
      <p:grpSp>
        <p:nvGrpSpPr>
          <p:cNvPr id="21" name="Group 68"/>
          <p:cNvGrpSpPr/>
          <p:nvPr/>
        </p:nvGrpSpPr>
        <p:grpSpPr bwMode="auto">
          <a:xfrm>
            <a:off x="812800" y="2686050"/>
            <a:ext cx="3830638" cy="3749675"/>
            <a:chOff x="458" y="1435"/>
            <a:chExt cx="2413" cy="2362"/>
          </a:xfrm>
        </p:grpSpPr>
        <p:grpSp>
          <p:nvGrpSpPr>
            <p:cNvPr id="22" name="Group 69"/>
            <p:cNvGrpSpPr/>
            <p:nvPr/>
          </p:nvGrpSpPr>
          <p:grpSpPr bwMode="auto">
            <a:xfrm>
              <a:off x="565" y="1711"/>
              <a:ext cx="1964" cy="1938"/>
              <a:chOff x="1098" y="1361"/>
              <a:chExt cx="2116" cy="2027"/>
            </a:xfrm>
          </p:grpSpPr>
          <p:sp>
            <p:nvSpPr>
              <p:cNvPr id="25" name="Line 70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6" name="Line 71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3" name="Text Box 72"/>
            <p:cNvSpPr txBox="1">
              <a:spLocks noChangeArrowheads="1"/>
            </p:cNvSpPr>
            <p:nvPr/>
          </p:nvSpPr>
          <p:spPr bwMode="auto">
            <a:xfrm>
              <a:off x="458" y="1435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 Box 73"/>
            <p:cNvSpPr txBox="1">
              <a:spLocks noChangeArrowheads="1"/>
            </p:cNvSpPr>
            <p:nvPr/>
          </p:nvSpPr>
          <p:spPr bwMode="auto">
            <a:xfrm>
              <a:off x="2497" y="3509"/>
              <a:ext cx="3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LF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" name="Group 74"/>
          <p:cNvGrpSpPr/>
          <p:nvPr/>
        </p:nvGrpSpPr>
        <p:grpSpPr bwMode="auto">
          <a:xfrm>
            <a:off x="1779588" y="3208338"/>
            <a:ext cx="1833562" cy="2662237"/>
            <a:chOff x="1025" y="1764"/>
            <a:chExt cx="1155" cy="1677"/>
          </a:xfrm>
        </p:grpSpPr>
        <p:sp>
          <p:nvSpPr>
            <p:cNvPr id="28" name="Line 75"/>
            <p:cNvSpPr>
              <a:spLocks noChangeShapeType="1"/>
            </p:cNvSpPr>
            <p:nvPr/>
          </p:nvSpPr>
          <p:spPr bwMode="auto">
            <a:xfrm flipV="1">
              <a:off x="1025" y="2001"/>
              <a:ext cx="904" cy="144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9" name="Text Box 76"/>
            <p:cNvSpPr txBox="1">
              <a:spLocks noChangeArrowheads="1"/>
            </p:cNvSpPr>
            <p:nvPr/>
          </p:nvSpPr>
          <p:spPr bwMode="auto">
            <a:xfrm>
              <a:off x="1856" y="1764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</p:grpSp>
      <p:sp>
        <p:nvSpPr>
          <p:cNvPr id="30" name="Text Box 79"/>
          <p:cNvSpPr txBox="1">
            <a:spLocks noChangeArrowheads="1"/>
          </p:cNvSpPr>
          <p:nvPr/>
        </p:nvSpPr>
        <p:spPr bwMode="auto">
          <a:xfrm>
            <a:off x="1573213" y="2452688"/>
            <a:ext cx="2430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可贷资金市场</a:t>
            </a:r>
          </a:p>
        </p:txBody>
      </p:sp>
      <p:grpSp>
        <p:nvGrpSpPr>
          <p:cNvPr id="31" name="Group 103"/>
          <p:cNvGrpSpPr/>
          <p:nvPr/>
        </p:nvGrpSpPr>
        <p:grpSpPr bwMode="auto">
          <a:xfrm>
            <a:off x="565150" y="4533906"/>
            <a:ext cx="1992313" cy="369888"/>
            <a:chOff x="356" y="2856"/>
            <a:chExt cx="1255" cy="233"/>
          </a:xfrm>
        </p:grpSpPr>
        <p:sp>
          <p:nvSpPr>
            <p:cNvPr id="32" name="Text Box 77"/>
            <p:cNvSpPr txBox="1">
              <a:spLocks noChangeArrowheads="1"/>
            </p:cNvSpPr>
            <p:nvPr/>
          </p:nvSpPr>
          <p:spPr bwMode="auto">
            <a:xfrm>
              <a:off x="356" y="2856"/>
              <a:ext cx="2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  <p:sp>
          <p:nvSpPr>
            <p:cNvPr id="33" name="Oval 78"/>
            <p:cNvSpPr>
              <a:spLocks noChangeAspect="1" noChangeArrowheads="1"/>
            </p:cNvSpPr>
            <p:nvPr/>
          </p:nvSpPr>
          <p:spPr bwMode="auto">
            <a:xfrm>
              <a:off x="1530" y="2937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" name="Line 80"/>
            <p:cNvSpPr>
              <a:spLocks noChangeShapeType="1"/>
            </p:cNvSpPr>
            <p:nvPr/>
          </p:nvSpPr>
          <p:spPr bwMode="auto">
            <a:xfrm flipH="1">
              <a:off x="621" y="2981"/>
              <a:ext cx="9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5" name="Group 81"/>
          <p:cNvGrpSpPr/>
          <p:nvPr/>
        </p:nvGrpSpPr>
        <p:grpSpPr bwMode="auto">
          <a:xfrm>
            <a:off x="1120775" y="3016250"/>
            <a:ext cx="1600200" cy="2279650"/>
            <a:chOff x="806" y="1531"/>
            <a:chExt cx="1008" cy="1436"/>
          </a:xfrm>
        </p:grpSpPr>
        <p:sp>
          <p:nvSpPr>
            <p:cNvPr id="36" name="Line 82"/>
            <p:cNvSpPr>
              <a:spLocks noChangeShapeType="1"/>
            </p:cNvSpPr>
            <p:nvPr/>
          </p:nvSpPr>
          <p:spPr bwMode="auto">
            <a:xfrm flipV="1">
              <a:off x="806" y="1768"/>
              <a:ext cx="757" cy="11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7" name="Text Box 83"/>
            <p:cNvSpPr txBox="1">
              <a:spLocks noChangeArrowheads="1"/>
            </p:cNvSpPr>
            <p:nvPr/>
          </p:nvSpPr>
          <p:spPr bwMode="auto">
            <a:xfrm>
              <a:off x="1490" y="1531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</a:p>
          </p:txBody>
        </p:sp>
      </p:grpSp>
      <p:grpSp>
        <p:nvGrpSpPr>
          <p:cNvPr id="38" name="Group 105"/>
          <p:cNvGrpSpPr/>
          <p:nvPr/>
        </p:nvGrpSpPr>
        <p:grpSpPr bwMode="auto">
          <a:xfrm>
            <a:off x="4875213" y="3952880"/>
            <a:ext cx="1535112" cy="369888"/>
            <a:chOff x="3071" y="2490"/>
            <a:chExt cx="967" cy="233"/>
          </a:xfrm>
        </p:grpSpPr>
        <p:sp>
          <p:nvSpPr>
            <p:cNvPr id="39" name="Text Box 87"/>
            <p:cNvSpPr txBox="1">
              <a:spLocks noChangeArrowheads="1"/>
            </p:cNvSpPr>
            <p:nvPr/>
          </p:nvSpPr>
          <p:spPr bwMode="auto">
            <a:xfrm>
              <a:off x="3071" y="249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 dirty="0">
                  <a:latin typeface="Arial" panose="020B0604020202020204"/>
                  <a:cs typeface="Arial" panose="020B0604020202020204"/>
                </a:rPr>
                <a:t>r</a:t>
              </a:r>
              <a:r>
                <a:rPr lang="en-US" sz="2400" b="1" baseline="-25000" dirty="0">
                  <a:latin typeface="Arial" panose="020B0604020202020204"/>
                  <a:cs typeface="Arial" panose="020B0604020202020204"/>
                </a:rPr>
                <a:t>2</a:t>
              </a:r>
            </a:p>
          </p:txBody>
        </p:sp>
        <p:sp>
          <p:nvSpPr>
            <p:cNvPr id="40" name="Line 89"/>
            <p:cNvSpPr>
              <a:spLocks noChangeShapeType="1"/>
            </p:cNvSpPr>
            <p:nvPr/>
          </p:nvSpPr>
          <p:spPr bwMode="auto">
            <a:xfrm>
              <a:off x="3303" y="2615"/>
              <a:ext cx="7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1" name="Line 90"/>
          <p:cNvSpPr>
            <a:spLocks noChangeShapeType="1"/>
          </p:cNvSpPr>
          <p:nvPr/>
        </p:nvSpPr>
        <p:spPr bwMode="auto">
          <a:xfrm>
            <a:off x="2498725" y="4730750"/>
            <a:ext cx="23701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2" name="Group 107"/>
          <p:cNvGrpSpPr/>
          <p:nvPr/>
        </p:nvGrpSpPr>
        <p:grpSpPr bwMode="auto">
          <a:xfrm>
            <a:off x="561975" y="3954468"/>
            <a:ext cx="1341438" cy="369888"/>
            <a:chOff x="354" y="2491"/>
            <a:chExt cx="845" cy="233"/>
          </a:xfrm>
        </p:grpSpPr>
        <p:sp>
          <p:nvSpPr>
            <p:cNvPr id="43" name="Line 86"/>
            <p:cNvSpPr>
              <a:spLocks noChangeShapeType="1"/>
            </p:cNvSpPr>
            <p:nvPr/>
          </p:nvSpPr>
          <p:spPr bwMode="auto">
            <a:xfrm flipH="1">
              <a:off x="621" y="2618"/>
              <a:ext cx="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4" name="Text Box 84"/>
            <p:cNvSpPr txBox="1">
              <a:spLocks noChangeArrowheads="1"/>
            </p:cNvSpPr>
            <p:nvPr/>
          </p:nvSpPr>
          <p:spPr bwMode="auto">
            <a:xfrm>
              <a:off x="354" y="2491"/>
              <a:ext cx="2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</a:p>
          </p:txBody>
        </p:sp>
        <p:sp>
          <p:nvSpPr>
            <p:cNvPr id="45" name="Oval 85"/>
            <p:cNvSpPr>
              <a:spLocks noChangeAspect="1" noChangeArrowheads="1"/>
            </p:cNvSpPr>
            <p:nvPr/>
          </p:nvSpPr>
          <p:spPr bwMode="auto">
            <a:xfrm>
              <a:off x="1118" y="2578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6" name="Line 91"/>
          <p:cNvSpPr>
            <a:spLocks noChangeShapeType="1"/>
          </p:cNvSpPr>
          <p:nvPr/>
        </p:nvSpPr>
        <p:spPr bwMode="auto">
          <a:xfrm>
            <a:off x="1838325" y="4156075"/>
            <a:ext cx="30337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7" name="Group 101"/>
          <p:cNvGrpSpPr/>
          <p:nvPr/>
        </p:nvGrpSpPr>
        <p:grpSpPr bwMode="auto">
          <a:xfrm>
            <a:off x="4873625" y="4533900"/>
            <a:ext cx="2046288" cy="1670050"/>
            <a:chOff x="3070" y="2856"/>
            <a:chExt cx="1289" cy="1052"/>
          </a:xfrm>
        </p:grpSpPr>
        <p:sp>
          <p:nvSpPr>
            <p:cNvPr id="48" name="Text Box 64"/>
            <p:cNvSpPr txBox="1">
              <a:spLocks noChangeArrowheads="1"/>
            </p:cNvSpPr>
            <p:nvPr/>
          </p:nvSpPr>
          <p:spPr bwMode="auto">
            <a:xfrm>
              <a:off x="3070" y="2856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 dirty="0">
                  <a:latin typeface="Arial" panose="020B0604020202020204"/>
                  <a:cs typeface="Arial" panose="020B0604020202020204"/>
                </a:rPr>
                <a:t>r</a:t>
              </a:r>
              <a:r>
                <a:rPr lang="en-US" sz="2400" b="1" baseline="-25000" dirty="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  <p:sp>
          <p:nvSpPr>
            <p:cNvPr id="49" name="Line 65"/>
            <p:cNvSpPr>
              <a:spLocks noChangeShapeType="1"/>
            </p:cNvSpPr>
            <p:nvPr/>
          </p:nvSpPr>
          <p:spPr bwMode="auto">
            <a:xfrm flipH="1">
              <a:off x="3307" y="2981"/>
              <a:ext cx="10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" name="Oval 66"/>
            <p:cNvSpPr>
              <a:spLocks noChangeAspect="1" noChangeArrowheads="1"/>
            </p:cNvSpPr>
            <p:nvPr/>
          </p:nvSpPr>
          <p:spPr bwMode="auto">
            <a:xfrm>
              <a:off x="4278" y="2939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1" name="Line 92"/>
            <p:cNvSpPr>
              <a:spLocks noChangeShapeType="1"/>
            </p:cNvSpPr>
            <p:nvPr/>
          </p:nvSpPr>
          <p:spPr bwMode="auto">
            <a:xfrm>
              <a:off x="4317" y="2978"/>
              <a:ext cx="0" cy="9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2" name="Group 102"/>
          <p:cNvGrpSpPr/>
          <p:nvPr/>
        </p:nvGrpSpPr>
        <p:grpSpPr bwMode="auto">
          <a:xfrm>
            <a:off x="6342063" y="4087813"/>
            <a:ext cx="128587" cy="2116137"/>
            <a:chOff x="3995" y="2575"/>
            <a:chExt cx="81" cy="1333"/>
          </a:xfrm>
        </p:grpSpPr>
        <p:sp>
          <p:nvSpPr>
            <p:cNvPr id="53" name="Oval 88"/>
            <p:cNvSpPr>
              <a:spLocks noChangeAspect="1" noChangeArrowheads="1"/>
            </p:cNvSpPr>
            <p:nvPr/>
          </p:nvSpPr>
          <p:spPr bwMode="auto">
            <a:xfrm>
              <a:off x="3995" y="2575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4" name="Line 93"/>
            <p:cNvSpPr>
              <a:spLocks noChangeShapeType="1"/>
            </p:cNvSpPr>
            <p:nvPr/>
          </p:nvSpPr>
          <p:spPr bwMode="auto">
            <a:xfrm>
              <a:off x="4041" y="2612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5" name="Line 94"/>
          <p:cNvSpPr>
            <a:spLocks noChangeShapeType="1"/>
          </p:cNvSpPr>
          <p:nvPr/>
        </p:nvSpPr>
        <p:spPr bwMode="auto">
          <a:xfrm flipV="1">
            <a:off x="1085850" y="4160838"/>
            <a:ext cx="0" cy="554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Line 95"/>
          <p:cNvSpPr>
            <a:spLocks noChangeShapeType="1"/>
          </p:cNvSpPr>
          <p:nvPr/>
        </p:nvSpPr>
        <p:spPr bwMode="auto">
          <a:xfrm flipV="1">
            <a:off x="5351463" y="4165600"/>
            <a:ext cx="0" cy="554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Line 96"/>
          <p:cNvSpPr>
            <a:spLocks noChangeShapeType="1"/>
          </p:cNvSpPr>
          <p:nvPr/>
        </p:nvSpPr>
        <p:spPr bwMode="auto">
          <a:xfrm rot="16200000" flipV="1">
            <a:off x="6630194" y="5880894"/>
            <a:ext cx="0" cy="427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Line 98"/>
          <p:cNvSpPr>
            <a:spLocks noChangeShapeType="1"/>
          </p:cNvSpPr>
          <p:nvPr/>
        </p:nvSpPr>
        <p:spPr bwMode="auto">
          <a:xfrm>
            <a:off x="612775" y="2278063"/>
            <a:ext cx="826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Text Box 108"/>
          <p:cNvSpPr txBox="1">
            <a:spLocks noChangeArrowheads="1"/>
          </p:cNvSpPr>
          <p:nvPr/>
        </p:nvSpPr>
        <p:spPr bwMode="auto">
          <a:xfrm>
            <a:off x="590796" y="1662767"/>
            <a:ext cx="8121157" cy="5089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5000"/>
              </a:lnSpc>
            </a:pP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LF市场决定r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（左图），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r值决定了NCO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（右图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0" name="图片 59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4387" y="6402390"/>
            <a:ext cx="1495513" cy="288536"/>
          </a:xfrm>
          <a:prstGeom prst="rect">
            <a:avLst/>
          </a:prstGeom>
        </p:spPr>
      </p:pic>
      <p:pic>
        <p:nvPicPr>
          <p:cNvPr id="61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63" name="矩形 62"/>
          <p:cNvSpPr/>
          <p:nvPr/>
        </p:nvSpPr>
        <p:spPr>
          <a:xfrm>
            <a:off x="433070" y="65341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55" grpId="0" bldLvl="0" animBg="1"/>
      <p:bldP spid="56" grpId="0" bldLvl="0" animBg="1"/>
      <p:bldP spid="57" grpId="0" bldLvl="0" animBg="1"/>
      <p:bldP spid="58" grpId="0" bldLvl="0" animBg="1"/>
      <p:bldP spid="5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logo-VI系统0630-PPT-10.jp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52450" y="1376045"/>
            <a:ext cx="7833995" cy="4094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章可知：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NCO=NX</a:t>
            </a: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外汇市场上，</a:t>
            </a: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是对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人民币的需求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：外国人需要人民币来购买我国的净出口。</a:t>
            </a: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人民币的供给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：我国卖出人民币来获得投资国外资产所需要的外币。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上一章可知：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实际汇率(E)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衡量用于交易每单位本国商品和服务的外国商品和服务的数量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33070" y="65341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5"/>
          <p:cNvGrpSpPr/>
          <p:nvPr/>
        </p:nvGrpSpPr>
        <p:grpSpPr bwMode="auto">
          <a:xfrm>
            <a:off x="5956300" y="1792288"/>
            <a:ext cx="2006600" cy="3584575"/>
            <a:chOff x="3752" y="1129"/>
            <a:chExt cx="1264" cy="2258"/>
          </a:xfrm>
        </p:grpSpPr>
        <p:sp>
          <p:nvSpPr>
            <p:cNvPr id="16407" name="Text Box 2"/>
            <p:cNvSpPr txBox="1">
              <a:spLocks noChangeArrowheads="1"/>
            </p:cNvSpPr>
            <p:nvPr/>
          </p:nvSpPr>
          <p:spPr bwMode="auto">
            <a:xfrm>
              <a:off x="3752" y="1129"/>
              <a:ext cx="1264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50000"/>
                </a:spcBef>
              </a:pPr>
              <a:r>
                <a:rPr lang="en-US" sz="2400" i="1" smtClean="0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smtClean="0">
                  <a:latin typeface="Arial" panose="020B0604020202020204"/>
                  <a:cs typeface="Arial" panose="020B0604020202020204"/>
                </a:rPr>
                <a:t>=</a:t>
              </a:r>
              <a:r>
                <a:rPr lang="en-US" sz="2400" i="1" smtClean="0">
                  <a:latin typeface="Arial" panose="020B0604020202020204"/>
                  <a:cs typeface="Arial" panose="020B0604020202020204"/>
                </a:rPr>
                <a:t>NCO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08" name="Line 3"/>
            <p:cNvSpPr>
              <a:spLocks noChangeShapeType="1"/>
            </p:cNvSpPr>
            <p:nvPr/>
          </p:nvSpPr>
          <p:spPr bwMode="auto">
            <a:xfrm flipV="1">
              <a:off x="4052" y="1396"/>
              <a:ext cx="0" cy="1991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391" name="Group 34"/>
          <p:cNvGrpSpPr/>
          <p:nvPr/>
        </p:nvGrpSpPr>
        <p:grpSpPr bwMode="auto">
          <a:xfrm>
            <a:off x="4611688" y="1858963"/>
            <a:ext cx="3810000" cy="3940174"/>
            <a:chOff x="2905" y="1171"/>
            <a:chExt cx="2400" cy="2482"/>
          </a:xfrm>
        </p:grpSpPr>
        <p:grpSp>
          <p:nvGrpSpPr>
            <p:cNvPr id="16402" name="Group 6"/>
            <p:cNvGrpSpPr/>
            <p:nvPr/>
          </p:nvGrpSpPr>
          <p:grpSpPr bwMode="auto">
            <a:xfrm>
              <a:off x="3037" y="1447"/>
              <a:ext cx="2135" cy="1938"/>
              <a:chOff x="1098" y="1361"/>
              <a:chExt cx="2116" cy="2027"/>
            </a:xfrm>
          </p:grpSpPr>
          <p:sp>
            <p:nvSpPr>
              <p:cNvPr id="16405" name="Line 7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406" name="Line 8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6403" name="Text Box 9"/>
            <p:cNvSpPr txBox="1">
              <a:spLocks noChangeArrowheads="1"/>
            </p:cNvSpPr>
            <p:nvPr/>
          </p:nvSpPr>
          <p:spPr bwMode="auto">
            <a:xfrm>
              <a:off x="2905" y="1171"/>
              <a:ext cx="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E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04" name="Text Box 10"/>
            <p:cNvSpPr txBox="1">
              <a:spLocks noChangeArrowheads="1"/>
            </p:cNvSpPr>
            <p:nvPr/>
          </p:nvSpPr>
          <p:spPr bwMode="auto">
            <a:xfrm>
              <a:off x="4416" y="3420"/>
              <a:ext cx="8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本国货币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" name="Group 26"/>
          <p:cNvGrpSpPr/>
          <p:nvPr/>
        </p:nvGrpSpPr>
        <p:grpSpPr bwMode="auto">
          <a:xfrm>
            <a:off x="5184775" y="2501901"/>
            <a:ext cx="3516313" cy="2338388"/>
            <a:chOff x="3168" y="1842"/>
            <a:chExt cx="2215" cy="1473"/>
          </a:xfrm>
        </p:grpSpPr>
        <p:sp>
          <p:nvSpPr>
            <p:cNvPr id="16400" name="Line 11"/>
            <p:cNvSpPr>
              <a:spLocks noChangeShapeType="1"/>
            </p:cNvSpPr>
            <p:nvPr/>
          </p:nvSpPr>
          <p:spPr bwMode="auto">
            <a:xfrm>
              <a:off x="3168" y="1842"/>
              <a:ext cx="1474" cy="1288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01" name="Text Box 23"/>
            <p:cNvSpPr txBox="1">
              <a:spLocks noChangeArrowheads="1"/>
            </p:cNvSpPr>
            <p:nvPr/>
          </p:nvSpPr>
          <p:spPr bwMode="auto">
            <a:xfrm>
              <a:off x="4603" y="3030"/>
              <a:ext cx="78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50000"/>
                </a:spcBef>
              </a:pPr>
              <a:r>
                <a:rPr lang="en-US" sz="2400" i="1" smtClean="0"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400" smtClean="0">
                  <a:latin typeface="Arial" panose="020B0604020202020204"/>
                  <a:cs typeface="Arial" panose="020B0604020202020204"/>
                </a:rPr>
                <a:t>=</a:t>
              </a:r>
              <a:r>
                <a:rPr lang="en-US" sz="2400" i="1" smtClean="0">
                  <a:latin typeface="Arial" panose="020B0604020202020204"/>
                  <a:cs typeface="Arial" panose="020B0604020202020204"/>
                </a:rPr>
                <a:t>NX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Group 28"/>
          <p:cNvGrpSpPr/>
          <p:nvPr/>
        </p:nvGrpSpPr>
        <p:grpSpPr bwMode="auto">
          <a:xfrm>
            <a:off x="4373563" y="3394080"/>
            <a:ext cx="2116137" cy="369888"/>
            <a:chOff x="2657" y="2404"/>
            <a:chExt cx="1333" cy="233"/>
          </a:xfrm>
        </p:grpSpPr>
        <p:sp>
          <p:nvSpPr>
            <p:cNvPr id="16397" name="Text Box 12"/>
            <p:cNvSpPr txBox="1">
              <a:spLocks noChangeArrowheads="1"/>
            </p:cNvSpPr>
            <p:nvPr/>
          </p:nvSpPr>
          <p:spPr bwMode="auto">
            <a:xfrm>
              <a:off x="2657" y="2404"/>
              <a:ext cx="257" cy="233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E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  <p:sp>
          <p:nvSpPr>
            <p:cNvPr id="16398" name="Line 27"/>
            <p:cNvSpPr>
              <a:spLocks noChangeShapeType="1"/>
            </p:cNvSpPr>
            <p:nvPr/>
          </p:nvSpPr>
          <p:spPr bwMode="auto">
            <a:xfrm flipH="1">
              <a:off x="2940" y="2529"/>
              <a:ext cx="10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399" name="Oval 14"/>
            <p:cNvSpPr>
              <a:spLocks noChangeAspect="1" noChangeArrowheads="1"/>
            </p:cNvSpPr>
            <p:nvPr/>
          </p:nvSpPr>
          <p:spPr bwMode="auto">
            <a:xfrm>
              <a:off x="3909" y="2489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60801" name="Text Box 33"/>
          <p:cNvSpPr txBox="1">
            <a:spLocks noChangeArrowheads="1"/>
          </p:cNvSpPr>
          <p:nvPr/>
        </p:nvSpPr>
        <p:spPr bwMode="auto">
          <a:xfrm>
            <a:off x="6836191" y="2780958"/>
            <a:ext cx="2174459" cy="12557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E调整以平衡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外汇市场本国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的供求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6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60772" name="Text Box 4"/>
          <p:cNvSpPr txBox="1">
            <a:spLocks noChangeArrowheads="1"/>
          </p:cNvSpPr>
          <p:nvPr/>
        </p:nvSpPr>
        <p:spPr bwMode="auto">
          <a:xfrm>
            <a:off x="275431" y="1109782"/>
            <a:ext cx="3880425" cy="501675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l" eaLnBrk="1" hangingPunct="1">
              <a:lnSpc>
                <a:spcPts val="36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实际汇率（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的增加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商品对外国人来说更加昂贵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减少外国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服务的需求，从而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减少外国对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本国货币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的需求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eaLnBrk="1" hangingPunct="1">
              <a:lnSpc>
                <a:spcPts val="36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）的增加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对储蓄或投资没有影响，因此它不会影响NCO或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本国货币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的供应。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18131" y="901601"/>
            <a:ext cx="3960000" cy="36000"/>
          </a:xfrm>
          <a:prstGeom prst="rect">
            <a:avLst/>
          </a:prstGeom>
          <a:noFill/>
        </p:spPr>
      </p:pic>
      <p:pic>
        <p:nvPicPr>
          <p:cNvPr id="4" name="图片 3" descr="logo-VI系统0630-PPT-1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452120" y="21526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4" name="Text Box 33"/>
          <p:cNvSpPr txBox="1">
            <a:spLocks noChangeArrowheads="1"/>
          </p:cNvSpPr>
          <p:nvPr/>
        </p:nvSpPr>
        <p:spPr bwMode="auto">
          <a:xfrm>
            <a:off x="6131342" y="1114083"/>
            <a:ext cx="1536284" cy="4801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外汇市场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0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0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6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0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0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801" grpId="0" build="p"/>
      <p:bldP spid="160772" grpId="0" build="p"/>
      <p:bldP spid="160772" grpId="1" build="allAtOnce"/>
      <p:bldP spid="2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logo-VI系统0630-PPT-10.jp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476249" y="1415415"/>
            <a:ext cx="83343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预算赤字对外汇市场和贸易平衡的影响。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假使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最初政府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预算平衡，贸易平衡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NX=0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kumimoji="0" lang="en-US" altLang="zh-CN" sz="2400" u="none" strike="noStrike" kern="1200" cap="none" spc="0" normalizeH="0" baseline="0" noProof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政府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经营预算赤字。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正如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我们在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kumimoji="0" lang="en-US" altLang="zh-CN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光琥珀_CNKI" panose="02000500000000000000" pitchFamily="2" charset="-122"/>
                <a:ea typeface="华光琥珀_CNKI" panose="02000500000000000000" pitchFamily="2" charset="-122"/>
              </a:rPr>
              <a:t>1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所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看到的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那样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，预算赤字导致</a:t>
            </a:r>
            <a:r>
              <a:rPr kumimoji="0" lang="en-US" altLang="zh-CN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上升和</a:t>
            </a:r>
            <a:r>
              <a:rPr kumimoji="0" lang="en-US" altLang="zh-CN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400" u="none" strike="noStrike" kern="1200" cap="none" spc="0" normalizeH="0" baseline="0" noProof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请思考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：预算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赤字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如何影响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汇率及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贸易平衡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8" name="矩形 7"/>
          <p:cNvSpPr/>
          <p:nvPr/>
        </p:nvSpPr>
        <p:spPr>
          <a:xfrm>
            <a:off x="433070" y="65341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54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46100" y="1328738"/>
            <a:ext cx="3676650" cy="486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05000"/>
              </a:lnSpc>
              <a:spcBef>
                <a:spcPct val="45000"/>
              </a:spcBef>
              <a:buClr>
                <a:schemeClr val="tx2"/>
              </a:buClr>
              <a:buSzPct val="120000"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预算赤字减少了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和本国货币的供应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向左平移。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05000"/>
              </a:lnSpc>
              <a:spcBef>
                <a:spcPct val="45000"/>
              </a:spcBef>
              <a:buClr>
                <a:schemeClr val="tx2"/>
              </a:buClr>
              <a:buSzPct val="120000"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上升，本国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05000"/>
              </a:lnSpc>
              <a:spcBef>
                <a:spcPct val="45000"/>
              </a:spcBef>
              <a:buClr>
                <a:schemeClr val="tx2"/>
              </a:buClr>
              <a:buSzPct val="120000"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最初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NX=0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，预算赤字会导致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贸易赤字，即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NX&lt;0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05000"/>
              </a:lnSpc>
              <a:spcBef>
                <a:spcPct val="45000"/>
              </a:spcBef>
              <a:buClr>
                <a:schemeClr val="tx2"/>
              </a:buClr>
              <a:buSzPct val="120000"/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双胞胎赤字（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Twin Deficit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国内预算赤字和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赤字同时发生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26"/>
          <p:cNvGrpSpPr/>
          <p:nvPr/>
        </p:nvGrpSpPr>
        <p:grpSpPr bwMode="auto">
          <a:xfrm>
            <a:off x="6373813" y="2366963"/>
            <a:ext cx="1660525" cy="3421062"/>
            <a:chOff x="3927" y="1498"/>
            <a:chExt cx="1046" cy="2155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3927" y="1498"/>
              <a:ext cx="1046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50000"/>
                </a:spcBef>
              </a:pPr>
              <a:r>
                <a:rPr lang="en-US" sz="2400" i="1" smtClean="0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="1" baseline="-25000" smtClean="0">
                  <a:latin typeface="Arial" panose="020B0604020202020204"/>
                  <a:cs typeface="Arial" panose="020B0604020202020204"/>
                </a:rPr>
                <a:t>1</a:t>
              </a:r>
              <a:r>
                <a:rPr lang="en-US" sz="2400" smtClean="0">
                  <a:latin typeface="Arial" panose="020B0604020202020204"/>
                  <a:cs typeface="Arial" panose="020B0604020202020204"/>
                </a:rPr>
                <a:t>=</a:t>
              </a:r>
              <a:r>
                <a:rPr lang="en-US" sz="2400" i="1" smtClean="0">
                  <a:latin typeface="Arial" panose="020B0604020202020204"/>
                  <a:cs typeface="Arial" panose="020B0604020202020204"/>
                </a:rPr>
                <a:t>NCO</a:t>
              </a:r>
              <a:r>
                <a:rPr lang="en-US" sz="2400" b="1" baseline="-25000" smtClean="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V="1">
              <a:off x="3954" y="1662"/>
              <a:ext cx="0" cy="1991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35"/>
          <p:cNvGrpSpPr/>
          <p:nvPr/>
        </p:nvGrpSpPr>
        <p:grpSpPr bwMode="auto">
          <a:xfrm>
            <a:off x="4595813" y="2270125"/>
            <a:ext cx="3810000" cy="3940176"/>
            <a:chOff x="3003" y="1304"/>
            <a:chExt cx="2400" cy="2482"/>
          </a:xfrm>
        </p:grpSpPr>
        <p:grpSp>
          <p:nvGrpSpPr>
            <p:cNvPr id="11" name="Group 10"/>
            <p:cNvGrpSpPr/>
            <p:nvPr/>
          </p:nvGrpSpPr>
          <p:grpSpPr bwMode="auto">
            <a:xfrm>
              <a:off x="3135" y="1580"/>
              <a:ext cx="2135" cy="1938"/>
              <a:chOff x="1098" y="1361"/>
              <a:chExt cx="2116" cy="2027"/>
            </a:xfrm>
          </p:grpSpPr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Line 12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3003" y="1304"/>
              <a:ext cx="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E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4524" y="3553"/>
              <a:ext cx="8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本国货币</a:t>
              </a:r>
              <a:endPara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5168900" y="2913063"/>
            <a:ext cx="2339975" cy="20447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7446963" y="4799013"/>
            <a:ext cx="1212850" cy="45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lang="en-US" sz="2400" i="1" smtClean="0">
                <a:latin typeface="Arial" panose="020B0604020202020204"/>
                <a:cs typeface="Arial" panose="020B0604020202020204"/>
              </a:rPr>
              <a:t>D</a:t>
            </a:r>
            <a:r>
              <a:rPr lang="en-US" sz="2400" smtClean="0">
                <a:latin typeface="Arial" panose="020B0604020202020204"/>
                <a:cs typeface="Arial" panose="020B0604020202020204"/>
              </a:rPr>
              <a:t>=</a:t>
            </a:r>
            <a:r>
              <a:rPr lang="en-US" sz="2400" i="1" smtClean="0">
                <a:latin typeface="Arial" panose="020B0604020202020204"/>
                <a:cs typeface="Arial" panose="020B0604020202020204"/>
              </a:rPr>
              <a:t>NX</a:t>
            </a:r>
            <a:endParaRPr lang="en-US" sz="2400" b="1" baseline="-25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Group 18"/>
          <p:cNvGrpSpPr/>
          <p:nvPr/>
        </p:nvGrpSpPr>
        <p:grpSpPr bwMode="auto">
          <a:xfrm>
            <a:off x="4362450" y="3805243"/>
            <a:ext cx="2116138" cy="369888"/>
            <a:chOff x="2657" y="2404"/>
            <a:chExt cx="1333" cy="233"/>
          </a:xfrm>
        </p:grpSpPr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2657" y="2404"/>
              <a:ext cx="2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E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H="1">
              <a:off x="2940" y="2529"/>
              <a:ext cx="10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Oval 21"/>
            <p:cNvSpPr>
              <a:spLocks noChangeAspect="1" noChangeArrowheads="1"/>
            </p:cNvSpPr>
            <p:nvPr/>
          </p:nvSpPr>
          <p:spPr bwMode="auto">
            <a:xfrm>
              <a:off x="3909" y="2489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36"/>
          <p:cNvGrpSpPr/>
          <p:nvPr/>
        </p:nvGrpSpPr>
        <p:grpSpPr bwMode="auto">
          <a:xfrm>
            <a:off x="5476875" y="1733550"/>
            <a:ext cx="1660525" cy="4051300"/>
            <a:chOff x="3558" y="966"/>
            <a:chExt cx="1046" cy="2552"/>
          </a:xfrm>
        </p:grpSpPr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V="1">
              <a:off x="3700" y="1527"/>
              <a:ext cx="0" cy="199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24" name="Group 23"/>
            <p:cNvGrpSpPr/>
            <p:nvPr/>
          </p:nvGrpSpPr>
          <p:grpSpPr bwMode="auto">
            <a:xfrm>
              <a:off x="3558" y="966"/>
              <a:ext cx="1046" cy="515"/>
              <a:chOff x="3362" y="1099"/>
              <a:chExt cx="1046" cy="515"/>
            </a:xfrm>
          </p:grpSpPr>
          <p:sp>
            <p:nvSpPr>
              <p:cNvPr id="25" name="Text Box 23"/>
              <p:cNvSpPr txBox="1">
                <a:spLocks noChangeArrowheads="1"/>
              </p:cNvSpPr>
              <p:nvPr/>
            </p:nvSpPr>
            <p:spPr bwMode="auto">
              <a:xfrm>
                <a:off x="3362" y="1099"/>
                <a:ext cx="1046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5000"/>
                  </a:lnSpc>
                  <a:spcBef>
                    <a:spcPct val="50000"/>
                  </a:spcBef>
                </a:pPr>
                <a:r>
                  <a:rPr lang="en-US" sz="2400" i="1" smtClean="0">
                    <a:latin typeface="Arial" panose="020B0604020202020204"/>
                    <a:cs typeface="Arial" panose="020B0604020202020204"/>
                  </a:rPr>
                  <a:t>S</a:t>
                </a:r>
                <a:r>
                  <a:rPr lang="en-US" sz="2400" b="1" baseline="-25000" smtClean="0">
                    <a:latin typeface="Arial" panose="020B0604020202020204"/>
                    <a:cs typeface="Arial" panose="020B0604020202020204"/>
                  </a:rPr>
                  <a:t>2</a:t>
                </a:r>
                <a:r>
                  <a:rPr lang="en-US" sz="2400" smtClean="0">
                    <a:latin typeface="Arial" panose="020B0604020202020204"/>
                    <a:cs typeface="Arial" panose="020B0604020202020204"/>
                  </a:rPr>
                  <a:t>=</a:t>
                </a:r>
                <a:r>
                  <a:rPr lang="en-US" sz="2400" i="1" smtClean="0">
                    <a:latin typeface="Arial" panose="020B0604020202020204"/>
                    <a:cs typeface="Arial" panose="020B0604020202020204"/>
                  </a:rPr>
                  <a:t>NCO</a:t>
                </a:r>
                <a:r>
                  <a:rPr lang="en-US" sz="2400" b="1" baseline="-25000" smtClean="0"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6" name="Line 24"/>
              <p:cNvSpPr>
                <a:spLocks noChangeShapeType="1"/>
              </p:cNvSpPr>
              <p:nvPr/>
            </p:nvSpPr>
            <p:spPr bwMode="auto">
              <a:xfrm flipV="1">
                <a:off x="3507" y="137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27" name="Line 27"/>
          <p:cNvSpPr>
            <a:spLocks noChangeShapeType="1"/>
          </p:cNvSpPr>
          <p:nvPr/>
        </p:nvSpPr>
        <p:spPr bwMode="auto">
          <a:xfrm rot="16200000" flipV="1">
            <a:off x="6047582" y="5364956"/>
            <a:ext cx="0" cy="588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 flipV="1">
            <a:off x="4908550" y="3414713"/>
            <a:ext cx="0" cy="554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9" name="Group 33"/>
          <p:cNvGrpSpPr/>
          <p:nvPr/>
        </p:nvGrpSpPr>
        <p:grpSpPr bwMode="auto">
          <a:xfrm>
            <a:off x="4367213" y="3186117"/>
            <a:ext cx="1397000" cy="369888"/>
            <a:chOff x="2663" y="2014"/>
            <a:chExt cx="880" cy="233"/>
          </a:xfrm>
        </p:grpSpPr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2663" y="2014"/>
              <a:ext cx="2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E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2943" y="2136"/>
              <a:ext cx="56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2" name="Oval 32"/>
            <p:cNvSpPr>
              <a:spLocks noChangeAspect="1" noChangeArrowheads="1"/>
            </p:cNvSpPr>
            <p:nvPr/>
          </p:nvSpPr>
          <p:spPr bwMode="auto">
            <a:xfrm>
              <a:off x="3462" y="2093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pic>
        <p:nvPicPr>
          <p:cNvPr id="35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635813" y="1128600"/>
            <a:ext cx="3960000" cy="36000"/>
          </a:xfrm>
          <a:prstGeom prst="rect">
            <a:avLst/>
          </a:prstGeom>
          <a:noFill/>
        </p:spPr>
      </p:pic>
      <p:sp>
        <p:nvSpPr>
          <p:cNvPr id="37" name="矩形 36"/>
          <p:cNvSpPr/>
          <p:nvPr/>
        </p:nvSpPr>
        <p:spPr>
          <a:xfrm>
            <a:off x="471170" y="49149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6131342" y="1114083"/>
            <a:ext cx="1536284" cy="4801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25000"/>
              </a:spcBef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外汇市场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5"/>
      <p:bldP spid="27" grpId="0" animBg="1"/>
      <p:bldP spid="28" grpId="0" animBg="1"/>
      <p:bldP spid="3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13007"/>
              </p:ext>
            </p:extLst>
          </p:nvPr>
        </p:nvGraphicFramePr>
        <p:xfrm>
          <a:off x="944380" y="1165412"/>
          <a:ext cx="7944787" cy="534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509" name="Text Box 5"/>
          <p:cNvSpPr txBox="1">
            <a:spLocks noChangeArrowheads="1"/>
          </p:cNvSpPr>
          <p:nvPr/>
        </p:nvSpPr>
        <p:spPr bwMode="auto">
          <a:xfrm rot="-5400000">
            <a:off x="-682808" y="3021018"/>
            <a:ext cx="2797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百分比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" name="Group 11"/>
          <p:cNvGrpSpPr/>
          <p:nvPr/>
        </p:nvGrpSpPr>
        <p:grpSpPr bwMode="auto">
          <a:xfrm>
            <a:off x="2012950" y="1957388"/>
            <a:ext cx="2428875" cy="461665"/>
            <a:chOff x="1993518" y="1851883"/>
            <a:chExt cx="2428875" cy="461665"/>
          </a:xfrm>
        </p:grpSpPr>
        <p:sp>
          <p:nvSpPr>
            <p:cNvPr id="21514" name="Text Box 33"/>
            <p:cNvSpPr txBox="1">
              <a:spLocks noChangeArrowheads="1"/>
            </p:cNvSpPr>
            <p:nvPr/>
          </p:nvSpPr>
          <p:spPr bwMode="auto">
            <a:xfrm>
              <a:off x="1993518" y="1851883"/>
              <a:ext cx="21510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国内预算</a:t>
              </a:r>
              <a:r>
                <a: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赤字</a:t>
              </a:r>
              <a:endPara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15" name="Line 34"/>
            <p:cNvSpPr>
              <a:spLocks noChangeShapeType="1"/>
            </p:cNvSpPr>
            <p:nvPr/>
          </p:nvSpPr>
          <p:spPr bwMode="auto">
            <a:xfrm>
              <a:off x="4039805" y="2163033"/>
              <a:ext cx="382588" cy="139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3386138" y="4070350"/>
            <a:ext cx="2681287" cy="772815"/>
            <a:chOff x="3267888" y="4185873"/>
            <a:chExt cx="2681288" cy="772815"/>
          </a:xfrm>
        </p:grpSpPr>
        <p:sp>
          <p:nvSpPr>
            <p:cNvPr id="21512" name="Line 47"/>
            <p:cNvSpPr>
              <a:spLocks noChangeShapeType="1"/>
            </p:cNvSpPr>
            <p:nvPr/>
          </p:nvSpPr>
          <p:spPr bwMode="auto">
            <a:xfrm flipV="1">
              <a:off x="4612500" y="4185873"/>
              <a:ext cx="477838" cy="392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Text Box 48"/>
            <p:cNvSpPr txBox="1">
              <a:spLocks noChangeArrowheads="1"/>
            </p:cNvSpPr>
            <p:nvPr/>
          </p:nvSpPr>
          <p:spPr bwMode="auto">
            <a:xfrm>
              <a:off x="3267888" y="4497023"/>
              <a:ext cx="26812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净出口</a:t>
              </a:r>
              <a:endPara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2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788213" y="1004775"/>
            <a:ext cx="3099559" cy="36000"/>
          </a:xfrm>
          <a:prstGeom prst="rect">
            <a:avLst/>
          </a:prstGeom>
          <a:noFill/>
        </p:spPr>
      </p:pic>
      <p:sp>
        <p:nvSpPr>
          <p:cNvPr id="14" name="矩形 13"/>
          <p:cNvSpPr/>
          <p:nvPr/>
        </p:nvSpPr>
        <p:spPr>
          <a:xfrm>
            <a:off x="509270" y="34861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751095"/>
              </p:ext>
            </p:extLst>
          </p:nvPr>
        </p:nvGraphicFramePr>
        <p:xfrm>
          <a:off x="1219200" y="1495425"/>
          <a:ext cx="66865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xmlns="" id="{AA62C99A-7933-44D4-BDA4-DD07D3A5E8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083463"/>
              </p:ext>
            </p:extLst>
          </p:nvPr>
        </p:nvGraphicFramePr>
        <p:xfrm>
          <a:off x="1240367" y="1490619"/>
          <a:ext cx="6663266" cy="45482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Box 5">
            <a:extLst>
              <a:ext uri="{FF2B5EF4-FFF2-40B4-BE49-F238E27FC236}">
                <a16:creationId xmlns:a16="http://schemas.microsoft.com/office/drawing/2014/main" xmlns="" id="{1E642E84-CB53-4C49-BB87-79CF49D1C351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682808" y="3021018"/>
            <a:ext cx="2797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百分比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788213" y="1004775"/>
            <a:ext cx="3099559" cy="36000"/>
          </a:xfrm>
          <a:prstGeom prst="rect">
            <a:avLst/>
          </a:prstGeom>
          <a:noFill/>
        </p:spPr>
      </p:pic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2260509" y="4923631"/>
            <a:ext cx="2737032" cy="97313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noFill/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双胞胎赤字（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:Twin Deficit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90220" y="405765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1815187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512903" y="1319570"/>
            <a:ext cx="8535847" cy="4747856"/>
          </a:xfrm>
        </p:spPr>
        <p:txBody>
          <a:bodyPr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ea typeface="思源黑体 CN Bold" panose="020B0800000000000000" pitchFamily="34" charset="-122"/>
                <a:cs typeface="+mn-cs"/>
              </a:rPr>
              <a:t>预算赤字的影响</a:t>
            </a:r>
            <a:r>
              <a:rPr lang="en-US" altLang="zh-CN" sz="2400" smtClean="0">
                <a:solidFill>
                  <a:srgbClr val="FF0000"/>
                </a:solidFill>
                <a:ea typeface="思源黑体 CN Bold" panose="020B0800000000000000" pitchFamily="34" charset="-122"/>
                <a:cs typeface="+mn-cs"/>
              </a:rPr>
              <a:t>:</a:t>
            </a:r>
          </a:p>
          <a:p>
            <a:pPr marL="914400" lvl="1" indent="-457200">
              <a:lnSpc>
                <a:spcPts val="4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国民储蓄</a:t>
            </a:r>
            <a:r>
              <a:rPr lang="zh-CN" altLang="en-US" sz="2400" dirty="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下降。</a:t>
            </a:r>
            <a:endParaRPr lang="en-US" altLang="zh-CN" sz="2400" dirty="0">
              <a:solidFill>
                <a:srgbClr val="002060"/>
              </a:solidFill>
              <a:ea typeface="思源黑体 CN Bold" panose="020B0800000000000000" pitchFamily="34" charset="-122"/>
              <a:cs typeface="+mn-cs"/>
            </a:endParaRPr>
          </a:p>
          <a:p>
            <a:pPr marL="914400" lvl="1" indent="-457200">
              <a:lnSpc>
                <a:spcPts val="4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实际利率</a:t>
            </a:r>
            <a:r>
              <a:rPr lang="zh-CN" altLang="en-US" sz="2400" dirty="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上升。</a:t>
            </a:r>
            <a:endParaRPr lang="en-US" altLang="zh-CN" sz="2400" dirty="0">
              <a:solidFill>
                <a:srgbClr val="002060"/>
              </a:solidFill>
              <a:ea typeface="思源黑体 CN Bold" panose="020B0800000000000000" pitchFamily="34" charset="-122"/>
              <a:cs typeface="+mn-cs"/>
            </a:endParaRPr>
          </a:p>
          <a:p>
            <a:pPr marL="914400" lvl="1" indent="-457200">
              <a:lnSpc>
                <a:spcPts val="4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净</a:t>
            </a:r>
            <a:r>
              <a:rPr lang="zh-CN" altLang="en-US" sz="2400" dirty="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资本流出下降。</a:t>
            </a:r>
            <a:endParaRPr lang="en-US" altLang="zh-CN" sz="2400" dirty="0">
              <a:solidFill>
                <a:srgbClr val="002060"/>
              </a:solidFill>
              <a:ea typeface="思源黑体 CN Bold" panose="020B0800000000000000" pitchFamily="34" charset="-122"/>
              <a:cs typeface="+mn-cs"/>
            </a:endParaRPr>
          </a:p>
          <a:p>
            <a:pPr marL="914400" lvl="1" indent="-457200">
              <a:lnSpc>
                <a:spcPts val="4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实际汇率</a:t>
            </a:r>
            <a:r>
              <a:rPr lang="zh-CN" altLang="en-US" sz="2400" dirty="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上升。</a:t>
            </a:r>
            <a:endParaRPr lang="en-US" altLang="zh-CN" sz="2400" dirty="0">
              <a:solidFill>
                <a:srgbClr val="002060"/>
              </a:solidFill>
              <a:ea typeface="思源黑体 CN Bold" panose="020B0800000000000000" pitchFamily="34" charset="-122"/>
              <a:cs typeface="+mn-cs"/>
            </a:endParaRPr>
          </a:p>
          <a:p>
            <a:pPr marL="914400" lvl="1" indent="-457200">
              <a:lnSpc>
                <a:spcPts val="4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净出口</a:t>
            </a:r>
            <a:r>
              <a:rPr lang="zh-CN" altLang="en-US" sz="2400">
                <a:solidFill>
                  <a:srgbClr val="002060"/>
                </a:solidFill>
                <a:ea typeface="思源黑体 CN Bold" panose="020B0800000000000000" pitchFamily="34" charset="-122"/>
              </a:rPr>
              <a:t>下降</a:t>
            </a:r>
            <a:r>
              <a:rPr lang="zh-CN" altLang="en-US" sz="2400" smtClean="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（贸易逆差</a:t>
            </a:r>
            <a:r>
              <a:rPr lang="zh-CN" altLang="en-US" sz="2400" dirty="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增加</a:t>
            </a:r>
            <a:r>
              <a:rPr lang="zh-CN" altLang="en-US" sz="240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）</a:t>
            </a:r>
            <a:r>
              <a:rPr lang="zh-CN" altLang="en-US" sz="2400" smtClean="0">
                <a:solidFill>
                  <a:srgbClr val="002060"/>
                </a:solidFill>
                <a:ea typeface="思源黑体 CN Bold" panose="020B0800000000000000" pitchFamily="34" charset="-122"/>
                <a:cs typeface="+mn-cs"/>
              </a:rPr>
              <a:t>。</a:t>
            </a:r>
            <a:endParaRPr lang="en-US" altLang="zh-CN" sz="2400" smtClean="0">
              <a:solidFill>
                <a:srgbClr val="002060"/>
              </a:solidFill>
              <a:ea typeface="思源黑体 CN Bold" panose="020B0800000000000000" pitchFamily="34" charset="-122"/>
              <a:cs typeface="+mn-cs"/>
            </a:endParaRPr>
          </a:p>
          <a:p>
            <a:pPr marL="514350" indent="-457200">
              <a:lnSpc>
                <a:spcPts val="4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5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利率和汇率的联系</a:t>
            </a:r>
            <a:r>
              <a:rPr lang="zh-CN" altLang="en-US" sz="25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：实际上，任何</a:t>
            </a:r>
            <a:r>
              <a:rPr lang="zh-CN" altLang="en-US" sz="25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导致国内</a:t>
            </a:r>
            <a:r>
              <a:rPr lang="zh-CN" altLang="en-US" sz="25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实际利率提升</a:t>
            </a:r>
            <a:r>
              <a:rPr lang="zh-CN" altLang="en-US" sz="25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的措施都会减少</a:t>
            </a:r>
            <a:r>
              <a:rPr lang="en-US" altLang="zh-CN" sz="25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5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和外汇市场上本国货币的供应，从而引起</a:t>
            </a:r>
            <a:r>
              <a:rPr lang="zh-CN" altLang="en-US" sz="25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实际汇率的升值</a:t>
            </a:r>
            <a:r>
              <a:rPr lang="zh-CN" altLang="en-US" sz="25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 dirty="0">
              <a:solidFill>
                <a:srgbClr val="002060"/>
              </a:solidFill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22534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5" name="图片 4" descr="logo-VI系统0630-PPT-12.png">
            <a:extLst>
              <a:ext uri="{FF2B5EF4-FFF2-40B4-BE49-F238E27FC236}">
                <a16:creationId xmlns:a16="http://schemas.microsoft.com/office/drawing/2014/main" xmlns="" id="{F214DF4E-D372-4294-AA3D-08EE25A5233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7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E1B16C1B-677E-4114-9A22-81A755C92449}"/>
              </a:ext>
            </a:extLst>
          </p:cNvPr>
          <p:cNvPicPr>
            <a:picLocks noChangeArrowheads="1"/>
          </p:cNvPicPr>
          <p:nvPr/>
        </p:nvPicPr>
        <p:blipFill>
          <a:blip r:embed="rId5" cstate="print"/>
          <a:srcRect t="-37500" b="-37500"/>
          <a:stretch>
            <a:fillRect/>
          </a:stretch>
        </p:blipFill>
        <p:spPr bwMode="auto">
          <a:xfrm flipV="1">
            <a:off x="635813" y="1128600"/>
            <a:ext cx="3960000" cy="36000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>
            <a:off x="433070" y="52959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3069" y="1470660"/>
            <a:ext cx="8129905" cy="15762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1" indent="-34290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3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假设政府提供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税收激励政策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鼓励投资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请使用适当图表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来确定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税收激励政策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实际利率、净资本流出、汇率、贸易平衡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8" name="矩形 7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pSp>
        <p:nvGrpSpPr>
          <p:cNvPr id="4" name="Group 8"/>
          <p:cNvGrpSpPr/>
          <p:nvPr/>
        </p:nvGrpSpPr>
        <p:grpSpPr bwMode="auto">
          <a:xfrm>
            <a:off x="1271588" y="3602355"/>
            <a:ext cx="2578100" cy="2119313"/>
            <a:chOff x="3678" y="1961"/>
            <a:chExt cx="1289" cy="1153"/>
          </a:xfrm>
        </p:grpSpPr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3678" y="1961"/>
              <a:ext cx="991" cy="97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624" y="2865"/>
              <a:ext cx="343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</p:grpSp>
      <p:grpSp>
        <p:nvGrpSpPr>
          <p:cNvPr id="9" name="Group 11"/>
          <p:cNvGrpSpPr/>
          <p:nvPr/>
        </p:nvGrpSpPr>
        <p:grpSpPr bwMode="auto">
          <a:xfrm>
            <a:off x="5075238" y="2649855"/>
            <a:ext cx="3905250" cy="3749675"/>
            <a:chOff x="3148" y="1437"/>
            <a:chExt cx="2460" cy="2362"/>
          </a:xfrm>
        </p:grpSpPr>
        <p:grpSp>
          <p:nvGrpSpPr>
            <p:cNvPr id="10" name="Group 12"/>
            <p:cNvGrpSpPr/>
            <p:nvPr/>
          </p:nvGrpSpPr>
          <p:grpSpPr bwMode="auto">
            <a:xfrm>
              <a:off x="3247" y="1713"/>
              <a:ext cx="1828" cy="1938"/>
              <a:chOff x="1098" y="1361"/>
              <a:chExt cx="2116" cy="2027"/>
            </a:xfrm>
          </p:grpSpPr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3148" y="1437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5040" y="3511"/>
              <a:ext cx="5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NCO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" name="Group 56"/>
          <p:cNvGrpSpPr/>
          <p:nvPr/>
        </p:nvGrpSpPr>
        <p:grpSpPr bwMode="auto">
          <a:xfrm>
            <a:off x="5883275" y="3430905"/>
            <a:ext cx="2378075" cy="2424113"/>
            <a:chOff x="3655" y="2179"/>
            <a:chExt cx="1498" cy="1527"/>
          </a:xfrm>
        </p:grpSpPr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3655" y="2179"/>
              <a:ext cx="991" cy="129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4573" y="3418"/>
              <a:ext cx="5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NCO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5602288" y="2449830"/>
            <a:ext cx="29765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资本净流出</a:t>
            </a:r>
          </a:p>
        </p:txBody>
      </p:sp>
      <p:grpSp>
        <p:nvGrpSpPr>
          <p:cNvPr id="19" name="Group 23"/>
          <p:cNvGrpSpPr/>
          <p:nvPr/>
        </p:nvGrpSpPr>
        <p:grpSpPr bwMode="auto">
          <a:xfrm>
            <a:off x="804863" y="2646680"/>
            <a:ext cx="3830637" cy="3749675"/>
            <a:chOff x="458" y="1435"/>
            <a:chExt cx="2413" cy="2362"/>
          </a:xfrm>
        </p:grpSpPr>
        <p:grpSp>
          <p:nvGrpSpPr>
            <p:cNvPr id="20" name="Group 24"/>
            <p:cNvGrpSpPr/>
            <p:nvPr/>
          </p:nvGrpSpPr>
          <p:grpSpPr bwMode="auto">
            <a:xfrm>
              <a:off x="565" y="1711"/>
              <a:ext cx="1964" cy="1938"/>
              <a:chOff x="1098" y="1361"/>
              <a:chExt cx="2116" cy="2027"/>
            </a:xfrm>
          </p:grpSpPr>
          <p:sp>
            <p:nvSpPr>
              <p:cNvPr id="23" name="Line 25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" name="Line 26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1" name="Text Box 27"/>
            <p:cNvSpPr txBox="1">
              <a:spLocks noChangeArrowheads="1"/>
            </p:cNvSpPr>
            <p:nvPr/>
          </p:nvSpPr>
          <p:spPr bwMode="auto">
            <a:xfrm>
              <a:off x="458" y="1435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2497" y="3509"/>
              <a:ext cx="3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LF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5" name="Group 29"/>
          <p:cNvGrpSpPr/>
          <p:nvPr/>
        </p:nvGrpSpPr>
        <p:grpSpPr bwMode="auto">
          <a:xfrm>
            <a:off x="1771650" y="3168968"/>
            <a:ext cx="1833563" cy="2662237"/>
            <a:chOff x="1025" y="1764"/>
            <a:chExt cx="1155" cy="1677"/>
          </a:xfrm>
        </p:grpSpPr>
        <p:sp>
          <p:nvSpPr>
            <p:cNvPr id="26" name="Line 30"/>
            <p:cNvSpPr>
              <a:spLocks noChangeShapeType="1"/>
            </p:cNvSpPr>
            <p:nvPr/>
          </p:nvSpPr>
          <p:spPr bwMode="auto">
            <a:xfrm flipV="1">
              <a:off x="1025" y="2001"/>
              <a:ext cx="904" cy="144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 Box 31"/>
            <p:cNvSpPr txBox="1">
              <a:spLocks noChangeArrowheads="1"/>
            </p:cNvSpPr>
            <p:nvPr/>
          </p:nvSpPr>
          <p:spPr bwMode="auto">
            <a:xfrm>
              <a:off x="1856" y="1764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</p:grpSp>
      <p:sp>
        <p:nvSpPr>
          <p:cNvPr id="28" name="Text Box 34"/>
          <p:cNvSpPr txBox="1">
            <a:spLocks noChangeArrowheads="1"/>
          </p:cNvSpPr>
          <p:nvPr/>
        </p:nvSpPr>
        <p:spPr bwMode="auto">
          <a:xfrm>
            <a:off x="1603375" y="2446655"/>
            <a:ext cx="2430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可贷资金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35"/>
          <p:cNvSpPr>
            <a:spLocks noChangeShapeType="1"/>
          </p:cNvSpPr>
          <p:nvPr/>
        </p:nvSpPr>
        <p:spPr bwMode="auto">
          <a:xfrm>
            <a:off x="533400" y="2462530"/>
            <a:ext cx="8278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0" name="Group 57"/>
          <p:cNvGrpSpPr/>
          <p:nvPr/>
        </p:nvGrpSpPr>
        <p:grpSpPr bwMode="auto">
          <a:xfrm>
            <a:off x="557213" y="4494536"/>
            <a:ext cx="1992312" cy="369888"/>
            <a:chOff x="300" y="2849"/>
            <a:chExt cx="1255" cy="233"/>
          </a:xfrm>
        </p:grpSpPr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300" y="2849"/>
              <a:ext cx="2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  <p:sp>
          <p:nvSpPr>
            <p:cNvPr id="32" name="Oval 31"/>
            <p:cNvSpPr>
              <a:spLocks noChangeAspect="1" noChangeArrowheads="1"/>
            </p:cNvSpPr>
            <p:nvPr/>
          </p:nvSpPr>
          <p:spPr bwMode="auto">
            <a:xfrm>
              <a:off x="1474" y="2930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 flipH="1">
              <a:off x="565" y="2974"/>
              <a:ext cx="9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4" name="Group 59"/>
          <p:cNvGrpSpPr/>
          <p:nvPr/>
        </p:nvGrpSpPr>
        <p:grpSpPr bwMode="auto">
          <a:xfrm>
            <a:off x="2490788" y="4494530"/>
            <a:ext cx="4421187" cy="1670050"/>
            <a:chOff x="1518" y="2849"/>
            <a:chExt cx="2785" cy="1052"/>
          </a:xfrm>
        </p:grpSpPr>
        <p:sp>
          <p:nvSpPr>
            <p:cNvPr id="35" name="Text Box 19"/>
            <p:cNvSpPr txBox="1">
              <a:spLocks noChangeArrowheads="1"/>
            </p:cNvSpPr>
            <p:nvPr/>
          </p:nvSpPr>
          <p:spPr bwMode="auto">
            <a:xfrm>
              <a:off x="3014" y="2849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 flipH="1">
              <a:off x="3248" y="2974"/>
              <a:ext cx="10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7" name="Oval 21"/>
            <p:cNvSpPr>
              <a:spLocks noChangeAspect="1" noChangeArrowheads="1"/>
            </p:cNvSpPr>
            <p:nvPr/>
          </p:nvSpPr>
          <p:spPr bwMode="auto">
            <a:xfrm>
              <a:off x="4222" y="2932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8" name="Line 41"/>
            <p:cNvSpPr>
              <a:spLocks noChangeShapeType="1"/>
            </p:cNvSpPr>
            <p:nvPr/>
          </p:nvSpPr>
          <p:spPr bwMode="auto">
            <a:xfrm>
              <a:off x="1518" y="2973"/>
              <a:ext cx="14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9" name="Line 42"/>
            <p:cNvSpPr>
              <a:spLocks noChangeShapeType="1"/>
            </p:cNvSpPr>
            <p:nvPr/>
          </p:nvSpPr>
          <p:spPr bwMode="auto">
            <a:xfrm>
              <a:off x="4261" y="2971"/>
              <a:ext cx="0" cy="9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0" name="Group 68"/>
          <p:cNvGrpSpPr/>
          <p:nvPr/>
        </p:nvGrpSpPr>
        <p:grpSpPr bwMode="auto">
          <a:xfrm>
            <a:off x="2849563" y="3913510"/>
            <a:ext cx="3613150" cy="369888"/>
            <a:chOff x="1744" y="2406"/>
            <a:chExt cx="2276" cy="233"/>
          </a:xfrm>
        </p:grpSpPr>
        <p:sp>
          <p:nvSpPr>
            <p:cNvPr id="41" name="Text Box 38"/>
            <p:cNvSpPr txBox="1">
              <a:spLocks noChangeArrowheads="1"/>
            </p:cNvSpPr>
            <p:nvPr/>
          </p:nvSpPr>
          <p:spPr bwMode="auto">
            <a:xfrm>
              <a:off x="3015" y="2406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</a:p>
          </p:txBody>
        </p:sp>
        <p:sp>
          <p:nvSpPr>
            <p:cNvPr id="42" name="Oval 39"/>
            <p:cNvSpPr>
              <a:spLocks noChangeAspect="1" noChangeArrowheads="1"/>
            </p:cNvSpPr>
            <p:nvPr/>
          </p:nvSpPr>
          <p:spPr bwMode="auto">
            <a:xfrm>
              <a:off x="3939" y="2491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>
              <a:off x="3247" y="2531"/>
              <a:ext cx="7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4" name="Line 44"/>
            <p:cNvSpPr>
              <a:spLocks noChangeShapeType="1"/>
            </p:cNvSpPr>
            <p:nvPr/>
          </p:nvSpPr>
          <p:spPr bwMode="auto">
            <a:xfrm flipV="1">
              <a:off x="1744" y="2534"/>
              <a:ext cx="1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 bwMode="auto">
          <a:xfrm>
            <a:off x="1951038" y="3303905"/>
            <a:ext cx="2578100" cy="2119313"/>
            <a:chOff x="3678" y="1961"/>
            <a:chExt cx="1289" cy="1153"/>
          </a:xfrm>
        </p:grpSpPr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3678" y="1961"/>
              <a:ext cx="991" cy="97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7" name="Text Box 47"/>
            <p:cNvSpPr txBox="1">
              <a:spLocks noChangeArrowheads="1"/>
            </p:cNvSpPr>
            <p:nvPr/>
          </p:nvSpPr>
          <p:spPr bwMode="auto">
            <a:xfrm>
              <a:off x="4624" y="2865"/>
              <a:ext cx="343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</a:p>
          </p:txBody>
        </p:sp>
      </p:grpSp>
      <p:grpSp>
        <p:nvGrpSpPr>
          <p:cNvPr id="48" name="Group 58"/>
          <p:cNvGrpSpPr/>
          <p:nvPr/>
        </p:nvGrpSpPr>
        <p:grpSpPr bwMode="auto">
          <a:xfrm>
            <a:off x="554038" y="3915098"/>
            <a:ext cx="2357437" cy="369888"/>
            <a:chOff x="298" y="2484"/>
            <a:chExt cx="1485" cy="233"/>
          </a:xfrm>
        </p:grpSpPr>
        <p:sp>
          <p:nvSpPr>
            <p:cNvPr id="49" name="Text Box 37"/>
            <p:cNvSpPr txBox="1">
              <a:spLocks noChangeArrowheads="1"/>
            </p:cNvSpPr>
            <p:nvPr/>
          </p:nvSpPr>
          <p:spPr bwMode="auto">
            <a:xfrm>
              <a:off x="298" y="2484"/>
              <a:ext cx="2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r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 flipH="1">
              <a:off x="565" y="2611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1" name="Oval 49"/>
            <p:cNvSpPr>
              <a:spLocks noChangeAspect="1" noChangeArrowheads="1"/>
            </p:cNvSpPr>
            <p:nvPr/>
          </p:nvSpPr>
          <p:spPr bwMode="auto">
            <a:xfrm>
              <a:off x="1702" y="2567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2" name="Line 50"/>
          <p:cNvSpPr>
            <a:spLocks noChangeShapeType="1"/>
          </p:cNvSpPr>
          <p:nvPr/>
        </p:nvSpPr>
        <p:spPr bwMode="auto">
          <a:xfrm flipV="1">
            <a:off x="1077913" y="4121468"/>
            <a:ext cx="0" cy="554037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Line 51"/>
          <p:cNvSpPr>
            <a:spLocks noChangeShapeType="1"/>
          </p:cNvSpPr>
          <p:nvPr/>
        </p:nvSpPr>
        <p:spPr bwMode="auto">
          <a:xfrm flipV="1">
            <a:off x="5343525" y="4126230"/>
            <a:ext cx="0" cy="554038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 rot="16200000" flipV="1">
            <a:off x="6622257" y="5841524"/>
            <a:ext cx="0" cy="427037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Text Box 55"/>
          <p:cNvSpPr txBox="1">
            <a:spLocks noChangeArrowheads="1"/>
          </p:cNvSpPr>
          <p:nvPr/>
        </p:nvSpPr>
        <p:spPr bwMode="auto">
          <a:xfrm>
            <a:off x="5575939" y="1306186"/>
            <a:ext cx="3361690" cy="84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上升，导致NCO下降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6" name="Group 61"/>
          <p:cNvGrpSpPr/>
          <p:nvPr/>
        </p:nvGrpSpPr>
        <p:grpSpPr bwMode="auto">
          <a:xfrm>
            <a:off x="6850066" y="5966143"/>
            <a:ext cx="979488" cy="730250"/>
            <a:chOff x="4287" y="1678"/>
            <a:chExt cx="617" cy="460"/>
          </a:xfrm>
        </p:grpSpPr>
        <p:sp>
          <p:nvSpPr>
            <p:cNvPr id="57" name="Rectangle 62"/>
            <p:cNvSpPr>
              <a:spLocks noChangeArrowheads="1"/>
            </p:cNvSpPr>
            <p:nvPr/>
          </p:nvSpPr>
          <p:spPr bwMode="auto">
            <a:xfrm>
              <a:off x="4427" y="1916"/>
              <a:ext cx="477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5000"/>
                </a:lnSpc>
                <a:spcBef>
                  <a:spcPct val="50000"/>
                </a:spcBef>
              </a:pPr>
              <a:r>
                <a:rPr lang="en-US" sz="2200" i="1">
                  <a:latin typeface="Arial" panose="020B0604020202020204"/>
                  <a:cs typeface="Arial" panose="020B0604020202020204"/>
                </a:rPr>
                <a:t>NCO</a:t>
              </a:r>
              <a:r>
                <a:rPr lang="en-US" sz="22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  <p:sp>
          <p:nvSpPr>
            <p:cNvPr id="58" name="Arc 63"/>
            <p:cNvSpPr/>
            <p:nvPr/>
          </p:nvSpPr>
          <p:spPr bwMode="auto">
            <a:xfrm flipH="1" flipV="1">
              <a:off x="4287" y="1678"/>
              <a:ext cx="219" cy="310"/>
            </a:xfrm>
            <a:custGeom>
              <a:avLst/>
              <a:gdLst>
                <a:gd name="T0" fmla="*/ 0 w 19067"/>
                <a:gd name="T1" fmla="*/ 0 h 20680"/>
                <a:gd name="T2" fmla="*/ 0 w 19067"/>
                <a:gd name="T3" fmla="*/ 0 h 20680"/>
                <a:gd name="T4" fmla="*/ 0 w 19067"/>
                <a:gd name="T5" fmla="*/ 0 h 20680"/>
                <a:gd name="T6" fmla="*/ 0 60000 65536"/>
                <a:gd name="T7" fmla="*/ 0 60000 65536"/>
                <a:gd name="T8" fmla="*/ 0 60000 65536"/>
                <a:gd name="T9" fmla="*/ 0 w 19067"/>
                <a:gd name="T10" fmla="*/ 0 h 20680"/>
                <a:gd name="T11" fmla="*/ 19067 w 19067"/>
                <a:gd name="T12" fmla="*/ 20680 h 206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67" h="20680" fill="none" extrusionOk="0">
                  <a:moveTo>
                    <a:pt x="6236" y="0"/>
                  </a:moveTo>
                  <a:cubicBezTo>
                    <a:pt x="11745" y="1661"/>
                    <a:pt x="16363" y="5451"/>
                    <a:pt x="19066" y="10530"/>
                  </a:cubicBezTo>
                </a:path>
                <a:path w="19067" h="20680" stroke="0" extrusionOk="0">
                  <a:moveTo>
                    <a:pt x="6236" y="0"/>
                  </a:moveTo>
                  <a:cubicBezTo>
                    <a:pt x="11745" y="1661"/>
                    <a:pt x="16363" y="5451"/>
                    <a:pt x="19066" y="10530"/>
                  </a:cubicBezTo>
                  <a:lnTo>
                    <a:pt x="0" y="2068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9" name="Group 69"/>
          <p:cNvGrpSpPr/>
          <p:nvPr/>
        </p:nvGrpSpPr>
        <p:grpSpPr bwMode="auto">
          <a:xfrm>
            <a:off x="5551488" y="4107180"/>
            <a:ext cx="857250" cy="2684463"/>
            <a:chOff x="3446" y="2528"/>
            <a:chExt cx="540" cy="1691"/>
          </a:xfrm>
        </p:grpSpPr>
        <p:sp>
          <p:nvSpPr>
            <p:cNvPr id="60" name="Line 43"/>
            <p:cNvSpPr>
              <a:spLocks noChangeShapeType="1"/>
            </p:cNvSpPr>
            <p:nvPr/>
          </p:nvSpPr>
          <p:spPr bwMode="auto">
            <a:xfrm>
              <a:off x="3985" y="2528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61" name="Group 60"/>
            <p:cNvGrpSpPr/>
            <p:nvPr/>
          </p:nvGrpSpPr>
          <p:grpSpPr bwMode="auto">
            <a:xfrm>
              <a:off x="3446" y="3700"/>
              <a:ext cx="540" cy="519"/>
              <a:chOff x="3378" y="1693"/>
              <a:chExt cx="540" cy="519"/>
            </a:xfrm>
          </p:grpSpPr>
          <p:sp>
            <p:nvSpPr>
              <p:cNvPr id="62" name="Rectangle 61"/>
              <p:cNvSpPr>
                <a:spLocks noChangeArrowheads="1"/>
              </p:cNvSpPr>
              <p:nvPr/>
            </p:nvSpPr>
            <p:spPr bwMode="auto">
              <a:xfrm>
                <a:off x="3378" y="1932"/>
                <a:ext cx="477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91440">
                <a:spAutoFit/>
              </a:bodyPr>
              <a:lstStyle/>
              <a:p>
                <a:pPr>
                  <a:lnSpc>
                    <a:spcPct val="105000"/>
                  </a:lnSpc>
                  <a:spcBef>
                    <a:spcPct val="50000"/>
                  </a:spcBef>
                </a:pPr>
                <a:r>
                  <a:rPr lang="en-US" sz="2200" i="1">
                    <a:latin typeface="Arial" panose="020B0604020202020204"/>
                    <a:cs typeface="Arial" panose="020B0604020202020204"/>
                  </a:rPr>
                  <a:t>NCO</a:t>
                </a:r>
                <a:r>
                  <a:rPr lang="en-US" sz="2200" b="1" baseline="-25000">
                    <a:latin typeface="Arial" panose="020B0604020202020204"/>
                    <a:cs typeface="Arial" panose="020B0604020202020204"/>
                  </a:rPr>
                  <a:t>2</a:t>
                </a:r>
              </a:p>
            </p:txBody>
          </p:sp>
          <p:sp>
            <p:nvSpPr>
              <p:cNvPr id="63" name="Arc 66"/>
              <p:cNvSpPr/>
              <p:nvPr/>
            </p:nvSpPr>
            <p:spPr bwMode="auto">
              <a:xfrm flipV="1">
                <a:off x="3726" y="1693"/>
                <a:ext cx="192" cy="310"/>
              </a:xfrm>
              <a:custGeom>
                <a:avLst/>
                <a:gdLst>
                  <a:gd name="T0" fmla="*/ 0 w 19067"/>
                  <a:gd name="T1" fmla="*/ 0 h 20680"/>
                  <a:gd name="T2" fmla="*/ 0 w 19067"/>
                  <a:gd name="T3" fmla="*/ 0 h 20680"/>
                  <a:gd name="T4" fmla="*/ 0 w 19067"/>
                  <a:gd name="T5" fmla="*/ 0 h 20680"/>
                  <a:gd name="T6" fmla="*/ 0 60000 65536"/>
                  <a:gd name="T7" fmla="*/ 0 60000 65536"/>
                  <a:gd name="T8" fmla="*/ 0 60000 65536"/>
                  <a:gd name="T9" fmla="*/ 0 w 19067"/>
                  <a:gd name="T10" fmla="*/ 0 h 20680"/>
                  <a:gd name="T11" fmla="*/ 19067 w 19067"/>
                  <a:gd name="T12" fmla="*/ 20680 h 206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67" h="20680" fill="none" extrusionOk="0">
                    <a:moveTo>
                      <a:pt x="6236" y="0"/>
                    </a:moveTo>
                    <a:cubicBezTo>
                      <a:pt x="11745" y="1661"/>
                      <a:pt x="16363" y="5451"/>
                      <a:pt x="19066" y="10530"/>
                    </a:cubicBezTo>
                  </a:path>
                  <a:path w="19067" h="20680" stroke="0" extrusionOk="0">
                    <a:moveTo>
                      <a:pt x="6236" y="0"/>
                    </a:moveTo>
                    <a:cubicBezTo>
                      <a:pt x="11745" y="1661"/>
                      <a:pt x="16363" y="5451"/>
                      <a:pt x="19066" y="10530"/>
                    </a:cubicBezTo>
                    <a:lnTo>
                      <a:pt x="0" y="2068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561975" y="1191886"/>
            <a:ext cx="4619625" cy="114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lnSpc>
                <a:spcPct val="105000"/>
              </a:lnSpc>
              <a:spcBef>
                <a:spcPct val="25000"/>
              </a:spcBef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由于投资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激励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在任意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r值下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，投资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可贷资金需求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都增加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右移）。</a:t>
            </a:r>
            <a:endParaRPr lang="zh-CN" alt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pic>
        <p:nvPicPr>
          <p:cNvPr id="65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66" name="矩形 65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53" grpId="0" bldLvl="0" animBg="1"/>
      <p:bldP spid="54" grpId="0" bldLvl="0" animBg="1"/>
      <p:bldP spid="55" grpId="0" build="p"/>
      <p:bldP spid="64" grpId="0" build="p"/>
      <p:bldP spid="64" grpId="1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521653" y="1479552"/>
            <a:ext cx="3697922" cy="2172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NCO下降减少了外汇市场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本国货币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l" fontAlgn="auto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实际汇率升值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净出口减少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，贸易赤字扩大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6"/>
          <p:cNvGrpSpPr/>
          <p:nvPr/>
        </p:nvGrpSpPr>
        <p:grpSpPr bwMode="auto">
          <a:xfrm>
            <a:off x="6373813" y="2508250"/>
            <a:ext cx="1660525" cy="3421063"/>
            <a:chOff x="3927" y="1498"/>
            <a:chExt cx="1046" cy="2155"/>
          </a:xfrm>
        </p:grpSpPr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3927" y="1498"/>
              <a:ext cx="1046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50000"/>
                </a:spcBef>
              </a:pPr>
              <a:r>
                <a:rPr lang="en-US" sz="2400" i="1" smtClean="0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="1" baseline="-25000" smtClean="0">
                  <a:latin typeface="Arial" panose="020B0604020202020204"/>
                  <a:cs typeface="Arial" panose="020B0604020202020204"/>
                </a:rPr>
                <a:t>1</a:t>
              </a:r>
              <a:r>
                <a:rPr lang="en-US" sz="2400" smtClean="0">
                  <a:latin typeface="Arial" panose="020B0604020202020204"/>
                  <a:cs typeface="Arial" panose="020B0604020202020204"/>
                </a:rPr>
                <a:t>=</a:t>
              </a:r>
              <a:r>
                <a:rPr lang="en-US" sz="2400" i="1" smtClean="0">
                  <a:latin typeface="Arial" panose="020B0604020202020204"/>
                  <a:cs typeface="Arial" panose="020B0604020202020204"/>
                </a:rPr>
                <a:t>NCO</a:t>
              </a:r>
              <a:r>
                <a:rPr lang="en-US" sz="2400" b="1" baseline="-25000" smtClean="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V="1">
              <a:off x="3954" y="1662"/>
              <a:ext cx="0" cy="1991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9"/>
          <p:cNvGrpSpPr/>
          <p:nvPr/>
        </p:nvGrpSpPr>
        <p:grpSpPr bwMode="auto">
          <a:xfrm>
            <a:off x="4595813" y="2411413"/>
            <a:ext cx="3810000" cy="3940174"/>
            <a:chOff x="3003" y="1304"/>
            <a:chExt cx="2400" cy="2482"/>
          </a:xfrm>
        </p:grpSpPr>
        <p:grpSp>
          <p:nvGrpSpPr>
            <p:cNvPr id="11" name="Group 10"/>
            <p:cNvGrpSpPr/>
            <p:nvPr/>
          </p:nvGrpSpPr>
          <p:grpSpPr bwMode="auto">
            <a:xfrm>
              <a:off x="3135" y="1580"/>
              <a:ext cx="2135" cy="1938"/>
              <a:chOff x="1098" y="1361"/>
              <a:chExt cx="2116" cy="2027"/>
            </a:xfrm>
          </p:grpSpPr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2" name="Text Box 15"/>
            <p:cNvSpPr txBox="1">
              <a:spLocks noChangeArrowheads="1"/>
            </p:cNvSpPr>
            <p:nvPr/>
          </p:nvSpPr>
          <p:spPr bwMode="auto">
            <a:xfrm>
              <a:off x="3003" y="1304"/>
              <a:ext cx="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E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4604" y="3553"/>
              <a:ext cx="7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本国货币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4" name="Line 17"/>
          <p:cNvSpPr>
            <a:spLocks noChangeShapeType="1"/>
          </p:cNvSpPr>
          <p:nvPr/>
        </p:nvSpPr>
        <p:spPr bwMode="auto">
          <a:xfrm>
            <a:off x="5168900" y="3054350"/>
            <a:ext cx="2339975" cy="20447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7446963" y="4940300"/>
            <a:ext cx="1212850" cy="45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lang="en-US" sz="2400" i="1" smtClean="0">
                <a:latin typeface="Arial" panose="020B0604020202020204"/>
                <a:cs typeface="Arial" panose="020B0604020202020204"/>
              </a:rPr>
              <a:t>D</a:t>
            </a:r>
            <a:r>
              <a:rPr lang="en-US" sz="2400" smtClean="0">
                <a:latin typeface="Arial" panose="020B0604020202020204"/>
                <a:cs typeface="Arial" panose="020B0604020202020204"/>
              </a:rPr>
              <a:t>=</a:t>
            </a:r>
            <a:r>
              <a:rPr lang="en-US" sz="2400" i="1" smtClean="0">
                <a:latin typeface="Arial" panose="020B0604020202020204"/>
                <a:cs typeface="Arial" panose="020B0604020202020204"/>
              </a:rPr>
              <a:t>NX</a:t>
            </a:r>
            <a:endParaRPr lang="en-US" sz="2400" b="1" baseline="-25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Group 17"/>
          <p:cNvGrpSpPr/>
          <p:nvPr/>
        </p:nvGrpSpPr>
        <p:grpSpPr bwMode="auto">
          <a:xfrm>
            <a:off x="4362450" y="3946530"/>
            <a:ext cx="2116138" cy="369888"/>
            <a:chOff x="2657" y="2404"/>
            <a:chExt cx="1333" cy="233"/>
          </a:xfrm>
        </p:grpSpPr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2657" y="2404"/>
              <a:ext cx="2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E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H="1">
              <a:off x="2940" y="2529"/>
              <a:ext cx="10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" name="Oval 20"/>
            <p:cNvSpPr>
              <a:spLocks noChangeAspect="1" noChangeArrowheads="1"/>
            </p:cNvSpPr>
            <p:nvPr/>
          </p:nvSpPr>
          <p:spPr bwMode="auto">
            <a:xfrm>
              <a:off x="3909" y="2489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3" name="Group 21"/>
          <p:cNvGrpSpPr/>
          <p:nvPr/>
        </p:nvGrpSpPr>
        <p:grpSpPr bwMode="auto">
          <a:xfrm>
            <a:off x="5476875" y="1874838"/>
            <a:ext cx="1660525" cy="4051300"/>
            <a:chOff x="3558" y="966"/>
            <a:chExt cx="1046" cy="2552"/>
          </a:xfrm>
        </p:grpSpPr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3700" y="1527"/>
              <a:ext cx="0" cy="199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25" name="Group 23"/>
            <p:cNvGrpSpPr/>
            <p:nvPr/>
          </p:nvGrpSpPr>
          <p:grpSpPr bwMode="auto">
            <a:xfrm>
              <a:off x="3558" y="966"/>
              <a:ext cx="1046" cy="515"/>
              <a:chOff x="3362" y="1099"/>
              <a:chExt cx="1046" cy="515"/>
            </a:xfrm>
          </p:grpSpPr>
          <p:sp>
            <p:nvSpPr>
              <p:cNvPr id="26" name="Text Box 26"/>
              <p:cNvSpPr txBox="1">
                <a:spLocks noChangeArrowheads="1"/>
              </p:cNvSpPr>
              <p:nvPr/>
            </p:nvSpPr>
            <p:spPr bwMode="auto">
              <a:xfrm>
                <a:off x="3362" y="1099"/>
                <a:ext cx="1046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5000"/>
                  </a:lnSpc>
                  <a:spcBef>
                    <a:spcPct val="50000"/>
                  </a:spcBef>
                </a:pPr>
                <a:r>
                  <a:rPr lang="en-US" sz="2400" i="1" smtClean="0">
                    <a:latin typeface="Arial" panose="020B0604020202020204"/>
                    <a:cs typeface="Arial" panose="020B0604020202020204"/>
                  </a:rPr>
                  <a:t>S</a:t>
                </a:r>
                <a:r>
                  <a:rPr lang="en-US" sz="2400" b="1" baseline="-25000" smtClean="0">
                    <a:latin typeface="Arial" panose="020B0604020202020204"/>
                    <a:cs typeface="Arial" panose="020B0604020202020204"/>
                  </a:rPr>
                  <a:t>2</a:t>
                </a:r>
                <a:r>
                  <a:rPr lang="en-US" sz="2400" smtClean="0">
                    <a:latin typeface="Arial" panose="020B0604020202020204"/>
                    <a:cs typeface="Arial" panose="020B0604020202020204"/>
                  </a:rPr>
                  <a:t>=</a:t>
                </a:r>
                <a:r>
                  <a:rPr lang="en-US" sz="2400" i="1" smtClean="0">
                    <a:latin typeface="Arial" panose="020B0604020202020204"/>
                    <a:cs typeface="Arial" panose="020B0604020202020204"/>
                  </a:rPr>
                  <a:t>NCO</a:t>
                </a:r>
                <a:r>
                  <a:rPr lang="en-US" sz="2400" b="1" baseline="-25000" smtClean="0"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7" name="Line 27"/>
              <p:cNvSpPr>
                <a:spLocks noChangeShapeType="1"/>
              </p:cNvSpPr>
              <p:nvPr/>
            </p:nvSpPr>
            <p:spPr bwMode="auto">
              <a:xfrm flipV="1">
                <a:off x="3507" y="137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28" name="Line 28"/>
          <p:cNvSpPr>
            <a:spLocks noChangeShapeType="1"/>
          </p:cNvSpPr>
          <p:nvPr/>
        </p:nvSpPr>
        <p:spPr bwMode="auto">
          <a:xfrm rot="16200000" flipV="1">
            <a:off x="6047582" y="5506243"/>
            <a:ext cx="0" cy="588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 flipV="1">
            <a:off x="4908550" y="3556000"/>
            <a:ext cx="0" cy="554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0" name="Group 28"/>
          <p:cNvGrpSpPr/>
          <p:nvPr/>
        </p:nvGrpSpPr>
        <p:grpSpPr bwMode="auto">
          <a:xfrm>
            <a:off x="4367213" y="3327404"/>
            <a:ext cx="1397000" cy="369888"/>
            <a:chOff x="2663" y="2014"/>
            <a:chExt cx="880" cy="233"/>
          </a:xfrm>
        </p:grpSpPr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2663" y="2014"/>
              <a:ext cx="2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E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2943" y="2136"/>
              <a:ext cx="56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3" name="Oval 31"/>
            <p:cNvSpPr>
              <a:spLocks noChangeAspect="1" noChangeArrowheads="1"/>
            </p:cNvSpPr>
            <p:nvPr/>
          </p:nvSpPr>
          <p:spPr bwMode="auto">
            <a:xfrm>
              <a:off x="3462" y="2093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5345113" y="1338263"/>
            <a:ext cx="249237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外汇市场</a:t>
            </a:r>
          </a:p>
        </p:txBody>
      </p:sp>
      <p:pic>
        <p:nvPicPr>
          <p:cNvPr id="35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36" name="矩形 35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5181" y="1204595"/>
            <a:ext cx="8283575" cy="50937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1" indent="-34290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赤字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投资激励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34290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鼓励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投资的税收激励政策与预算赤字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1257300" lvl="2" indent="-342900">
              <a:lnSpc>
                <a:spcPts val="4000"/>
              </a:lnSpc>
              <a:buSzPct val="100000"/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r上升，NCO下降</a:t>
            </a:r>
          </a:p>
          <a:p>
            <a:pPr marL="1257300" lvl="2" indent="-342900">
              <a:lnSpc>
                <a:spcPts val="4000"/>
              </a:lnSpc>
              <a:buSzPct val="100000"/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E上升，NX下降</a:t>
            </a:r>
          </a:p>
          <a:p>
            <a:pPr marL="800100" lvl="2" indent="-3429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但两者间有一个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重要区别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1257300" lvl="2" indent="-34290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长远来看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税收激励政策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增加了投资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提高了生产率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生活水平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257300" lvl="2" indent="-34290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预算赤字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减少了投资，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降低了生产率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生活水平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7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8" name="矩形 7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市场和外汇市场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0695" y="1223645"/>
            <a:ext cx="8283575" cy="46320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1" indent="-342900">
              <a:lnSpc>
                <a:spcPts val="3800"/>
              </a:lnSpc>
              <a:spcBef>
                <a:spcPts val="1200"/>
              </a:spcBef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前面我们讲了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国内预算赤字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投资税收激励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对利率、汇率和外贸的影响。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ts val="3800"/>
              </a:lnSpc>
              <a:spcBef>
                <a:spcPts val="1200"/>
              </a:spcBef>
              <a:buFont typeface="Wingdings" panose="05000000000000000000" charset="0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贸易政策：直接影响一国商品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和服务进出口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数量的政策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限制性的贸易政策一般包括：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 fontAlgn="auto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：对进口的商品和服务征收关税（导致进口商品和服务的价格提高，进口量减少）</a:t>
            </a:r>
            <a:endParaRPr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 fontAlgn="auto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进口配额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对进口数量的限制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 fontAlgn="auto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自动出口限制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施加压力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本国的出口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基本上与进口配额相同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8" name="矩形 7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贸易政策对利率、汇率和外贸的影响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3070" y="1219200"/>
            <a:ext cx="8283575" cy="37240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1" indent="-342900" algn="l"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限制进口贸易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一是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减少贸易赤字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二是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保住本国某些行业的工作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岗位。</a:t>
            </a:r>
          </a:p>
          <a:p>
            <a:pPr marL="342900" lvl="1" indent="-342900" algn="l"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：限制进口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贸易政策能实现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如上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目标吗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 marL="342900" lvl="1" indent="-342900" algn="l"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：本国实施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“汽车进口配额”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贸易政策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目的在于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挽救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汽车行业的就业机会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贸易政策对利率、汇率和外贸的影响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pSp>
        <p:nvGrpSpPr>
          <p:cNvPr id="31748" name="Group 2"/>
          <p:cNvGrpSpPr/>
          <p:nvPr/>
        </p:nvGrpSpPr>
        <p:grpSpPr bwMode="auto">
          <a:xfrm>
            <a:off x="1116013" y="3657283"/>
            <a:ext cx="2578100" cy="2119312"/>
            <a:chOff x="3678" y="1961"/>
            <a:chExt cx="1289" cy="1153"/>
          </a:xfrm>
        </p:grpSpPr>
        <p:sp>
          <p:nvSpPr>
            <p:cNvPr id="31783" name="Line 3"/>
            <p:cNvSpPr>
              <a:spLocks noChangeShapeType="1"/>
            </p:cNvSpPr>
            <p:nvPr/>
          </p:nvSpPr>
          <p:spPr bwMode="auto">
            <a:xfrm>
              <a:off x="3678" y="1961"/>
              <a:ext cx="991" cy="97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4" name="Text Box 4"/>
            <p:cNvSpPr txBox="1">
              <a:spLocks noChangeArrowheads="1"/>
            </p:cNvSpPr>
            <p:nvPr/>
          </p:nvSpPr>
          <p:spPr bwMode="auto">
            <a:xfrm>
              <a:off x="4624" y="2865"/>
              <a:ext cx="343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D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144389" name="Text Box 5"/>
          <p:cNvSpPr txBox="1">
            <a:spLocks noChangeArrowheads="1"/>
          </p:cNvSpPr>
          <p:nvPr/>
        </p:nvSpPr>
        <p:spPr bwMode="auto">
          <a:xfrm>
            <a:off x="447676" y="1107121"/>
            <a:ext cx="8239124" cy="10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-457200" algn="just" eaLnBrk="1" hangingPunct="1">
              <a:lnSpc>
                <a:spcPts val="3800"/>
              </a:lnSpc>
              <a:spcBef>
                <a:spcPct val="40000"/>
              </a:spcBef>
              <a:buClr>
                <a:schemeClr val="tx2"/>
              </a:buClr>
              <a:buSzPct val="12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进口配额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不影响储蓄或投资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也保持不变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31751" name="Group 7"/>
          <p:cNvGrpSpPr/>
          <p:nvPr/>
        </p:nvGrpSpPr>
        <p:grpSpPr bwMode="auto">
          <a:xfrm>
            <a:off x="4919663" y="2704783"/>
            <a:ext cx="3905250" cy="3749675"/>
            <a:chOff x="3148" y="1437"/>
            <a:chExt cx="2460" cy="2362"/>
          </a:xfrm>
        </p:grpSpPr>
        <p:grpSp>
          <p:nvGrpSpPr>
            <p:cNvPr id="31778" name="Group 8"/>
            <p:cNvGrpSpPr/>
            <p:nvPr/>
          </p:nvGrpSpPr>
          <p:grpSpPr bwMode="auto">
            <a:xfrm>
              <a:off x="3247" y="1713"/>
              <a:ext cx="1828" cy="1938"/>
              <a:chOff x="1098" y="1361"/>
              <a:chExt cx="2116" cy="2027"/>
            </a:xfrm>
          </p:grpSpPr>
          <p:sp>
            <p:nvSpPr>
              <p:cNvPr id="31781" name="Line 9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82" name="Line 10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79" name="Text Box 11"/>
            <p:cNvSpPr txBox="1">
              <a:spLocks noChangeArrowheads="1"/>
            </p:cNvSpPr>
            <p:nvPr/>
          </p:nvSpPr>
          <p:spPr bwMode="auto">
            <a:xfrm>
              <a:off x="3148" y="1437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r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31780" name="Text Box 12"/>
            <p:cNvSpPr txBox="1">
              <a:spLocks noChangeArrowheads="1"/>
            </p:cNvSpPr>
            <p:nvPr/>
          </p:nvSpPr>
          <p:spPr bwMode="auto">
            <a:xfrm>
              <a:off x="5040" y="3511"/>
              <a:ext cx="5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NCO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31752" name="Group 49"/>
          <p:cNvGrpSpPr/>
          <p:nvPr/>
        </p:nvGrpSpPr>
        <p:grpSpPr bwMode="auto">
          <a:xfrm>
            <a:off x="5727700" y="3485833"/>
            <a:ext cx="2463800" cy="2424112"/>
            <a:chOff x="3615" y="2083"/>
            <a:chExt cx="1552" cy="1527"/>
          </a:xfrm>
        </p:grpSpPr>
        <p:sp>
          <p:nvSpPr>
            <p:cNvPr id="31776" name="Line 13"/>
            <p:cNvSpPr>
              <a:spLocks noChangeShapeType="1"/>
            </p:cNvSpPr>
            <p:nvPr/>
          </p:nvSpPr>
          <p:spPr bwMode="auto">
            <a:xfrm>
              <a:off x="3615" y="2083"/>
              <a:ext cx="991" cy="129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7" name="Text Box 14"/>
            <p:cNvSpPr txBox="1">
              <a:spLocks noChangeArrowheads="1"/>
            </p:cNvSpPr>
            <p:nvPr/>
          </p:nvSpPr>
          <p:spPr bwMode="auto">
            <a:xfrm>
              <a:off x="4533" y="3322"/>
              <a:ext cx="6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NCO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31753" name="Text Box 18"/>
          <p:cNvSpPr txBox="1">
            <a:spLocks noChangeArrowheads="1"/>
          </p:cNvSpPr>
          <p:nvPr/>
        </p:nvSpPr>
        <p:spPr bwMode="auto">
          <a:xfrm>
            <a:off x="5253038" y="2581275"/>
            <a:ext cx="29765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资本净流出</a:t>
            </a:r>
          </a:p>
        </p:txBody>
      </p:sp>
      <p:grpSp>
        <p:nvGrpSpPr>
          <p:cNvPr id="31754" name="Group 19"/>
          <p:cNvGrpSpPr/>
          <p:nvPr/>
        </p:nvGrpSpPr>
        <p:grpSpPr bwMode="auto">
          <a:xfrm>
            <a:off x="649288" y="2701608"/>
            <a:ext cx="3830637" cy="3749675"/>
            <a:chOff x="458" y="1435"/>
            <a:chExt cx="2413" cy="2362"/>
          </a:xfrm>
        </p:grpSpPr>
        <p:grpSp>
          <p:nvGrpSpPr>
            <p:cNvPr id="31771" name="Group 20"/>
            <p:cNvGrpSpPr/>
            <p:nvPr/>
          </p:nvGrpSpPr>
          <p:grpSpPr bwMode="auto">
            <a:xfrm>
              <a:off x="565" y="1711"/>
              <a:ext cx="1964" cy="1938"/>
              <a:chOff x="1098" y="1361"/>
              <a:chExt cx="2116" cy="2027"/>
            </a:xfrm>
          </p:grpSpPr>
          <p:sp>
            <p:nvSpPr>
              <p:cNvPr id="31774" name="Line 21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5" name="Line 22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72" name="Text Box 23"/>
            <p:cNvSpPr txBox="1">
              <a:spLocks noChangeArrowheads="1"/>
            </p:cNvSpPr>
            <p:nvPr/>
          </p:nvSpPr>
          <p:spPr bwMode="auto">
            <a:xfrm>
              <a:off x="458" y="1435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r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31773" name="Text Box 24"/>
            <p:cNvSpPr txBox="1">
              <a:spLocks noChangeArrowheads="1"/>
            </p:cNvSpPr>
            <p:nvPr/>
          </p:nvSpPr>
          <p:spPr bwMode="auto">
            <a:xfrm>
              <a:off x="2497" y="3509"/>
              <a:ext cx="3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LF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31755" name="Group 25"/>
          <p:cNvGrpSpPr/>
          <p:nvPr/>
        </p:nvGrpSpPr>
        <p:grpSpPr bwMode="auto">
          <a:xfrm>
            <a:off x="1616075" y="3223895"/>
            <a:ext cx="1833563" cy="2662238"/>
            <a:chOff x="1025" y="1764"/>
            <a:chExt cx="1155" cy="1677"/>
          </a:xfrm>
        </p:grpSpPr>
        <p:sp>
          <p:nvSpPr>
            <p:cNvPr id="31769" name="Line 26"/>
            <p:cNvSpPr>
              <a:spLocks noChangeShapeType="1"/>
            </p:cNvSpPr>
            <p:nvPr/>
          </p:nvSpPr>
          <p:spPr bwMode="auto">
            <a:xfrm flipV="1">
              <a:off x="1025" y="2001"/>
              <a:ext cx="904" cy="144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0" name="Text Box 27"/>
            <p:cNvSpPr txBox="1">
              <a:spLocks noChangeArrowheads="1"/>
            </p:cNvSpPr>
            <p:nvPr/>
          </p:nvSpPr>
          <p:spPr bwMode="auto">
            <a:xfrm>
              <a:off x="1856" y="1764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S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31756" name="Text Box 30"/>
          <p:cNvSpPr txBox="1">
            <a:spLocks noChangeArrowheads="1"/>
          </p:cNvSpPr>
          <p:nvPr/>
        </p:nvSpPr>
        <p:spPr bwMode="auto">
          <a:xfrm>
            <a:off x="1315085" y="2581275"/>
            <a:ext cx="2430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可贷资金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7" name="Line 31"/>
          <p:cNvSpPr>
            <a:spLocks noChangeShapeType="1"/>
          </p:cNvSpPr>
          <p:nvPr/>
        </p:nvSpPr>
        <p:spPr bwMode="auto">
          <a:xfrm>
            <a:off x="349250" y="2340293"/>
            <a:ext cx="8597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58" name="Group 51"/>
          <p:cNvGrpSpPr/>
          <p:nvPr/>
        </p:nvGrpSpPr>
        <p:grpSpPr bwMode="auto">
          <a:xfrm>
            <a:off x="401638" y="4549458"/>
            <a:ext cx="4303712" cy="365125"/>
            <a:chOff x="260" y="2753"/>
            <a:chExt cx="2711" cy="230"/>
          </a:xfrm>
        </p:grpSpPr>
        <p:sp>
          <p:nvSpPr>
            <p:cNvPr id="31765" name="Text Box 28"/>
            <p:cNvSpPr txBox="1">
              <a:spLocks noChangeArrowheads="1"/>
            </p:cNvSpPr>
            <p:nvPr/>
          </p:nvSpPr>
          <p:spPr bwMode="auto">
            <a:xfrm>
              <a:off x="260" y="2753"/>
              <a:ext cx="24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r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1766" name="Oval 29"/>
            <p:cNvSpPr>
              <a:spLocks noChangeAspect="1" noChangeArrowheads="1"/>
            </p:cNvSpPr>
            <p:nvPr/>
          </p:nvSpPr>
          <p:spPr bwMode="auto">
            <a:xfrm>
              <a:off x="1434" y="2834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31767" name="Line 32"/>
            <p:cNvSpPr>
              <a:spLocks noChangeShapeType="1"/>
            </p:cNvSpPr>
            <p:nvPr/>
          </p:nvSpPr>
          <p:spPr bwMode="auto">
            <a:xfrm flipH="1">
              <a:off x="525" y="2878"/>
              <a:ext cx="9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Line 42"/>
            <p:cNvSpPr>
              <a:spLocks noChangeShapeType="1"/>
            </p:cNvSpPr>
            <p:nvPr/>
          </p:nvSpPr>
          <p:spPr bwMode="auto">
            <a:xfrm>
              <a:off x="1478" y="2877"/>
              <a:ext cx="14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9" name="Group 50"/>
          <p:cNvGrpSpPr/>
          <p:nvPr/>
        </p:nvGrpSpPr>
        <p:grpSpPr bwMode="auto">
          <a:xfrm>
            <a:off x="4710113" y="4549458"/>
            <a:ext cx="2046287" cy="1670050"/>
            <a:chOff x="2974" y="2753"/>
            <a:chExt cx="1289" cy="1052"/>
          </a:xfrm>
        </p:grpSpPr>
        <p:sp>
          <p:nvSpPr>
            <p:cNvPr id="31761" name="Text Box 15"/>
            <p:cNvSpPr txBox="1">
              <a:spLocks noChangeArrowheads="1"/>
            </p:cNvSpPr>
            <p:nvPr/>
          </p:nvSpPr>
          <p:spPr bwMode="auto">
            <a:xfrm>
              <a:off x="2974" y="2753"/>
              <a:ext cx="197" cy="23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r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1762" name="Line 16"/>
            <p:cNvSpPr>
              <a:spLocks noChangeShapeType="1"/>
            </p:cNvSpPr>
            <p:nvPr/>
          </p:nvSpPr>
          <p:spPr bwMode="auto">
            <a:xfrm flipH="1">
              <a:off x="3211" y="2878"/>
              <a:ext cx="10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3" name="Oval 17"/>
            <p:cNvSpPr>
              <a:spLocks noChangeAspect="1" noChangeArrowheads="1"/>
            </p:cNvSpPr>
            <p:nvPr/>
          </p:nvSpPr>
          <p:spPr bwMode="auto">
            <a:xfrm>
              <a:off x="4182" y="2836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31764" name="Line 44"/>
            <p:cNvSpPr>
              <a:spLocks noChangeShapeType="1"/>
            </p:cNvSpPr>
            <p:nvPr/>
          </p:nvSpPr>
          <p:spPr bwMode="auto">
            <a:xfrm>
              <a:off x="4221" y="2875"/>
              <a:ext cx="0" cy="9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0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41" name="矩形 40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贸易政策对利率、汇率和外贸的影响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95250" y="1368108"/>
            <a:ext cx="4391025" cy="4978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342900" algn="l" fontAlgn="auto">
              <a:lnSpc>
                <a:spcPts val="33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即外汇市场的本国货币供给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indent="-342900">
              <a:lnSpc>
                <a:spcPts val="33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限制进口导致净出口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增加，本国货币需求增加，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发生右移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1" indent="-342900">
              <a:lnSpc>
                <a:spcPts val="33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在点E</a:t>
            </a:r>
            <a:r>
              <a:rPr sz="2400" baseline="-25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外汇市场存在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本国货币的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过度需求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会上升至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新均衡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sz="2400" baseline="-25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1143000" lvl="1" indent="-342900">
              <a:lnSpc>
                <a:spcPts val="33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本国商品总体变得更加昂贵。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59" name="Line 59"/>
          <p:cNvSpPr>
            <a:spLocks noChangeShapeType="1"/>
          </p:cNvSpPr>
          <p:nvPr/>
        </p:nvSpPr>
        <p:spPr bwMode="auto">
          <a:xfrm rot="5400000" flipV="1">
            <a:off x="6942138" y="3822675"/>
            <a:ext cx="0" cy="731837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0" name="Line 60"/>
          <p:cNvSpPr>
            <a:spLocks noChangeShapeType="1"/>
          </p:cNvSpPr>
          <p:nvPr/>
        </p:nvSpPr>
        <p:spPr bwMode="auto">
          <a:xfrm flipV="1">
            <a:off x="4889500" y="3228975"/>
            <a:ext cx="0" cy="811213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77"/>
          <p:cNvGrpSpPr/>
          <p:nvPr/>
        </p:nvGrpSpPr>
        <p:grpSpPr bwMode="auto">
          <a:xfrm>
            <a:off x="4343400" y="1412056"/>
            <a:ext cx="4387850" cy="4705351"/>
            <a:chOff x="2730" y="878"/>
            <a:chExt cx="2764" cy="2964"/>
          </a:xfrm>
        </p:grpSpPr>
        <p:grpSp>
          <p:nvGrpSpPr>
            <p:cNvPr id="32785" name="Group 76"/>
            <p:cNvGrpSpPr/>
            <p:nvPr/>
          </p:nvGrpSpPr>
          <p:grpSpPr bwMode="auto">
            <a:xfrm>
              <a:off x="2730" y="1350"/>
              <a:ext cx="2764" cy="2492"/>
              <a:chOff x="2730" y="1350"/>
              <a:chExt cx="2764" cy="2492"/>
            </a:xfrm>
          </p:grpSpPr>
          <p:grpSp>
            <p:nvGrpSpPr>
              <p:cNvPr id="32787" name="Group 68"/>
              <p:cNvGrpSpPr/>
              <p:nvPr/>
            </p:nvGrpSpPr>
            <p:grpSpPr bwMode="auto">
              <a:xfrm>
                <a:off x="3948" y="1350"/>
                <a:ext cx="824" cy="2226"/>
                <a:chOff x="3920" y="1462"/>
                <a:chExt cx="824" cy="2226"/>
              </a:xfrm>
            </p:grpSpPr>
            <p:sp>
              <p:nvSpPr>
                <p:cNvPr id="32801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920" y="1462"/>
                  <a:ext cx="824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5000"/>
                    </a:lnSpc>
                    <a:spcBef>
                      <a:spcPct val="50000"/>
                    </a:spcBef>
                  </a:pPr>
                  <a:r>
                    <a:rPr lang="en-US" sz="2400" i="1" smtClean="0">
                      <a:cs typeface="Arial" panose="020B0604020202020204" pitchFamily="34" charset="0"/>
                    </a:rPr>
                    <a:t>S</a:t>
                  </a:r>
                  <a:r>
                    <a:rPr lang="en-US" sz="2400" smtClean="0">
                      <a:cs typeface="Arial" panose="020B0604020202020204" pitchFamily="34" charset="0"/>
                    </a:rPr>
                    <a:t>=</a:t>
                  </a:r>
                  <a:r>
                    <a:rPr lang="en-US" sz="2400" i="1" smtClean="0">
                      <a:cs typeface="Arial" panose="020B0604020202020204" pitchFamily="34" charset="0"/>
                    </a:rPr>
                    <a:t>NCO</a:t>
                  </a:r>
                  <a:endParaRPr lang="en-US" sz="2400" b="1" baseline="-250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802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996" y="1697"/>
                  <a:ext cx="0" cy="1991"/>
                </a:xfrm>
                <a:prstGeom prst="line">
                  <a:avLst/>
                </a:prstGeom>
                <a:noFill/>
                <a:ln w="38100">
                  <a:solidFill>
                    <a:srgbClr val="00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2788" name="Group 69"/>
              <p:cNvGrpSpPr/>
              <p:nvPr/>
            </p:nvGrpSpPr>
            <p:grpSpPr bwMode="auto">
              <a:xfrm>
                <a:off x="2877" y="1360"/>
                <a:ext cx="2617" cy="2482"/>
                <a:chOff x="2758" y="1472"/>
                <a:chExt cx="2617" cy="2482"/>
              </a:xfrm>
            </p:grpSpPr>
            <p:grpSp>
              <p:nvGrpSpPr>
                <p:cNvPr id="32796" name="Group 43"/>
                <p:cNvGrpSpPr/>
                <p:nvPr/>
              </p:nvGrpSpPr>
              <p:grpSpPr bwMode="auto">
                <a:xfrm>
                  <a:off x="2890" y="1748"/>
                  <a:ext cx="2417" cy="1938"/>
                  <a:chOff x="1098" y="1361"/>
                  <a:chExt cx="2116" cy="2027"/>
                </a:xfrm>
              </p:grpSpPr>
              <p:sp>
                <p:nvSpPr>
                  <p:cNvPr id="32799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1102" y="1361"/>
                    <a:ext cx="0" cy="202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2800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1098" y="3388"/>
                    <a:ext cx="211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2797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758" y="1472"/>
                  <a:ext cx="26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sz="2400" b="1" i="1">
                      <a:cs typeface="Arial" panose="020B0604020202020204" pitchFamily="34" charset="0"/>
                    </a:rPr>
                    <a:t>E</a:t>
                  </a:r>
                  <a:endParaRPr lang="en-US" sz="2400" baseline="-250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798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4469" y="3721"/>
                  <a:ext cx="906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zh-CN" altLang="en-US" sz="240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本国货币</a:t>
                  </a:r>
                  <a:endParaRPr lang="en-US" sz="2400" baseline="-250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2789" name="Group 74"/>
              <p:cNvGrpSpPr/>
              <p:nvPr/>
            </p:nvGrpSpPr>
            <p:grpSpPr bwMode="auto">
              <a:xfrm>
                <a:off x="3238" y="1891"/>
                <a:ext cx="1771" cy="1515"/>
                <a:chOff x="3133" y="1891"/>
                <a:chExt cx="1771" cy="1515"/>
              </a:xfrm>
            </p:grpSpPr>
            <p:sp>
              <p:nvSpPr>
                <p:cNvPr id="32794" name="Line 48"/>
                <p:cNvSpPr>
                  <a:spLocks noChangeShapeType="1"/>
                </p:cNvSpPr>
                <p:nvPr/>
              </p:nvSpPr>
              <p:spPr bwMode="auto">
                <a:xfrm>
                  <a:off x="3133" y="1891"/>
                  <a:ext cx="1474" cy="1288"/>
                </a:xfrm>
                <a:prstGeom prst="line">
                  <a:avLst/>
                </a:prstGeom>
                <a:noFill/>
                <a:ln w="38100">
                  <a:solidFill>
                    <a:srgbClr val="00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95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4617" y="3135"/>
                  <a:ext cx="28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5000"/>
                    </a:lnSpc>
                    <a:spcBef>
                      <a:spcPct val="50000"/>
                    </a:spcBef>
                  </a:pPr>
                  <a:r>
                    <a:rPr lang="en-US" sz="2400" i="1">
                      <a:cs typeface="Arial" panose="020B0604020202020204" pitchFamily="34" charset="0"/>
                    </a:rPr>
                    <a:t>D</a:t>
                  </a:r>
                  <a:r>
                    <a:rPr lang="en-US" sz="2400" b="1" baseline="-25000">
                      <a:cs typeface="Arial" panose="020B0604020202020204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32790" name="Group 50"/>
              <p:cNvGrpSpPr/>
              <p:nvPr/>
            </p:nvGrpSpPr>
            <p:grpSpPr bwMode="auto">
              <a:xfrm>
                <a:off x="2730" y="2453"/>
                <a:ext cx="1333" cy="230"/>
                <a:chOff x="2657" y="2404"/>
                <a:chExt cx="1333" cy="230"/>
              </a:xfrm>
            </p:grpSpPr>
            <p:sp>
              <p:nvSpPr>
                <p:cNvPr id="32791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657" y="2404"/>
                  <a:ext cx="257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sz="2400" b="1" i="1">
                      <a:cs typeface="Arial" panose="020B0604020202020204" pitchFamily="34" charset="0"/>
                    </a:rPr>
                    <a:t>E</a:t>
                  </a:r>
                  <a:r>
                    <a:rPr lang="en-US" sz="2400" b="1" baseline="-25000"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2792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2940" y="2529"/>
                  <a:ext cx="101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93" name="Oval 53"/>
                <p:cNvSpPr>
                  <a:spLocks noChangeAspect="1" noChangeArrowheads="1"/>
                </p:cNvSpPr>
                <p:nvPr/>
              </p:nvSpPr>
              <p:spPr bwMode="auto">
                <a:xfrm>
                  <a:off x="3909" y="2489"/>
                  <a:ext cx="81" cy="8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2786" name="Text Box 65"/>
            <p:cNvSpPr txBox="1">
              <a:spLocks noChangeArrowheads="1"/>
            </p:cNvSpPr>
            <p:nvPr/>
          </p:nvSpPr>
          <p:spPr bwMode="auto">
            <a:xfrm>
              <a:off x="3141" y="878"/>
              <a:ext cx="1875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外汇市场</a:t>
              </a:r>
            </a:p>
          </p:txBody>
        </p:sp>
      </p:grpSp>
      <p:grpSp>
        <p:nvGrpSpPr>
          <p:cNvPr id="9" name="Group 75"/>
          <p:cNvGrpSpPr/>
          <p:nvPr/>
        </p:nvGrpSpPr>
        <p:grpSpPr bwMode="auto">
          <a:xfrm>
            <a:off x="5681663" y="2598738"/>
            <a:ext cx="2524125" cy="2163762"/>
            <a:chOff x="3474" y="1658"/>
            <a:chExt cx="1590" cy="1363"/>
          </a:xfrm>
        </p:grpSpPr>
        <p:sp>
          <p:nvSpPr>
            <p:cNvPr id="32783" name="Line 66"/>
            <p:cNvSpPr>
              <a:spLocks noChangeShapeType="1"/>
            </p:cNvSpPr>
            <p:nvPr/>
          </p:nvSpPr>
          <p:spPr bwMode="auto">
            <a:xfrm>
              <a:off x="3474" y="1658"/>
              <a:ext cx="1301" cy="113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Text Box 67"/>
            <p:cNvSpPr txBox="1">
              <a:spLocks noChangeArrowheads="1"/>
            </p:cNvSpPr>
            <p:nvPr/>
          </p:nvSpPr>
          <p:spPr bwMode="auto">
            <a:xfrm>
              <a:off x="4778" y="2750"/>
              <a:ext cx="28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D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4" name="Group 73"/>
          <p:cNvGrpSpPr/>
          <p:nvPr/>
        </p:nvGrpSpPr>
        <p:grpSpPr bwMode="auto">
          <a:xfrm>
            <a:off x="4333875" y="3017838"/>
            <a:ext cx="2117725" cy="365125"/>
            <a:chOff x="2611" y="2034"/>
            <a:chExt cx="1334" cy="230"/>
          </a:xfrm>
        </p:grpSpPr>
        <p:sp>
          <p:nvSpPr>
            <p:cNvPr id="32780" name="Text Box 62"/>
            <p:cNvSpPr txBox="1">
              <a:spLocks noChangeArrowheads="1"/>
            </p:cNvSpPr>
            <p:nvPr/>
          </p:nvSpPr>
          <p:spPr bwMode="auto">
            <a:xfrm>
              <a:off x="2611" y="2034"/>
              <a:ext cx="25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E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2781" name="Line 72"/>
            <p:cNvSpPr>
              <a:spLocks noChangeShapeType="1"/>
            </p:cNvSpPr>
            <p:nvPr/>
          </p:nvSpPr>
          <p:spPr bwMode="auto">
            <a:xfrm flipH="1">
              <a:off x="2892" y="2154"/>
              <a:ext cx="10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Oval 64"/>
            <p:cNvSpPr>
              <a:spLocks noChangeAspect="1" noChangeArrowheads="1"/>
            </p:cNvSpPr>
            <p:nvPr/>
          </p:nvSpPr>
          <p:spPr bwMode="auto">
            <a:xfrm>
              <a:off x="3864" y="2115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pic>
        <p:nvPicPr>
          <p:cNvPr id="34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35" name="矩形 34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贸易政策对利率、汇率和外贸的影响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9" grpId="0" bldLvl="0" animBg="1"/>
      <p:bldP spid="204860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906" y="6496070"/>
            <a:ext cx="1495513" cy="28853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2807" y="1043538"/>
            <a:ext cx="8453544" cy="52091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1" indent="-342900" algn="l" fontAlgn="auto">
              <a:lnSpc>
                <a:spcPts val="33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这项政策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是否拯救了就业机会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呢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algn="l" fontAlgn="auto">
              <a:lnSpc>
                <a:spcPts val="33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配额减少了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汽车的进口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消费者购买更多的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本国品牌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汽车制造商雇佣更多的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工人来生产这些额外的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。因此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，这项政策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保持或者增加了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就业岗位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>
              <a:lnSpc>
                <a:spcPts val="33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本国货币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升值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，减少了外国对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本国所有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商品和服务的购买需求，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出口行业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收缩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，出口公司裁员。</a:t>
            </a:r>
          </a:p>
          <a:p>
            <a:pPr marL="685800" lvl="1" indent="-342900" fontAlgn="auto">
              <a:lnSpc>
                <a:spcPts val="33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汽车的进口配额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挽救了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汽车行业的就业机会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，但却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破坏了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本国其他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出口行业的就业机会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702488" y="890475"/>
            <a:ext cx="3099559" cy="36000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>
            <a:off x="566420" y="3200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贸易政策对利率、汇率和外贸的影响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273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3070" y="1439545"/>
            <a:ext cx="8283575" cy="30685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1" indent="-34290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那么，这项政策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是否拯救了就业机会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呢？</a:t>
            </a:r>
          </a:p>
          <a:p>
            <a:pPr marL="685800" lvl="1" indent="-342900" algn="l" fontAlgn="auto">
              <a:lnSpc>
                <a:spcPct val="110000"/>
              </a:lnSpc>
              <a:spcBef>
                <a:spcPts val="12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比较优势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出口部门的生产率可能更高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，因此出口部门的工资也更高。</a:t>
            </a:r>
          </a:p>
          <a:p>
            <a:pPr marL="685800" lvl="1" indent="-342900" algn="l" fontAlgn="auto">
              <a:lnSpc>
                <a:spcPct val="110000"/>
              </a:lnSpc>
              <a:spcBef>
                <a:spcPts val="12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因此，限制进口的外贸政策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生产率较低、竞争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不力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的行业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（通常是苦苦挣扎的行业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）的工作岗位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，但是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破坏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了国际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竞争力强的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出口行业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贸易政策对利率、汇率和外贸的影响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26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574040" y="1172845"/>
            <a:ext cx="8174990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发生了怎样的变化？</a:t>
            </a:r>
          </a:p>
          <a:p>
            <a:pPr marL="6858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进口配额不影响NCO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进口政策初始导致进口减少，本国净出口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上升；但是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NX必须等于NCO，所以实际汇率E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必须上升到足以使NX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（下降，从而）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保持在其原始水平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indent="-342900" fontAlgn="auto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限制进口的政策并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不能减少贸易逆差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683438" y="1109550"/>
            <a:ext cx="3099559" cy="36000"/>
          </a:xfrm>
          <a:prstGeom prst="rect">
            <a:avLst/>
          </a:prstGeom>
          <a:noFill/>
        </p:spPr>
      </p:pic>
      <p:sp>
        <p:nvSpPr>
          <p:cNvPr id="9" name="矩形 8"/>
          <p:cNvSpPr/>
          <p:nvPr/>
        </p:nvSpPr>
        <p:spPr>
          <a:xfrm>
            <a:off x="509270" y="434340"/>
            <a:ext cx="72821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贸易政策对利率、汇率和外贸的影响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5417" y="620688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资本外逃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对利率、汇率和外贸的影响</a:t>
            </a:r>
            <a:endParaRPr sz="3200" b="1" dirty="0">
              <a:solidFill>
                <a:srgbClr val="00206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0505" y="1486535"/>
            <a:ext cx="8208645" cy="52053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1994年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：墨西哥政局不稳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世界金融市场紧张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墨西哥金融危机）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人们担心他们拥有的墨西哥资产的安全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卖掉了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中的许多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墨西哥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资产，将资本撤出墨西哥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资本外逃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我们以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墨西哥为本国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的角度，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美国为外国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的角度，使用模型，分析资本外逃对利率、汇率和外贸的影响。</a:t>
            </a:r>
          </a:p>
          <a:p>
            <a:pPr marL="800100" lvl="1" indent="-342900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随着投资者出售墨西哥资产，并撤出资本，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在实际利率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的任意值下都会增加。而可贷资金需求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=I+NCO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。因此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可贷资金需求曲线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。新的均衡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685800" lvl="1" indent="-342900" algn="l" fontAlgn="auto">
              <a:lnSpc>
                <a:spcPts val="36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</a:pP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21513" y="1271475"/>
            <a:ext cx="3099559" cy="3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pSp>
        <p:nvGrpSpPr>
          <p:cNvPr id="37895" name="Group 2"/>
          <p:cNvGrpSpPr/>
          <p:nvPr/>
        </p:nvGrpSpPr>
        <p:grpSpPr bwMode="auto">
          <a:xfrm>
            <a:off x="1104900" y="3084830"/>
            <a:ext cx="2578100" cy="2119313"/>
            <a:chOff x="3678" y="1961"/>
            <a:chExt cx="1289" cy="1153"/>
          </a:xfrm>
        </p:grpSpPr>
        <p:sp>
          <p:nvSpPr>
            <p:cNvPr id="37948" name="Line 3"/>
            <p:cNvSpPr>
              <a:spLocks noChangeShapeType="1"/>
            </p:cNvSpPr>
            <p:nvPr/>
          </p:nvSpPr>
          <p:spPr bwMode="auto">
            <a:xfrm>
              <a:off x="3678" y="1961"/>
              <a:ext cx="991" cy="97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9" name="Text Box 4"/>
            <p:cNvSpPr txBox="1">
              <a:spLocks noChangeArrowheads="1"/>
            </p:cNvSpPr>
            <p:nvPr/>
          </p:nvSpPr>
          <p:spPr bwMode="auto">
            <a:xfrm>
              <a:off x="4624" y="2865"/>
              <a:ext cx="343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D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37897" name="Group 7"/>
          <p:cNvGrpSpPr/>
          <p:nvPr/>
        </p:nvGrpSpPr>
        <p:grpSpPr bwMode="auto">
          <a:xfrm>
            <a:off x="4908550" y="2132330"/>
            <a:ext cx="3905250" cy="3749675"/>
            <a:chOff x="3148" y="1437"/>
            <a:chExt cx="2460" cy="2362"/>
          </a:xfrm>
        </p:grpSpPr>
        <p:grpSp>
          <p:nvGrpSpPr>
            <p:cNvPr id="37943" name="Group 8"/>
            <p:cNvGrpSpPr/>
            <p:nvPr/>
          </p:nvGrpSpPr>
          <p:grpSpPr bwMode="auto">
            <a:xfrm>
              <a:off x="3247" y="1713"/>
              <a:ext cx="1828" cy="1938"/>
              <a:chOff x="1098" y="1361"/>
              <a:chExt cx="2116" cy="2027"/>
            </a:xfrm>
          </p:grpSpPr>
          <p:sp>
            <p:nvSpPr>
              <p:cNvPr id="37946" name="Line 9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47" name="Line 10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944" name="Text Box 11"/>
            <p:cNvSpPr txBox="1">
              <a:spLocks noChangeArrowheads="1"/>
            </p:cNvSpPr>
            <p:nvPr/>
          </p:nvSpPr>
          <p:spPr bwMode="auto">
            <a:xfrm>
              <a:off x="3148" y="1437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r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37945" name="Text Box 12"/>
            <p:cNvSpPr txBox="1">
              <a:spLocks noChangeArrowheads="1"/>
            </p:cNvSpPr>
            <p:nvPr/>
          </p:nvSpPr>
          <p:spPr bwMode="auto">
            <a:xfrm>
              <a:off x="5040" y="3511"/>
              <a:ext cx="5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NCO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37898" name="Group 58"/>
          <p:cNvGrpSpPr/>
          <p:nvPr/>
        </p:nvGrpSpPr>
        <p:grpSpPr bwMode="auto">
          <a:xfrm>
            <a:off x="5716588" y="2913380"/>
            <a:ext cx="2463800" cy="2424113"/>
            <a:chOff x="3657" y="1929"/>
            <a:chExt cx="1552" cy="1527"/>
          </a:xfrm>
        </p:grpSpPr>
        <p:sp>
          <p:nvSpPr>
            <p:cNvPr id="37941" name="Line 13"/>
            <p:cNvSpPr>
              <a:spLocks noChangeShapeType="1"/>
            </p:cNvSpPr>
            <p:nvPr/>
          </p:nvSpPr>
          <p:spPr bwMode="auto">
            <a:xfrm>
              <a:off x="3657" y="1929"/>
              <a:ext cx="991" cy="129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2" name="Text Box 14"/>
            <p:cNvSpPr txBox="1">
              <a:spLocks noChangeArrowheads="1"/>
            </p:cNvSpPr>
            <p:nvPr/>
          </p:nvSpPr>
          <p:spPr bwMode="auto">
            <a:xfrm>
              <a:off x="4575" y="3168"/>
              <a:ext cx="6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NCO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37899" name="Text Box 15"/>
          <p:cNvSpPr txBox="1">
            <a:spLocks noChangeArrowheads="1"/>
          </p:cNvSpPr>
          <p:nvPr/>
        </p:nvSpPr>
        <p:spPr bwMode="auto">
          <a:xfrm>
            <a:off x="4699000" y="3977005"/>
            <a:ext cx="312738" cy="365125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r</a:t>
            </a:r>
            <a:r>
              <a:rPr lang="en-US" sz="2400" b="1" baseline="-25000">
                <a:cs typeface="Arial" panose="020B0604020202020204" pitchFamily="34" charset="0"/>
              </a:rPr>
              <a:t>1</a:t>
            </a:r>
          </a:p>
        </p:txBody>
      </p:sp>
      <p:sp>
        <p:nvSpPr>
          <p:cNvPr id="37900" name="Line 16"/>
          <p:cNvSpPr>
            <a:spLocks noChangeShapeType="1"/>
          </p:cNvSpPr>
          <p:nvPr/>
        </p:nvSpPr>
        <p:spPr bwMode="auto">
          <a:xfrm flipH="1">
            <a:off x="5075238" y="4175443"/>
            <a:ext cx="15890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1" name="Oval 17"/>
          <p:cNvSpPr>
            <a:spLocks noChangeAspect="1" noChangeArrowheads="1"/>
          </p:cNvSpPr>
          <p:nvPr/>
        </p:nvSpPr>
        <p:spPr bwMode="auto">
          <a:xfrm>
            <a:off x="6616700" y="4108768"/>
            <a:ext cx="128588" cy="127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7902" name="Text Box 18"/>
          <p:cNvSpPr txBox="1">
            <a:spLocks noChangeArrowheads="1"/>
          </p:cNvSpPr>
          <p:nvPr/>
        </p:nvSpPr>
        <p:spPr bwMode="auto">
          <a:xfrm>
            <a:off x="5435600" y="1898968"/>
            <a:ext cx="29765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资本净流出</a:t>
            </a:r>
          </a:p>
        </p:txBody>
      </p:sp>
      <p:grpSp>
        <p:nvGrpSpPr>
          <p:cNvPr id="37903" name="Group 19"/>
          <p:cNvGrpSpPr/>
          <p:nvPr/>
        </p:nvGrpSpPr>
        <p:grpSpPr bwMode="auto">
          <a:xfrm>
            <a:off x="638175" y="2129155"/>
            <a:ext cx="3830638" cy="3749675"/>
            <a:chOff x="458" y="1435"/>
            <a:chExt cx="2413" cy="2362"/>
          </a:xfrm>
        </p:grpSpPr>
        <p:grpSp>
          <p:nvGrpSpPr>
            <p:cNvPr id="37936" name="Group 20"/>
            <p:cNvGrpSpPr/>
            <p:nvPr/>
          </p:nvGrpSpPr>
          <p:grpSpPr bwMode="auto">
            <a:xfrm>
              <a:off x="565" y="1711"/>
              <a:ext cx="1964" cy="1938"/>
              <a:chOff x="1098" y="1361"/>
              <a:chExt cx="2116" cy="2027"/>
            </a:xfrm>
          </p:grpSpPr>
          <p:sp>
            <p:nvSpPr>
              <p:cNvPr id="37939" name="Line 21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40" name="Line 22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937" name="Text Box 23"/>
            <p:cNvSpPr txBox="1">
              <a:spLocks noChangeArrowheads="1"/>
            </p:cNvSpPr>
            <p:nvPr/>
          </p:nvSpPr>
          <p:spPr bwMode="auto">
            <a:xfrm>
              <a:off x="458" y="1435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r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37938" name="Text Box 24"/>
            <p:cNvSpPr txBox="1">
              <a:spLocks noChangeArrowheads="1"/>
            </p:cNvSpPr>
            <p:nvPr/>
          </p:nvSpPr>
          <p:spPr bwMode="auto">
            <a:xfrm>
              <a:off x="2497" y="3509"/>
              <a:ext cx="3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LF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37904" name="Group 25"/>
          <p:cNvGrpSpPr/>
          <p:nvPr/>
        </p:nvGrpSpPr>
        <p:grpSpPr bwMode="auto">
          <a:xfrm>
            <a:off x="1604963" y="2651443"/>
            <a:ext cx="1833562" cy="2662237"/>
            <a:chOff x="1025" y="1764"/>
            <a:chExt cx="1155" cy="1677"/>
          </a:xfrm>
        </p:grpSpPr>
        <p:sp>
          <p:nvSpPr>
            <p:cNvPr id="37934" name="Line 26"/>
            <p:cNvSpPr>
              <a:spLocks noChangeShapeType="1"/>
            </p:cNvSpPr>
            <p:nvPr/>
          </p:nvSpPr>
          <p:spPr bwMode="auto">
            <a:xfrm flipV="1">
              <a:off x="1025" y="2001"/>
              <a:ext cx="904" cy="144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5" name="Text Box 27"/>
            <p:cNvSpPr txBox="1">
              <a:spLocks noChangeArrowheads="1"/>
            </p:cNvSpPr>
            <p:nvPr/>
          </p:nvSpPr>
          <p:spPr bwMode="auto">
            <a:xfrm>
              <a:off x="1856" y="1764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S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37905" name="Text Box 28"/>
          <p:cNvSpPr txBox="1">
            <a:spLocks noChangeArrowheads="1"/>
          </p:cNvSpPr>
          <p:nvPr/>
        </p:nvSpPr>
        <p:spPr bwMode="auto">
          <a:xfrm>
            <a:off x="390525" y="3977005"/>
            <a:ext cx="388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r</a:t>
            </a:r>
            <a:r>
              <a:rPr lang="en-US" sz="2400" b="1" baseline="-25000">
                <a:cs typeface="Arial" panose="020B0604020202020204" pitchFamily="34" charset="0"/>
              </a:rPr>
              <a:t>1</a:t>
            </a:r>
          </a:p>
        </p:txBody>
      </p:sp>
      <p:sp>
        <p:nvSpPr>
          <p:cNvPr id="37906" name="Oval 29"/>
          <p:cNvSpPr>
            <a:spLocks noChangeAspect="1" noChangeArrowheads="1"/>
          </p:cNvSpPr>
          <p:nvPr/>
        </p:nvSpPr>
        <p:spPr bwMode="auto">
          <a:xfrm>
            <a:off x="2254250" y="4105593"/>
            <a:ext cx="128588" cy="127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7907" name="Text Box 30"/>
          <p:cNvSpPr txBox="1">
            <a:spLocks noChangeArrowheads="1"/>
          </p:cNvSpPr>
          <p:nvPr/>
        </p:nvSpPr>
        <p:spPr bwMode="auto">
          <a:xfrm>
            <a:off x="1398588" y="1895793"/>
            <a:ext cx="24304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可贷资金</a:t>
            </a:r>
          </a:p>
        </p:txBody>
      </p:sp>
      <p:sp>
        <p:nvSpPr>
          <p:cNvPr id="37909" name="Line 32"/>
          <p:cNvSpPr>
            <a:spLocks noChangeShapeType="1"/>
          </p:cNvSpPr>
          <p:nvPr/>
        </p:nvSpPr>
        <p:spPr bwMode="auto">
          <a:xfrm flipH="1">
            <a:off x="811213" y="4175443"/>
            <a:ext cx="15097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0" name="Line 42"/>
          <p:cNvSpPr>
            <a:spLocks noChangeShapeType="1"/>
          </p:cNvSpPr>
          <p:nvPr/>
        </p:nvSpPr>
        <p:spPr bwMode="auto">
          <a:xfrm>
            <a:off x="2324100" y="4173855"/>
            <a:ext cx="23701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67" name="Line 43"/>
          <p:cNvSpPr>
            <a:spLocks noChangeShapeType="1"/>
          </p:cNvSpPr>
          <p:nvPr/>
        </p:nvSpPr>
        <p:spPr bwMode="auto">
          <a:xfrm flipV="1">
            <a:off x="2682875" y="3599180"/>
            <a:ext cx="20002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2" name="Line 44"/>
          <p:cNvSpPr>
            <a:spLocks noChangeShapeType="1"/>
          </p:cNvSpPr>
          <p:nvPr/>
        </p:nvSpPr>
        <p:spPr bwMode="auto">
          <a:xfrm>
            <a:off x="6678613" y="4170680"/>
            <a:ext cx="0" cy="147637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" name="Group 46"/>
          <p:cNvGrpSpPr/>
          <p:nvPr/>
        </p:nvGrpSpPr>
        <p:grpSpPr bwMode="auto">
          <a:xfrm>
            <a:off x="1784350" y="2786380"/>
            <a:ext cx="2578100" cy="2119313"/>
            <a:chOff x="3678" y="1961"/>
            <a:chExt cx="1289" cy="1153"/>
          </a:xfrm>
        </p:grpSpPr>
        <p:sp>
          <p:nvSpPr>
            <p:cNvPr id="37932" name="Line 47"/>
            <p:cNvSpPr>
              <a:spLocks noChangeShapeType="1"/>
            </p:cNvSpPr>
            <p:nvPr/>
          </p:nvSpPr>
          <p:spPr bwMode="auto">
            <a:xfrm>
              <a:off x="3678" y="1961"/>
              <a:ext cx="991" cy="97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3" name="Text Box 48"/>
            <p:cNvSpPr txBox="1">
              <a:spLocks noChangeArrowheads="1"/>
            </p:cNvSpPr>
            <p:nvPr/>
          </p:nvSpPr>
          <p:spPr bwMode="auto">
            <a:xfrm>
              <a:off x="4624" y="2865"/>
              <a:ext cx="343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D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0" name="Group 61"/>
          <p:cNvGrpSpPr/>
          <p:nvPr/>
        </p:nvGrpSpPr>
        <p:grpSpPr bwMode="auto">
          <a:xfrm>
            <a:off x="387350" y="3397568"/>
            <a:ext cx="2357438" cy="365125"/>
            <a:chOff x="244" y="2325"/>
            <a:chExt cx="1485" cy="230"/>
          </a:xfrm>
        </p:grpSpPr>
        <p:sp>
          <p:nvSpPr>
            <p:cNvPr id="37929" name="Text Box 36"/>
            <p:cNvSpPr txBox="1">
              <a:spLocks noChangeArrowheads="1"/>
            </p:cNvSpPr>
            <p:nvPr/>
          </p:nvSpPr>
          <p:spPr bwMode="auto">
            <a:xfrm>
              <a:off x="244" y="2325"/>
              <a:ext cx="24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r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930" name="Line 49"/>
            <p:cNvSpPr>
              <a:spLocks noChangeShapeType="1"/>
            </p:cNvSpPr>
            <p:nvPr/>
          </p:nvSpPr>
          <p:spPr bwMode="auto">
            <a:xfrm flipH="1">
              <a:off x="511" y="2452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1" name="Oval 37"/>
            <p:cNvSpPr>
              <a:spLocks noChangeAspect="1" noChangeArrowheads="1"/>
            </p:cNvSpPr>
            <p:nvPr/>
          </p:nvSpPr>
          <p:spPr bwMode="auto">
            <a:xfrm>
              <a:off x="1648" y="2408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57"/>
          <p:cNvGrpSpPr/>
          <p:nvPr/>
        </p:nvGrpSpPr>
        <p:grpSpPr bwMode="auto">
          <a:xfrm>
            <a:off x="6303963" y="2664143"/>
            <a:ext cx="2266950" cy="2093912"/>
            <a:chOff x="4027" y="1772"/>
            <a:chExt cx="1428" cy="1319"/>
          </a:xfrm>
        </p:grpSpPr>
        <p:sp>
          <p:nvSpPr>
            <p:cNvPr id="37927" name="Line 50"/>
            <p:cNvSpPr>
              <a:spLocks noChangeShapeType="1"/>
            </p:cNvSpPr>
            <p:nvPr/>
          </p:nvSpPr>
          <p:spPr bwMode="auto">
            <a:xfrm>
              <a:off x="4027" y="1772"/>
              <a:ext cx="844" cy="110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8" name="Text Box 51"/>
            <p:cNvSpPr txBox="1">
              <a:spLocks noChangeArrowheads="1"/>
            </p:cNvSpPr>
            <p:nvPr/>
          </p:nvSpPr>
          <p:spPr bwMode="auto">
            <a:xfrm>
              <a:off x="4821" y="2803"/>
              <a:ext cx="6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NCO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2" name="Group 62"/>
          <p:cNvGrpSpPr/>
          <p:nvPr/>
        </p:nvGrpSpPr>
        <p:grpSpPr bwMode="auto">
          <a:xfrm>
            <a:off x="4700588" y="3395980"/>
            <a:ext cx="2373312" cy="2251075"/>
            <a:chOff x="2961" y="2324"/>
            <a:chExt cx="1495" cy="1418"/>
          </a:xfrm>
        </p:grpSpPr>
        <p:sp>
          <p:nvSpPr>
            <p:cNvPr id="37923" name="Text Box 39"/>
            <p:cNvSpPr txBox="1">
              <a:spLocks noChangeArrowheads="1"/>
            </p:cNvSpPr>
            <p:nvPr/>
          </p:nvSpPr>
          <p:spPr bwMode="auto">
            <a:xfrm>
              <a:off x="2961" y="2324"/>
              <a:ext cx="197" cy="23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r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924" name="Line 45"/>
            <p:cNvSpPr>
              <a:spLocks noChangeShapeType="1"/>
            </p:cNvSpPr>
            <p:nvPr/>
          </p:nvSpPr>
          <p:spPr bwMode="auto">
            <a:xfrm>
              <a:off x="4414" y="244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5" name="Line 53"/>
            <p:cNvSpPr>
              <a:spLocks noChangeShapeType="1"/>
            </p:cNvSpPr>
            <p:nvPr/>
          </p:nvSpPr>
          <p:spPr bwMode="auto">
            <a:xfrm>
              <a:off x="3193" y="2452"/>
              <a:ext cx="12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6" name="Oval 40"/>
            <p:cNvSpPr>
              <a:spLocks noChangeAspect="1" noChangeArrowheads="1"/>
            </p:cNvSpPr>
            <p:nvPr/>
          </p:nvSpPr>
          <p:spPr bwMode="auto">
            <a:xfrm>
              <a:off x="4375" y="2409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129078" name="Line 54"/>
          <p:cNvSpPr>
            <a:spLocks noChangeShapeType="1"/>
          </p:cNvSpPr>
          <p:nvPr/>
        </p:nvSpPr>
        <p:spPr bwMode="auto">
          <a:xfrm flipV="1">
            <a:off x="911225" y="3603943"/>
            <a:ext cx="0" cy="554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79" name="Line 55"/>
          <p:cNvSpPr>
            <a:spLocks noChangeShapeType="1"/>
          </p:cNvSpPr>
          <p:nvPr/>
        </p:nvSpPr>
        <p:spPr bwMode="auto">
          <a:xfrm flipV="1">
            <a:off x="5176838" y="3608705"/>
            <a:ext cx="0" cy="554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80" name="Line 56"/>
          <p:cNvSpPr>
            <a:spLocks noChangeShapeType="1"/>
          </p:cNvSpPr>
          <p:nvPr/>
        </p:nvSpPr>
        <p:spPr bwMode="auto">
          <a:xfrm rot="5400000" flipV="1">
            <a:off x="6846888" y="5378768"/>
            <a:ext cx="0" cy="317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87" name="Line 63"/>
          <p:cNvSpPr>
            <a:spLocks noChangeShapeType="1"/>
          </p:cNvSpPr>
          <p:nvPr/>
        </p:nvSpPr>
        <p:spPr bwMode="auto">
          <a:xfrm rot="5400000" flipV="1">
            <a:off x="7093744" y="3887311"/>
            <a:ext cx="0" cy="5794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88" name="Line 64"/>
          <p:cNvSpPr>
            <a:spLocks noChangeShapeType="1"/>
          </p:cNvSpPr>
          <p:nvPr/>
        </p:nvSpPr>
        <p:spPr bwMode="auto">
          <a:xfrm rot="5400000" flipV="1">
            <a:off x="2845594" y="3825399"/>
            <a:ext cx="0" cy="6937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TextBox 5"/>
          <p:cNvSpPr txBox="1"/>
          <p:nvPr/>
        </p:nvSpPr>
        <p:spPr>
          <a:xfrm>
            <a:off x="501142" y="363513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资本外逃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对利率、汇率和外贸的影响</a:t>
            </a:r>
            <a:endParaRPr sz="3200" b="1" dirty="0">
              <a:solidFill>
                <a:srgbClr val="00206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57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616763" y="1071450"/>
            <a:ext cx="3099559" cy="3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9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67" grpId="0" bldLvl="0" animBg="1"/>
      <p:bldP spid="129078" grpId="0" bldLvl="0" animBg="1"/>
      <p:bldP spid="129079" grpId="0" bldLvl="0" animBg="1"/>
      <p:bldP spid="129080" grpId="0" bldLvl="0" animBg="1"/>
      <p:bldP spid="129087" grpId="0" bldLvl="0" animBg="1"/>
      <p:bldP spid="12908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387985" y="1174750"/>
            <a:ext cx="392112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的增加导致外汇市场上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本国货币墨西哥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比索的供应量增加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本国货币墨西哥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比索的实际汇率下降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，即墨西哥货币大幅贬值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一方面墨西哥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增加，但是上一章我们学过，货币贬值会推动本国商品价格上扬，导致通货膨胀。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948" name="Line 4"/>
          <p:cNvSpPr>
            <a:spLocks noChangeShapeType="1"/>
          </p:cNvSpPr>
          <p:nvPr/>
        </p:nvSpPr>
        <p:spPr bwMode="auto">
          <a:xfrm rot="5400000" flipV="1">
            <a:off x="6652737" y="3726339"/>
            <a:ext cx="0" cy="731837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45"/>
          <p:cNvGrpSpPr/>
          <p:nvPr/>
        </p:nvGrpSpPr>
        <p:grpSpPr bwMode="auto">
          <a:xfrm>
            <a:off x="6855143" y="2715895"/>
            <a:ext cx="1660525" cy="3100388"/>
            <a:chOff x="4327" y="1614"/>
            <a:chExt cx="1046" cy="1953"/>
          </a:xfrm>
        </p:grpSpPr>
        <p:sp>
          <p:nvSpPr>
            <p:cNvPr id="38945" name="Text Box 35"/>
            <p:cNvSpPr txBox="1">
              <a:spLocks noChangeArrowheads="1"/>
            </p:cNvSpPr>
            <p:nvPr/>
          </p:nvSpPr>
          <p:spPr bwMode="auto">
            <a:xfrm>
              <a:off x="4327" y="1614"/>
              <a:ext cx="1046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50000"/>
                </a:spcBef>
              </a:pPr>
              <a:r>
                <a:rPr lang="en-US" sz="2400" i="1" smtClean="0">
                  <a:cs typeface="Arial" panose="020B0604020202020204" pitchFamily="34" charset="0"/>
                </a:rPr>
                <a:t>S</a:t>
              </a:r>
              <a:r>
                <a:rPr lang="en-US" sz="2400" b="1" baseline="-25000" smtClean="0">
                  <a:cs typeface="Arial" panose="020B0604020202020204" pitchFamily="34" charset="0"/>
                </a:rPr>
                <a:t>2</a:t>
              </a:r>
              <a:r>
                <a:rPr lang="en-US" sz="2400" smtClean="0">
                  <a:cs typeface="Arial" panose="020B0604020202020204" pitchFamily="34" charset="0"/>
                </a:rPr>
                <a:t>=</a:t>
              </a:r>
              <a:r>
                <a:rPr lang="en-US" sz="2400" i="1" smtClean="0">
                  <a:cs typeface="Arial" panose="020B0604020202020204" pitchFamily="34" charset="0"/>
                </a:rPr>
                <a:t>NCO</a:t>
              </a:r>
              <a:r>
                <a:rPr lang="en-US" sz="2400" b="1" baseline="-25000" smtClean="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38946" name="Line 36"/>
            <p:cNvSpPr>
              <a:spLocks noChangeShapeType="1"/>
            </p:cNvSpPr>
            <p:nvPr/>
          </p:nvSpPr>
          <p:spPr bwMode="auto">
            <a:xfrm flipV="1">
              <a:off x="4456" y="1871"/>
              <a:ext cx="0" cy="1696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8"/>
          <p:cNvGrpSpPr/>
          <p:nvPr/>
        </p:nvGrpSpPr>
        <p:grpSpPr bwMode="auto">
          <a:xfrm>
            <a:off x="4319905" y="1320483"/>
            <a:ext cx="4387850" cy="4932363"/>
            <a:chOff x="2730" y="735"/>
            <a:chExt cx="2764" cy="3107"/>
          </a:xfrm>
        </p:grpSpPr>
        <p:sp>
          <p:nvSpPr>
            <p:cNvPr id="38927" name="Text Box 24"/>
            <p:cNvSpPr txBox="1">
              <a:spLocks noChangeArrowheads="1"/>
            </p:cNvSpPr>
            <p:nvPr/>
          </p:nvSpPr>
          <p:spPr bwMode="auto">
            <a:xfrm>
              <a:off x="3238" y="735"/>
              <a:ext cx="1875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外汇市场</a:t>
              </a:r>
            </a:p>
          </p:txBody>
        </p:sp>
        <p:grpSp>
          <p:nvGrpSpPr>
            <p:cNvPr id="38928" name="Group 47"/>
            <p:cNvGrpSpPr/>
            <p:nvPr/>
          </p:nvGrpSpPr>
          <p:grpSpPr bwMode="auto">
            <a:xfrm>
              <a:off x="2730" y="1288"/>
              <a:ext cx="2764" cy="2554"/>
              <a:chOff x="2730" y="1288"/>
              <a:chExt cx="2764" cy="2554"/>
            </a:xfrm>
          </p:grpSpPr>
          <p:grpSp>
            <p:nvGrpSpPr>
              <p:cNvPr id="38929" name="Group 11"/>
              <p:cNvGrpSpPr/>
              <p:nvPr/>
            </p:nvGrpSpPr>
            <p:grpSpPr bwMode="auto">
              <a:xfrm>
                <a:off x="2877" y="1360"/>
                <a:ext cx="2617" cy="2482"/>
                <a:chOff x="2758" y="1472"/>
                <a:chExt cx="2617" cy="2482"/>
              </a:xfrm>
            </p:grpSpPr>
            <p:grpSp>
              <p:nvGrpSpPr>
                <p:cNvPr id="38940" name="Group 12"/>
                <p:cNvGrpSpPr/>
                <p:nvPr/>
              </p:nvGrpSpPr>
              <p:grpSpPr bwMode="auto">
                <a:xfrm>
                  <a:off x="2890" y="1748"/>
                  <a:ext cx="2417" cy="1938"/>
                  <a:chOff x="1098" y="1361"/>
                  <a:chExt cx="2116" cy="2027"/>
                </a:xfrm>
              </p:grpSpPr>
              <p:sp>
                <p:nvSpPr>
                  <p:cNvPr id="3894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1102" y="1361"/>
                    <a:ext cx="0" cy="202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894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1098" y="3388"/>
                    <a:ext cx="2116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8941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758" y="1472"/>
                  <a:ext cx="26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sz="2400" b="1" i="1">
                      <a:cs typeface="Arial" panose="020B0604020202020204" pitchFamily="34" charset="0"/>
                    </a:rPr>
                    <a:t>E</a:t>
                  </a:r>
                  <a:endParaRPr lang="en-US" sz="2400" baseline="-250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94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655" y="3721"/>
                  <a:ext cx="720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比索</a:t>
                  </a:r>
                  <a:endParaRPr 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8930" name="Group 17"/>
              <p:cNvGrpSpPr/>
              <p:nvPr/>
            </p:nvGrpSpPr>
            <p:grpSpPr bwMode="auto">
              <a:xfrm>
                <a:off x="3238" y="1891"/>
                <a:ext cx="1771" cy="1515"/>
                <a:chOff x="3133" y="1891"/>
                <a:chExt cx="1771" cy="1515"/>
              </a:xfrm>
            </p:grpSpPr>
            <p:sp>
              <p:nvSpPr>
                <p:cNvPr id="38938" name="Line 18"/>
                <p:cNvSpPr>
                  <a:spLocks noChangeShapeType="1"/>
                </p:cNvSpPr>
                <p:nvPr/>
              </p:nvSpPr>
              <p:spPr bwMode="auto">
                <a:xfrm>
                  <a:off x="3133" y="1891"/>
                  <a:ext cx="1474" cy="1288"/>
                </a:xfrm>
                <a:prstGeom prst="line">
                  <a:avLst/>
                </a:prstGeom>
                <a:noFill/>
                <a:ln w="38100">
                  <a:solidFill>
                    <a:srgbClr val="00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9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617" y="3135"/>
                  <a:ext cx="28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5000"/>
                    </a:lnSpc>
                    <a:spcBef>
                      <a:spcPct val="50000"/>
                    </a:spcBef>
                  </a:pPr>
                  <a:r>
                    <a:rPr lang="en-US" sz="2400" i="1">
                      <a:cs typeface="Arial" panose="020B0604020202020204" pitchFamily="34" charset="0"/>
                    </a:rPr>
                    <a:t>D</a:t>
                  </a:r>
                  <a:r>
                    <a:rPr lang="en-US" sz="2400" b="1" baseline="-25000">
                      <a:cs typeface="Arial" panose="020B0604020202020204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38931" name="Group 46"/>
              <p:cNvGrpSpPr/>
              <p:nvPr/>
            </p:nvGrpSpPr>
            <p:grpSpPr bwMode="auto">
              <a:xfrm>
                <a:off x="3752" y="1288"/>
                <a:ext cx="1046" cy="2281"/>
                <a:chOff x="3752" y="1288"/>
                <a:chExt cx="1046" cy="2281"/>
              </a:xfrm>
            </p:grpSpPr>
            <p:sp>
              <p:nvSpPr>
                <p:cNvPr id="38936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752" y="1288"/>
                  <a:ext cx="1046" cy="2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5000"/>
                    </a:lnSpc>
                    <a:spcBef>
                      <a:spcPct val="50000"/>
                    </a:spcBef>
                  </a:pPr>
                  <a:r>
                    <a:rPr lang="en-US" sz="2400" i="1" smtClean="0">
                      <a:cs typeface="Arial" panose="020B0604020202020204" pitchFamily="34" charset="0"/>
                    </a:rPr>
                    <a:t>S</a:t>
                  </a:r>
                  <a:r>
                    <a:rPr lang="en-US" sz="2400" b="1" baseline="-25000" smtClean="0">
                      <a:cs typeface="Arial" panose="020B0604020202020204" pitchFamily="34" charset="0"/>
                    </a:rPr>
                    <a:t>1</a:t>
                  </a:r>
                  <a:r>
                    <a:rPr lang="en-US" sz="2400" smtClean="0">
                      <a:cs typeface="Arial" panose="020B0604020202020204" pitchFamily="34" charset="0"/>
                    </a:rPr>
                    <a:t>=</a:t>
                  </a:r>
                  <a:r>
                    <a:rPr lang="en-US" sz="2400" i="1" smtClean="0">
                      <a:cs typeface="Arial" panose="020B0604020202020204" pitchFamily="34" charset="0"/>
                    </a:rPr>
                    <a:t>NCO</a:t>
                  </a:r>
                  <a:r>
                    <a:rPr lang="en-US" sz="2400" b="1" baseline="-25000" smtClean="0">
                      <a:cs typeface="Arial" panose="020B0604020202020204" pitchFamily="34" charset="0"/>
                    </a:rPr>
                    <a:t>1</a:t>
                  </a:r>
                  <a:endParaRPr lang="en-US" sz="2400" b="1" baseline="-250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937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3912" y="1578"/>
                  <a:ext cx="0" cy="1991"/>
                </a:xfrm>
                <a:prstGeom prst="line">
                  <a:avLst/>
                </a:prstGeom>
                <a:noFill/>
                <a:ln w="38100">
                  <a:solidFill>
                    <a:srgbClr val="00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2" name="Group 42"/>
              <p:cNvGrpSpPr/>
              <p:nvPr/>
            </p:nvGrpSpPr>
            <p:grpSpPr bwMode="auto">
              <a:xfrm>
                <a:off x="2730" y="2362"/>
                <a:ext cx="1222" cy="230"/>
                <a:chOff x="2730" y="2362"/>
                <a:chExt cx="1222" cy="230"/>
              </a:xfrm>
            </p:grpSpPr>
            <p:sp>
              <p:nvSpPr>
                <p:cNvPr id="3893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730" y="2362"/>
                  <a:ext cx="257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sz="2400" b="1" i="1">
                      <a:cs typeface="Arial" panose="020B0604020202020204" pitchFamily="34" charset="0"/>
                    </a:rPr>
                    <a:t>E</a:t>
                  </a:r>
                  <a:r>
                    <a:rPr lang="en-US" sz="2400" b="1" baseline="-25000"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38934" name="Oval 23"/>
                <p:cNvSpPr>
                  <a:spLocks noChangeAspect="1" noChangeArrowheads="1"/>
                </p:cNvSpPr>
                <p:nvPr/>
              </p:nvSpPr>
              <p:spPr bwMode="auto">
                <a:xfrm>
                  <a:off x="3871" y="2438"/>
                  <a:ext cx="81" cy="8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935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3012" y="2481"/>
                  <a:ext cx="9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" name="Group 43"/>
          <p:cNvGrpSpPr/>
          <p:nvPr/>
        </p:nvGrpSpPr>
        <p:grpSpPr bwMode="auto">
          <a:xfrm>
            <a:off x="4319905" y="4651058"/>
            <a:ext cx="2806700" cy="365125"/>
            <a:chOff x="2730" y="2833"/>
            <a:chExt cx="1768" cy="230"/>
          </a:xfrm>
        </p:grpSpPr>
        <p:sp>
          <p:nvSpPr>
            <p:cNvPr id="38924" name="Line 39"/>
            <p:cNvSpPr>
              <a:spLocks noChangeShapeType="1"/>
            </p:cNvSpPr>
            <p:nvPr/>
          </p:nvSpPr>
          <p:spPr bwMode="auto">
            <a:xfrm flipH="1">
              <a:off x="3012" y="2955"/>
              <a:ext cx="14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5" name="Oval 40"/>
            <p:cNvSpPr>
              <a:spLocks noChangeAspect="1" noChangeArrowheads="1"/>
            </p:cNvSpPr>
            <p:nvPr/>
          </p:nvSpPr>
          <p:spPr bwMode="auto">
            <a:xfrm>
              <a:off x="4417" y="2915"/>
              <a:ext cx="81" cy="8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38926" name="Text Box 41"/>
            <p:cNvSpPr txBox="1">
              <a:spLocks noChangeArrowheads="1"/>
            </p:cNvSpPr>
            <p:nvPr/>
          </p:nvSpPr>
          <p:spPr bwMode="auto">
            <a:xfrm>
              <a:off x="2730" y="2833"/>
              <a:ext cx="25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E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210988" name="Line 44"/>
          <p:cNvSpPr>
            <a:spLocks noChangeShapeType="1"/>
          </p:cNvSpPr>
          <p:nvPr/>
        </p:nvSpPr>
        <p:spPr bwMode="auto">
          <a:xfrm rot="10800000" flipV="1">
            <a:off x="4877118" y="4106545"/>
            <a:ext cx="0" cy="731838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Box 5"/>
          <p:cNvSpPr txBox="1"/>
          <p:nvPr/>
        </p:nvSpPr>
        <p:spPr>
          <a:xfrm>
            <a:off x="501142" y="363513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资本外逃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对利率、汇率和外贸的影响</a:t>
            </a:r>
            <a:endParaRPr sz="3200" b="1" dirty="0">
              <a:solidFill>
                <a:srgbClr val="00206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34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616763" y="1071450"/>
            <a:ext cx="3099559" cy="3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1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8" grpId="0" bldLvl="0" animBg="1"/>
      <p:bldP spid="210988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9" name="Picture 1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3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0"/>
          <a:stretch/>
        </p:blipFill>
        <p:spPr bwMode="auto">
          <a:xfrm>
            <a:off x="1200150" y="1264720"/>
            <a:ext cx="7267575" cy="527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"/>
          <p:cNvSpPr txBox="1"/>
          <p:nvPr/>
        </p:nvSpPr>
        <p:spPr>
          <a:xfrm>
            <a:off x="501142" y="363513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资本外逃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对利率、汇率和外贸的影响</a:t>
            </a:r>
            <a:endParaRPr sz="3200" b="1" dirty="0">
              <a:solidFill>
                <a:srgbClr val="00206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5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616763" y="1071450"/>
            <a:ext cx="3099559" cy="36000"/>
          </a:xfrm>
          <a:prstGeom prst="rect">
            <a:avLst/>
          </a:prstGeom>
          <a:noFill/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 rot="16200000">
            <a:off x="-1217795" y="3141016"/>
            <a:ext cx="42100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每墨西哥比索兑换美元数量</a:t>
            </a:r>
            <a:endParaRPr 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 Box 30"/>
          <p:cNvSpPr txBox="1">
            <a:spLocks noChangeArrowheads="1"/>
          </p:cNvSpPr>
          <p:nvPr/>
        </p:nvSpPr>
        <p:spPr bwMode="auto">
          <a:xfrm>
            <a:off x="4894263" y="2543493"/>
            <a:ext cx="2478087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1994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年，墨西哥比索迅速贬值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5"/>
          <a:stretch/>
        </p:blipFill>
        <p:spPr bwMode="auto">
          <a:xfrm>
            <a:off x="1133475" y="1240155"/>
            <a:ext cx="752221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"/>
          <p:cNvSpPr txBox="1"/>
          <p:nvPr/>
        </p:nvSpPr>
        <p:spPr>
          <a:xfrm>
            <a:off x="501142" y="363513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资本外逃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对利率、汇率和外贸的影响</a:t>
            </a:r>
            <a:endParaRPr sz="3200" b="1" dirty="0">
              <a:solidFill>
                <a:srgbClr val="00206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5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616763" y="1071450"/>
            <a:ext cx="3099559" cy="36000"/>
          </a:xfrm>
          <a:prstGeom prst="rect">
            <a:avLst/>
          </a:prstGeom>
          <a:noFill/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 rot="16200000">
            <a:off x="-1217795" y="3141016"/>
            <a:ext cx="42100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每个国家货币兑换美元数量</a:t>
            </a:r>
            <a:endParaRPr 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Box 30"/>
          <p:cNvSpPr txBox="1">
            <a:spLocks noChangeArrowheads="1"/>
          </p:cNvSpPr>
          <p:nvPr/>
        </p:nvSpPr>
        <p:spPr bwMode="auto">
          <a:xfrm>
            <a:off x="2579687" y="3505518"/>
            <a:ext cx="2430463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1997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年，韩国、泰国、印尼的货币迅速贬值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9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8"/>
          <a:stretch/>
        </p:blipFill>
        <p:spPr bwMode="auto">
          <a:xfrm>
            <a:off x="1371600" y="1367155"/>
            <a:ext cx="7206615" cy="531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30"/>
          <p:cNvSpPr txBox="1">
            <a:spLocks noChangeArrowheads="1"/>
          </p:cNvSpPr>
          <p:nvPr/>
        </p:nvSpPr>
        <p:spPr bwMode="auto">
          <a:xfrm>
            <a:off x="5618163" y="2686368"/>
            <a:ext cx="2478087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1998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年，俄罗斯卢布迅速贬值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01142" y="363513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资本外逃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对利率、汇率和外贸的影响</a:t>
            </a:r>
            <a:endParaRPr sz="3200" b="1" dirty="0">
              <a:solidFill>
                <a:srgbClr val="00206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7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616763" y="1071450"/>
            <a:ext cx="3099559" cy="36000"/>
          </a:xfrm>
          <a:prstGeom prst="rect">
            <a:avLst/>
          </a:prstGeom>
          <a:noFill/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 rot="16200000">
            <a:off x="-1217795" y="3141016"/>
            <a:ext cx="42100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每俄罗斯卢布兑换美元数量</a:t>
            </a:r>
            <a:endParaRPr 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1183640"/>
            <a:ext cx="7867650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30"/>
          <p:cNvSpPr txBox="1">
            <a:spLocks noChangeArrowheads="1"/>
          </p:cNvSpPr>
          <p:nvPr/>
        </p:nvSpPr>
        <p:spPr bwMode="auto">
          <a:xfrm>
            <a:off x="5618163" y="2686368"/>
            <a:ext cx="2478087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年，阿根廷比索迅速贬值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01142" y="334938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资本外逃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对利率、汇率和外贸的影响</a:t>
            </a:r>
            <a:endParaRPr sz="3200" b="1" dirty="0">
              <a:solidFill>
                <a:srgbClr val="00206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7" name="Picture 2" descr="I:\BOBO Z\哈工大\JPG\2020\7月\0707-ppt\素材01\logo-VI系统0630-PPT-24.jpg">
            <a:extLst>
              <a:ext uri="{FF2B5EF4-FFF2-40B4-BE49-F238E27FC236}">
                <a16:creationId xmlns:a16="http://schemas.microsoft.com/office/drawing/2014/main" xmlns="" id="{B212C6A3-B2A8-4AA2-823D-F49E26039C4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616763" y="1042875"/>
            <a:ext cx="3099559" cy="3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09272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53152" y="1897388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</a:t>
            </a:r>
            <a:r>
              <a:rPr lang="en-US" altLang="zh-CN" sz="4800">
                <a:solidFill>
                  <a:schemeClr val="bg1"/>
                </a:solidFill>
              </a:rPr>
              <a:t>》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91385" y="3177486"/>
            <a:ext cx="63049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11</a:t>
            </a:r>
            <a:r>
              <a:rPr lang="zh-CN" altLang="en-US" sz="4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：总需求和总供给</a:t>
            </a:r>
            <a:endParaRPr lang="zh-CN" altLang="en-US" sz="4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524694" y="599853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42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302.4992125984245,&quot;width&quot;:13617.50078740157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indent="0" algn="l">
          <a:lnSpc>
            <a:spcPct val="160000"/>
          </a:lnSpc>
          <a:buFont typeface="Wingdings" panose="05000000000000000000" charset="0"/>
          <a:buNone/>
          <a:defRPr sz="2000" b="1" dirty="0">
            <a:solidFill>
              <a:srgbClr val="002060"/>
            </a:solidFill>
            <a:latin typeface="思源黑体 CN Bold" panose="020B0800000000000000" pitchFamily="34" charset="-122"/>
            <a:ea typeface="思源黑体 CN Bold" panose="020B0800000000000000" pitchFamily="34" charset="-122"/>
            <a:sym typeface="+mn-ea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Book Antiqua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Custom Design">
    <a:majorFont>
      <a:latin typeface="Book Antiqua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5284</TotalTime>
  <Words>1761</Words>
  <Application>Microsoft Office PowerPoint</Application>
  <PresentationFormat>全屏显示(4:3)</PresentationFormat>
  <Paragraphs>286</Paragraphs>
  <Slides>35</Slides>
  <Notes>20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38" baseType="lpstr">
      <vt:lpstr>Office Theme</vt:lpstr>
      <vt:lpstr>1_Office 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Carthage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</dc:title>
  <dc:creator>Ron</dc:creator>
  <cp:lastModifiedBy>YZ</cp:lastModifiedBy>
  <cp:revision>529</cp:revision>
  <dcterms:created xsi:type="dcterms:W3CDTF">2010-12-25T14:19:00Z</dcterms:created>
  <dcterms:modified xsi:type="dcterms:W3CDTF">2022-03-05T14:16:05Z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