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66" r:id="rId2"/>
    <p:sldId id="257" r:id="rId3"/>
    <p:sldId id="268" r:id="rId4"/>
    <p:sldId id="272" r:id="rId5"/>
    <p:sldId id="304" r:id="rId6"/>
    <p:sldId id="305" r:id="rId7"/>
    <p:sldId id="303" r:id="rId8"/>
    <p:sldId id="329" r:id="rId9"/>
    <p:sldId id="311" r:id="rId10"/>
    <p:sldId id="309" r:id="rId11"/>
    <p:sldId id="312" r:id="rId12"/>
    <p:sldId id="313" r:id="rId13"/>
    <p:sldId id="314" r:id="rId14"/>
    <p:sldId id="308" r:id="rId15"/>
    <p:sldId id="327" r:id="rId16"/>
    <p:sldId id="315" r:id="rId17"/>
    <p:sldId id="318" r:id="rId18"/>
    <p:sldId id="317" r:id="rId19"/>
    <p:sldId id="316" r:id="rId20"/>
    <p:sldId id="302" r:id="rId21"/>
    <p:sldId id="301" r:id="rId22"/>
    <p:sldId id="274" r:id="rId23"/>
    <p:sldId id="330" r:id="rId24"/>
    <p:sldId id="326" r:id="rId25"/>
    <p:sldId id="325" r:id="rId26"/>
    <p:sldId id="323" r:id="rId27"/>
    <p:sldId id="322" r:id="rId28"/>
    <p:sldId id="321" r:id="rId29"/>
    <p:sldId id="328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2">
          <p15:clr>
            <a:srgbClr val="A4A3A4"/>
          </p15:clr>
        </p15:guide>
        <p15:guide id="2" pos="292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7B55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77" autoAdjust="0"/>
  </p:normalViewPr>
  <p:slideViewPr>
    <p:cSldViewPr>
      <p:cViewPr varScale="1">
        <p:scale>
          <a:sx n="100" d="100"/>
          <a:sy n="100" d="100"/>
        </p:scale>
        <p:origin x="1914" y="96"/>
      </p:cViewPr>
      <p:guideLst>
        <p:guide orient="horz" pos="2222"/>
        <p:guide pos="292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63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714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8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862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433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558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59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569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447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559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74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981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385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465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026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840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372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369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632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437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  <a:t>2022/2/18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</a:t>
            </a:r>
            <a:r>
              <a:rPr lang="zh-CN" altLang="en-US" sz="24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en-US" altLang="zh-CN" sz="24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25666" y="1988840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156" y="3264142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4</a:t>
            </a:r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：储蓄、投资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</a:t>
            </a:r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金融系统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3280" y="1890373"/>
            <a:ext cx="85312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金融机构的定义和功能是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什么？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哪些类型？储蓄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投资是什么关系？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金融系统如何通过可贷资金市场，协调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储蓄和投资？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政府政策如何影响储蓄、投资和利率？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金融机构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280" y="1340768"/>
            <a:ext cx="8603216" cy="4713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金融机构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：从事金融业务的机构，包括银行、保险公司、证券公司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：一系列金融机构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总称，是有关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资金的流动、集中和分配的一个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金融市场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者向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借款人提供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的场所，是货币资金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借贷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外汇买卖、有价证券交易、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债券股票发行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、黄金等贵金属买卖场所的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总称。直接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金融市场与间接金融市场的结合共同构成金融市场整体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3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直接金融市场：包括债券市场、股票市场等。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3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间接金融市场：包括银行等。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3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：金融危机可以导致世界各国经济的衰退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金融机构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7300" y="1389106"/>
            <a:ext cx="6912767" cy="583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2008-2009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年的金融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危机：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失业率飙升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1037" y="2031401"/>
            <a:ext cx="7207388" cy="404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金融机构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1560" y="1484784"/>
            <a:ext cx="80648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资产价格大幅下跌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：股价、房价暴跌。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机构破产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：当许多业主停止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支付抵押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时（即“次贷危机”），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其他抵押贷款机构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倒闭。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对金融机构的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信心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：客户从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中挤兑资金（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Bank Run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11560" y="1364180"/>
            <a:ext cx="82089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信贷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紧缩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：陷入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困境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的金融机构对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借款人的信誉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没有信心，借款人无法获得贷款。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衰退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：投资下降，导致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下降、失业率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恶性循环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：经济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衰退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了利润和资产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，进一步导致投资下降，从而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了经济危机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金融机构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储蓄和投资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5576" y="1270184"/>
            <a:ext cx="7704856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国民收入中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用于消费（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）或纳税（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）的部分。不包括获得的政府转移支付，因为转移支付最终是消费的一部分。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= Y – T – C</a:t>
            </a: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政府税收中未用于政府购买的部分。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T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国民储蓄：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私人储蓄 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公共储蓄的总和。</a:t>
            </a:r>
          </a:p>
          <a:p>
            <a:pPr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= (Y – T – C) + (T – G)</a:t>
            </a:r>
          </a:p>
          <a:p>
            <a:pPr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= Y – C – G</a:t>
            </a:r>
          </a:p>
          <a:p>
            <a:pPr>
              <a:lnSpc>
                <a:spcPts val="38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国民收入中不用于消费或政府购买的部分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971600" y="1484784"/>
            <a:ext cx="76328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财政盈余：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政府税收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政府购买。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T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&gt;0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财政赤字：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政府税收不够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政府购买。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G – T</a:t>
            </a:r>
          </a:p>
          <a:p>
            <a:pPr marL="360045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–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（公共储蓄）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储蓄和投资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644312"/>
            <a:ext cx="8229600" cy="422463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支出法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核算式：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C + I + G + NX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假定封闭经济（无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C + I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国民储蓄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在封闭经济中的</a:t>
            </a:r>
            <a:r>
              <a:rPr lang="zh-CN" altLang="en-US" sz="2400" b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962976" y="4429066"/>
            <a:ext cx="2901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=  Y – C – G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75856" y="4391024"/>
            <a:ext cx="4494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latin typeface="Tahoma" panose="020B0604030504040204" pitchFamily="34" charset="0"/>
                <a:cs typeface="Arial" panose="020B0604020202020204" pitchFamily="34" charset="0"/>
              </a:rPr>
              <a:t>=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(Y – T – C) + (T – G)</a:t>
            </a:r>
          </a:p>
        </p:txBody>
      </p:sp>
      <p:grpSp>
        <p:nvGrpSpPr>
          <p:cNvPr id="10" name="Group 9"/>
          <p:cNvGrpSpPr/>
          <p:nvPr/>
        </p:nvGrpSpPr>
        <p:grpSpPr bwMode="auto">
          <a:xfrm>
            <a:off x="3935486" y="3517840"/>
            <a:ext cx="2825750" cy="911225"/>
            <a:chOff x="3006" y="2126"/>
            <a:chExt cx="1780" cy="619"/>
          </a:xfrm>
        </p:grpSpPr>
        <p:sp>
          <p:nvSpPr>
            <p:cNvPr id="11" name="AutoShape 7"/>
            <p:cNvSpPr/>
            <p:nvPr/>
          </p:nvSpPr>
          <p:spPr bwMode="auto">
            <a:xfrm rot="16200000">
              <a:off x="3686" y="1753"/>
              <a:ext cx="312" cy="1672"/>
            </a:xfrm>
            <a:prstGeom prst="rightBrace">
              <a:avLst>
                <a:gd name="adj1" fmla="val 90048"/>
                <a:gd name="adj2" fmla="val 50000"/>
              </a:avLst>
            </a:prstGeom>
            <a:noFill/>
            <a:ln w="19050">
              <a:solidFill>
                <a:srgbClr val="9966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600" dirty="0">
                <a:cs typeface="Arial" panose="020B0604020202020204" pitchFamily="34" charset="0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122" y="2126"/>
              <a:ext cx="1664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国民储蓄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储蓄和投资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5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72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：储蓄和投资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1560" y="1700808"/>
            <a:ext cx="77768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：某国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消费为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6.5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万亿，政府购买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预算赤字为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测算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：公共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储蓄、税收、私人储蓄、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储蓄、投资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27584" y="1484784"/>
            <a:ext cx="77768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= 10.0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6.5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 = 2.0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 – T = 0.3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测算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公共储蓄：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– G =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0.3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= G – 0.3 =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– T – C = 10 – 1.7 – 6.5 =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1.8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– C – G = 10 – 6.5 – 2 =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国民储蓄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72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：储蓄和投资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539552" y="1556792"/>
            <a:ext cx="8280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减税如何影响储蓄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：继续前例，但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现在假设政府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减税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万亿。在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以下两种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中，分别测算公共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储蓄、私人储蓄、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储蓄、投资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会发生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7245" lvl="1"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）减税全部转化为私人储蓄。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17245" lvl="1"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）减税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为私人储蓄，私人消费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另外的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3/4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72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：储蓄和投资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11560" y="1484784"/>
            <a:ext cx="8208912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亿，导致公共储蓄（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-G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）减少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如果：（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减税全部转化为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– T –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，增加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国民储蓄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– C –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，保持不变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如果：（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减税的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转化为储蓄，消费另外的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3/4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则：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私人储蓄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Y – T – C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0.05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国民储蓄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Y – C – G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，减少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0.15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投资减少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0.15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万亿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72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：储蓄和投资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11560" y="1484784"/>
            <a:ext cx="8280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场景哪个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现实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？私人至少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花费减税收益的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一部分。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这个问题很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？根据我们在“生产和增长”一章中学到的知识，从长远来看，投资下降会导致生活水平下降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。减税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看起来很有吸引力（毕竟没有人喜欢纳税），但它们并非没有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代价，我们看到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减税如何导致封闭经济中的投资下降。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14137" y="641967"/>
            <a:ext cx="3724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：储蓄和投资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储蓄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投资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1560" y="1446203"/>
            <a:ext cx="7916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是增加资本存量，比如购买新机器、建设新厂房等。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举例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为斥资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亿在东莞松山湖建造新工厂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工大校园打印社购买了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元的印刷机。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：经济学中，投资不是购买股票和债券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！！！</a:t>
            </a:r>
            <a:endParaRPr lang="zh-CN" altLang="en-US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可贷资金市场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55576" y="1556792"/>
            <a:ext cx="78488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是金融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资金供求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可贷资金市场模型帮助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我们理解：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金融系统如何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协调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储蓄（供给）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投资（需求）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政策等因素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如何影响储蓄、投资和利率。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11560" y="1450734"/>
            <a:ext cx="78488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我们以最直观的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这个间接金融市场来说明。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：可贷资金。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：所有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储蓄者都将他们的储蓄存入这个市场。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：所有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借款人都从这个市场获得贷款。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：可贷资金的价格，只有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，既是储蓄的回报，也是借款投资的成本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可贷资金市场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33281" y="1556792"/>
            <a:ext cx="83871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贷资金的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（私人储蓄和公共储蓄）。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私人储蓄：有净收入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的家庭可以将其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出，并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赚取利息。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储蓄：如果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为正，会增加国民储蓄和可贷资金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供给；如果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为负，则减少国民储蓄和可贷资金的供给。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市场：供给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5220578" y="1772816"/>
            <a:ext cx="2952328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利率的提高使储蓄更具吸引力，从而增加了可贷资金的供给量。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72816"/>
            <a:ext cx="4429157" cy="30051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市场：供给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5576" y="1556792"/>
            <a:ext cx="7776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贷资金需求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企业借用资金购买新设备、修建工厂等。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市场：需求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5363701" y="1556494"/>
            <a:ext cx="2952328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利率下降降低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借款投资成本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，从而增加了可贷资金的需求量。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15" y="1556157"/>
            <a:ext cx="4343432" cy="3062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市场：需求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5508104" y="1556792"/>
            <a:ext cx="2016224" cy="8377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利率调整使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供需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相等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5508104" y="3186806"/>
            <a:ext cx="2867025" cy="1255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可贷资金的均衡数量等于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均衡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投资数量和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均衡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储蓄数量。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56792"/>
            <a:ext cx="4476783" cy="3205186"/>
          </a:xfrm>
          <a:prstGeom prst="rect">
            <a:avLst/>
          </a:prstGeom>
        </p:spPr>
      </p:pic>
      <p:sp>
        <p:nvSpPr>
          <p:cNvPr id="9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市场：均衡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5958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可贷资金市场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：政策的影响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556792"/>
            <a:ext cx="8064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使用可贷资金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模型分析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政府政策的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影响：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出初始平衡图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确定政府出台政策后，哪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条曲线移动。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在图表上绘制新曲线。</a:t>
            </a:r>
          </a:p>
          <a:p>
            <a:pPr marL="914400" lvl="1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利率和可贷资金的新均衡值。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资金市场：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储蓄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激励政策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5004048" y="1490175"/>
            <a:ext cx="3744416" cy="8679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政府鼓励储蓄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税收减免政策，增加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了可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贷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资金。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4999374" y="2838686"/>
            <a:ext cx="3749090" cy="11521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…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降低了均衡利率并增加了可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贷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资金。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84784"/>
            <a:ext cx="3905279" cy="3081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可贷资金市场：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投资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激励政策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4932040" y="1844824"/>
            <a:ext cx="3293467" cy="12557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投资税收减免的鼓励政策，增加了可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贷资金的需求。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4977898" y="3356993"/>
            <a:ext cx="3266510" cy="8640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…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提高了均衡利率并增加了可贷资金。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40" y="1749425"/>
            <a:ext cx="4177665" cy="3358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4995402" y="1484784"/>
            <a:ext cx="3367087" cy="8840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预算赤字减少了国民储蓄和可贷资金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4995403" y="2736633"/>
            <a:ext cx="3367087" cy="12961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50000"/>
              </a:spcBef>
              <a:defRPr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这增加了均衡利率并减少了可贷资金和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投资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的均衡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数量。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4137" y="641967"/>
            <a:ext cx="5958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可贷资金市场：预算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赤字政策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84784"/>
            <a:ext cx="3962429" cy="3081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84" y="1556792"/>
            <a:ext cx="7488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赤字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增加导致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下降。</a:t>
            </a:r>
            <a:endParaRPr lang="en-US" altLang="zh-CN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挤出效应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：投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对长期经济增长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重要，因此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，预算赤字会降低经济增长率和未来的生活水平。</a:t>
            </a:r>
          </a:p>
        </p:txBody>
      </p:sp>
      <p:sp>
        <p:nvSpPr>
          <p:cNvPr id="6" name="TextBox 9"/>
          <p:cNvSpPr txBox="1"/>
          <p:nvPr/>
        </p:nvSpPr>
        <p:spPr>
          <a:xfrm>
            <a:off x="414137" y="641967"/>
            <a:ext cx="5958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可贷资金市场：预算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赤字政策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560" y="1556792"/>
            <a:ext cx="78488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政府通过借贷（出售政府债券）来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弥补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赤字，持续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的赤字导致政府债务上升。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政府债务与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负担率，又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称国民经济承受能力，反映了整个国民经济对国债的承受能力。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年，中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国的这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一比例是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45.8%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，低于国际同行的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的警戒线，总体风险可控。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14137" y="641967"/>
            <a:ext cx="5958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可贷资金市场：预算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赤字政策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</a:t>
            </a:r>
            <a:r>
              <a:rPr lang="zh-CN" altLang="en-US" sz="24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en-US" altLang="zh-CN" sz="24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3600400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89540" y="2209683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5696" y="3264142"/>
            <a:ext cx="5454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：基础金融工具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5457</TotalTime>
  <Words>1588</Words>
  <Application>Microsoft Office PowerPoint</Application>
  <PresentationFormat>全屏显示(4:3)</PresentationFormat>
  <Paragraphs>155</Paragraphs>
  <Slides>29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等线</vt:lpstr>
      <vt:lpstr>华光中雅_CNKI</vt:lpstr>
      <vt:lpstr>思源黑体 CN Bold</vt:lpstr>
      <vt:lpstr>思源黑体 CN Light</vt:lpstr>
      <vt:lpstr>思源黑体 CN Regular</vt:lpstr>
      <vt:lpstr>宋体</vt:lpstr>
      <vt:lpstr>微软雅黑</vt:lpstr>
      <vt:lpstr>Arial</vt:lpstr>
      <vt:lpstr>Calibri</vt:lpstr>
      <vt:lpstr>Tahoma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Windows 用户</cp:lastModifiedBy>
  <cp:revision>191</cp:revision>
  <dcterms:created xsi:type="dcterms:W3CDTF">2020-07-01T07:18:00Z</dcterms:created>
  <dcterms:modified xsi:type="dcterms:W3CDTF">2022-02-21T04:27:12Z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C0F04E2225324CEF9E387B8D47EE8777</vt:lpwstr>
  </property>
</Properties>
</file>