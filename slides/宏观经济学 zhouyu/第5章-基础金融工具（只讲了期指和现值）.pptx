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66" r:id="rId2"/>
    <p:sldId id="257" r:id="rId3"/>
    <p:sldId id="283" r:id="rId4"/>
    <p:sldId id="281" r:id="rId5"/>
    <p:sldId id="347" r:id="rId6"/>
    <p:sldId id="280" r:id="rId7"/>
    <p:sldId id="377" r:id="rId8"/>
    <p:sldId id="315" r:id="rId9"/>
    <p:sldId id="321" r:id="rId10"/>
    <p:sldId id="320" r:id="rId11"/>
    <p:sldId id="322" r:id="rId12"/>
    <p:sldId id="317" r:id="rId13"/>
    <p:sldId id="316" r:id="rId14"/>
    <p:sldId id="330" r:id="rId15"/>
    <p:sldId id="329" r:id="rId16"/>
    <p:sldId id="376" r:id="rId17"/>
    <p:sldId id="328" r:id="rId18"/>
    <p:sldId id="326" r:id="rId19"/>
    <p:sldId id="324" r:id="rId20"/>
    <p:sldId id="323" r:id="rId21"/>
    <p:sldId id="335" r:id="rId22"/>
    <p:sldId id="334" r:id="rId23"/>
    <p:sldId id="336" r:id="rId24"/>
    <p:sldId id="337" r:id="rId25"/>
    <p:sldId id="333" r:id="rId26"/>
    <p:sldId id="332" r:id="rId27"/>
    <p:sldId id="343" r:id="rId28"/>
    <p:sldId id="342" r:id="rId29"/>
    <p:sldId id="340" r:id="rId30"/>
    <p:sldId id="338" r:id="rId31"/>
    <p:sldId id="346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9">
          <p15:clr>
            <a:srgbClr val="A4A3A4"/>
          </p15:clr>
        </p15:guide>
        <p15:guide id="2" pos="29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49" autoAdjust="0"/>
    <p:restoredTop sz="81342" autoAdjust="0"/>
  </p:normalViewPr>
  <p:slideViewPr>
    <p:cSldViewPr>
      <p:cViewPr varScale="1">
        <p:scale>
          <a:sx n="94" d="100"/>
          <a:sy n="94" d="100"/>
        </p:scale>
        <p:origin x="2076" y="90"/>
      </p:cViewPr>
      <p:guideLst>
        <p:guide orient="horz" pos="2219"/>
        <p:guide pos="29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92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062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62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895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525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55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大量购买将用于投机目的。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698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大量购买将用于投机目的。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533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010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76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89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263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255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733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079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74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436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339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436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782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7790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599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89540" y="2209683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696" y="3264142"/>
            <a:ext cx="5454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：基础金融工具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3281" y="1484784"/>
            <a:ext cx="83871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“现值”？如何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使用它来比较不同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时期的金额？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为什么人们厌恶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风险？风险厌恶的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人如何使用保险和多元化来管理风险？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什么决定了资产的价值？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“有效市场假说（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EMH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）”？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现值：定义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7455" y="1556792"/>
            <a:ext cx="83871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为了比较不同时期的金额，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现值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概念。现值的概念体现了货币的时间价值。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现值（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present value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现行利率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(r)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下，产生未来给定金额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现在金额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期值（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value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现行利率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(r)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赚取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时，现在金额在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给定未来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未来金额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现值：计算公式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84" y="1516448"/>
            <a:ext cx="79928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期值计算公式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年后，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PV (1 + r) 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的利率在银行存入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元，该笔金额的期值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(FV)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是多少？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三年后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100(1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+ 0.05)</a:t>
            </a:r>
            <a:r>
              <a:rPr lang="en-US" altLang="zh-CN" sz="2400" baseline="30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115.76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两年后，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100(1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+ 0.05)</a:t>
            </a:r>
            <a:r>
              <a:rPr lang="en-US" altLang="zh-CN" sz="2400" baseline="30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110.25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一年内，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100(1 + 0.05)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105.00</a:t>
            </a: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现值计算公式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= FV/(1 + r) 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54868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现值：复利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504" y="1268760"/>
            <a:ext cx="8928992" cy="496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复利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赚取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的利息还要赚取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额外的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利息。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复利：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= PV (1 + r) </a:t>
            </a:r>
            <a:r>
              <a:rPr lang="en-US" altLang="zh-CN" sz="24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单利：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= PV (1 +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r)</a:t>
            </a:r>
            <a:endParaRPr lang="en-US" altLang="zh-CN" sz="2400" baseline="30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由于复利，利率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的微小差异会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导致巨大的期值差异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举例：购买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10,000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PV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）的保险分红产品，持有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02945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收益率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)=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0.08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FV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100,630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（复利），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36004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FV =34,000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（单利）。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02945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收益率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)=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FV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174,500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（复利），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36004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FV =40,000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（单利）。</a:t>
            </a:r>
          </a:p>
          <a:p>
            <a:pPr marL="702945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收益率增加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的情况下，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如果复利，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就会在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年间赚取超过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70,000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元的额外利息；如果不复利，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赚取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额外利息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仅仅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6,000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3281" y="54868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现值：复利因子表（部分）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156178"/>
              </p:ext>
            </p:extLst>
          </p:nvPr>
        </p:nvGraphicFramePr>
        <p:xfrm>
          <a:off x="827584" y="1484784"/>
          <a:ext cx="7772403" cy="4460874"/>
        </p:xfrm>
        <a:graphic>
          <a:graphicData uri="http://schemas.openxmlformats.org/drawingml/2006/table">
            <a:tbl>
              <a:tblPr/>
              <a:tblGrid>
                <a:gridCol w="4643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690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690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431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0376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6902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690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8263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432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96902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6902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4055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0.05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0.1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0.05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0.1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0.05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0.1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1.05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1.1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1.71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2.85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2.7859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7.40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1.10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1.21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12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1.79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3.13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22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2.9252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8.14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1.15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1.33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13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1.88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3.45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23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3.0715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8.95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1.21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1.46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1.97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3.79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3.2251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9.84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1.27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1.61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2.07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4.17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3.3863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10.83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1.34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1.77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16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2.18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4.59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26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3.5556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11.91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1.40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1.94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2.29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5.05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3.7334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13.10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1.47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2.14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18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2.40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5.55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28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3.9201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14.42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1.55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2.35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2.52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6.11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4.1161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15.86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5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1.62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2.59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2.65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6.72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 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30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4.3219</a:t>
                      </a:r>
                      <a:endParaRPr 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17.44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719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70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法则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307" y="1484793"/>
            <a:ext cx="7920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法则：如果一个变量以每年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x%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的速度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复利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增长，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那么该变量将在大约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70/x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年内翻一番。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如果利率为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5%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，资金将在大约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年内翻一番。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如果利率为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7%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资金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将在大约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翻一番。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如果利率为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资金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将在大约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年内翻一番。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180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现值：投资决策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8432" y="1352475"/>
            <a:ext cx="8204047" cy="3942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举例：假设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0.06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华为是否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应该花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建造一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个在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年后能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亿元营业收入的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工厂？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亿元的现值。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7245" lvl="1">
              <a:lnSpc>
                <a:spcPts val="38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1+0.06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1.12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7245" lvl="1">
              <a:lnSpc>
                <a:spcPts val="38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1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，所以华为应该建造。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亿元的期值。</a:t>
            </a:r>
          </a:p>
          <a:p>
            <a:pPr marL="817245" lvl="1"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=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亿元）（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1.06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1.79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</a:p>
          <a:p>
            <a:pPr marL="817245" lvl="1">
              <a:lnSpc>
                <a:spcPts val="38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FV &lt; 2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亿元营业收入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，所以华为应该建造。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2" y="1591894"/>
            <a:ext cx="84249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假设利率上升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0.09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华为是否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应该花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建造一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个在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年后能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亿元营业收入的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工厂？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思路：计算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亿元的现值。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7245"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1+0.09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aseline="30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7245" lvl="1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1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，所以华为不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应该建造它。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5865" y="4729495"/>
            <a:ext cx="8012309" cy="535781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lnSpc>
                <a:spcPct val="110000"/>
              </a:lnSpc>
              <a:defRPr/>
            </a:pPr>
            <a:r>
              <a:rPr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演示了为什么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当利率上升时投资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会下降！</a:t>
            </a:r>
            <a:endParaRPr 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现值：投资决策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560" y="1484784"/>
            <a:ext cx="8280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举例：你考虑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70,000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平米的价格购买一套住宅，预计五年后，该套住宅的单价将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达到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100,000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平米。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6905"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= 0.05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，您是否应该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购买该住宅？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6905"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您的决策是否发生变化？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现值：投资决策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9839" y="1420316"/>
            <a:ext cx="7920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0.05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6905"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100,000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/(1+0.05)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78,350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6905" lvl="1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&gt;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当期单价。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0.10 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6905" lvl="1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= 100,000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/(1+0.1)</a:t>
            </a:r>
            <a:r>
              <a:rPr lang="en-US" altLang="zh-CN" sz="2400" baseline="30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62,090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元。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6905" lvl="1"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 &lt;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当期单价。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不应该买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现值：投资决策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650" y="1340485"/>
            <a:ext cx="81400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厌恶风险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：缘于人们普遍不喜欢不确定性。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举例：扔一枚硬币，正、方面的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可能性都是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如果正面朝上，将赢得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如果反面朝上，将损失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你应该赌这个吗？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对风险厌恶者来说，失去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元的痛苦将超过赢得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元的幸福，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所以不应该赌这个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效用函数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83968" y="1628800"/>
            <a:ext cx="4536504" cy="41764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467544" y="1628800"/>
            <a:ext cx="3736975" cy="10147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效用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是幸福的主观衡量标准，取决于财富多少。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Rectangle 20"/>
          <p:cNvSpPr txBox="1">
            <a:spLocks noChangeArrowheads="1"/>
          </p:cNvSpPr>
          <p:nvPr/>
        </p:nvSpPr>
        <p:spPr>
          <a:xfrm>
            <a:off x="467544" y="2780928"/>
            <a:ext cx="3792855" cy="21545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随着财富增加，由于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边际效用递减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，曲线变得平坦：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即，一个人拥有的财富越多，他从额外的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单位财富中获得的额外效用就越少。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7" grpId="1" bldLvl="0" animBg="1"/>
      <p:bldP spid="8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7" name="Group 32"/>
          <p:cNvGrpSpPr/>
          <p:nvPr/>
        </p:nvGrpSpPr>
        <p:grpSpPr bwMode="auto">
          <a:xfrm>
            <a:off x="214564" y="2287905"/>
            <a:ext cx="3114106" cy="798195"/>
            <a:chOff x="1425" y="1017"/>
            <a:chExt cx="1632" cy="503"/>
          </a:xfrm>
        </p:grpSpPr>
        <p:sp>
          <p:nvSpPr>
            <p:cNvPr id="8" name="AutoShape 33"/>
            <p:cNvSpPr/>
            <p:nvPr/>
          </p:nvSpPr>
          <p:spPr bwMode="auto">
            <a:xfrm>
              <a:off x="2943" y="1256"/>
              <a:ext cx="114" cy="264"/>
            </a:xfrm>
            <a:prstGeom prst="leftBrace">
              <a:avLst>
                <a:gd name="adj1" fmla="val 30405"/>
                <a:gd name="adj2" fmla="val 50000"/>
              </a:avLst>
            </a:prstGeom>
            <a:noFill/>
            <a:ln w="12700">
              <a:solidFill>
                <a:srgbClr val="3399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9" name="Text Box 34"/>
            <p:cNvSpPr txBox="1">
              <a:spLocks noChangeArrowheads="1"/>
            </p:cNvSpPr>
            <p:nvPr/>
          </p:nvSpPr>
          <p:spPr bwMode="auto">
            <a:xfrm>
              <a:off x="1425" y="1017"/>
              <a:ext cx="1505" cy="4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赢得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1000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元造成的效用增加（幸福）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0" name="Group 29"/>
          <p:cNvGrpSpPr/>
          <p:nvPr/>
        </p:nvGrpSpPr>
        <p:grpSpPr bwMode="auto">
          <a:xfrm>
            <a:off x="213995" y="3100705"/>
            <a:ext cx="3114675" cy="739207"/>
            <a:chOff x="1319" y="1593"/>
            <a:chExt cx="1738" cy="450"/>
          </a:xfrm>
        </p:grpSpPr>
        <p:sp>
          <p:nvSpPr>
            <p:cNvPr id="11" name="AutoShape 30"/>
            <p:cNvSpPr/>
            <p:nvPr/>
          </p:nvSpPr>
          <p:spPr bwMode="auto">
            <a:xfrm>
              <a:off x="2943" y="1593"/>
              <a:ext cx="114" cy="383"/>
            </a:xfrm>
            <a:prstGeom prst="leftBrace">
              <a:avLst>
                <a:gd name="adj1" fmla="val 52173"/>
                <a:gd name="adj2" fmla="val 50000"/>
              </a:avLst>
            </a:prstGeom>
            <a:noFill/>
            <a:ln w="12700">
              <a:solidFill>
                <a:srgbClr val="A5002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cs typeface="Arial" panose="020B0604020202020204" pitchFamily="34" charset="0"/>
              </a:endParaRPr>
            </a:p>
          </p:txBody>
        </p:sp>
        <p:sp>
          <p:nvSpPr>
            <p:cNvPr id="12" name="Text Box 31"/>
            <p:cNvSpPr txBox="1">
              <a:spLocks noChangeArrowheads="1"/>
            </p:cNvSpPr>
            <p:nvPr/>
          </p:nvSpPr>
          <p:spPr bwMode="auto">
            <a:xfrm>
              <a:off x="1319" y="1593"/>
              <a:ext cx="1603" cy="45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损失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1000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元造成的效用降低（痛苦）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87960" y="4149090"/>
            <a:ext cx="2942590" cy="15640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</a:t>
            </a:r>
            <a:r>
              <a:rPr lang="zh-CN" altLang="en-US" sz="2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边际效用递减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，损失 </a:t>
            </a:r>
            <a:r>
              <a:rPr lang="en-US" altLang="zh-CN" sz="2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 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元的痛苦大于赢得 </a:t>
            </a:r>
            <a:r>
              <a:rPr lang="en-US" altLang="zh-CN" sz="2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1000 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元的幸福。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6091" r="-1"/>
          <a:stretch>
            <a:fillRect/>
          </a:stretch>
        </p:blipFill>
        <p:spPr>
          <a:xfrm>
            <a:off x="3451860" y="1638300"/>
            <a:ext cx="4925060" cy="4478020"/>
          </a:xfrm>
          <a:prstGeom prst="rect">
            <a:avLst/>
          </a:prstGeom>
        </p:spPr>
      </p:pic>
      <p:sp>
        <p:nvSpPr>
          <p:cNvPr id="14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效用函数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风险管理：保险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360" y="1556385"/>
            <a:ext cx="8013065" cy="3304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：个人向保险公司支付费用（保费），保险公司则承担部分或全部风险（保额）。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保险可以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分散风险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：并使规避风险的人幸福感更高，因为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一个人承担微小比例的风险比一个人独自承担全部风险要容易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2" y="1484784"/>
            <a:ext cx="8450580" cy="4521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举例：汽车盗窃险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假设汽车被盗的风险是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万分之一，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发生汽车被盗，保险公司需平均赔付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万元。如果有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万台车购买保险，则保险公司可以设置每台车的保费是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1257300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保险公司：不亏不赢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为什么？</a:t>
            </a:r>
          </a:p>
          <a:p>
            <a:pPr marL="1257300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风险规避者：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不亏不赢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为什么？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实际中，保险公司设置的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每台车的保费大于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</a:t>
            </a:r>
          </a:p>
          <a:p>
            <a:pPr marL="1257300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保险公司：盈利，</a:t>
            </a: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为什么？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57300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风险规避者：额外成本支出，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为什么？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自身的风险被分担了，这种权利是需要支付成本的。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风险管理：保险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520" y="1484784"/>
            <a:ext cx="8449057" cy="414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保险市场的两大问题：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逆向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道德风险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逆向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高风险人群更有可能出险，从而从保险中获益，因此更有可能购买保险。比如，患有慢性病的人比其他人更有动力购买健康保险。</a:t>
            </a:r>
          </a:p>
          <a:p>
            <a:pPr marL="800100" lvl="1" indent="-342900">
              <a:lnSpc>
                <a:spcPts val="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道德风险：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购买过保险的人避险的动机较弱。比如，拥有火灾保险的人不太愿意更换烟雾探测器中的电池。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spcBef>
                <a:spcPts val="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保险公司无法完全防范这些问题，因此必须收取更高保费。</a:t>
            </a:r>
          </a:p>
          <a:p>
            <a:pPr marL="342900" indent="-342900">
              <a:lnSpc>
                <a:spcPts val="4000"/>
              </a:lnSpc>
              <a:spcBef>
                <a:spcPts val="4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结果：低风险人群有时会放弃购买保险。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劣币驱除良币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风险管理：保险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560" y="1196752"/>
            <a:ext cx="81369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确定以下每一项是逆向选择还是道德风险？</a:t>
            </a:r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王在购买了火灾保险后开始在床上吸烟。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道德风险</a:t>
            </a:r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李姐的父母都因牙龈疾病失去了牙齿，所以李姐购买了牙科保险。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逆向选择</a:t>
            </a:r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当小张停放她的保时捷敞篷车时，她不会费心拉上敞篷，因为她的保险涵盖车内任何物品的失窃。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道德风险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风险管理：保险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2" y="1340768"/>
            <a:ext cx="8416782" cy="368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多元化：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用大量较小的、不相关的风险代替单一风险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来降低总体风险水平。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资产会实现高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回报，但是风险高；有些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实现低回报，但是风险低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风险和回报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孪生兄弟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”）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多元化投资组合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：包含的资产相关性不强、高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回报和低回报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平均化，因此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投资组合可能比其包含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的任何资产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更稳定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地获得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风险管理：多元化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544" y="141277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：我们可以用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标准差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来衡量资产回报的风险，标准差是衡量变量波动性的统计指标。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资产回报的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标准差越高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风险越大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风险管理：多元化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372200" y="2996952"/>
            <a:ext cx="2664296" cy="15336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股票种类会降低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投资组合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9592" y="1772816"/>
            <a:ext cx="5386953" cy="4369688"/>
          </a:xfrm>
          <a:prstGeom prst="rect">
            <a:avLst/>
          </a:prstGeom>
        </p:spPr>
      </p:pic>
      <p:sp>
        <p:nvSpPr>
          <p:cNvPr id="10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风险管理：多元化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5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风险管理：风险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与回报之间的权衡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552" y="1484784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而言，风险较高的资产支付更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的回报率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，以补偿持有它们的额外风险。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以美国为例，在过去近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年中，股票（高风险资产）的平均实际回报率为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，而短期政府债券（低风险资产）为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84" y="1484784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举例：两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个资产类别。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一组风险股票：平均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回报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8%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，标准差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20%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一组安全资产：回报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，标准差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投资组合的风险和回报取决于投资组合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中每类资产的百分比。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风险管理：风险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与回报之间的权衡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7" name="Picture 13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25" y="1406621"/>
            <a:ext cx="5957876" cy="4621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23528" y="1406621"/>
            <a:ext cx="1197432" cy="101566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回报（每年百分比）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96136" y="5312011"/>
            <a:ext cx="1454620" cy="70788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标准差</a:t>
            </a:r>
            <a:r>
              <a:rPr lang="zh-CN" altLang="en-US" sz="20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804248" y="1556792"/>
            <a:ext cx="2189163" cy="2232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增加投资组合中股票的份额会增加平均回报，但也会增加风险。</a:t>
            </a:r>
            <a:endParaRPr lang="en-US" sz="2400" dirty="0"/>
          </a:p>
        </p:txBody>
      </p:sp>
      <p:sp>
        <p:nvSpPr>
          <p:cNvPr id="10" name="TextBox 5"/>
          <p:cNvSpPr txBox="1"/>
          <p:nvPr/>
        </p:nvSpPr>
        <p:spPr>
          <a:xfrm>
            <a:off x="414137" y="641967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风险管理：风险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与回报之间的权衡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资产评估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852" y="1683474"/>
            <a:ext cx="80776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在决定是否购买一家公司的股票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时，投资者会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将股票的价格与公司的价值进行比较。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如果股价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价值，则股票被高估。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如果价格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价值，则股票被低估。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如果价格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价值，则该股票的估值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股票价格很容易获得，但是如何估算股票的价值呢？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2" y="1412776"/>
            <a:ext cx="8136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举例：对股票进行估值。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今天购买某只股票，持有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年之后，预计可以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元的价格出售它。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每年年末都会收到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元的分红。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现行利率为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：今天这只股票的价值是多少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？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资产评估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22217"/>
              </p:ext>
            </p:extLst>
          </p:nvPr>
        </p:nvGraphicFramePr>
        <p:xfrm>
          <a:off x="1043608" y="2276872"/>
          <a:ext cx="7008441" cy="3472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1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361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361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520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现金流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什么时候收到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现金流现值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0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0.95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0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0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0.86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0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25.92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资产评估</a:t>
            </a:r>
          </a:p>
        </p:txBody>
      </p:sp>
      <p:sp>
        <p:nvSpPr>
          <p:cNvPr id="8" name="TextBox 15"/>
          <p:cNvSpPr txBox="1"/>
          <p:nvPr/>
        </p:nvSpPr>
        <p:spPr>
          <a:xfrm>
            <a:off x="611560" y="1412776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该只股票的价值：最后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一列中数字的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总和：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28.64 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元。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6618" y="1582629"/>
            <a:ext cx="81678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：未来每期现金流的现值的总和。未来每期现金流包括每期分红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、末期出售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股票的价格。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基本面分析：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我们需要研究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的会计报表、未来行业前景等指标，来估算未来每期现金流。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资产评估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有效市场假说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544" y="1340768"/>
            <a:ext cx="84249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有效市场假说（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EMH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：每个资产价格都反映了有关该资产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的所有的、公开的、可用信息。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股票市场在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信息上是有效的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：每只股票价格都反映了有关该公司价值的所有的公开的可用信息。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股票价格遵循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随机游走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：因为股票价格只会随着有关公司价值的新信息（“新闻”）而变化。而新闻无法预测，因此股价走势也无法预测。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不可能系统地战胜市场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：投资者不可能战胜大盘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1570" y="1412776"/>
            <a:ext cx="81909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市场非理性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：许多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人质疑有效市场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假说，认为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心理因素影响资产价格。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恩斯：受“动物精神”、“悲观和乐观浪潮”驱动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的股价。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格林斯潘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因“非理性繁荣” （虚假繁荣）而繁荣的股市。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投机者往往购买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被高估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的资产，预期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进一步上涨，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泡沫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（“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追高杀跌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有效市场假说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1041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4933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6239" y="2027937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82300" y="3043255"/>
            <a:ext cx="3366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：失业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5511</TotalTime>
  <Words>2222</Words>
  <Application>Microsoft Office PowerPoint</Application>
  <PresentationFormat>全屏显示(4:3)</PresentationFormat>
  <Paragraphs>318</Paragraphs>
  <Slides>31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等线</vt:lpstr>
      <vt:lpstr>华光中雅_CNKI</vt:lpstr>
      <vt:lpstr>思源黑体 CN Bold</vt:lpstr>
      <vt:lpstr>思源黑体 CN Light</vt:lpstr>
      <vt:lpstr>思源黑体 CN Regular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Windows 用户</cp:lastModifiedBy>
  <cp:revision>216</cp:revision>
  <dcterms:created xsi:type="dcterms:W3CDTF">2020-07-01T07:18:00Z</dcterms:created>
  <dcterms:modified xsi:type="dcterms:W3CDTF">2021-12-08T14:06:02Z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6F13497C14804BDA8A48980C1707FA89</vt:lpwstr>
  </property>
</Properties>
</file>