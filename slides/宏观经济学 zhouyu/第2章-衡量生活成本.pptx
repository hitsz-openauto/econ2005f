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66" r:id="rId2"/>
    <p:sldId id="257" r:id="rId3"/>
    <p:sldId id="268" r:id="rId4"/>
    <p:sldId id="269" r:id="rId5"/>
    <p:sldId id="308" r:id="rId6"/>
    <p:sldId id="272" r:id="rId7"/>
    <p:sldId id="270" r:id="rId8"/>
    <p:sldId id="276" r:id="rId9"/>
    <p:sldId id="277" r:id="rId10"/>
    <p:sldId id="274" r:id="rId11"/>
    <p:sldId id="304" r:id="rId12"/>
    <p:sldId id="305" r:id="rId13"/>
    <p:sldId id="273" r:id="rId14"/>
    <p:sldId id="284" r:id="rId15"/>
    <p:sldId id="306" r:id="rId16"/>
    <p:sldId id="283" r:id="rId17"/>
    <p:sldId id="307" r:id="rId18"/>
    <p:sldId id="309" r:id="rId19"/>
    <p:sldId id="291" r:id="rId20"/>
    <p:sldId id="287" r:id="rId21"/>
    <p:sldId id="292" r:id="rId22"/>
    <p:sldId id="293" r:id="rId23"/>
    <p:sldId id="285" r:id="rId24"/>
    <p:sldId id="299" r:id="rId25"/>
    <p:sldId id="297" r:id="rId26"/>
    <p:sldId id="300" r:id="rId27"/>
    <p:sldId id="296" r:id="rId28"/>
    <p:sldId id="301" r:id="rId2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A4A3A4"/>
          </p15:clr>
        </p15:guide>
        <p15:guide id="2" pos="292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Z" initials="Y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45" autoAdjust="0"/>
  </p:normalViewPr>
  <p:slideViewPr>
    <p:cSldViewPr>
      <p:cViewPr varScale="1">
        <p:scale>
          <a:sx n="103" d="100"/>
          <a:sy n="103" d="100"/>
        </p:scale>
        <p:origin x="1854" y="102"/>
      </p:cViewPr>
      <p:guideLst>
        <p:guide orient="horz" pos="2198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5838;&#31243;&#24314;&#35774;\&#35838;&#31243;&#24605;&#25919;&#35838;&#20214;-&#32463;&#27982;&#23398;&#21407;&#29702;B-&#21608;&#35947;-&#20013;&#26399;&#26448;&#26009;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dministrator\Desktop\&#35838;&#31243;&#24314;&#35774;\&#24180;&#24230;&#25968;&#25454;.xls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35838;&#31243;&#24314;&#35774;\CPI_&#24403;&#26376;&#20540;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564615980379504"/>
          <c:y val="0.12598132361553976"/>
          <c:w val="0.4260847295727378"/>
          <c:h val="0.67125951714713339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B5D-4F34-8546-B01ECE1F6F9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B5D-4F34-8546-B01ECE1F6F9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B5D-4F34-8546-B01ECE1F6F9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B5D-4F34-8546-B01ECE1F6F9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8B5D-4F34-8546-B01ECE1F6F94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8B5D-4F34-8546-B01ECE1F6F94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8B5D-4F34-8546-B01ECE1F6F94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8B5D-4F34-8546-B01ECE1F6F94}"/>
              </c:ext>
            </c:extLst>
          </c:dPt>
          <c:dLbls>
            <c:dLbl>
              <c:idx val="0"/>
              <c:layout>
                <c:manualLayout>
                  <c:x val="0.10754098360655738"/>
                  <c:y val="-7.024793388429753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B5D-4F34-8546-B01ECE1F6F9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20141837773076202"/>
                  <c:y val="2.373818746913911E-2"/>
                </c:manualLayout>
              </c:layout>
              <c:spPr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5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B5D-4F34-8546-B01ECE1F6F94}"/>
                </c:ext>
                <c:ext xmlns:c15="http://schemas.microsoft.com/office/drawing/2012/chart" uri="{CE6537A1-D6FC-4f65-9D91-7224C49458BB}">
                  <c15:layout>
                    <c:manualLayout>
                      <c:w val="0.2684581048634746"/>
                      <c:h val="0.1533814981009642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8.0780688587772556E-2"/>
                  <c:y val="7.8951914947303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8B5D-4F34-8546-B01ECE1F6F9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4.5100334069820655E-2"/>
                  <c:y val="-0.23039483371904063"/>
                </c:manualLayout>
              </c:layout>
              <c:spPr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5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5436387269972"/>
                      <c:h val="0.15640893949636481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1.5737728850377962E-2"/>
                  <c:y val="0.1575528801884536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B5D-4F34-8546-B01ECE1F6F94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-3.5346017813347105E-2"/>
                  <c:y val="0.11589379839916705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8B5D-4F34-8546-B01ECE1F6F94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-8.3333333333333329E-2"/>
                  <c:y val="1.3888888888888888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8B5D-4F34-8546-B01ECE1F6F94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5.877690051444015E-2"/>
                  <c:y val="-0.12498258197300112"/>
                </c:manualLayout>
              </c:layout>
              <c:spPr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500" b="1" i="0" u="none" strike="noStrike" kern="1200" baseline="0">
                      <a:solidFill>
                        <a:srgbClr val="FFFF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085693392637648"/>
                      <c:h val="0.12460950666498449"/>
                    </c:manualLayout>
                  </c15:layout>
                </c:ext>
              </c:extLst>
            </c:dLbl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1" i="0" u="none" strike="noStrike" kern="1200" baseline="0">
                    <a:solidFill>
                      <a:srgbClr val="FFFF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Sheet1!$M$15:$M$22</c:f>
              <c:strCache>
                <c:ptCount val="8"/>
                <c:pt idx="0">
                  <c:v>食品烟酒</c:v>
                </c:pt>
                <c:pt idx="1">
                  <c:v>生活用品及服务</c:v>
                </c:pt>
                <c:pt idx="2">
                  <c:v>医疗保健</c:v>
                </c:pt>
                <c:pt idx="3">
                  <c:v>其他用品和服务</c:v>
                </c:pt>
                <c:pt idx="4">
                  <c:v>教育文化和娱乐</c:v>
                </c:pt>
                <c:pt idx="5">
                  <c:v>衣着</c:v>
                </c:pt>
                <c:pt idx="6">
                  <c:v>居住</c:v>
                </c:pt>
                <c:pt idx="7">
                  <c:v>交通通信</c:v>
                </c:pt>
              </c:strCache>
            </c:strRef>
          </c:cat>
          <c:val>
            <c:numRef>
              <c:f>Sheet1!$N$15:$N$22</c:f>
              <c:numCache>
                <c:formatCode>General</c:formatCode>
                <c:ptCount val="8"/>
                <c:pt idx="0">
                  <c:v>30.2</c:v>
                </c:pt>
                <c:pt idx="1">
                  <c:v>5.2</c:v>
                </c:pt>
                <c:pt idx="2">
                  <c:v>9.3000000000000007</c:v>
                </c:pt>
                <c:pt idx="3">
                  <c:v>1.3</c:v>
                </c:pt>
                <c:pt idx="4">
                  <c:v>8.5</c:v>
                </c:pt>
                <c:pt idx="5">
                  <c:v>8</c:v>
                </c:pt>
                <c:pt idx="6">
                  <c:v>23</c:v>
                </c:pt>
                <c:pt idx="7">
                  <c:v>14.5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8B5D-4F34-8546-B01ECE1F6F9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006291482016386E-2"/>
          <c:y val="4.319391315209823E-2"/>
          <c:w val="0.91392931649569797"/>
          <c:h val="0.71090286100155464"/>
        </c:manualLayout>
      </c:layout>
      <c:lineChart>
        <c:grouping val="standard"/>
        <c:varyColors val="0"/>
        <c:ser>
          <c:idx val="0"/>
          <c:order val="0"/>
          <c:tx>
            <c:strRef>
              <c:f>年度数据!$B$26</c:f>
              <c:strCache>
                <c:ptCount val="1"/>
                <c:pt idx="0">
                  <c:v>居民消费价格指数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年度数据!$C$25:$V$25</c:f>
              <c:strCache>
                <c:ptCount val="20"/>
                <c:pt idx="0">
                  <c:v>2001年</c:v>
                </c:pt>
                <c:pt idx="1">
                  <c:v>2002年</c:v>
                </c:pt>
                <c:pt idx="2">
                  <c:v>2003年</c:v>
                </c:pt>
                <c:pt idx="3">
                  <c:v>2004年</c:v>
                </c:pt>
                <c:pt idx="4">
                  <c:v>2005年</c:v>
                </c:pt>
                <c:pt idx="5">
                  <c:v>2006年</c:v>
                </c:pt>
                <c:pt idx="6">
                  <c:v>2007年</c:v>
                </c:pt>
                <c:pt idx="7">
                  <c:v>2008年</c:v>
                </c:pt>
                <c:pt idx="8">
                  <c:v>2009年</c:v>
                </c:pt>
                <c:pt idx="9">
                  <c:v>2010年</c:v>
                </c:pt>
                <c:pt idx="10">
                  <c:v>2011年</c:v>
                </c:pt>
                <c:pt idx="11">
                  <c:v>2012年</c:v>
                </c:pt>
                <c:pt idx="12">
                  <c:v>2013年</c:v>
                </c:pt>
                <c:pt idx="13">
                  <c:v>2014年</c:v>
                </c:pt>
                <c:pt idx="14">
                  <c:v>2015年</c:v>
                </c:pt>
                <c:pt idx="15">
                  <c:v>2016年</c:v>
                </c:pt>
                <c:pt idx="16">
                  <c:v>2017年</c:v>
                </c:pt>
                <c:pt idx="17">
                  <c:v>2018年</c:v>
                </c:pt>
                <c:pt idx="18">
                  <c:v>2019年</c:v>
                </c:pt>
                <c:pt idx="19">
                  <c:v>2020年</c:v>
                </c:pt>
              </c:strCache>
            </c:strRef>
          </c:cat>
          <c:val>
            <c:numRef>
              <c:f>年度数据!$C$26:$V$26</c:f>
              <c:numCache>
                <c:formatCode>General</c:formatCode>
                <c:ptCount val="20"/>
                <c:pt idx="0">
                  <c:v>437</c:v>
                </c:pt>
                <c:pt idx="1">
                  <c:v>433.5</c:v>
                </c:pt>
                <c:pt idx="2">
                  <c:v>438.7</c:v>
                </c:pt>
                <c:pt idx="3">
                  <c:v>455.8</c:v>
                </c:pt>
                <c:pt idx="4">
                  <c:v>464</c:v>
                </c:pt>
                <c:pt idx="5">
                  <c:v>471</c:v>
                </c:pt>
                <c:pt idx="6">
                  <c:v>493.6</c:v>
                </c:pt>
                <c:pt idx="7">
                  <c:v>522.70000000000005</c:v>
                </c:pt>
                <c:pt idx="8">
                  <c:v>519</c:v>
                </c:pt>
                <c:pt idx="9">
                  <c:v>536.1</c:v>
                </c:pt>
                <c:pt idx="10">
                  <c:v>565</c:v>
                </c:pt>
                <c:pt idx="11">
                  <c:v>579.70000000000005</c:v>
                </c:pt>
                <c:pt idx="12">
                  <c:v>594.79999999999995</c:v>
                </c:pt>
                <c:pt idx="13">
                  <c:v>606.70000000000005</c:v>
                </c:pt>
                <c:pt idx="14">
                  <c:v>615.20000000000005</c:v>
                </c:pt>
                <c:pt idx="15">
                  <c:v>627.5</c:v>
                </c:pt>
                <c:pt idx="16">
                  <c:v>637.5</c:v>
                </c:pt>
                <c:pt idx="17">
                  <c:v>650.9</c:v>
                </c:pt>
                <c:pt idx="18">
                  <c:v>669.8</c:v>
                </c:pt>
                <c:pt idx="19">
                  <c:v>686.5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02CE-4668-82E6-5D2885F6431B}"/>
            </c:ext>
          </c:extLst>
        </c:ser>
        <c:ser>
          <c:idx val="1"/>
          <c:order val="1"/>
          <c:tx>
            <c:strRef>
              <c:f>年度数据!$B$27</c:f>
              <c:strCache>
                <c:ptCount val="1"/>
                <c:pt idx="0">
                  <c:v>GDP平减指数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年度数据!$C$25:$V$25</c:f>
              <c:strCache>
                <c:ptCount val="20"/>
                <c:pt idx="0">
                  <c:v>2001年</c:v>
                </c:pt>
                <c:pt idx="1">
                  <c:v>2002年</c:v>
                </c:pt>
                <c:pt idx="2">
                  <c:v>2003年</c:v>
                </c:pt>
                <c:pt idx="3">
                  <c:v>2004年</c:v>
                </c:pt>
                <c:pt idx="4">
                  <c:v>2005年</c:v>
                </c:pt>
                <c:pt idx="5">
                  <c:v>2006年</c:v>
                </c:pt>
                <c:pt idx="6">
                  <c:v>2007年</c:v>
                </c:pt>
                <c:pt idx="7">
                  <c:v>2008年</c:v>
                </c:pt>
                <c:pt idx="8">
                  <c:v>2009年</c:v>
                </c:pt>
                <c:pt idx="9">
                  <c:v>2010年</c:v>
                </c:pt>
                <c:pt idx="10">
                  <c:v>2011年</c:v>
                </c:pt>
                <c:pt idx="11">
                  <c:v>2012年</c:v>
                </c:pt>
                <c:pt idx="12">
                  <c:v>2013年</c:v>
                </c:pt>
                <c:pt idx="13">
                  <c:v>2014年</c:v>
                </c:pt>
                <c:pt idx="14">
                  <c:v>2015年</c:v>
                </c:pt>
                <c:pt idx="15">
                  <c:v>2016年</c:v>
                </c:pt>
                <c:pt idx="16">
                  <c:v>2017年</c:v>
                </c:pt>
                <c:pt idx="17">
                  <c:v>2018年</c:v>
                </c:pt>
                <c:pt idx="18">
                  <c:v>2019年</c:v>
                </c:pt>
                <c:pt idx="19">
                  <c:v>2020年</c:v>
                </c:pt>
              </c:strCache>
            </c:strRef>
          </c:cat>
          <c:val>
            <c:numRef>
              <c:f>年度数据!$C$27:$V$27</c:f>
              <c:numCache>
                <c:formatCode>General</c:formatCode>
                <c:ptCount val="20"/>
                <c:pt idx="0">
                  <c:v>365.51</c:v>
                </c:pt>
                <c:pt idx="1">
                  <c:v>367.7</c:v>
                </c:pt>
                <c:pt idx="2">
                  <c:v>377.21</c:v>
                </c:pt>
                <c:pt idx="3">
                  <c:v>403.35</c:v>
                </c:pt>
                <c:pt idx="4">
                  <c:v>419.16</c:v>
                </c:pt>
                <c:pt idx="5">
                  <c:v>435.12</c:v>
                </c:pt>
                <c:pt idx="6">
                  <c:v>468.35</c:v>
                </c:pt>
                <c:pt idx="7">
                  <c:v>504.71</c:v>
                </c:pt>
                <c:pt idx="8">
                  <c:v>501.65</c:v>
                </c:pt>
                <c:pt idx="9">
                  <c:v>534.95000000000005</c:v>
                </c:pt>
                <c:pt idx="10">
                  <c:v>576.46</c:v>
                </c:pt>
                <c:pt idx="11">
                  <c:v>587.62</c:v>
                </c:pt>
                <c:pt idx="12">
                  <c:v>618.5</c:v>
                </c:pt>
                <c:pt idx="13">
                  <c:v>623.33000000000004</c:v>
                </c:pt>
                <c:pt idx="14">
                  <c:v>575.41999999999996</c:v>
                </c:pt>
                <c:pt idx="15">
                  <c:v>539.41</c:v>
                </c:pt>
                <c:pt idx="16">
                  <c:v>656.44</c:v>
                </c:pt>
                <c:pt idx="17">
                  <c:v>684.89</c:v>
                </c:pt>
                <c:pt idx="18">
                  <c:v>685.51</c:v>
                </c:pt>
                <c:pt idx="19">
                  <c:v>687.8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02CE-4668-82E6-5D2885F643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057211344"/>
        <c:axId val="-2057215152"/>
      </c:lineChart>
      <c:catAx>
        <c:axId val="-2057211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57215152"/>
        <c:crosses val="autoZero"/>
        <c:auto val="1"/>
        <c:lblAlgn val="ctr"/>
        <c:lblOffset val="100"/>
        <c:noMultiLvlLbl val="0"/>
      </c:catAx>
      <c:valAx>
        <c:axId val="-2057215152"/>
        <c:scaling>
          <c:orientation val="minMax"/>
          <c:max val="800"/>
          <c:min val="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57211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2008-</a:t>
            </a:r>
            <a:r>
              <a:rPr lang="en-US" altLang="zh-CN" sz="24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年我国名义</a:t>
            </a:r>
            <a:r>
              <a:rPr lang="zh-CN" altLang="en-US"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利率和实际</a:t>
            </a:r>
            <a:r>
              <a:rPr lang="zh-CN" altLang="en-US" sz="24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利率</a:t>
            </a:r>
            <a:r>
              <a:rPr lang="en-US" altLang="zh-CN" sz="240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(%)</a:t>
            </a:r>
            <a:endParaRPr lang="zh-CN" altLang="en-US" sz="2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c:rich>
      </c:tx>
      <c:layout>
        <c:manualLayout>
          <c:xMode val="edge"/>
          <c:yMode val="edge"/>
          <c:x val="0.158979017080698"/>
          <c:y val="1.71217409709779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CPI_当月值!$J$269</c:f>
              <c:strCache>
                <c:ptCount val="1"/>
                <c:pt idx="0">
                  <c:v>名义利率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CPI_当月值!$H$270:$H$282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CPI_当月值!$J$270:$J$282</c:f>
              <c:numCache>
                <c:formatCode>General</c:formatCode>
                <c:ptCount val="13"/>
                <c:pt idx="0">
                  <c:v>3.6703343749999995</c:v>
                </c:pt>
                <c:pt idx="1">
                  <c:v>3.3416715999999993</c:v>
                </c:pt>
                <c:pt idx="2">
                  <c:v>3.4625504000000014</c:v>
                </c:pt>
                <c:pt idx="3">
                  <c:v>3.8700091999999997</c:v>
                </c:pt>
                <c:pt idx="4">
                  <c:v>3.4667608870967728</c:v>
                </c:pt>
                <c:pt idx="5">
                  <c:v>3.8293312000000008</c:v>
                </c:pt>
                <c:pt idx="6">
                  <c:v>4.150839271255057</c:v>
                </c:pt>
                <c:pt idx="7">
                  <c:v>3.3736112449799203</c:v>
                </c:pt>
                <c:pt idx="8">
                  <c:v>2.8605068000000022</c:v>
                </c:pt>
                <c:pt idx="9">
                  <c:v>3.5762108433734934</c:v>
                </c:pt>
                <c:pt idx="10">
                  <c:v>3.6310848000000018</c:v>
                </c:pt>
                <c:pt idx="11">
                  <c:v>3.1804639999999988</c:v>
                </c:pt>
                <c:pt idx="12">
                  <c:v>2.9433842741935492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A11-479A-9A5D-070B424E811C}"/>
            </c:ext>
          </c:extLst>
        </c:ser>
        <c:ser>
          <c:idx val="1"/>
          <c:order val="1"/>
          <c:tx>
            <c:strRef>
              <c:f>CPI_当月值!$K$269</c:f>
              <c:strCache>
                <c:ptCount val="1"/>
                <c:pt idx="0">
                  <c:v>实际利率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CPI_当月值!$H$270:$H$282</c:f>
              <c:numCache>
                <c:formatCode>General</c:formatCode>
                <c:ptCount val="1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</c:numCache>
            </c:numRef>
          </c:cat>
          <c:val>
            <c:numRef>
              <c:f>CPI_当月值!$K$270:$K$282</c:f>
              <c:numCache>
                <c:formatCode>General</c:formatCode>
                <c:ptCount val="13"/>
                <c:pt idx="0">
                  <c:v>-2.2338322916666682</c:v>
                </c:pt>
                <c:pt idx="1">
                  <c:v>4.0275049333333346</c:v>
                </c:pt>
                <c:pt idx="2">
                  <c:v>0.13838373333333243</c:v>
                </c:pt>
                <c:pt idx="3">
                  <c:v>-1.5383241333333326</c:v>
                </c:pt>
                <c:pt idx="4">
                  <c:v>0.82342755376343835</c:v>
                </c:pt>
                <c:pt idx="5">
                  <c:v>1.195997866666668</c:v>
                </c:pt>
                <c:pt idx="6">
                  <c:v>2.1591726045883908</c:v>
                </c:pt>
                <c:pt idx="7">
                  <c:v>1.9319445783132538</c:v>
                </c:pt>
                <c:pt idx="8">
                  <c:v>0.85217346666667071</c:v>
                </c:pt>
                <c:pt idx="9">
                  <c:v>2.0262108433734927</c:v>
                </c:pt>
                <c:pt idx="10">
                  <c:v>1.5060848000000018</c:v>
                </c:pt>
                <c:pt idx="11">
                  <c:v>0.28046399999999894</c:v>
                </c:pt>
                <c:pt idx="12">
                  <c:v>0.43505094086021412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5A11-479A-9A5D-070B424E8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057219504"/>
        <c:axId val="-2057214608"/>
      </c:lineChart>
      <c:catAx>
        <c:axId val="-205721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57214608"/>
        <c:crossesAt val="0"/>
        <c:auto val="1"/>
        <c:lblAlgn val="ctr"/>
        <c:lblOffset val="100"/>
        <c:noMultiLvlLbl val="0"/>
      </c:catAx>
      <c:valAx>
        <c:axId val="-2057214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 ;[Red]\-#,##0.0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57219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4C77-742A-429E-850A-11BA0946D8B4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A64FD-7149-435D-96E3-3ACA0174F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56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34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073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08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805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473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401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138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294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25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40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769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32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898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475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262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  <a:pPr/>
              <a:t>2022/2/17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53C9CD8B-9D8F-4E4F-AA7B-F97C16B10CCD}"/>
              </a:ext>
            </a:extLst>
          </p:cNvPr>
          <p:cNvSpPr txBox="1"/>
          <p:nvPr/>
        </p:nvSpPr>
        <p:spPr>
          <a:xfrm>
            <a:off x="2123728" y="3933056"/>
            <a:ext cx="5526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：衡量生活成本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4BD039C5-E591-4702-AED9-53741EC3D7EA}"/>
              </a:ext>
            </a:extLst>
          </p:cNvPr>
          <p:cNvSpPr txBox="1"/>
          <p:nvPr/>
        </p:nvSpPr>
        <p:spPr>
          <a:xfrm>
            <a:off x="2267744" y="1412776"/>
            <a:ext cx="485902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B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（宏观经济学原理）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 smtClean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576" y="1700808"/>
            <a:ext cx="79928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消费物价指数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(CPI)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 它是如何计算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什么作用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？又存在哪些问题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平减指数有何不同？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来比较不同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的名义金额？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要这样比较？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如何修正通货膨胀率（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的增长率来衡量）？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100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消费者物价指数 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(CPI)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528" y="1484784"/>
            <a:ext cx="87129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 Price Index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（消费物价指数）的英文简称。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衡量经济体中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（包括商品和服务）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水平，随着时间变动的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相对趋势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相对程度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作用较大：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是计算实际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、实际收入等指标的重要参考依据。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是劳务合同和社保支出调整的基础。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的增长率通常被用来反映通货膨胀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41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3528" y="620688"/>
            <a:ext cx="236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如何计算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7544" y="1340768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“篮子”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。统计局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进行抽样调查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确定消费者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的“购物篮”中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（八大类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个基本分类，基本涵盖全部消费内容）。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="" xmlns:a16="http://schemas.microsoft.com/office/drawing/2014/main" id="{C1F5DFD4-4E66-424E-A88F-2B92AADAEB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297664"/>
              </p:ext>
            </p:extLst>
          </p:nvPr>
        </p:nvGraphicFramePr>
        <p:xfrm>
          <a:off x="2051720" y="2492896"/>
          <a:ext cx="6055321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244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36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如何计算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7" name="Group 13">
            <a:extLst>
              <a:ext uri="{FF2B5EF4-FFF2-40B4-BE49-F238E27FC236}">
                <a16:creationId xmlns="" xmlns:a16="http://schemas.microsoft.com/office/drawing/2014/main" id="{21DB7FE7-5719-446A-B5CA-ABCA4FDC2E4A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4005064"/>
            <a:ext cx="7163346" cy="991235"/>
            <a:chOff x="1563" y="1456"/>
            <a:chExt cx="3763" cy="702"/>
          </a:xfrm>
        </p:grpSpPr>
        <p:sp>
          <p:nvSpPr>
            <p:cNvPr id="8" name="Text Box 11">
              <a:extLst>
                <a:ext uri="{FF2B5EF4-FFF2-40B4-BE49-F238E27FC236}">
                  <a16:creationId xmlns="" xmlns:a16="http://schemas.microsoft.com/office/drawing/2014/main" id="{EFBF6357-0D29-4FE6-83B2-4FB2527F3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3" y="1456"/>
              <a:ext cx="3763" cy="70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288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400" smtClean="0">
                  <a:solidFill>
                    <a:srgbClr val="002060"/>
                  </a:solidFill>
                  <a:ea typeface="思源黑体 CN Regular" panose="020B0500000000000000" pitchFamily="34" charset="-122"/>
                </a:rPr>
                <a:t>CPI=100 </a:t>
              </a:r>
              <a:r>
                <a:rPr lang="en-US" sz="2400" dirty="0">
                  <a:solidFill>
                    <a:srgbClr val="002060"/>
                  </a:solidFill>
                  <a:ea typeface="思源黑体 CN Regular" panose="020B0500000000000000" pitchFamily="34" charset="-122"/>
                </a:rPr>
                <a:t>x</a:t>
              </a:r>
            </a:p>
          </p:txBody>
        </p:sp>
        <p:grpSp>
          <p:nvGrpSpPr>
            <p:cNvPr id="9" name="Group 10">
              <a:extLst>
                <a:ext uri="{FF2B5EF4-FFF2-40B4-BE49-F238E27FC236}">
                  <a16:creationId xmlns="" xmlns:a16="http://schemas.microsoft.com/office/drawing/2014/main" id="{28A312EB-E3B3-4C5F-A100-164FD7575F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7" y="1513"/>
              <a:ext cx="3040" cy="578"/>
              <a:chOff x="1833" y="1513"/>
              <a:chExt cx="3040" cy="578"/>
            </a:xfrm>
          </p:grpSpPr>
          <p:sp>
            <p:nvSpPr>
              <p:cNvPr id="10" name="Text Box 7">
                <a:extLst>
                  <a:ext uri="{FF2B5EF4-FFF2-40B4-BE49-F238E27FC236}">
                    <a16:creationId xmlns="" xmlns:a16="http://schemas.microsoft.com/office/drawing/2014/main" id="{3E9F8CCF-81E6-4676-8F81-82DB8DACF8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33" y="1513"/>
                <a:ext cx="300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任何</a:t>
                </a:r>
                <a:r>
                  <a:rPr lang="zh-CN" altLang="en-US" sz="240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年度</a:t>
                </a:r>
                <a:r>
                  <a:rPr lang="zh-CN" alt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的篮子成本</a:t>
                </a:r>
                <a:endParaRPr lang="en-US" sz="2400" dirty="0">
                  <a:solidFill>
                    <a:srgbClr val="002060"/>
                  </a:solidFill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1" name="Text Box 8">
                <a:extLst>
                  <a:ext uri="{FF2B5EF4-FFF2-40B4-BE49-F238E27FC236}">
                    <a16:creationId xmlns="" xmlns:a16="http://schemas.microsoft.com/office/drawing/2014/main" id="{DADDF168-9F75-435B-85A5-5160F8226B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6" y="1800"/>
                <a:ext cx="2927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基准年度的篮子成本</a:t>
                </a:r>
                <a:endParaRPr lang="en-US" sz="2400" dirty="0">
                  <a:solidFill>
                    <a:srgbClr val="002060"/>
                  </a:solidFill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="" xmlns:a16="http://schemas.microsoft.com/office/drawing/2014/main" id="{F6C281BE-E636-48C3-8DAD-1BB089FF6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4" y="1801"/>
                <a:ext cx="2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" name="TextBox 15">
            <a:extLst>
              <a:ext uri="{FF2B5EF4-FFF2-40B4-BE49-F238E27FC236}">
                <a16:creationId xmlns="" xmlns:a16="http://schemas.microsoft.com/office/drawing/2014/main" id="{0CABBB8C-B66D-4161-A559-FE6C8F94B231}"/>
              </a:ext>
            </a:extLst>
          </p:cNvPr>
          <p:cNvSpPr txBox="1"/>
          <p:nvPr/>
        </p:nvSpPr>
        <p:spPr>
          <a:xfrm>
            <a:off x="683568" y="1484784"/>
            <a:ext cx="77031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。收集篮子中所有商品的价格数据。</a:t>
            </a:r>
          </a:p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篮子的成本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。计算篮子的总成本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。选择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年，基准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设定为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，其他任何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年份的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664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36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如何计算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1340768"/>
            <a:ext cx="7703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计算通货膨胀率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相邻期的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的百分比变化。</a:t>
            </a:r>
          </a:p>
        </p:txBody>
      </p:sp>
      <p:grpSp>
        <p:nvGrpSpPr>
          <p:cNvPr id="14" name="Group 25">
            <a:extLst>
              <a:ext uri="{FF2B5EF4-FFF2-40B4-BE49-F238E27FC236}">
                <a16:creationId xmlns="" xmlns:a16="http://schemas.microsoft.com/office/drawing/2014/main" id="{E57835EF-F25B-44E4-B7E3-183ED75E26E1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1988840"/>
            <a:ext cx="7243341" cy="966688"/>
            <a:chOff x="135" y="3306"/>
            <a:chExt cx="5221" cy="696"/>
          </a:xfrm>
        </p:grpSpPr>
        <p:sp>
          <p:nvSpPr>
            <p:cNvPr id="15" name="Rectangle 24">
              <a:extLst>
                <a:ext uri="{FF2B5EF4-FFF2-40B4-BE49-F238E27FC236}">
                  <a16:creationId xmlns="" xmlns:a16="http://schemas.microsoft.com/office/drawing/2014/main" id="{7C5B34A0-26A2-4F61-A6E9-855EA21A1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" y="3306"/>
              <a:ext cx="5221" cy="6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charset="0"/>
              </a:endParaRPr>
            </a:p>
          </p:txBody>
        </p:sp>
        <p:grpSp>
          <p:nvGrpSpPr>
            <p:cNvPr id="17" name="Group 23">
              <a:extLst>
                <a:ext uri="{FF2B5EF4-FFF2-40B4-BE49-F238E27FC236}">
                  <a16:creationId xmlns="" xmlns:a16="http://schemas.microsoft.com/office/drawing/2014/main" id="{6D75664D-DE05-4B12-9B10-DBCD7CC1D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" y="3327"/>
              <a:ext cx="5031" cy="668"/>
              <a:chOff x="210" y="3334"/>
              <a:chExt cx="5031" cy="668"/>
            </a:xfrm>
          </p:grpSpPr>
          <p:grpSp>
            <p:nvGrpSpPr>
              <p:cNvPr id="18" name="Group 16">
                <a:extLst>
                  <a:ext uri="{FF2B5EF4-FFF2-40B4-BE49-F238E27FC236}">
                    <a16:creationId xmlns="" xmlns:a16="http://schemas.microsoft.com/office/drawing/2014/main" id="{3D94CC8B-B306-414E-A034-ECB1B149A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76" y="3334"/>
                <a:ext cx="3052" cy="668"/>
                <a:chOff x="1877" y="1473"/>
                <a:chExt cx="3000" cy="668"/>
              </a:xfrm>
            </p:grpSpPr>
            <p:sp>
              <p:nvSpPr>
                <p:cNvPr id="22" name="Text Box 17">
                  <a:extLst>
                    <a:ext uri="{FF2B5EF4-FFF2-40B4-BE49-F238E27FC236}">
                      <a16:creationId xmlns="" xmlns:a16="http://schemas.microsoft.com/office/drawing/2014/main" id="{D8A1D9B0-12F4-4512-BB90-142FF47894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7" y="1473"/>
                  <a:ext cx="3000" cy="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 smtClean="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当期</a:t>
                  </a:r>
                  <a:r>
                    <a:rPr lang="en-US" sz="2400" smtClean="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CPI</a:t>
                  </a:r>
                  <a:r>
                    <a:rPr lang="en-US" sz="240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–  </a:t>
                  </a:r>
                  <a:r>
                    <a:rPr lang="zh-CN" altLang="en-US" sz="2400" smtClean="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前期</a:t>
                  </a:r>
                  <a:r>
                    <a:rPr lang="en-US" sz="2400" smtClean="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CPI</a:t>
                  </a:r>
                  <a:endParaRPr 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endParaRPr>
                </a:p>
              </p:txBody>
            </p:sp>
            <p:sp>
              <p:nvSpPr>
                <p:cNvPr id="23" name="Text Box 18">
                  <a:extLst>
                    <a:ext uri="{FF2B5EF4-FFF2-40B4-BE49-F238E27FC236}">
                      <a16:creationId xmlns="" xmlns:a16="http://schemas.microsoft.com/office/drawing/2014/main" id="{05AB3BCE-CA42-4CCB-8F38-EB3C910117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22" y="1809"/>
                  <a:ext cx="2927" cy="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zh-CN" altLang="en-US" sz="240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前期</a:t>
                  </a:r>
                  <a:r>
                    <a:rPr lang="en-US" sz="2400" smtClean="0">
                      <a:solidFill>
                        <a:srgbClr val="002060"/>
                      </a:solidFill>
                      <a:ea typeface="思源黑体 CN Regular" panose="020B0500000000000000" pitchFamily="34" charset="-122"/>
                    </a:rPr>
                    <a:t>CPI</a:t>
                  </a:r>
                  <a:endParaRPr 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endParaRPr>
                </a:p>
              </p:txBody>
            </p:sp>
            <p:sp>
              <p:nvSpPr>
                <p:cNvPr id="24" name="Line 19">
                  <a:extLst>
                    <a:ext uri="{FF2B5EF4-FFF2-40B4-BE49-F238E27FC236}">
                      <a16:creationId xmlns="" xmlns:a16="http://schemas.microsoft.com/office/drawing/2014/main" id="{ECAE2762-2FEF-408A-9D43-B8174784E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0" y="1824"/>
                  <a:ext cx="290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Text Box 20">
                <a:extLst>
                  <a:ext uri="{FF2B5EF4-FFF2-40B4-BE49-F238E27FC236}">
                    <a16:creationId xmlns="" xmlns:a16="http://schemas.microsoft.com/office/drawing/2014/main" id="{C5D76944-AA56-409D-BD51-58D7BE27F5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" y="3359"/>
                <a:ext cx="891" cy="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5000"/>
                  </a:lnSpc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通货膨胀率</a:t>
                </a:r>
                <a:endParaRPr lang="en-US" sz="2400" dirty="0">
                  <a:solidFill>
                    <a:srgbClr val="002060"/>
                  </a:solidFill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0" name="Text Box 21">
                <a:extLst>
                  <a:ext uri="{FF2B5EF4-FFF2-40B4-BE49-F238E27FC236}">
                    <a16:creationId xmlns="" xmlns:a16="http://schemas.microsoft.com/office/drawing/2014/main" id="{1AE73E6F-C989-47A0-849A-ED0AE9449A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8" y="3487"/>
                <a:ext cx="94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x 100%</a:t>
                </a:r>
              </a:p>
            </p:txBody>
          </p:sp>
          <p:sp>
            <p:nvSpPr>
              <p:cNvPr id="21" name="Text Box 22">
                <a:extLst>
                  <a:ext uri="{FF2B5EF4-FFF2-40B4-BE49-F238E27FC236}">
                    <a16:creationId xmlns="" xmlns:a16="http://schemas.microsoft.com/office/drawing/2014/main" id="{C68BA4BF-FC71-4A01-B3C0-53F28DBB5B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6" y="3514"/>
                <a:ext cx="26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dirty="0">
                    <a:solidFill>
                      <a:srgbClr val="002060"/>
                    </a:solidFill>
                    <a:ea typeface="思源黑体 CN Regular" panose="020B0500000000000000" pitchFamily="34" charset="-122"/>
                  </a:rPr>
                  <a:t>=</a:t>
                </a:r>
              </a:p>
            </p:txBody>
          </p:sp>
        </p:grpSp>
      </p:grpSp>
      <p:sp>
        <p:nvSpPr>
          <p:cNvPr id="2" name="矩形 1"/>
          <p:cNvSpPr/>
          <p:nvPr/>
        </p:nvSpPr>
        <p:spPr>
          <a:xfrm>
            <a:off x="683568" y="3068960"/>
            <a:ext cx="8064896" cy="2967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通货膨胀率不是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越低越好，即</a:t>
            </a:r>
            <a:r>
              <a:rPr lang="en-US" altLang="zh-CN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越低越好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我国经济处于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增长和转型时期，较低的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并不利于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经济增长。商品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和服务的价格不断走低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，会引起企业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下降、就业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机会减少、居民收入下降、市场消费不足等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一系列连锁问题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整个经济将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陷入一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种非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良性循环中。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适度的通货膨胀有利于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25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552" y="620688"/>
            <a:ext cx="3293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1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：计算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1C1C2FA2-6093-44FA-8124-06997595EA34}"/>
              </a:ext>
            </a:extLst>
          </p:cNvPr>
          <p:cNvSpPr txBox="1">
            <a:spLocks noChangeArrowheads="1"/>
          </p:cNvSpPr>
          <p:nvPr/>
        </p:nvSpPr>
        <p:spPr>
          <a:xfrm>
            <a:off x="4499992" y="1094414"/>
            <a:ext cx="4229871" cy="547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403225" algn="ctr">
              <a:buFont typeface="Wingdings" pitchFamily="2" charset="2"/>
              <a:buNone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篮子构成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{4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面包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10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牛奶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33">
            <a:extLst>
              <a:ext uri="{FF2B5EF4-FFF2-40B4-BE49-F238E27FC236}">
                <a16:creationId xmlns="" xmlns:a16="http://schemas.microsoft.com/office/drawing/2014/main" id="{F0C3F672-C879-48D6-892D-367217B2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95" y="3980656"/>
            <a:ext cx="5292774" cy="270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05000"/>
              </a:lnSpc>
              <a:spcBef>
                <a:spcPct val="55000"/>
              </a:spcBef>
              <a:buClr>
                <a:srgbClr val="00B85C"/>
              </a:buClr>
              <a:buFont typeface="Wingdings" pitchFamily="2" charset="2"/>
              <a:buNone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年为基准年计算每年的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>
              <a:lnSpc>
                <a:spcPct val="105000"/>
              </a:lnSpc>
              <a:spcBef>
                <a:spcPct val="55000"/>
              </a:spcBef>
              <a:buClr>
                <a:srgbClr val="00B85C"/>
              </a:buClr>
              <a:buFont typeface="Wingdings" pitchFamily="2" charset="2"/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2010:   100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x (60/60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) = </a:t>
            </a:r>
            <a:r>
              <a:rPr 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100</a:t>
            </a:r>
          </a:p>
          <a:p>
            <a:pPr>
              <a:lnSpc>
                <a:spcPct val="105000"/>
              </a:lnSpc>
              <a:spcBef>
                <a:spcPct val="55000"/>
              </a:spcBef>
              <a:buClr>
                <a:srgbClr val="00B85C"/>
              </a:buClr>
              <a:buFont typeface="Wingdings" pitchFamily="2" charset="2"/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2011:   100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x (69/60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) = </a:t>
            </a:r>
            <a:r>
              <a:rPr 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115</a:t>
            </a:r>
          </a:p>
          <a:p>
            <a:pPr>
              <a:lnSpc>
                <a:spcPct val="105000"/>
              </a:lnSpc>
              <a:spcBef>
                <a:spcPct val="55000"/>
              </a:spcBef>
              <a:buClr>
                <a:srgbClr val="00B85C"/>
              </a:buClr>
              <a:buFont typeface="Wingdings" pitchFamily="2" charset="2"/>
              <a:buNone/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2012:   100 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x (78/60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) = </a:t>
            </a:r>
            <a:r>
              <a:rPr 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130</a:t>
            </a:r>
          </a:p>
        </p:txBody>
      </p:sp>
      <p:grpSp>
        <p:nvGrpSpPr>
          <p:cNvPr id="62" name="Group 55">
            <a:extLst>
              <a:ext uri="{FF2B5EF4-FFF2-40B4-BE49-F238E27FC236}">
                <a16:creationId xmlns="" xmlns:a16="http://schemas.microsoft.com/office/drawing/2014/main" id="{A1547B9D-2654-4697-8259-2D512F8C1F8F}"/>
              </a:ext>
            </a:extLst>
          </p:cNvPr>
          <p:cNvGrpSpPr>
            <a:grpSpLocks/>
          </p:cNvGrpSpPr>
          <p:nvPr/>
        </p:nvGrpSpPr>
        <p:grpSpPr bwMode="auto">
          <a:xfrm>
            <a:off x="4624884" y="4547265"/>
            <a:ext cx="3997325" cy="849313"/>
            <a:chOff x="3009" y="2708"/>
            <a:chExt cx="2518" cy="535"/>
          </a:xfrm>
        </p:grpSpPr>
        <p:sp>
          <p:nvSpPr>
            <p:cNvPr id="63" name="Text Box 35">
              <a:extLst>
                <a:ext uri="{FF2B5EF4-FFF2-40B4-BE49-F238E27FC236}">
                  <a16:creationId xmlns="" xmlns:a16="http://schemas.microsoft.com/office/drawing/2014/main" id="{1E6D8342-2CA0-47E7-9879-1763BD8BE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2" y="2807"/>
              <a:ext cx="492" cy="308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600" dirty="0">
                  <a:latin typeface="Arial"/>
                  <a:cs typeface="Arial"/>
                </a:rPr>
                <a:t>15%</a:t>
              </a:r>
            </a:p>
          </p:txBody>
        </p:sp>
        <p:sp>
          <p:nvSpPr>
            <p:cNvPr id="64" name="AutoShape 36">
              <a:extLst>
                <a:ext uri="{FF2B5EF4-FFF2-40B4-BE49-F238E27FC236}">
                  <a16:creationId xmlns="" xmlns:a16="http://schemas.microsoft.com/office/drawing/2014/main" id="{5AA91E68-AC55-4473-A63E-B184767B4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2829"/>
              <a:ext cx="156" cy="414"/>
            </a:xfrm>
            <a:prstGeom prst="rightBrace">
              <a:avLst>
                <a:gd name="adj1" fmla="val 32055"/>
                <a:gd name="adj2" fmla="val 42755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65" name="Group 48">
              <a:extLst>
                <a:ext uri="{FF2B5EF4-FFF2-40B4-BE49-F238E27FC236}">
                  <a16:creationId xmlns="" xmlns:a16="http://schemas.microsoft.com/office/drawing/2014/main" id="{E57C10F3-CE89-4BA8-BCC7-49E9BAD5F1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1" y="2708"/>
              <a:ext cx="1776" cy="500"/>
              <a:chOff x="3767" y="2784"/>
              <a:chExt cx="1776" cy="500"/>
            </a:xfrm>
          </p:grpSpPr>
          <p:sp>
            <p:nvSpPr>
              <p:cNvPr id="66" name="Rectangle 43">
                <a:extLst>
                  <a:ext uri="{FF2B5EF4-FFF2-40B4-BE49-F238E27FC236}">
                    <a16:creationId xmlns="" xmlns:a16="http://schemas.microsoft.com/office/drawing/2014/main" id="{785FF8F7-767C-46FD-AA39-5B09F7873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2784"/>
                <a:ext cx="8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115</a:t>
                </a:r>
                <a:r>
                  <a:rPr lang="en-US" sz="1400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–</a:t>
                </a:r>
                <a:r>
                  <a:rPr lang="en-US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100</a:t>
                </a:r>
              </a:p>
            </p:txBody>
          </p:sp>
          <p:sp>
            <p:nvSpPr>
              <p:cNvPr id="67" name="Rectangle 44">
                <a:extLst>
                  <a:ext uri="{FF2B5EF4-FFF2-40B4-BE49-F238E27FC236}">
                    <a16:creationId xmlns="" xmlns:a16="http://schemas.microsoft.com/office/drawing/2014/main" id="{9A4390F1-7ED1-4EE3-BF40-C654D01F4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3034"/>
                <a:ext cx="34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100</a:t>
                </a:r>
              </a:p>
            </p:txBody>
          </p:sp>
          <p:sp>
            <p:nvSpPr>
              <p:cNvPr id="68" name="Rectangle 45">
                <a:extLst>
                  <a:ext uri="{FF2B5EF4-FFF2-40B4-BE49-F238E27FC236}">
                    <a16:creationId xmlns="" xmlns:a16="http://schemas.microsoft.com/office/drawing/2014/main" id="{F51011D7-7FD7-4BB1-AC52-F14155391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0" y="2889"/>
                <a:ext cx="6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x</a:t>
                </a:r>
                <a:r>
                  <a:rPr lang="en-US" sz="1600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100%</a:t>
                </a:r>
              </a:p>
            </p:txBody>
          </p:sp>
          <p:sp>
            <p:nvSpPr>
              <p:cNvPr id="69" name="Rectangle 46">
                <a:extLst>
                  <a:ext uri="{FF2B5EF4-FFF2-40B4-BE49-F238E27FC236}">
                    <a16:creationId xmlns="" xmlns:a16="http://schemas.microsoft.com/office/drawing/2014/main" id="{B027D723-AC07-45A3-A969-CAC5F9706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7" y="2905"/>
                <a:ext cx="12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 dirty="0">
                    <a:latin typeface="Arial"/>
                    <a:cs typeface="Arial"/>
                  </a:rPr>
                  <a:t>=</a:t>
                </a:r>
              </a:p>
            </p:txBody>
          </p:sp>
          <p:sp>
            <p:nvSpPr>
              <p:cNvPr id="70" name="Line 47">
                <a:extLst>
                  <a:ext uri="{FF2B5EF4-FFF2-40B4-BE49-F238E27FC236}">
                    <a16:creationId xmlns="" xmlns:a16="http://schemas.microsoft.com/office/drawing/2014/main" id="{AB3D0058-B029-4CDD-BFC5-0B2CEE8C88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8" y="3030"/>
                <a:ext cx="8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grpSp>
        <p:nvGrpSpPr>
          <p:cNvPr id="71" name="Group 56">
            <a:extLst>
              <a:ext uri="{FF2B5EF4-FFF2-40B4-BE49-F238E27FC236}">
                <a16:creationId xmlns="" xmlns:a16="http://schemas.microsoft.com/office/drawing/2014/main" id="{99D02971-725C-4B66-8E40-0BC2034C6693}"/>
              </a:ext>
            </a:extLst>
          </p:cNvPr>
          <p:cNvGrpSpPr>
            <a:grpSpLocks/>
          </p:cNvGrpSpPr>
          <p:nvPr/>
        </p:nvGrpSpPr>
        <p:grpSpPr bwMode="auto">
          <a:xfrm>
            <a:off x="4629647" y="5408356"/>
            <a:ext cx="3992563" cy="811212"/>
            <a:chOff x="3012" y="3257"/>
            <a:chExt cx="2515" cy="511"/>
          </a:xfrm>
        </p:grpSpPr>
        <p:sp>
          <p:nvSpPr>
            <p:cNvPr id="72" name="Text Box 38">
              <a:extLst>
                <a:ext uri="{FF2B5EF4-FFF2-40B4-BE49-F238E27FC236}">
                  <a16:creationId xmlns="" xmlns:a16="http://schemas.microsoft.com/office/drawing/2014/main" id="{597B8426-5810-45C5-9F79-DD4D13B94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" y="3360"/>
              <a:ext cx="500" cy="308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45720" rIns="4572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600" dirty="0">
                  <a:latin typeface="Arial"/>
                  <a:cs typeface="Arial"/>
                </a:rPr>
                <a:t>13%</a:t>
              </a:r>
            </a:p>
          </p:txBody>
        </p:sp>
        <p:sp>
          <p:nvSpPr>
            <p:cNvPr id="73" name="AutoShape 39">
              <a:extLst>
                <a:ext uri="{FF2B5EF4-FFF2-40B4-BE49-F238E27FC236}">
                  <a16:creationId xmlns="" xmlns:a16="http://schemas.microsoft.com/office/drawing/2014/main" id="{BE4569D0-EEC0-4843-AAE6-7C490EE96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3257"/>
              <a:ext cx="156" cy="414"/>
            </a:xfrm>
            <a:prstGeom prst="rightBrace">
              <a:avLst>
                <a:gd name="adj1" fmla="val 39107"/>
                <a:gd name="adj2" fmla="val 57245"/>
              </a:avLst>
            </a:prstGeom>
            <a:noFill/>
            <a:ln w="1905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/>
                <a:cs typeface="Arial"/>
              </a:endParaRPr>
            </a:p>
          </p:txBody>
        </p:sp>
        <p:grpSp>
          <p:nvGrpSpPr>
            <p:cNvPr id="74" name="Group 49">
              <a:extLst>
                <a:ext uri="{FF2B5EF4-FFF2-40B4-BE49-F238E27FC236}">
                  <a16:creationId xmlns="" xmlns:a16="http://schemas.microsoft.com/office/drawing/2014/main" id="{1D2BF5ED-AA3B-4D31-A54E-9A44E3337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1" y="3268"/>
              <a:ext cx="1776" cy="500"/>
              <a:chOff x="3767" y="2784"/>
              <a:chExt cx="1776" cy="500"/>
            </a:xfrm>
          </p:grpSpPr>
          <p:sp>
            <p:nvSpPr>
              <p:cNvPr id="75" name="Rectangle 50">
                <a:extLst>
                  <a:ext uri="{FF2B5EF4-FFF2-40B4-BE49-F238E27FC236}">
                    <a16:creationId xmlns="" xmlns:a16="http://schemas.microsoft.com/office/drawing/2014/main" id="{35357991-E9DE-4087-9132-61CDE27ED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5" y="2784"/>
                <a:ext cx="8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130</a:t>
                </a:r>
                <a:r>
                  <a:rPr lang="en-US" sz="1400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–</a:t>
                </a:r>
                <a:r>
                  <a:rPr lang="en-US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115</a:t>
                </a:r>
              </a:p>
            </p:txBody>
          </p:sp>
          <p:sp>
            <p:nvSpPr>
              <p:cNvPr id="76" name="Rectangle 51">
                <a:extLst>
                  <a:ext uri="{FF2B5EF4-FFF2-40B4-BE49-F238E27FC236}">
                    <a16:creationId xmlns="" xmlns:a16="http://schemas.microsoft.com/office/drawing/2014/main" id="{2C56E24F-153C-47B0-90D9-2D7889189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3034"/>
                <a:ext cx="34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 dirty="0">
                    <a:latin typeface="Arial"/>
                    <a:cs typeface="Arial"/>
                  </a:rPr>
                  <a:t>115</a:t>
                </a:r>
              </a:p>
            </p:txBody>
          </p:sp>
          <p:sp>
            <p:nvSpPr>
              <p:cNvPr id="77" name="Rectangle 52">
                <a:extLst>
                  <a:ext uri="{FF2B5EF4-FFF2-40B4-BE49-F238E27FC236}">
                    <a16:creationId xmlns="" xmlns:a16="http://schemas.microsoft.com/office/drawing/2014/main" id="{5F72117F-518A-4593-A1CA-BC09EFC81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70" y="2889"/>
                <a:ext cx="67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x</a:t>
                </a:r>
                <a:r>
                  <a:rPr lang="en-US" sz="1600">
                    <a:latin typeface="Arial"/>
                    <a:cs typeface="Arial"/>
                  </a:rPr>
                  <a:t> </a:t>
                </a:r>
                <a:r>
                  <a:rPr lang="en-US" sz="2600">
                    <a:latin typeface="Arial"/>
                    <a:cs typeface="Arial"/>
                  </a:rPr>
                  <a:t>100%</a:t>
                </a:r>
              </a:p>
            </p:txBody>
          </p:sp>
          <p:sp>
            <p:nvSpPr>
              <p:cNvPr id="78" name="Rectangle 53">
                <a:extLst>
                  <a:ext uri="{FF2B5EF4-FFF2-40B4-BE49-F238E27FC236}">
                    <a16:creationId xmlns="" xmlns:a16="http://schemas.microsoft.com/office/drawing/2014/main" id="{A9EA8B38-C95B-4629-8E2C-092226F3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7" y="2905"/>
                <a:ext cx="12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>
                <a:spAutoFit/>
              </a:bodyPr>
              <a:lstStyle/>
              <a:p>
                <a:r>
                  <a:rPr lang="en-US" sz="2600">
                    <a:latin typeface="Arial"/>
                    <a:cs typeface="Arial"/>
                  </a:rPr>
                  <a:t>=</a:t>
                </a:r>
              </a:p>
            </p:txBody>
          </p:sp>
          <p:sp>
            <p:nvSpPr>
              <p:cNvPr id="79" name="Line 54">
                <a:extLst>
                  <a:ext uri="{FF2B5EF4-FFF2-40B4-BE49-F238E27FC236}">
                    <a16:creationId xmlns="" xmlns:a16="http://schemas.microsoft.com/office/drawing/2014/main" id="{A08858F5-69DB-47EB-81F0-3F5FFDF3D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8" y="3030"/>
                <a:ext cx="8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/>
                  <a:cs typeface="Arial"/>
                </a:endParaRPr>
              </a:p>
            </p:txBody>
          </p:sp>
        </p:grpSp>
      </p:grpSp>
      <p:sp>
        <p:nvSpPr>
          <p:cNvPr id="80" name="Text Box 40">
            <a:extLst>
              <a:ext uri="{FF2B5EF4-FFF2-40B4-BE49-F238E27FC236}">
                <a16:creationId xmlns="" xmlns:a16="http://schemas.microsoft.com/office/drawing/2014/main" id="{311E2D19-2919-454F-B854-B562DEFE1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9785" y="4065921"/>
            <a:ext cx="224045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通货膨胀率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420483"/>
              </p:ext>
            </p:extLst>
          </p:nvPr>
        </p:nvGraphicFramePr>
        <p:xfrm>
          <a:off x="755576" y="1642102"/>
          <a:ext cx="7920879" cy="2128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39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12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12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2441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627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面包价格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牛奶价格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篮子成本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4+2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10   =60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4+2.5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10 =69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4+3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 </a:t>
                      </a:r>
                      <a:r>
                        <a:rPr 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10   =78</a:t>
                      </a:r>
                      <a:r>
                        <a:rPr lang="zh-CN" altLang="en-US" sz="2400" b="0" i="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lang="zh-CN" altLang="en-US" sz="2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b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04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  <p:bldP spid="61" grpId="0" build="p"/>
      <p:bldP spid="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68" y="1556792"/>
            <a:ext cx="3600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篮子构成：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斤牛肉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斤鸡肉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000" b="1" dirty="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zh-CN" altLang="en-US" sz="2000" dirty="0">
              <a:solidFill>
                <a:srgbClr val="00206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aphicFrame>
        <p:nvGraphicFramePr>
          <p:cNvPr id="7" name="Group 139">
            <a:extLst>
              <a:ext uri="{FF2B5EF4-FFF2-40B4-BE49-F238E27FC236}">
                <a16:creationId xmlns="" xmlns:a16="http://schemas.microsoft.com/office/drawing/2014/main" id="{8B60B108-BE1A-442B-90A6-3A710CBE2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044676"/>
              </p:ext>
            </p:extLst>
          </p:nvPr>
        </p:nvGraphicFramePr>
        <p:xfrm>
          <a:off x="4355976" y="1582854"/>
          <a:ext cx="4461123" cy="2450592"/>
        </p:xfrm>
        <a:graphic>
          <a:graphicData uri="http://schemas.openxmlformats.org/drawingml/2006/table">
            <a:tbl>
              <a:tblPr/>
              <a:tblGrid>
                <a:gridCol w="14050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162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3984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724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牛肉价格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（元）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鸡肉价格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（元）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05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15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15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611560" y="4005064"/>
            <a:ext cx="63367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2011-2012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的通货膨胀率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是多少？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539552" y="620688"/>
            <a:ext cx="3293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038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611560" y="1657881"/>
            <a:ext cx="79928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的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篮子成本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(5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10)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(5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20)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150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= 100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(150/120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125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611560" y="3501008"/>
            <a:ext cx="7920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2011-2012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的通货膨胀率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是多少？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的篮子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(9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10)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(6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20)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210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= 100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(210/120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= 175</a:t>
            </a:r>
          </a:p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2011-2012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(175 – 125)/125 = 40%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5"/>
          <p:cNvSpPr txBox="1"/>
          <p:nvPr/>
        </p:nvSpPr>
        <p:spPr>
          <a:xfrm>
            <a:off x="539552" y="620688"/>
            <a:ext cx="32937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2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计算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4181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381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 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问题：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替代偏差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568" y="1556792"/>
            <a:ext cx="81369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随着时间的推移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，有些物品价格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上涨得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比其他物品快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消费者会更多选择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变得相对便宜的商品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，从而降低价格上涨对于生活成本的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忽略了这种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替代，因为它使用了固定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的一篮子物品。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高估了生活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831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296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3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替代偏差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544" y="1412776"/>
            <a:ext cx="43204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斤牛肉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斤鸡肉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年和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年：家庭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购买了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篮子。</a:t>
            </a:r>
          </a:p>
          <a:p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年：家庭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偏离了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篮子，购买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斤牛肉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斤鸡肉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395536" y="4437112"/>
            <a:ext cx="85503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年的篮子成本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2011-2012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年间的通货膨胀率，与前题相比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呢</a:t>
            </a:r>
            <a:r>
              <a:rPr lang="zh-CN" altLang="en-US" sz="2000">
                <a:solidFill>
                  <a:srgbClr val="002060"/>
                </a:solidFill>
                <a:ea typeface="思源黑体 CN Regular" panose="020B0500000000000000" pitchFamily="34" charset="-122"/>
              </a:rPr>
              <a:t>？</a:t>
            </a:r>
            <a:endParaRPr lang="en-US" altLang="zh-CN" sz="2000" dirty="0">
              <a:solidFill>
                <a:srgbClr val="002060"/>
              </a:solidFill>
              <a:ea typeface="思源黑体 CN Regular" panose="020B0500000000000000" pitchFamily="34" charset="-122"/>
            </a:endParaRPr>
          </a:p>
        </p:txBody>
      </p:sp>
      <p:graphicFrame>
        <p:nvGraphicFramePr>
          <p:cNvPr id="9" name="Group 44">
            <a:extLst>
              <a:ext uri="{FF2B5EF4-FFF2-40B4-BE49-F238E27FC236}">
                <a16:creationId xmlns="" xmlns:a16="http://schemas.microsoft.com/office/drawing/2014/main" id="{C7D7F462-8ACC-4EA2-B658-F39FC9096B4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788025" y="1268761"/>
          <a:ext cx="4176463" cy="2880320"/>
        </p:xfrm>
        <a:graphic>
          <a:graphicData uri="http://schemas.openxmlformats.org/drawingml/2006/table">
            <a:tbl>
              <a:tblPr/>
              <a:tblGrid>
                <a:gridCol w="1132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9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1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0338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130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b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kumimoji="0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牛肉价格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鸡肉价格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篮子</a:t>
                      </a:r>
                      <a:r>
                        <a:rPr kumimoji="0" lang="en-US" altLang="zh-CN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/>
                      </a:r>
                      <a:br>
                        <a:rPr kumimoji="0" lang="en-US" altLang="zh-CN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</a:br>
                      <a:r>
                        <a:rPr kumimoji="0" lang="zh-CN" alt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成本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78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2010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78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2011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93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2012</a:t>
                      </a: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210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元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T="45707" marB="457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658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539552" y="1628800"/>
            <a:ext cx="7920880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年篮子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的成本。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5)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 (6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25) 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195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3296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3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替代偏差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539552" y="2636912"/>
            <a:ext cx="80991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2011-2012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年间的通货膨胀率。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195 – 150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/150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30%</a:t>
            </a: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对比前题目中的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="" xmlns:a16="http://schemas.microsoft.com/office/drawing/2014/main" id="{C376A160-42A4-4FC7-8118-2DBBC0E56C08}"/>
              </a:ext>
            </a:extLst>
          </p:cNvPr>
          <p:cNvSpPr txBox="1"/>
          <p:nvPr/>
        </p:nvSpPr>
        <p:spPr>
          <a:xfrm>
            <a:off x="683568" y="4653136"/>
            <a:ext cx="8387192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提问</a:t>
            </a:r>
            <a:r>
              <a:rPr lang="zh-CN" altLang="en-US" sz="2400" b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通货膨胀率（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）更准确地衡量了生活成本的真实增长？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072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942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 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问题：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忽略新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商品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的引进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568" y="1484784"/>
            <a:ext cx="820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新品种层出不穷，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使消费者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找到篮子之外能更好满足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其需求的产品。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消费者有了更多的选择，维持原来相同福利水平所需的费用就会减少（比如慕课的开发，使得学生不需要去现场听课，学到了相同的知识，但是费用大大降低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了新商品的引进，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使用固定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的一篮子商品。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高估了生活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5270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6195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 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问题：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无法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测算质量的变化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5576" y="1484784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逐步提升的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，因此购买该物品的每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一单位货币的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价值也就不断上升。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前某物品的质量相匹配的应该是一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个更低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价格，而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当前价格。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高估了生活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7646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/>
                <a:ea typeface="华光中雅_CNKI"/>
              </a:rPr>
              <a:t>CPI </a:t>
            </a:r>
            <a:r>
              <a:rPr lang="zh-CN" altLang="en-US" sz="3200" dirty="0">
                <a:solidFill>
                  <a:srgbClr val="002060"/>
                </a:solidFill>
                <a:latin typeface="华光中雅_CNKI"/>
                <a:ea typeface="华光中雅_CNKI"/>
              </a:rPr>
              <a:t>的问题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568" y="1484784"/>
            <a:ext cx="82809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这些问题中的每一个都会导致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CPI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高估生活成本的增长。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虽然统计数据进行了技术性调整，但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CPI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可能每年仍高估通货膨胀率。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这很重要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：因为社会保障支出和许多劳务合同的调整都与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CPI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挂钩。比如，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CPI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的高估实际让政府在社会保障方面发生额外支付。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7828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007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的问题：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其他缺陷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E0DF801D-14A9-441C-89E7-270425B83CFA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485036"/>
            <a:ext cx="8755649" cy="44642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300"/>
              </a:lnSpc>
              <a:buFont typeface="Wingdings" pitchFamily="2" charset="2"/>
              <a:buChar char="Ø"/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篮子不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包含投资品和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隐性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收费（比如餐厅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10%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服务费）。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300"/>
              </a:lnSpc>
              <a:buFont typeface="Wingdings" pitchFamily="2" charset="2"/>
              <a:buChar char="Ø"/>
            </a:pPr>
            <a:r>
              <a:rPr lang="en-US" sz="2400" dirty="0"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是一个平均数，没有反映出不同物品有的价格上涨，有的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价格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下降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300"/>
              </a:lnSpc>
              <a:buFont typeface="Wingdings" pitchFamily="2" charset="2"/>
              <a:buChar char="Ø"/>
            </a:pPr>
            <a:r>
              <a:rPr lang="en-US" sz="2400" dirty="0"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有时与人们的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感受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不同。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33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个体与总体、部分与全部的差异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33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个人承受能力的差异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33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对比时间（基期）的差异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33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地区间的差异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33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即时与滞后的差异</a:t>
            </a:r>
            <a:endParaRPr lang="en-US" sz="2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0363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4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507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平减指数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="" xmlns:a16="http://schemas.microsoft.com/office/drawing/2014/main" id="{C0A6FEE1-544F-47D7-BF64-A64112523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233" y="1412776"/>
            <a:ext cx="5761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zh-CN" altLang="en-US" sz="24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指数衡量的通货膨胀率，基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期均为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="" xmlns:a16="http://schemas.microsoft.com/office/drawing/2014/main" id="{C202EF05-B0AC-4485-81A3-66C1FAD9D165}"/>
              </a:ext>
            </a:extLst>
          </p:cNvPr>
          <p:cNvCxnSpPr>
            <a:cxnSpLocks/>
          </p:cNvCxnSpPr>
          <p:nvPr/>
        </p:nvCxnSpPr>
        <p:spPr>
          <a:xfrm>
            <a:off x="5217082" y="5547792"/>
            <a:ext cx="38355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="" xmlns:a16="http://schemas.microsoft.com/office/drawing/2014/main" id="{E51A839B-0C85-46D8-AAB9-79DAE85E6405}"/>
              </a:ext>
            </a:extLst>
          </p:cNvPr>
          <p:cNvSpPr txBox="1"/>
          <p:nvPr/>
        </p:nvSpPr>
        <p:spPr>
          <a:xfrm>
            <a:off x="5721138" y="5373205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平减指数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="" xmlns:a16="http://schemas.microsoft.com/office/drawing/2014/main" id="{38027E19-D753-4305-BC08-6F7B47A5184C}"/>
              </a:ext>
            </a:extLst>
          </p:cNvPr>
          <p:cNvCxnSpPr>
            <a:cxnSpLocks/>
          </p:cNvCxnSpPr>
          <p:nvPr/>
        </p:nvCxnSpPr>
        <p:spPr>
          <a:xfrm>
            <a:off x="2912826" y="5557871"/>
            <a:ext cx="360040" cy="0"/>
          </a:xfrm>
          <a:prstGeom prst="line">
            <a:avLst/>
          </a:prstGeom>
          <a:ln w="539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="" xmlns:a16="http://schemas.microsoft.com/office/drawing/2014/main" id="{01A64728-0F8C-4B04-8808-6A07F523D322}"/>
              </a:ext>
            </a:extLst>
          </p:cNvPr>
          <p:cNvSpPr txBox="1"/>
          <p:nvPr/>
        </p:nvSpPr>
        <p:spPr>
          <a:xfrm>
            <a:off x="3272866" y="5363126"/>
            <a:ext cx="867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</a:p>
          <a:p>
            <a:endParaRPr lang="zh-CN" altLang="en-US" dirty="0"/>
          </a:p>
        </p:txBody>
      </p:sp>
      <p:graphicFrame>
        <p:nvGraphicFramePr>
          <p:cNvPr id="10" name="图表 9">
            <a:extLst>
              <a:ext uri="{FF2B5EF4-FFF2-40B4-BE49-F238E27FC236}">
                <a16:creationId xmlns="" xmlns:a16="http://schemas.microsoft.com/office/drawing/2014/main" id="{864B6FB1-FD4F-4112-A548-E0F5AFD006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622274"/>
              </p:ext>
            </p:extLst>
          </p:nvPr>
        </p:nvGraphicFramePr>
        <p:xfrm>
          <a:off x="1051488" y="2243773"/>
          <a:ext cx="6976896" cy="3119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0111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978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和 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平减指数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EE974546-D7CD-4B95-B125-3728AAFFF533}"/>
              </a:ext>
            </a:extLst>
          </p:cNvPr>
          <p:cNvSpPr txBox="1">
            <a:spLocks noChangeArrowheads="1"/>
          </p:cNvSpPr>
          <p:nvPr/>
        </p:nvSpPr>
        <p:spPr>
          <a:xfrm>
            <a:off x="436398" y="1340768"/>
            <a:ext cx="5215722" cy="14700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00" kern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00" kern="120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进口消费品：</a:t>
            </a:r>
          </a:p>
          <a:p>
            <a:pPr>
              <a:defRPr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包含在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排除在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平减指数之外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EA67829B-4936-4FBF-ABAD-7F00504F7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2924944"/>
            <a:ext cx="4676775" cy="151216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spcBef>
                <a:spcPct val="45000"/>
              </a:spcBef>
              <a:buClr>
                <a:srgbClr val="00B85C"/>
              </a:buClr>
              <a:buSzPct val="120000"/>
              <a:buFont typeface="Wingdings" pitchFamily="2" charset="2"/>
              <a:buNone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资本品：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457200" indent="-457200">
              <a:spcBef>
                <a:spcPct val="45000"/>
              </a:spcBef>
              <a:buClr>
                <a:srgbClr val="00B85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排除在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之外</a:t>
            </a:r>
          </a:p>
          <a:p>
            <a:pPr marL="457200" indent="-457200">
              <a:spcBef>
                <a:spcPct val="45000"/>
              </a:spcBef>
              <a:buClr>
                <a:srgbClr val="00B85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包括在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平减指数中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FD4C35A5-CBA1-4BCC-9F7B-126CFEBCE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62" y="4653136"/>
            <a:ext cx="6334125" cy="147096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spcBef>
                <a:spcPct val="20000"/>
              </a:spcBef>
              <a:buClr>
                <a:srgbClr val="00B85C"/>
              </a:buClr>
              <a:buSzPct val="120000"/>
              <a:defRPr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篮子：</a:t>
            </a:r>
          </a:p>
          <a:p>
            <a:pPr marL="342900" indent="-342900">
              <a:spcBef>
                <a:spcPct val="20000"/>
              </a:spcBef>
              <a:buClr>
                <a:srgbClr val="00B85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使用固定篮子</a:t>
            </a:r>
          </a:p>
          <a:p>
            <a:pPr marL="342900" indent="-342900">
              <a:spcBef>
                <a:spcPct val="20000"/>
              </a:spcBef>
              <a:buClr>
                <a:srgbClr val="00B85C"/>
              </a:buClr>
              <a:buSzPct val="120000"/>
              <a:buFont typeface="Arial" panose="020B0604020202020204" pitchFamily="34" charset="0"/>
              <a:buChar char="•"/>
              <a:defRPr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指数使用当期生产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的商品和服务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472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576" y="1664256"/>
            <a:ext cx="79208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A.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星巴克提高星冰乐的价格。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CPI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GDP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平减指数双双上升。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B.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三一重工提高了它在湖南工厂生产的挖掘机的价格。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GDP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平减指数上升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而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C.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阿玛尼提高了在中国销售的意大利牛仔裤的价格。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上升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GDP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平减指数没有上升。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137" y="641967"/>
            <a:ext cx="5439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4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CPI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与 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GDP 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平减指数</a:t>
            </a:r>
          </a:p>
        </p:txBody>
      </p:sp>
    </p:spTree>
    <p:extLst>
      <p:ext uri="{BB962C8B-B14F-4D97-AF65-F5344CB8AC3E}">
        <p14:creationId xmlns:p14="http://schemas.microsoft.com/office/powerpoint/2010/main" val="677060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修正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通货膨胀一：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不同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时期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的金额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5536" y="1412776"/>
            <a:ext cx="85503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中国为例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（来源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：国家统计局网站）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1978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年</a:t>
            </a: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CPI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为</a:t>
            </a: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100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（基期），</a:t>
            </a:r>
            <a:r>
              <a:rPr lang="en-US" altLang="zh-CN" sz="2400" smtClean="0">
                <a:latin typeface="华文楷体" pitchFamily="2" charset="-122"/>
                <a:ea typeface="华文楷体" pitchFamily="2" charset="-122"/>
              </a:rPr>
              <a:t>2020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年</a:t>
            </a:r>
            <a:r>
              <a:rPr lang="en-US" altLang="zh-CN" sz="2400" smtClean="0">
                <a:latin typeface="华文楷体" pitchFamily="2" charset="-122"/>
                <a:ea typeface="华文楷体" pitchFamily="2" charset="-122"/>
              </a:rPr>
              <a:t>CPI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为</a:t>
            </a:r>
            <a:r>
              <a:rPr lang="en-US" altLang="zh-CN" sz="2400" smtClean="0">
                <a:latin typeface="华文楷体" pitchFamily="2" charset="-122"/>
                <a:ea typeface="华文楷体" pitchFamily="2" charset="-122"/>
              </a:rPr>
              <a:t>686.5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，我们因此计算出</a:t>
            </a:r>
            <a:r>
              <a:rPr lang="en-US" altLang="zh-CN" sz="2400" b="1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1978-2020</a:t>
            </a:r>
            <a:r>
              <a:rPr lang="zh-CN" altLang="en-US" sz="24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的</a:t>
            </a:r>
            <a:r>
              <a:rPr lang="zh-CN" altLang="en-US" sz="2400" b="1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通货膨胀率</a:t>
            </a:r>
            <a:r>
              <a:rPr lang="en-US" altLang="zh-CN" sz="2400" b="1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586.5%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1978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年：城镇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人均可支配收入</a:t>
            </a: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343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元，农村人均可支配收入</a:t>
            </a: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134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元。</a:t>
            </a:r>
            <a:endParaRPr lang="en-US" altLang="zh-CN" sz="2400">
              <a:latin typeface="华文楷体" pitchFamily="2" charset="-122"/>
              <a:ea typeface="华文楷体" pitchFamily="2" charset="-122"/>
            </a:endParaRP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latin typeface="华文楷体" pitchFamily="2" charset="-122"/>
                <a:ea typeface="华文楷体" pitchFamily="2" charset="-122"/>
              </a:rPr>
              <a:t>2020</a:t>
            </a:r>
            <a:r>
              <a:rPr lang="zh-CN" altLang="en-US" sz="2400" smtClean="0">
                <a:latin typeface="华文楷体" pitchFamily="2" charset="-122"/>
                <a:ea typeface="华文楷体" pitchFamily="2" charset="-122"/>
              </a:rPr>
              <a:t>年：城镇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人均可支配收入</a:t>
            </a:r>
            <a:r>
              <a:rPr lang="en-US" altLang="zh-CN" sz="2400" smtClean="0">
                <a:latin typeface="华文楷体" pitchFamily="2" charset="-122"/>
                <a:ea typeface="华文楷体" pitchFamily="2" charset="-122"/>
              </a:rPr>
              <a:t>43,834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元，农村人均可支配收入</a:t>
            </a:r>
            <a:r>
              <a:rPr lang="en-US" altLang="zh-CN" sz="2400" smtClean="0">
                <a:latin typeface="华文楷体" pitchFamily="2" charset="-122"/>
                <a:ea typeface="华文楷体" pitchFamily="2" charset="-122"/>
              </a:rPr>
              <a:t>17,131</a:t>
            </a:r>
            <a:r>
              <a:rPr lang="zh-CN" altLang="en-US" sz="2400">
                <a:latin typeface="华文楷体" pitchFamily="2" charset="-122"/>
                <a:ea typeface="华文楷体" pitchFamily="2" charset="-122"/>
              </a:rPr>
              <a:t>元</a:t>
            </a:r>
            <a:endParaRPr lang="zh-CN" altLang="en-US" sz="2400" dirty="0">
              <a:latin typeface="华文楷体" pitchFamily="2" charset="-122"/>
              <a:ea typeface="华文楷体" pitchFamily="2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通货膨胀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使得比较不同时期的人民币价格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变得困难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为了比较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年和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年的收入水平，我们使用通货膨胀率将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年当前金额转换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为“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 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年人民币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”不变金额。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9689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2A3DB7B7-3828-4FE7-A3E4-119BFA5FBF77}"/>
              </a:ext>
            </a:extLst>
          </p:cNvPr>
          <p:cNvSpPr txBox="1"/>
          <p:nvPr/>
        </p:nvSpPr>
        <p:spPr>
          <a:xfrm>
            <a:off x="683568" y="1484784"/>
            <a:ext cx="79928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城镇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人均可支配收入按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年人民币计算为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 =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343 X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1+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586.5%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2,358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2,358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元到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43,834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元人民币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城镇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实际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人均可支配收入增长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18.6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倍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9">
            <a:extLst>
              <a:ext uri="{FF2B5EF4-FFF2-40B4-BE49-F238E27FC236}">
                <a16:creationId xmlns="" xmlns:a16="http://schemas.microsoft.com/office/drawing/2014/main" id="{2A3DB7B7-3828-4FE7-A3E4-119BFA5FBF77}"/>
              </a:ext>
            </a:extLst>
          </p:cNvPr>
          <p:cNvSpPr txBox="1"/>
          <p:nvPr/>
        </p:nvSpPr>
        <p:spPr>
          <a:xfrm>
            <a:off x="683568" y="3861048"/>
            <a:ext cx="79928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农村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可支配收入按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年人民币计算为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=134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1+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586.5%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=920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1978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920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元到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17,131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人民币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农村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实际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人均可支配收入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增长也是</a:t>
            </a:r>
            <a:r>
              <a:rPr lang="en-US" altLang="zh-CN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18.6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倍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修正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通货膨胀一：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不同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时期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的金额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012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136" y="1844824"/>
            <a:ext cx="78283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研究人员、政策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制定者经常使用这种技术将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一系列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当前金额（名义</a:t>
            </a:r>
            <a:r>
              <a:rPr lang="zh-CN" altLang="en-US" sz="2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数字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转换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不变金额（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真实）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数字。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可以看到在修正通货膨胀后，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变量的</a:t>
            </a:r>
            <a:r>
              <a:rPr lang="zh-CN" altLang="en-US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不变金额（真实）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如何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随时间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变化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。比如：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最低工资、人均可支配收入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等变量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414137" y="641967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修正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通货膨胀一：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比较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不同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时期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的金额</a:t>
            </a:r>
            <a:endParaRPr lang="zh-CN" altLang="en-US" sz="3200" dirty="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783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4509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：美国大学的学费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7" name="Table 5">
            <a:extLst>
              <a:ext uri="{FF2B5EF4-FFF2-40B4-BE49-F238E27FC236}">
                <a16:creationId xmlns="" xmlns:a16="http://schemas.microsoft.com/office/drawing/2014/main" id="{18646051-0584-4493-9A4A-506C4AF0B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92907"/>
              </p:ext>
            </p:extLst>
          </p:nvPr>
        </p:nvGraphicFramePr>
        <p:xfrm>
          <a:off x="1181037" y="1340768"/>
          <a:ext cx="6462112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863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7731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661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0829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美国大学</a:t>
                      </a:r>
                      <a:r>
                        <a:rPr lang="zh-CN" altLang="en-US" sz="2400" b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的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学费</a:t>
                      </a:r>
                      <a:endParaRPr lang="en-US" sz="2400" b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3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3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0829">
                <a:tc>
                  <a:txBody>
                    <a:bodyPr/>
                    <a:lstStyle/>
                    <a:p>
                      <a:endParaRPr lang="en-US" sz="2400" b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1990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endParaRPr lang="en-US" sz="2400" b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2013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endParaRPr lang="en-US" sz="2400" b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私立</a:t>
                      </a:r>
                      <a:r>
                        <a:rPr lang="en-US" altLang="zh-CN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zh-CN" altLang="en-US" sz="2400" b="0" dirty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制</a:t>
                      </a:r>
                      <a:endParaRPr lang="en-US" sz="2400" b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$9,340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$30,094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zh-CN" altLang="en-US" sz="2400" b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制</a:t>
                      </a:r>
                      <a:endParaRPr lang="en-US" sz="2400" b="0" baseline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$1,908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$8,893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</a:t>
                      </a:r>
                      <a:r>
                        <a:rPr lang="zh-CN" altLang="en-US" sz="2400" b="0" smtClean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zh-CN" altLang="en-US" sz="2400" b="0" dirty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制</a:t>
                      </a:r>
                      <a:endParaRPr lang="en-US" altLang="zh-CN" sz="2400" b="0" baseline="0" dirty="0"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$906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$3,264 </a:t>
                      </a:r>
                      <a:endParaRPr lang="en-US" sz="2400" b="0" i="0" u="none" strike="noStrike" dirty="0"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0829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CPI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130.7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232.6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6">
            <a:extLst>
              <a:ext uri="{FF2B5EF4-FFF2-40B4-BE49-F238E27FC236}">
                <a16:creationId xmlns="" xmlns:a16="http://schemas.microsoft.com/office/drawing/2014/main" id="{157AD29D-D39A-49A1-B144-2F3D42A3DDA8}"/>
              </a:ext>
            </a:extLst>
          </p:cNvPr>
          <p:cNvSpPr txBox="1"/>
          <p:nvPr/>
        </p:nvSpPr>
        <p:spPr>
          <a:xfrm>
            <a:off x="827584" y="4278420"/>
            <a:ext cx="7677259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以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2013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年美元表示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1990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年的学费数字，然后计算所有三类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学校的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学费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的实际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增长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百分比。</a:t>
            </a:r>
            <a:endParaRPr lang="en-US" altLang="zh-CN" sz="24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哪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种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类型的学费实际增长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幅度最大？</a:t>
            </a:r>
            <a:endParaRPr 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68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9" name="Table 5">
            <a:extLst>
              <a:ext uri="{FF2B5EF4-FFF2-40B4-BE49-F238E27FC236}">
                <a16:creationId xmlns="" xmlns:a16="http://schemas.microsoft.com/office/drawing/2014/main" id="{AF8DE43B-09E5-416C-9267-5903BCCAA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35047"/>
              </p:ext>
            </p:extLst>
          </p:nvPr>
        </p:nvGraphicFramePr>
        <p:xfrm>
          <a:off x="391257" y="1412776"/>
          <a:ext cx="8280919" cy="4171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604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8447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4110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9489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64452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1990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2013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% 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变化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4452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CPI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130.7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232.6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78.0%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5272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私立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(1990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）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$9,340 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$30,094 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私立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201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3 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$16,622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$30,094  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81.1%</a:t>
                      </a:r>
                    </a:p>
                  </a:txBody>
                  <a:tcPr marL="9525" marR="9525" marT="9525" marB="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2696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(1990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 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美元）</a:t>
                      </a:r>
                      <a:endParaRPr lang="en-US" sz="2400" b="0" baseline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$1,908 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$8,893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2696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4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(201</a:t>
                      </a:r>
                      <a:r>
                        <a:rPr lang="en-US" altLang="zh-CN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3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 </a:t>
                      </a:r>
                      <a:r>
                        <a:rPr lang="zh-CN" alt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$3,396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$8,893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161.9%</a:t>
                      </a: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2696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(1990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）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$906 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$3,264 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02696">
                <a:tc>
                  <a:txBody>
                    <a:bodyPr/>
                    <a:lstStyle/>
                    <a:p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公立</a:t>
                      </a:r>
                      <a:r>
                        <a:rPr lang="en-US" altLang="zh-CN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2</a:t>
                      </a:r>
                      <a:r>
                        <a:rPr lang="zh-CN" altLang="en-US" sz="2400" b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年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(201</a:t>
                      </a:r>
                      <a:r>
                        <a:rPr lang="en-US" altLang="zh-CN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3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 </a:t>
                      </a:r>
                      <a:r>
                        <a:rPr lang="zh-CN" alt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美元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$1,612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$3,264 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  <a:cs typeface="Arial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Arial"/>
                        </a:rPr>
                        <a:t>102.4%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4137" y="641967"/>
            <a:ext cx="4509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：美国大学的学费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5810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修正通货膨胀：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实际利率与名义利率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281" y="1484784"/>
            <a:ext cx="81444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名义利率：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未针对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通货膨胀进行修正的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利率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债权（存款）或债务（贷款）的人民币金额增长率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实际利率：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修正通货膨胀后的利率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债权或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债务购买力的增长率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实际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利率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名义利率 − 通货膨胀率</a:t>
            </a:r>
            <a:endParaRPr lang="zh-CN" altLang="en-US" sz="24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6154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53383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32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6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3200" smtClean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实际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利率与名义利率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92" y="1772816"/>
            <a:ext cx="7573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存入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1,000 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元人民币一年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名义利率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1.75%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2020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年通货膨胀率（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CPI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增长率）为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2.5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%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实际利率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名义利率 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通货膨胀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                =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1.75% – 2.5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% 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= -0.75</a:t>
            </a:r>
            <a:r>
              <a:rPr lang="en-US" altLang="zh-CN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%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1,000 </a:t>
            </a:r>
            <a:r>
              <a:rPr lang="zh-CN" altLang="en-US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元人民币存款的购买力降低了</a:t>
            </a:r>
            <a:r>
              <a:rPr lang="en-US" altLang="zh-CN" sz="24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0.75%</a:t>
            </a:r>
            <a:r>
              <a:rPr lang="zh-CN" altLang="en-US" sz="24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62111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4" name="图表 3">
            <a:extLst>
              <a:ext uri="{FF2B5EF4-FFF2-40B4-BE49-F238E27FC236}">
                <a16:creationId xmlns="" xmlns:a16="http://schemas.microsoft.com/office/drawing/2014/main" id="{2382E036-F060-40A1-869A-CDA744409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6193515"/>
              </p:ext>
            </p:extLst>
          </p:nvPr>
        </p:nvGraphicFramePr>
        <p:xfrm>
          <a:off x="683568" y="1556792"/>
          <a:ext cx="8136904" cy="4450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4137" y="641967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修正通货膨胀：</a:t>
            </a:r>
            <a:r>
              <a:rPr lang="zh-CN" altLang="en-US" sz="3200" dirty="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实际利率与名义利率</a:t>
            </a:r>
          </a:p>
        </p:txBody>
      </p:sp>
    </p:spTree>
    <p:extLst>
      <p:ext uri="{BB962C8B-B14F-4D97-AF65-F5344CB8AC3E}">
        <p14:creationId xmlns:p14="http://schemas.microsoft.com/office/powerpoint/2010/main" val="3534241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哈尔滨工业大学（深圳）经济管理学院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BD039C5-E591-4702-AED9-53741EC3D7EA}"/>
              </a:ext>
            </a:extLst>
          </p:cNvPr>
          <p:cNvSpPr txBox="1"/>
          <p:nvPr/>
        </p:nvSpPr>
        <p:spPr>
          <a:xfrm>
            <a:off x="1835696" y="2060848"/>
            <a:ext cx="4828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</a:rPr>
              <a:t>《</a:t>
            </a:r>
            <a:r>
              <a:rPr lang="zh-CN" altLang="en-US" sz="4800">
                <a:solidFill>
                  <a:schemeClr val="bg1"/>
                </a:solidFill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</a:rPr>
              <a:t>B》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53C9CD8B-9D8F-4E4F-AA7B-F97C16B10CCD}"/>
              </a:ext>
            </a:extLst>
          </p:cNvPr>
          <p:cNvSpPr txBox="1"/>
          <p:nvPr/>
        </p:nvSpPr>
        <p:spPr>
          <a:xfrm>
            <a:off x="1835696" y="3262570"/>
            <a:ext cx="48060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</a:rPr>
              <a:t>下一章：</a:t>
            </a:r>
            <a:r>
              <a:rPr lang="zh-CN" altLang="en-US" sz="4000" b="1" dirty="0">
                <a:solidFill>
                  <a:schemeClr val="bg1"/>
                </a:solidFill>
              </a:rPr>
              <a:t>生产和增长</a:t>
            </a:r>
          </a:p>
        </p:txBody>
      </p:sp>
    </p:spTree>
    <p:extLst>
      <p:ext uri="{BB962C8B-B14F-4D97-AF65-F5344CB8AC3E}">
        <p14:creationId xmlns:p14="http://schemas.microsoft.com/office/powerpoint/2010/main" val="698441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3962</TotalTime>
  <Words>2026</Words>
  <Application>Microsoft Office PowerPoint</Application>
  <PresentationFormat>全屏显示(4:3)</PresentationFormat>
  <Paragraphs>278</Paragraphs>
  <Slides>28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等线</vt:lpstr>
      <vt:lpstr>华光琥珀_CNKI</vt:lpstr>
      <vt:lpstr>华光中雅_CNKI</vt:lpstr>
      <vt:lpstr>华文琥珀</vt:lpstr>
      <vt:lpstr>华文楷体</vt:lpstr>
      <vt:lpstr>思源黑体 CN Bold</vt:lpstr>
      <vt:lpstr>思源黑体 CN Light</vt:lpstr>
      <vt:lpstr>思源黑体 CN Regular</vt:lpstr>
      <vt:lpstr>宋体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Windows 用户</cp:lastModifiedBy>
  <cp:revision>200</cp:revision>
  <dcterms:created xsi:type="dcterms:W3CDTF">2020-07-01T07:18:00Z</dcterms:created>
  <dcterms:modified xsi:type="dcterms:W3CDTF">2022-02-17T03:02:16Z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