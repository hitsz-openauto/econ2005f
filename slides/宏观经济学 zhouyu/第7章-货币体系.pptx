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sldIdLst>
    <p:sldId id="382" r:id="rId4"/>
    <p:sldId id="389" r:id="rId6"/>
    <p:sldId id="398" r:id="rId7"/>
    <p:sldId id="333" r:id="rId8"/>
    <p:sldId id="334" r:id="rId9"/>
    <p:sldId id="336" r:id="rId10"/>
    <p:sldId id="391" r:id="rId11"/>
    <p:sldId id="393" r:id="rId12"/>
    <p:sldId id="339" r:id="rId13"/>
    <p:sldId id="340" r:id="rId14"/>
    <p:sldId id="385" r:id="rId15"/>
    <p:sldId id="386" r:id="rId16"/>
    <p:sldId id="341" r:id="rId17"/>
    <p:sldId id="390" r:id="rId18"/>
    <p:sldId id="296" r:id="rId19"/>
    <p:sldId id="297" r:id="rId20"/>
    <p:sldId id="298" r:id="rId21"/>
    <p:sldId id="299" r:id="rId22"/>
    <p:sldId id="300" r:id="rId23"/>
    <p:sldId id="302" r:id="rId24"/>
    <p:sldId id="303" r:id="rId25"/>
    <p:sldId id="304" r:id="rId26"/>
    <p:sldId id="305" r:id="rId27"/>
    <p:sldId id="306" r:id="rId28"/>
    <p:sldId id="309" r:id="rId29"/>
    <p:sldId id="310" r:id="rId30"/>
    <p:sldId id="311" r:id="rId31"/>
    <p:sldId id="312" r:id="rId32"/>
    <p:sldId id="313" r:id="rId33"/>
    <p:sldId id="314" r:id="rId34"/>
    <p:sldId id="315" r:id="rId35"/>
    <p:sldId id="316" r:id="rId36"/>
    <p:sldId id="317" r:id="rId37"/>
    <p:sldId id="318" r:id="rId38"/>
    <p:sldId id="319" r:id="rId39"/>
    <p:sldId id="320" r:id="rId40"/>
    <p:sldId id="323" r:id="rId41"/>
    <p:sldId id="324" r:id="rId42"/>
    <p:sldId id="325" r:id="rId43"/>
    <p:sldId id="396" r:id="rId44"/>
    <p:sldId id="397" r:id="rId45"/>
    <p:sldId id="388" r:id="rId4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userDrawn="1">
          <p15:clr>
            <a:srgbClr val="A4A3A4"/>
          </p15:clr>
        </p15:guide>
        <p15:guide id="2" pos="29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7B55"/>
    <a:srgbClr val="9F84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81776" autoAdjust="0"/>
  </p:normalViewPr>
  <p:slideViewPr>
    <p:cSldViewPr showGuides="1">
      <p:cViewPr varScale="1">
        <p:scale>
          <a:sx n="57" d="100"/>
          <a:sy n="57" d="100"/>
        </p:scale>
        <p:origin x="-1758" y="-90"/>
      </p:cViewPr>
      <p:guideLst>
        <p:guide orient="horz" pos="2203"/>
        <p:guide pos="295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2C69A2-3D8A-4416-8595-1186F42B578A}" type="slidenum">
              <a:rPr lang="en-US" smtClean="0"/>
            </a:fld>
            <a:endParaRPr lang="en-US" smtClean="0"/>
          </a:p>
        </p:txBody>
      </p:sp>
      <p:sp>
        <p:nvSpPr>
          <p:cNvPr id="55299" name="Rectangle 7"/>
          <p:cNvSpPr txBox="1">
            <a:spLocks noGrp="1" noChangeArrowheads="1"/>
          </p:cNvSpPr>
          <p:nvPr/>
        </p:nvSpPr>
        <p:spPr bwMode="auto">
          <a:xfrm>
            <a:off x="3850443" y="9430091"/>
            <a:ext cx="2945659" cy="49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C1CE5D9-6990-4455-83BE-37E7DBD63717}" type="slidenum">
              <a:rPr lang="en-US" sz="1200">
                <a:cs typeface="Arial" panose="020B0604020202020204" pitchFamily="34" charset="0"/>
              </a:rPr>
            </a:fld>
            <a:endParaRPr lang="en-US" sz="1200">
              <a:cs typeface="Arial" panose="020B0604020202020204" pitchFamily="34" charset="0"/>
            </a:endParaRPr>
          </a:p>
        </p:txBody>
      </p:sp>
      <p:sp>
        <p:nvSpPr>
          <p:cNvPr id="55300" name="Rectangle 2"/>
          <p:cNvSpPr>
            <a:spLocks noGrp="1" noRot="1" noChangeAspect="1" noChangeArrowheads="1" noTextEdit="1"/>
          </p:cNvSpPr>
          <p:nvPr>
            <p:ph type="sldImg"/>
          </p:nvPr>
        </p:nvSpPr>
        <p:spPr>
          <a:xfrm>
            <a:off x="917575" y="581025"/>
            <a:ext cx="4962525" cy="3722688"/>
          </a:xfrm>
        </p:spPr>
      </p:sp>
      <p:sp>
        <p:nvSpPr>
          <p:cNvPr id="55301" name="Rectangle 3"/>
          <p:cNvSpPr>
            <a:spLocks noGrp="1" noChangeArrowheads="1"/>
          </p:cNvSpPr>
          <p:nvPr>
            <p:ph type="body" idx="1"/>
          </p:nvPr>
        </p:nvSpPr>
        <p:spPr>
          <a:xfrm>
            <a:off x="679768" y="4612488"/>
            <a:ext cx="5438140" cy="45711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2C69A2-3D8A-4416-8595-1186F42B578A}" type="slidenum">
              <a:rPr lang="en-US" smtClean="0"/>
            </a:fld>
            <a:endParaRPr lang="en-US" smtClean="0"/>
          </a:p>
        </p:txBody>
      </p:sp>
      <p:sp>
        <p:nvSpPr>
          <p:cNvPr id="55299" name="Rectangle 7"/>
          <p:cNvSpPr txBox="1">
            <a:spLocks noGrp="1" noChangeArrowheads="1"/>
          </p:cNvSpPr>
          <p:nvPr/>
        </p:nvSpPr>
        <p:spPr bwMode="auto">
          <a:xfrm>
            <a:off x="3850443" y="9430091"/>
            <a:ext cx="2945659" cy="49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C1CE5D9-6990-4455-83BE-37E7DBD63717}" type="slidenum">
              <a:rPr lang="en-US" sz="1200">
                <a:cs typeface="Arial" panose="020B0604020202020204" pitchFamily="34" charset="0"/>
              </a:rPr>
            </a:fld>
            <a:endParaRPr lang="en-US" sz="1200">
              <a:cs typeface="Arial" panose="020B0604020202020204" pitchFamily="34" charset="0"/>
            </a:endParaRPr>
          </a:p>
        </p:txBody>
      </p:sp>
      <p:sp>
        <p:nvSpPr>
          <p:cNvPr id="55300" name="Rectangle 2"/>
          <p:cNvSpPr>
            <a:spLocks noGrp="1" noRot="1" noChangeAspect="1" noChangeArrowheads="1" noTextEdit="1"/>
          </p:cNvSpPr>
          <p:nvPr>
            <p:ph type="sldImg"/>
          </p:nvPr>
        </p:nvSpPr>
        <p:spPr>
          <a:xfrm>
            <a:off x="917575" y="581025"/>
            <a:ext cx="4962525" cy="3722688"/>
          </a:xfrm>
        </p:spPr>
      </p:sp>
      <p:sp>
        <p:nvSpPr>
          <p:cNvPr id="55301" name="Rectangle 3"/>
          <p:cNvSpPr>
            <a:spLocks noGrp="1" noChangeArrowheads="1"/>
          </p:cNvSpPr>
          <p:nvPr>
            <p:ph type="body" idx="1"/>
          </p:nvPr>
        </p:nvSpPr>
        <p:spPr>
          <a:xfrm>
            <a:off x="679768" y="4612488"/>
            <a:ext cx="5438140" cy="45711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9A320A-3590-4C97-B57E-60E1B513EBE1}" type="slidenum">
              <a:rPr lang="en-US" smtClean="0"/>
            </a:fld>
            <a:endParaRPr lang="en-US" smtClean="0"/>
          </a:p>
        </p:txBody>
      </p:sp>
      <p:sp>
        <p:nvSpPr>
          <p:cNvPr id="65539" name="Rectangle 7"/>
          <p:cNvSpPr txBox="1">
            <a:spLocks noGrp="1" noChangeArrowheads="1"/>
          </p:cNvSpPr>
          <p:nvPr/>
        </p:nvSpPr>
        <p:spPr bwMode="auto">
          <a:xfrm>
            <a:off x="3850443" y="9430091"/>
            <a:ext cx="2945659" cy="49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6857B55-84C6-4FA8-AB0B-537F26687864}" type="slidenum">
              <a:rPr lang="en-US" sz="1200">
                <a:cs typeface="Arial" panose="020B0604020202020204" pitchFamily="34" charset="0"/>
              </a:rPr>
            </a:fld>
            <a:endParaRPr lang="en-US" sz="1200">
              <a:cs typeface="Arial" panose="020B0604020202020204" pitchFamily="34" charset="0"/>
            </a:endParaRPr>
          </a:p>
        </p:txBody>
      </p:sp>
      <p:sp>
        <p:nvSpPr>
          <p:cNvPr id="65540" name="Rectangle 2"/>
          <p:cNvSpPr>
            <a:spLocks noGrp="1" noRot="1" noChangeAspect="1" noChangeArrowheads="1" noTextEdit="1"/>
          </p:cNvSpPr>
          <p:nvPr>
            <p:ph type="sldImg"/>
          </p:nvPr>
        </p:nvSpPr>
        <p:spPr>
          <a:xfrm>
            <a:off x="917575" y="581025"/>
            <a:ext cx="4962525" cy="3722688"/>
          </a:xfrm>
        </p:spPr>
      </p:sp>
      <p:sp>
        <p:nvSpPr>
          <p:cNvPr id="65541" name="Rectangle 3"/>
          <p:cNvSpPr>
            <a:spLocks noGrp="1" noChangeArrowheads="1"/>
          </p:cNvSpPr>
          <p:nvPr>
            <p:ph type="body" idx="1"/>
          </p:nvPr>
        </p:nvSpPr>
        <p:spPr>
          <a:xfrm>
            <a:off x="679768" y="4612488"/>
            <a:ext cx="5438140" cy="45711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172776-8F08-4AB3-9D48-A0CA99175795}" type="slidenum">
              <a:rPr lang="en-US" smtClean="0"/>
            </a:fld>
            <a:endParaRPr lang="en-US"/>
          </a:p>
        </p:txBody>
      </p:sp>
      <p:sp>
        <p:nvSpPr>
          <p:cNvPr id="604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2C6477-E9A0-452E-A254-C307F20F523F}" type="slidenum">
              <a:rPr lang="en-US" sz="1200">
                <a:cs typeface="Arial" panose="020B0604020202020204" pitchFamily="34" charset="0"/>
              </a:rPr>
            </a:fld>
            <a:endParaRPr lang="en-US" sz="1200">
              <a:cs typeface="Arial" panose="020B0604020202020204" pitchFamily="34" charset="0"/>
            </a:endParaRPr>
          </a:p>
        </p:txBody>
      </p:sp>
      <p:sp>
        <p:nvSpPr>
          <p:cNvPr id="60420" name="Rectangle 2"/>
          <p:cNvSpPr>
            <a:spLocks noGrp="1" noRot="1" noChangeAspect="1" noChangeArrowheads="1" noTextEdit="1"/>
          </p:cNvSpPr>
          <p:nvPr>
            <p:ph type="sldImg"/>
          </p:nvPr>
        </p:nvSpPr>
        <p:spPr>
          <a:xfrm>
            <a:off x="1143000" y="534988"/>
            <a:ext cx="4572000" cy="3429000"/>
          </a:xfrm>
        </p:spPr>
      </p:sp>
      <p:sp>
        <p:nvSpPr>
          <p:cNvPr id="60421" name="Rectangle 3"/>
          <p:cNvSpPr>
            <a:spLocks noGrp="1" noChangeArrowheads="1"/>
          </p:cNvSpPr>
          <p:nvPr>
            <p:ph type="body" idx="1"/>
          </p:nvPr>
        </p:nvSpPr>
        <p:spPr>
          <a:xfrm>
            <a:off x="685800" y="4248150"/>
            <a:ext cx="5486400" cy="4210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lvl1pPr algn="l">
              <a:defRPr sz="3600" b="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57200" y="1219200"/>
            <a:ext cx="8229600" cy="4979581"/>
          </a:xfrm>
        </p:spPr>
        <p:txBody>
          <a:bodyPr/>
          <a:lstStyle>
            <a:lvl1pPr>
              <a:lnSpc>
                <a:spcPct val="105000"/>
              </a:lnSpc>
              <a:spcBef>
                <a:spcPts val="1200"/>
              </a:spcBef>
              <a:buClr>
                <a:srgbClr val="A3C167"/>
              </a:buClr>
              <a:buFont typeface="Wingdings" panose="05000000000000000000" pitchFamily="2" charset="2"/>
              <a:buChar char="§"/>
              <a:defRPr sz="2800">
                <a:latin typeface="Arial" panose="020B0604020202020204" pitchFamily="34" charset="0"/>
                <a:cs typeface="Arial" panose="020B0604020202020204" pitchFamily="34" charset="0"/>
              </a:defRPr>
            </a:lvl1pPr>
            <a:lvl2pPr>
              <a:lnSpc>
                <a:spcPct val="105000"/>
              </a:lnSpc>
              <a:spcBef>
                <a:spcPts val="300"/>
              </a:spcBef>
              <a:buClr>
                <a:srgbClr val="CC9900"/>
              </a:buClr>
              <a:buFont typeface="Wingdings" panose="05000000000000000000" pitchFamily="2" charset="2"/>
              <a:buChar char="§"/>
              <a:defRPr sz="2700">
                <a:latin typeface="Arial" panose="020B0604020202020204" pitchFamily="34" charset="0"/>
                <a:cs typeface="Arial" panose="020B0604020202020204" pitchFamily="34" charset="0"/>
              </a:defRPr>
            </a:lvl2pPr>
            <a:lvl3pPr>
              <a:lnSpc>
                <a:spcPct val="105000"/>
              </a:lnSpc>
              <a:spcBef>
                <a:spcPts val="300"/>
              </a:spcBef>
              <a:buClr>
                <a:srgbClr val="B3A2C7"/>
              </a:buClr>
              <a:buFont typeface="Wingdings" panose="05000000000000000000" pitchFamily="2" charset="2"/>
              <a:buChar char="§"/>
              <a:defRPr sz="2400">
                <a:latin typeface="Arial" panose="020B0604020202020204" pitchFamily="34" charset="0"/>
                <a:cs typeface="Arial" panose="020B0604020202020204" pitchFamily="34" charset="0"/>
              </a:defRPr>
            </a:lvl3pPr>
            <a:lvl4pPr>
              <a:lnSpc>
                <a:spcPct val="105000"/>
              </a:lnSpc>
              <a:spcBef>
                <a:spcPts val="300"/>
              </a:spcBef>
              <a:defRPr>
                <a:latin typeface="Arial" panose="020B0604020202020204" pitchFamily="34" charset="0"/>
                <a:cs typeface="Arial" panose="020B0604020202020204" pitchFamily="34" charset="0"/>
              </a:defRPr>
            </a:lvl4pPr>
            <a:lvl5pPr>
              <a:lnSpc>
                <a:spcPct val="105000"/>
              </a:lnSpc>
              <a:spcBef>
                <a:spcPts val="300"/>
              </a:spcBef>
              <a:defRPr>
                <a:latin typeface="Arial" panose="020B0604020202020204" pitchFamily="34" charset="0"/>
                <a:cs typeface="Arial" panose="020B060402020202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8" name="TextBox 7"/>
          <p:cNvSpPr txBox="1"/>
          <p:nvPr userDrawn="1"/>
        </p:nvSpPr>
        <p:spPr>
          <a:xfrm>
            <a:off x="-10633" y="6500422"/>
            <a:ext cx="5649433" cy="338554"/>
          </a:xfrm>
          <a:prstGeom prst="rect">
            <a:avLst/>
          </a:prstGeom>
          <a:noFill/>
        </p:spPr>
        <p:txBody>
          <a:bodyPr wrap="square" rtlCol="0">
            <a:spAutoFit/>
          </a:bodyPr>
          <a:lstStyle/>
          <a:p>
            <a:r>
              <a:rPr lang="en-US" sz="800" b="0" i="1" dirty="0">
                <a:solidFill>
                  <a:srgbClr val="777777"/>
                </a:solidFill>
                <a:latin typeface="Times New Roman" panose="02020603050405020304" pitchFamily="18" charset="0"/>
                <a:cs typeface="Times New Roman" panose="02020603050405020304" pitchFamily="18" charset="0"/>
              </a:rPr>
              <a:t>© 2015 </a:t>
            </a:r>
            <a:r>
              <a:rPr lang="en-US" sz="800" b="0" i="1" dirty="0" err="1">
                <a:solidFill>
                  <a:srgbClr val="777777"/>
                </a:solidFill>
                <a:latin typeface="Times New Roman" panose="02020603050405020304" pitchFamily="18" charset="0"/>
                <a:cs typeface="Times New Roman" panose="02020603050405020304" pitchFamily="18" charset="0"/>
              </a:rPr>
              <a:t>Cengage</a:t>
            </a:r>
            <a:r>
              <a:rPr lang="en-US" sz="800" b="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showMasterSp="0">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fld id="{A0150222-B3E2-42E8-8B2E-B8ED8BD6EB09}" type="datetimeFigureOut">
              <a:rPr lang="zh-CN" altLang="en-US" smtClean="0"/>
            </a:fld>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image" Target="../media/image3.jpe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38145"/>
            <a:ext cx="8229600" cy="884538"/>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457200" y="1247424"/>
            <a:ext cx="8229600" cy="4878739"/>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TextBox 5"/>
          <p:cNvSpPr txBox="1"/>
          <p:nvPr userDrawn="1"/>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anose="02020603050405020304" pitchFamily="18" charset="0"/>
                <a:ea typeface="Verdana" panose="020B0604030504040204" pitchFamily="34" charset="0"/>
                <a:cs typeface="Times New Roman" panose="02020603050405020304" pitchFamily="18" charset="0"/>
              </a:rPr>
            </a:fld>
            <a:endParaRPr lang="en-US" sz="1700" i="0" dirty="0">
              <a:solidFill>
                <a:srgbClr val="B2B2B2"/>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TextBox 6"/>
          <p:cNvSpPr txBox="1"/>
          <p:nvPr userDrawn="1"/>
        </p:nvSpPr>
        <p:spPr>
          <a:xfrm>
            <a:off x="-10633" y="6500422"/>
            <a:ext cx="5649433" cy="338554"/>
          </a:xfrm>
          <a:prstGeom prst="rect">
            <a:avLst/>
          </a:prstGeom>
          <a:noFill/>
        </p:spPr>
        <p:txBody>
          <a:bodyPr wrap="square" rtlCol="0">
            <a:spAutoFit/>
          </a:bodyPr>
          <a:lstStyle/>
          <a:p>
            <a:r>
              <a:rPr lang="en-US" sz="800" b="0" i="1" dirty="0">
                <a:solidFill>
                  <a:srgbClr val="777777"/>
                </a:solidFill>
                <a:latin typeface="Times New Roman" panose="02020603050405020304" pitchFamily="18" charset="0"/>
                <a:cs typeface="Times New Roman" panose="02020603050405020304" pitchFamily="18" charset="0"/>
              </a:rPr>
              <a:t>© 2015 </a:t>
            </a:r>
            <a:r>
              <a:rPr lang="en-US" sz="800" b="0" i="1" dirty="0" err="1">
                <a:solidFill>
                  <a:srgbClr val="777777"/>
                </a:solidFill>
                <a:latin typeface="Times New Roman" panose="02020603050405020304" pitchFamily="18" charset="0"/>
                <a:cs typeface="Times New Roman" panose="02020603050405020304" pitchFamily="18" charset="0"/>
              </a:rPr>
              <a:t>Cengage</a:t>
            </a:r>
            <a:r>
              <a:rPr lang="en-US" sz="800" b="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p:titleStyle>
    <p:body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3"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4"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1.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3.xml"/><Relationship Id="rId4" Type="http://schemas.openxmlformats.org/officeDocument/2006/relationships/image" Target="../media/image2.png"/><Relationship Id="rId3" Type="http://schemas.openxmlformats.org/officeDocument/2006/relationships/tags" Target="../tags/tag3.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3.xml"/><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3.xml"/><Relationship Id="rId4" Type="http://schemas.openxmlformats.org/officeDocument/2006/relationships/image" Target="../media/image2.png"/><Relationship Id="rId3" Type="http://schemas.openxmlformats.org/officeDocument/2006/relationships/tags" Target="../tags/tag5.xml"/><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image" Target="../media/image3.jpeg"/><Relationship Id="rId2" Type="http://schemas.openxmlformats.org/officeDocument/2006/relationships/hyperlink" Target="../../../../../../Program%20Files/TurningPoint/2003/Questions.html" TargetMode="External"/><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3.xml"/><Relationship Id="rId4" Type="http://schemas.openxmlformats.org/officeDocument/2006/relationships/tags" Target="../tags/tag7.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3.xml"/><Relationship Id="rId4" Type="http://schemas.openxmlformats.org/officeDocument/2006/relationships/tags" Target="../tags/tag8.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hyperlink" Target="../../../../../Program%20Files/TurningPoint/2003/Questions.html" TargetMode="Externa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09272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r>
              <a:rPr lang="zh-CN" altLang="en-US" sz="2400" smtClean="0">
                <a:solidFill>
                  <a:schemeClr val="bg1"/>
                </a:solidFill>
                <a:latin typeface="华光中雅_CNKI" panose="02000500000000000000" pitchFamily="2" charset="-122"/>
                <a:ea typeface="华光中雅_CNKI" panose="02000500000000000000" pitchFamily="2" charset="-122"/>
              </a:rPr>
              <a:t>）</a:t>
            </a:r>
            <a:endParaRPr lang="en-US" altLang="zh-CN" sz="2400" smtClean="0">
              <a:solidFill>
                <a:schemeClr val="bg1"/>
              </a:solidFill>
              <a:latin typeface="华光中雅_CNKI" panose="02000500000000000000" pitchFamily="2" charset="-122"/>
              <a:ea typeface="华光中雅_CNKI" panose="02000500000000000000" pitchFamily="2" charset="-122"/>
            </a:endParaRPr>
          </a:p>
          <a:p>
            <a:r>
              <a:rPr lang="zh-CN" altLang="en-US" sz="2400" smtClean="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020226" y="1988840"/>
            <a:ext cx="4828566" cy="830997"/>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B》</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2362850" y="3058644"/>
            <a:ext cx="4419170" cy="706755"/>
          </a:xfrm>
          <a:prstGeom prst="rect">
            <a:avLst/>
          </a:prstGeom>
          <a:noFill/>
        </p:spPr>
        <p:txBody>
          <a:bodyPr wrap="square" rtlCol="0">
            <a:spAutoFit/>
          </a:bodyPr>
          <a:lstStyle/>
          <a:p>
            <a:r>
              <a:rPr lang="zh-CN" altLang="en-US" sz="4000" b="1" smtClean="0">
                <a:solidFill>
                  <a:schemeClr val="bg1"/>
                </a:solidFill>
                <a:latin typeface="华光中雅_CNKI" panose="02000500000000000000" pitchFamily="2" charset="-122"/>
                <a:ea typeface="华光中雅_CNKI" panose="02000500000000000000" pitchFamily="2" charset="-122"/>
              </a:rPr>
              <a:t>第</a:t>
            </a:r>
            <a:r>
              <a:rPr lang="en-US" altLang="zh-CN" sz="4000" b="1" smtClean="0">
                <a:solidFill>
                  <a:schemeClr val="bg1"/>
                </a:solidFill>
                <a:latin typeface="华光中雅_CNKI" panose="02000500000000000000" pitchFamily="2" charset="-122"/>
                <a:ea typeface="华光中雅_CNKI" panose="02000500000000000000" pitchFamily="2" charset="-122"/>
              </a:rPr>
              <a:t>7</a:t>
            </a:r>
            <a:r>
              <a:rPr lang="zh-CN" altLang="en-US" sz="4000" b="1" smtClean="0">
                <a:solidFill>
                  <a:schemeClr val="bg1"/>
                </a:solidFill>
                <a:latin typeface="华光中雅_CNKI" panose="02000500000000000000" pitchFamily="2" charset="-122"/>
                <a:ea typeface="华光中雅_CNKI" panose="02000500000000000000" pitchFamily="2" charset="-122"/>
              </a:rPr>
              <a:t>章</a:t>
            </a:r>
            <a:r>
              <a:rPr lang="zh-CN" altLang="en-US" sz="4000" b="1" dirty="0">
                <a:solidFill>
                  <a:schemeClr val="bg1"/>
                </a:solidFill>
                <a:latin typeface="华光中雅_CNKI" panose="02000500000000000000" pitchFamily="2" charset="-122"/>
                <a:ea typeface="华光中雅_CNKI" panose="02000500000000000000" pitchFamily="2" charset="-122"/>
              </a:rPr>
              <a:t>：货币体系</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611560" y="1700809"/>
            <a:ext cx="8229600" cy="208823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buClr>
                <a:schemeClr val="accent1">
                  <a:lumMod val="75000"/>
                </a:schemeClr>
              </a:buClr>
              <a:buSzPct val="120000"/>
              <a:buFont typeface="+mj-lt"/>
              <a:buAutoNum type="arabicPeriod"/>
            </a:pPr>
            <a:r>
              <a:rPr lang="zh-CN" altLang="en-US" sz="2400" smtClean="0">
                <a:solidFill>
                  <a:srgbClr val="002060"/>
                </a:solidFill>
                <a:latin typeface="微软雅黑" panose="020B0503020204020204" pitchFamily="34" charset="-122"/>
                <a:ea typeface="微软雅黑" panose="020B0503020204020204" pitchFamily="34" charset="-122"/>
              </a:rPr>
              <a:t>货币的定义是什么？</a:t>
            </a:r>
            <a:endParaRPr lang="zh-CN" altLang="en-US" sz="2400">
              <a:solidFill>
                <a:srgbClr val="002060"/>
              </a:solidFill>
              <a:latin typeface="微软雅黑" panose="020B0503020204020204" pitchFamily="34" charset="-122"/>
              <a:ea typeface="微软雅黑" panose="020B0503020204020204" pitchFamily="34" charset="-122"/>
            </a:endParaRPr>
          </a:p>
          <a:p>
            <a:pPr marL="457200" indent="-457200">
              <a:buClr>
                <a:schemeClr val="accent1">
                  <a:lumMod val="75000"/>
                </a:schemeClr>
              </a:buClr>
              <a:buSzPct val="120000"/>
              <a:buFont typeface="+mj-lt"/>
              <a:buAutoNum type="arabicPeriod"/>
            </a:pPr>
            <a:r>
              <a:rPr lang="zh-CN" altLang="en-US" sz="2400">
                <a:solidFill>
                  <a:srgbClr val="002060"/>
                </a:solidFill>
                <a:latin typeface="微软雅黑" panose="020B0503020204020204" pitchFamily="34" charset="-122"/>
                <a:ea typeface="微软雅黑" panose="020B0503020204020204" pitchFamily="34" charset="-122"/>
              </a:rPr>
              <a:t>什么是中央银行？</a:t>
            </a:r>
            <a:endParaRPr lang="zh-CN" altLang="en-US" sz="2400">
              <a:solidFill>
                <a:srgbClr val="002060"/>
              </a:solidFill>
              <a:latin typeface="微软雅黑" panose="020B0503020204020204" pitchFamily="34" charset="-122"/>
              <a:ea typeface="微软雅黑" panose="020B0503020204020204" pitchFamily="34" charset="-122"/>
            </a:endParaRPr>
          </a:p>
          <a:p>
            <a:pPr marL="457200" indent="-457200">
              <a:buClr>
                <a:schemeClr val="accent1">
                  <a:lumMod val="75000"/>
                </a:schemeClr>
              </a:buClr>
              <a:buSzPct val="120000"/>
              <a:buFont typeface="+mj-lt"/>
              <a:buAutoNum type="arabicPeriod"/>
            </a:pPr>
            <a:r>
              <a:rPr lang="zh-CN" altLang="en-US" sz="2400" smtClean="0">
                <a:solidFill>
                  <a:srgbClr val="002060"/>
                </a:solidFill>
                <a:latin typeface="微软雅黑" panose="020B0503020204020204" pitchFamily="34" charset="-122"/>
                <a:ea typeface="微软雅黑" panose="020B0503020204020204" pitchFamily="34" charset="-122"/>
              </a:rPr>
              <a:t>银行如何</a:t>
            </a:r>
            <a:r>
              <a:rPr lang="zh-CN" altLang="en-US" sz="2400">
                <a:solidFill>
                  <a:srgbClr val="002060"/>
                </a:solidFill>
                <a:latin typeface="微软雅黑" panose="020B0503020204020204" pitchFamily="34" charset="-122"/>
                <a:ea typeface="微软雅黑" panose="020B0503020204020204" pitchFamily="34" charset="-122"/>
              </a:rPr>
              <a:t>“创造货币”？ </a:t>
            </a:r>
            <a:endParaRPr lang="zh-CN" altLang="en-US" sz="2400">
              <a:solidFill>
                <a:srgbClr val="002060"/>
              </a:solidFill>
              <a:latin typeface="微软雅黑" panose="020B0503020204020204" pitchFamily="34" charset="-122"/>
              <a:ea typeface="微软雅黑" panose="020B0503020204020204" pitchFamily="34" charset="-122"/>
            </a:endParaRPr>
          </a:p>
          <a:p>
            <a:pPr marL="457200" indent="-457200">
              <a:buClr>
                <a:schemeClr val="accent1">
                  <a:lumMod val="75000"/>
                </a:schemeClr>
              </a:buClr>
              <a:buSzPct val="120000"/>
              <a:buFont typeface="+mj-lt"/>
              <a:buAutoNum type="arabicPeriod"/>
            </a:pPr>
            <a:r>
              <a:rPr lang="zh-CN" altLang="en-US" sz="2400" smtClean="0">
                <a:solidFill>
                  <a:srgbClr val="002060"/>
                </a:solidFill>
                <a:latin typeface="微软雅黑" panose="020B0503020204020204" pitchFamily="34" charset="-122"/>
                <a:ea typeface="微软雅黑" panose="020B0503020204020204" pitchFamily="34" charset="-122"/>
              </a:rPr>
              <a:t>中央银行的货币政策工具有哪些？</a:t>
            </a:r>
            <a:endParaRPr lang="zh-CN" altLang="en-US" sz="2400" dirty="0">
              <a:latin typeface="微软雅黑" panose="020B0503020204020204" pitchFamily="34" charset="-122"/>
              <a:ea typeface="微软雅黑" panose="020B0503020204020204" pitchFamily="34" charset="-122"/>
            </a:endParaRPr>
          </a:p>
        </p:txBody>
      </p:sp>
      <p:sp>
        <p:nvSpPr>
          <p:cNvPr id="7" name="Rectangle 4"/>
          <p:cNvSpPr>
            <a:spLocks noGrp="1" noChangeArrowheads="1"/>
          </p:cNvSpPr>
          <p:nvPr>
            <p:ph type="title"/>
          </p:nvPr>
        </p:nvSpPr>
        <p:spPr>
          <a:xfrm>
            <a:off x="571471" y="381000"/>
            <a:ext cx="8458200" cy="606077"/>
          </a:xfrm>
          <a:noFill/>
        </p:spPr>
        <p:txBody>
          <a:bodyPr bIns="0" anchor="b">
            <a:noAutofit/>
          </a:bodyPr>
          <a:lstStyle/>
          <a:p>
            <a:r>
              <a:rPr lang="zh-CN" altLang="en-US" sz="3200" smtClean="0">
                <a:latin typeface="华光中雅_CNKI" panose="02000500000000000000" pitchFamily="2" charset="-122"/>
                <a:ea typeface="华光中雅_CNKI" panose="02000500000000000000" pitchFamily="2" charset="-122"/>
              </a:rPr>
              <a:t>本章回答如下问题</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539552" y="1916832"/>
            <a:ext cx="4678362" cy="142993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buClr>
                <a:schemeClr val="tx2"/>
              </a:buClr>
              <a:buFont typeface="+mj-lt"/>
              <a:buAutoNum type="arabicPeriod"/>
            </a:pPr>
            <a:r>
              <a:rPr lang="zh-CN" altLang="en-US" sz="2400" dirty="0">
                <a:solidFill>
                  <a:srgbClr val="FF0000"/>
                </a:solidFill>
                <a:latin typeface="微软雅黑" panose="020B0503020204020204" pitchFamily="34" charset="-122"/>
                <a:ea typeface="微软雅黑" panose="020B0503020204020204" pitchFamily="34" charset="-122"/>
              </a:rPr>
              <a:t>商品</a:t>
            </a:r>
            <a:r>
              <a:rPr lang="zh-CN" altLang="en-US" sz="2400">
                <a:solidFill>
                  <a:srgbClr val="FF0000"/>
                </a:solidFill>
                <a:latin typeface="微软雅黑" panose="020B0503020204020204" pitchFamily="34" charset="-122"/>
                <a:ea typeface="微软雅黑" panose="020B0503020204020204" pitchFamily="34" charset="-122"/>
              </a:rPr>
              <a:t>货币</a:t>
            </a:r>
            <a:r>
              <a:rPr lang="zh-CN" altLang="en-US" sz="2400" smtClean="0">
                <a:solidFill>
                  <a:srgbClr val="CC000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cs typeface="+mn-cs"/>
              </a:rPr>
              <a:t>具有内在价值的商品</a:t>
            </a:r>
            <a:r>
              <a:rPr lang="zh-CN" altLang="en-US" sz="2400" smtClean="0">
                <a:solidFill>
                  <a:srgbClr val="002060"/>
                </a:solidFill>
                <a:latin typeface="微软雅黑" panose="020B0503020204020204" pitchFamily="34" charset="-122"/>
                <a:ea typeface="微软雅黑" panose="020B0503020204020204" pitchFamily="34" charset="-122"/>
                <a:cs typeface="+mn-cs"/>
              </a:rPr>
              <a:t>，</a:t>
            </a:r>
            <a:r>
              <a:rPr sz="2400" smtClean="0">
                <a:solidFill>
                  <a:srgbClr val="002060"/>
                </a:solidFill>
                <a:latin typeface="微软雅黑" panose="020B0503020204020204" pitchFamily="34" charset="-122"/>
                <a:ea typeface="微软雅黑" panose="020B0503020204020204" pitchFamily="34" charset="-122"/>
                <a:cs typeface="+mn-cs"/>
              </a:rPr>
              <a:t>例如</a:t>
            </a:r>
            <a:r>
              <a:rPr sz="2400" dirty="0">
                <a:solidFill>
                  <a:srgbClr val="002060"/>
                </a:solidFill>
                <a:latin typeface="微软雅黑" panose="020B0503020204020204" pitchFamily="34" charset="-122"/>
                <a:ea typeface="微软雅黑" panose="020B0503020204020204" pitchFamily="34" charset="-122"/>
                <a:cs typeface="+mn-cs"/>
              </a:rPr>
              <a:t>：</a:t>
            </a:r>
            <a:r>
              <a:rPr sz="2400">
                <a:solidFill>
                  <a:srgbClr val="002060"/>
                </a:solidFill>
                <a:latin typeface="微软雅黑" panose="020B0503020204020204" pitchFamily="34" charset="-122"/>
                <a:ea typeface="微软雅黑" panose="020B0503020204020204" pitchFamily="34" charset="-122"/>
                <a:cs typeface="+mn-cs"/>
              </a:rPr>
              <a:t>金币</a:t>
            </a:r>
            <a:r>
              <a:rPr sz="2400" smtClean="0">
                <a:solidFill>
                  <a:srgbClr val="002060"/>
                </a:solidFill>
                <a:latin typeface="微软雅黑" panose="020B0503020204020204" pitchFamily="34" charset="-122"/>
                <a:ea typeface="微软雅黑" panose="020B0503020204020204" pitchFamily="34" charset="-122"/>
                <a:cs typeface="+mn-cs"/>
              </a:rPr>
              <a:t>，</a:t>
            </a:r>
            <a:r>
              <a:rPr lang="zh-CN" altLang="en-US" sz="2400" smtClean="0">
                <a:solidFill>
                  <a:srgbClr val="002060"/>
                </a:solidFill>
                <a:latin typeface="微软雅黑" panose="020B0503020204020204" pitchFamily="34" charset="-122"/>
                <a:ea typeface="微软雅黑" panose="020B0503020204020204" pitchFamily="34" charset="-122"/>
                <a:cs typeface="+mn-cs"/>
              </a:rPr>
              <a:t>银块等贵金属</a:t>
            </a:r>
            <a:r>
              <a:rPr lang="zh-CN" altLang="en-US" sz="2400" smtClean="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7" name="Rectangle 4"/>
          <p:cNvSpPr>
            <a:spLocks noChangeArrowheads="1"/>
          </p:cNvSpPr>
          <p:nvPr/>
        </p:nvSpPr>
        <p:spPr bwMode="auto">
          <a:xfrm>
            <a:off x="3635896" y="3565409"/>
            <a:ext cx="4881562" cy="179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105000"/>
              </a:lnSpc>
              <a:spcBef>
                <a:spcPts val="1200"/>
              </a:spcBef>
              <a:buClr>
                <a:schemeClr val="tx2"/>
              </a:buClr>
              <a:buFont typeface="+mj-lt"/>
              <a:buAutoNum type="arabicPeriod" startAt="2"/>
            </a:pPr>
            <a:r>
              <a:rPr lang="zh-CN" altLang="en-US" sz="2400">
                <a:solidFill>
                  <a:srgbClr val="FF0000"/>
                </a:solidFill>
                <a:latin typeface="微软雅黑" panose="020B0503020204020204" pitchFamily="34" charset="-122"/>
                <a:ea typeface="微软雅黑" panose="020B0503020204020204" pitchFamily="34" charset="-122"/>
                <a:cs typeface="Arial" panose="020B0604020202020204"/>
              </a:rPr>
              <a:t>法定</a:t>
            </a:r>
            <a:r>
              <a:rPr lang="zh-CN" altLang="en-US" sz="2400" smtClean="0">
                <a:solidFill>
                  <a:srgbClr val="FF0000"/>
                </a:solidFill>
                <a:latin typeface="微软雅黑" panose="020B0503020204020204" pitchFamily="34" charset="-122"/>
                <a:ea typeface="微软雅黑" panose="020B0503020204020204" pitchFamily="34" charset="-122"/>
                <a:cs typeface="Arial" panose="020B0604020202020204"/>
              </a:rPr>
              <a:t>货币（法币）</a:t>
            </a:r>
            <a:r>
              <a:rPr lang="zh-CN" altLang="en-US" sz="2400" smtClean="0">
                <a:solidFill>
                  <a:srgbClr val="CC0000"/>
                </a:solidFill>
                <a:latin typeface="微软雅黑" panose="020B0503020204020204" pitchFamily="34" charset="-122"/>
                <a:ea typeface="微软雅黑" panose="020B0503020204020204" pitchFamily="34" charset="-122"/>
                <a:cs typeface="Arial" panose="020B0604020202020204"/>
              </a:rPr>
              <a:t>：</a:t>
            </a:r>
            <a:r>
              <a:rPr sz="2400">
                <a:solidFill>
                  <a:srgbClr val="002060"/>
                </a:solidFill>
                <a:latin typeface="微软雅黑" panose="020B0503020204020204" pitchFamily="34" charset="-122"/>
                <a:ea typeface="微软雅黑" panose="020B0503020204020204" pitchFamily="34" charset="-122"/>
              </a:rPr>
              <a:t>没有内在价值的货币，因</a:t>
            </a:r>
            <a:r>
              <a:rPr sz="2400">
                <a:solidFill>
                  <a:srgbClr val="FF0000"/>
                </a:solidFill>
                <a:latin typeface="微软雅黑" panose="020B0503020204020204" pitchFamily="34" charset="-122"/>
                <a:ea typeface="微软雅黑" panose="020B0503020204020204" pitchFamily="34" charset="-122"/>
              </a:rPr>
              <a:t>政府法令</a:t>
            </a:r>
            <a:r>
              <a:rPr sz="2400">
                <a:solidFill>
                  <a:srgbClr val="002060"/>
                </a:solidFill>
                <a:latin typeface="微软雅黑" panose="020B0503020204020204" pitchFamily="34" charset="-122"/>
                <a:ea typeface="微软雅黑" panose="020B0503020204020204" pitchFamily="34" charset="-122"/>
              </a:rPr>
              <a:t>而被用作货币</a:t>
            </a:r>
            <a:r>
              <a:rPr lang="zh-CN" altLang="en-US" sz="2400">
                <a:solidFill>
                  <a:srgbClr val="002060"/>
                </a:solidFill>
                <a:latin typeface="微软雅黑" panose="020B0503020204020204" pitchFamily="34" charset="-122"/>
                <a:ea typeface="微软雅黑" panose="020B0503020204020204" pitchFamily="34" charset="-122"/>
              </a:rPr>
              <a:t>，</a:t>
            </a:r>
            <a:r>
              <a:rPr sz="2400">
                <a:solidFill>
                  <a:srgbClr val="002060"/>
                </a:solidFill>
                <a:latin typeface="微软雅黑" panose="020B0503020204020204" pitchFamily="34" charset="-122"/>
                <a:ea typeface="微软雅黑" panose="020B0503020204020204" pitchFamily="34" charset="-122"/>
              </a:rPr>
              <a:t>例如</a:t>
            </a:r>
            <a:r>
              <a:rPr sz="2400" dirty="0">
                <a:solidFill>
                  <a:srgbClr val="002060"/>
                </a:solidFill>
                <a:latin typeface="微软雅黑" panose="020B0503020204020204" pitchFamily="34" charset="-122"/>
                <a:ea typeface="微软雅黑" panose="020B0503020204020204" pitchFamily="34" charset="-122"/>
              </a:rPr>
              <a:t>：美元，欧元，人民币</a:t>
            </a:r>
            <a:r>
              <a:rPr sz="2400">
                <a:solidFill>
                  <a:srgbClr val="002060"/>
                </a:solidFill>
                <a:latin typeface="微软雅黑" panose="020B0503020204020204" pitchFamily="34" charset="-122"/>
                <a:ea typeface="微软雅黑" panose="020B0503020204020204" pitchFamily="34" charset="-122"/>
              </a:rPr>
              <a:t>，港币</a:t>
            </a:r>
            <a:r>
              <a:rPr lang="zh-CN" altLang="en-US" sz="2400">
                <a:solidFill>
                  <a:srgbClr val="002060"/>
                </a:solidFill>
                <a:latin typeface="微软雅黑" panose="020B0503020204020204" pitchFamily="34" charset="-122"/>
                <a:ea typeface="微软雅黑" panose="020B0503020204020204" pitchFamily="34" charset="-122"/>
              </a:rPr>
              <a:t>等</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8" name="Picture 5"/>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97513" y="1262063"/>
            <a:ext cx="3176587" cy="21177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9" name="Picture 6"/>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55576" y="3573016"/>
            <a:ext cx="2682875" cy="178275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
          <p:cNvSpPr/>
          <p:nvPr/>
        </p:nvSpPr>
        <p:spPr>
          <a:xfrm>
            <a:off x="7576092" y="3347888"/>
            <a:ext cx="1192955" cy="21544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sz="800" b="0" i="0" u="none" strike="noStrike" kern="0" cap="none" spc="0" normalizeH="0" baseline="0" noProof="0" dirty="0">
                <a:ln>
                  <a:noFill/>
                </a:ln>
                <a:solidFill>
                  <a:prstClr val="white">
                    <a:lumMod val="50000"/>
                  </a:prstClr>
                </a:solidFill>
                <a:effectLst/>
                <a:uLnTx/>
                <a:uFillTx/>
              </a:rPr>
              <a:t>©kao/Shutterstock.com</a:t>
            </a:r>
            <a:endParaRPr kumimoji="0" lang="en-US" sz="800" b="0" i="0" u="none" strike="noStrike" kern="0" cap="none" spc="0" normalizeH="0" baseline="0" noProof="0" dirty="0">
              <a:ln>
                <a:noFill/>
              </a:ln>
              <a:solidFill>
                <a:prstClr val="white">
                  <a:lumMod val="50000"/>
                </a:prstClr>
              </a:solidFill>
              <a:effectLst/>
              <a:uLnTx/>
              <a:uFillTx/>
            </a:endParaRPr>
          </a:p>
        </p:txBody>
      </p:sp>
      <p:sp>
        <p:nvSpPr>
          <p:cNvPr id="12" name="Rectangle 4"/>
          <p:cNvSpPr>
            <a:spLocks noGrp="1" noChangeArrowheads="1"/>
          </p:cNvSpPr>
          <p:nvPr>
            <p:ph type="title"/>
          </p:nvPr>
        </p:nvSpPr>
        <p:spPr>
          <a:xfrm>
            <a:off x="539552" y="1196752"/>
            <a:ext cx="2952328" cy="606077"/>
          </a:xfrm>
          <a:noFill/>
        </p:spPr>
        <p:txBody>
          <a:bodyPr bIns="0" anchor="b">
            <a:noAutofit/>
          </a:bodyPr>
          <a:lstStyle/>
          <a:p>
            <a:pPr marL="342900" indent="-342900">
              <a:buFont typeface="Wingdings" panose="05000000000000000000" pitchFamily="2" charset="2"/>
              <a:buChar char="Ø"/>
            </a:pPr>
            <a:r>
              <a:rPr lang="zh-CN" altLang="en-US">
                <a:solidFill>
                  <a:srgbClr val="002060"/>
                </a:solidFill>
                <a:latin typeface="微软雅黑" panose="020B0503020204020204" pitchFamily="34" charset="-122"/>
                <a:ea typeface="微软雅黑" panose="020B0503020204020204" pitchFamily="34" charset="-122"/>
              </a:rPr>
              <a:t>货币</a:t>
            </a:r>
            <a:r>
              <a:rPr lang="zh-CN" altLang="en-US" smtClean="0">
                <a:solidFill>
                  <a:srgbClr val="002060"/>
                </a:solidFill>
                <a:latin typeface="微软雅黑" panose="020B0503020204020204" pitchFamily="34" charset="-122"/>
                <a:ea typeface="微软雅黑" panose="020B0503020204020204" pitchFamily="34" charset="-122"/>
              </a:rPr>
              <a:t>的定义</a:t>
            </a:r>
            <a:r>
              <a:rPr lang="zh-CN" altLang="en-US" smtClean="0">
                <a:solidFill>
                  <a:srgbClr val="002060"/>
                </a:solidFill>
                <a:latin typeface="思源黑体 CN Bold" panose="020B0800000000000000" pitchFamily="34" charset="-122"/>
                <a:ea typeface="思源黑体 CN Bold" panose="020B0800000000000000" pitchFamily="34" charset="-122"/>
              </a:rPr>
              <a:t>：</a:t>
            </a:r>
            <a:endParaRPr lang="zh-CN" altLang="en-US" dirty="0">
              <a:solidFill>
                <a:srgbClr val="002060"/>
              </a:solidFill>
              <a:latin typeface="思源黑体 CN Bold" panose="020B0800000000000000" pitchFamily="34" charset="-122"/>
              <a:ea typeface="思源黑体 CN Bold" panose="020B0800000000000000" pitchFamily="34" charset="-122"/>
            </a:endParaRPr>
          </a:p>
        </p:txBody>
      </p:sp>
      <p:sp>
        <p:nvSpPr>
          <p:cNvPr id="11" name="Rectangle 4"/>
          <p:cNvSpPr txBox="1">
            <a:spLocks noChangeArrowheads="1"/>
          </p:cNvSpPr>
          <p:nvPr/>
        </p:nvSpPr>
        <p:spPr>
          <a:xfrm>
            <a:off x="539552" y="548680"/>
            <a:ext cx="2448272"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wipe(left)">
                                      <p:cBhvr>
                                        <p:cTn id="18" dur="500"/>
                                        <p:tgtEl>
                                          <p:spTgt spid="7">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P spid="7" grpId="0" build="p"/>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I:\BOBO Z\哈工大\JPG\2020\7月\0707-ppt\素材01\logo-VI系统0630-PPT-24.jpg"/>
          <p:cNvPicPr>
            <a:picLocks noChangeArrowheads="1"/>
          </p:cNvPicPr>
          <p:nvPr/>
        </p:nvPicPr>
        <p:blipFill>
          <a:blip r:embed="rId1" cstate="print"/>
          <a:srcRect t="-37500" b="-37500"/>
          <a:stretch>
            <a:fillRect/>
          </a:stretch>
        </p:blipFill>
        <p:spPr bwMode="auto">
          <a:xfrm flipV="1">
            <a:off x="571471" y="1273711"/>
            <a:ext cx="3960000" cy="36000"/>
          </a:xfrm>
          <a:prstGeom prst="rect">
            <a:avLst/>
          </a:prstGeom>
          <a:noFill/>
        </p:spPr>
      </p:pic>
      <p:sp>
        <p:nvSpPr>
          <p:cNvPr id="12" name="Rectangle 3"/>
          <p:cNvSpPr txBox="1">
            <a:spLocks noChangeArrowheads="1"/>
          </p:cNvSpPr>
          <p:nvPr/>
        </p:nvSpPr>
        <p:spPr>
          <a:xfrm>
            <a:off x="539552" y="1340768"/>
            <a:ext cx="7744945" cy="3960440"/>
          </a:xfrm>
          <a:prstGeom prst="rect">
            <a:avLst/>
          </a:prstGeom>
        </p:spPr>
        <p:txBody>
          <a:bodyPr vert="horz" lIns="91440" tIns="45720" rIns="91440" bIns="45720" rtlCol="0">
            <a:no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ts val="3600"/>
              </a:lnSpc>
              <a:buClr>
                <a:schemeClr val="tx2"/>
              </a:buClr>
              <a:buFont typeface="Wingdings" panose="05000000000000000000" pitchFamily="2" charset="2"/>
              <a:buChar char="Ø"/>
            </a:pPr>
            <a:r>
              <a:rPr lang="zh-CN" altLang="en-US" sz="2400">
                <a:solidFill>
                  <a:srgbClr val="002060"/>
                </a:solidFill>
                <a:latin typeface="微软雅黑" panose="020B0503020204020204" pitchFamily="34" charset="-122"/>
                <a:ea typeface="微软雅黑" panose="020B0503020204020204" pitchFamily="34" charset="-122"/>
              </a:rPr>
              <a:t>为什么</a:t>
            </a:r>
            <a:r>
              <a:rPr lang="zh-CN" altLang="en-US" sz="2400" smtClean="0">
                <a:solidFill>
                  <a:srgbClr val="002060"/>
                </a:solidFill>
                <a:latin typeface="微软雅黑" panose="020B0503020204020204" pitchFamily="34" charset="-122"/>
                <a:ea typeface="微软雅黑" panose="020B0503020204020204" pitchFamily="34" charset="-122"/>
              </a:rPr>
              <a:t>货币</a:t>
            </a:r>
            <a:r>
              <a:rPr lang="zh-CN" altLang="en-US" sz="2400">
                <a:solidFill>
                  <a:srgbClr val="002060"/>
                </a:solidFill>
                <a:latin typeface="微软雅黑" panose="020B0503020204020204" pitchFamily="34" charset="-122"/>
                <a:ea typeface="微软雅黑" panose="020B0503020204020204" pitchFamily="34" charset="-122"/>
              </a:rPr>
              <a:t>非常重要？</a:t>
            </a:r>
            <a:endParaRPr lang="en-US" sz="240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sz="2400">
                <a:solidFill>
                  <a:srgbClr val="002060"/>
                </a:solidFill>
                <a:latin typeface="微软雅黑" panose="020B0503020204020204" pitchFamily="34" charset="-122"/>
                <a:ea typeface="微软雅黑" panose="020B0503020204020204" pitchFamily="34" charset="-122"/>
              </a:rPr>
              <a:t>没有货币</a:t>
            </a:r>
            <a:r>
              <a:rPr sz="2400" dirty="0">
                <a:solidFill>
                  <a:srgbClr val="002060"/>
                </a:solidFill>
                <a:latin typeface="微软雅黑" panose="020B0503020204020204" pitchFamily="34" charset="-122"/>
                <a:ea typeface="微软雅黑" panose="020B0503020204020204" pitchFamily="34" charset="-122"/>
              </a:rPr>
              <a:t>，贸易就需要</a:t>
            </a:r>
            <a:r>
              <a:rPr sz="2400" dirty="0">
                <a:solidFill>
                  <a:srgbClr val="FF0000"/>
                </a:solidFill>
                <a:latin typeface="微软雅黑" panose="020B0503020204020204" pitchFamily="34" charset="-122"/>
                <a:ea typeface="微软雅黑" panose="020B0503020204020204" pitchFamily="34" charset="-122"/>
              </a:rPr>
              <a:t>以物易物</a:t>
            </a:r>
            <a:r>
              <a:rPr sz="2400" dirty="0">
                <a:solidFill>
                  <a:srgbClr val="002060"/>
                </a:solidFill>
                <a:latin typeface="微软雅黑" panose="020B0503020204020204" pitchFamily="34" charset="-122"/>
                <a:ea typeface="微软雅黑" panose="020B0503020204020204" pitchFamily="34" charset="-122"/>
              </a:rPr>
              <a:t>，即用一种商品或服务交换另一种商品或服务。</a:t>
            </a:r>
            <a:endParaRPr sz="2400" dirty="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每笔交易都要求</a:t>
            </a:r>
            <a:r>
              <a:rPr sz="2400" smtClean="0">
                <a:solidFill>
                  <a:srgbClr val="FF0000"/>
                </a:solidFill>
                <a:latin typeface="微软雅黑" panose="020B0503020204020204" pitchFamily="34" charset="-122"/>
                <a:ea typeface="微软雅黑" panose="020B0503020204020204" pitchFamily="34" charset="-122"/>
              </a:rPr>
              <a:t>需求的双重巧合</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两个人各自拥有对方想要的好东西</a:t>
            </a:r>
            <a:r>
              <a:rPr sz="2400" dirty="0">
                <a:solidFill>
                  <a:srgbClr val="002060"/>
                </a:solidFill>
                <a:latin typeface="微软雅黑" panose="020B0503020204020204" pitchFamily="34" charset="-122"/>
                <a:ea typeface="微软雅黑" panose="020B0503020204020204" pitchFamily="34" charset="-122"/>
              </a:rPr>
              <a:t>，这种情况不太可能发生。 </a:t>
            </a:r>
            <a:endParaRPr sz="2400" dirty="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大多数人将不得不花时间寻找其他人进行交易</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这是一种巨大的资源浪费</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货币的出现使得</a:t>
            </a:r>
            <a:r>
              <a:rPr sz="2400" smtClean="0">
                <a:solidFill>
                  <a:srgbClr val="002060"/>
                </a:solidFill>
                <a:latin typeface="微软雅黑" panose="020B0503020204020204" pitchFamily="34" charset="-122"/>
                <a:ea typeface="微软雅黑" panose="020B0503020204020204" pitchFamily="34" charset="-122"/>
              </a:rPr>
              <a:t>这种</a:t>
            </a:r>
            <a:r>
              <a:rPr lang="zh-CN" altLang="en-US" sz="2400" smtClean="0">
                <a:solidFill>
                  <a:srgbClr val="002060"/>
                </a:solidFill>
                <a:latin typeface="微软雅黑" panose="020B0503020204020204" pitchFamily="34" charset="-122"/>
                <a:ea typeface="微软雅黑" panose="020B0503020204020204" pitchFamily="34" charset="-122"/>
              </a:rPr>
              <a:t>寻找变得</a:t>
            </a:r>
            <a:r>
              <a:rPr lang="zh-CN" altLang="en-US" sz="2400">
                <a:solidFill>
                  <a:srgbClr val="002060"/>
                </a:solidFill>
                <a:latin typeface="微软雅黑" panose="020B0503020204020204" pitchFamily="34" charset="-122"/>
                <a:ea typeface="微软雅黑" panose="020B0503020204020204" pitchFamily="34" charset="-122"/>
              </a:rPr>
              <a:t>不再必要</a:t>
            </a:r>
            <a:r>
              <a:rPr lang="zh-CN" altLang="en-US" sz="2400" smtClean="0">
                <a:solidFill>
                  <a:srgbClr val="002060"/>
                </a:solidFill>
                <a:latin typeface="微软雅黑" panose="020B0503020204020204" pitchFamily="34" charset="-122"/>
                <a:ea typeface="微软雅黑" panose="020B0503020204020204" pitchFamily="34" charset="-122"/>
              </a:rPr>
              <a:t>。</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4" name="Rectangle 4"/>
          <p:cNvSpPr txBox="1">
            <a:spLocks noChangeArrowheads="1"/>
          </p:cNvSpPr>
          <p:nvPr/>
        </p:nvSpPr>
        <p:spPr>
          <a:xfrm>
            <a:off x="571471" y="381000"/>
            <a:ext cx="8458200"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4"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457200" y="1496830"/>
            <a:ext cx="8507288" cy="2148194"/>
          </a:xfrm>
          <a:prstGeom prst="rect">
            <a:avLst/>
          </a:prstGeom>
        </p:spPr>
        <p:txBody>
          <a:bodyPr vert="horz" lIns="91440" tIns="45720" rIns="91440" bIns="45720" rtlCol="0">
            <a:no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55000"/>
              </a:spcBef>
              <a:buClr>
                <a:schemeClr val="tx2"/>
              </a:buClr>
              <a:buFont typeface="Wingdings" panose="05000000000000000000" pitchFamily="2" charset="2"/>
              <a:buChar char="Ø"/>
            </a:pPr>
            <a:r>
              <a:rPr lang="zh-CN" altLang="en-US" sz="2400">
                <a:solidFill>
                  <a:srgbClr val="002060"/>
                </a:solidFill>
                <a:latin typeface="思源黑体 CN Bold" panose="020B0800000000000000" pitchFamily="34" charset="-122"/>
                <a:ea typeface="思源黑体 CN Bold" panose="020B0800000000000000" pitchFamily="34" charset="-122"/>
                <a:cs typeface="+mn-cs"/>
              </a:rPr>
              <a:t>货币的三个功能：</a:t>
            </a:r>
            <a:endParaRPr lang="en-US" altLang="zh-CN" sz="2400">
              <a:solidFill>
                <a:srgbClr val="002060"/>
              </a:solidFill>
              <a:latin typeface="思源黑体 CN Bold" panose="020B0800000000000000" pitchFamily="34" charset="-122"/>
              <a:ea typeface="思源黑体 CN Bold" panose="020B0800000000000000" pitchFamily="34" charset="-122"/>
              <a:cs typeface="+mn-cs"/>
            </a:endParaRPr>
          </a:p>
          <a:p>
            <a:pPr lvl="1">
              <a:spcBef>
                <a:spcPct val="55000"/>
              </a:spcBef>
              <a:buClr>
                <a:schemeClr val="tx2"/>
              </a:buClr>
              <a:buFont typeface="Wingdings" panose="05000000000000000000" pitchFamily="2" charset="2"/>
              <a:buChar char="ü"/>
            </a:pPr>
            <a:r>
              <a:rPr lang="zh-CN" altLang="en-US" sz="2300" smtClean="0">
                <a:solidFill>
                  <a:srgbClr val="FF0000"/>
                </a:solidFill>
                <a:ea typeface="思源黑体 CN Bold" panose="020B0800000000000000"/>
              </a:rPr>
              <a:t>交换</a:t>
            </a:r>
            <a:r>
              <a:rPr lang="zh-CN" altLang="en-US" sz="2300">
                <a:solidFill>
                  <a:srgbClr val="FF0000"/>
                </a:solidFill>
                <a:ea typeface="思源黑体 CN Bold" panose="020B0800000000000000"/>
              </a:rPr>
              <a:t>媒介</a:t>
            </a:r>
            <a:r>
              <a:rPr lang="zh-CN" altLang="en-US" sz="2300" smtClean="0">
                <a:ea typeface="思源黑体 CN Bold" panose="020B0800000000000000"/>
              </a:rPr>
              <a:t>：</a:t>
            </a:r>
            <a:r>
              <a:rPr lang="zh-CN" altLang="en-US" sz="2400" smtClean="0">
                <a:solidFill>
                  <a:srgbClr val="002060"/>
                </a:solidFill>
                <a:latin typeface="微软雅黑" panose="020B0503020204020204" pitchFamily="34" charset="-122"/>
                <a:ea typeface="微软雅黑" panose="020B0503020204020204" pitchFamily="34" charset="-122"/>
              </a:rPr>
              <a:t>货币是</a:t>
            </a:r>
            <a:r>
              <a:rPr lang="zh-CN" altLang="en-US" sz="2400">
                <a:solidFill>
                  <a:srgbClr val="002060"/>
                </a:solidFill>
                <a:latin typeface="微软雅黑" panose="020B0503020204020204" pitchFamily="34" charset="-122"/>
                <a:ea typeface="微软雅黑" panose="020B0503020204020204" pitchFamily="34" charset="-122"/>
              </a:rPr>
              <a:t>买家</a:t>
            </a:r>
            <a:r>
              <a:rPr lang="zh-CN" altLang="en-US" sz="2400" smtClean="0">
                <a:solidFill>
                  <a:srgbClr val="002060"/>
                </a:solidFill>
                <a:latin typeface="微软雅黑" panose="020B0503020204020204" pitchFamily="34" charset="-122"/>
                <a:ea typeface="微软雅黑" panose="020B0503020204020204" pitchFamily="34" charset="-122"/>
              </a:rPr>
              <a:t>从卖家那里</a:t>
            </a:r>
            <a:r>
              <a:rPr lang="zh-CN" altLang="en-US" sz="2400">
                <a:solidFill>
                  <a:srgbClr val="002060"/>
                </a:solidFill>
                <a:latin typeface="微软雅黑" panose="020B0503020204020204" pitchFamily="34" charset="-122"/>
                <a:ea typeface="微软雅黑" panose="020B0503020204020204" pitchFamily="34" charset="-122"/>
              </a:rPr>
              <a:t>购买商品和服务的资产</a:t>
            </a:r>
            <a:r>
              <a:rPr lang="zh-CN" altLang="en-US" sz="2400" smtClean="0">
                <a:solidFill>
                  <a:srgbClr val="002060"/>
                </a:solidFill>
                <a:latin typeface="微软雅黑" panose="020B0503020204020204" pitchFamily="34" charset="-122"/>
                <a:ea typeface="微软雅黑" panose="020B0503020204020204" pitchFamily="34" charset="-122"/>
              </a:rPr>
              <a:t>。</a:t>
            </a:r>
            <a:endParaRPr sz="2300" dirty="0">
              <a:solidFill>
                <a:srgbClr val="002060"/>
              </a:solidFill>
              <a:latin typeface="思源黑体 CN Bold" panose="020B0800000000000000" pitchFamily="34" charset="-122"/>
              <a:ea typeface="思源黑体 CN Bold" panose="020B0800000000000000" pitchFamily="34" charset="-122"/>
              <a:cs typeface="+mn-cs"/>
            </a:endParaRPr>
          </a:p>
          <a:p>
            <a:pPr lvl="1">
              <a:spcBef>
                <a:spcPct val="55000"/>
              </a:spcBef>
              <a:buClr>
                <a:schemeClr val="tx2"/>
              </a:buClr>
              <a:buFont typeface="Wingdings" panose="05000000000000000000" pitchFamily="2" charset="2"/>
              <a:buChar char="ü"/>
            </a:pPr>
            <a:r>
              <a:rPr lang="zh-CN" altLang="en-US" sz="2300" dirty="0">
                <a:solidFill>
                  <a:srgbClr val="FF0000"/>
                </a:solidFill>
                <a:ea typeface="思源黑体 CN Bold" panose="020B0800000000000000"/>
              </a:rPr>
              <a:t>记账</a:t>
            </a:r>
            <a:r>
              <a:rPr lang="zh-CN" altLang="en-US" sz="2300">
                <a:solidFill>
                  <a:srgbClr val="FF0000"/>
                </a:solidFill>
                <a:ea typeface="思源黑体 CN Bold" panose="020B0800000000000000"/>
              </a:rPr>
              <a:t>单位</a:t>
            </a:r>
            <a:r>
              <a:rPr lang="zh-CN" altLang="en-US" sz="2300" smtClean="0">
                <a:ea typeface="思源黑体 CN Bold" panose="020B0800000000000000"/>
              </a:rPr>
              <a:t>：</a:t>
            </a:r>
            <a:r>
              <a:rPr sz="2300" smtClean="0">
                <a:solidFill>
                  <a:srgbClr val="002060"/>
                </a:solidFill>
                <a:latin typeface="思源黑体 CN Bold" panose="020B0800000000000000" pitchFamily="34" charset="-122"/>
                <a:ea typeface="思源黑体 CN Bold" panose="020B0800000000000000" pitchFamily="34" charset="-122"/>
                <a:cs typeface="+mn-cs"/>
              </a:rPr>
              <a:t>债务</a:t>
            </a:r>
            <a:r>
              <a:rPr lang="zh-CN" altLang="en-US" sz="2300" smtClean="0">
                <a:solidFill>
                  <a:srgbClr val="002060"/>
                </a:solidFill>
                <a:latin typeface="思源黑体 CN Bold" panose="020B0800000000000000" pitchFamily="34" charset="-122"/>
                <a:ea typeface="思源黑体 CN Bold" panose="020B0800000000000000" pitchFamily="34" charset="-122"/>
                <a:cs typeface="+mn-cs"/>
              </a:rPr>
              <a:t>、债权</a:t>
            </a:r>
            <a:r>
              <a:rPr sz="2300" smtClean="0">
                <a:solidFill>
                  <a:srgbClr val="002060"/>
                </a:solidFill>
                <a:latin typeface="思源黑体 CN Bold" panose="020B0800000000000000" pitchFamily="34" charset="-122"/>
                <a:ea typeface="思源黑体 CN Bold" panose="020B0800000000000000" pitchFamily="34" charset="-122"/>
                <a:cs typeface="+mn-cs"/>
              </a:rPr>
              <a:t>的</a:t>
            </a:r>
            <a:r>
              <a:rPr lang="zh-CN" altLang="en-US" sz="2300" smtClean="0">
                <a:solidFill>
                  <a:srgbClr val="002060"/>
                </a:solidFill>
                <a:latin typeface="思源黑体 CN Bold" panose="020B0800000000000000" pitchFamily="34" charset="-122"/>
                <a:ea typeface="思源黑体 CN Bold" panose="020B0800000000000000" pitchFamily="34" charset="-122"/>
                <a:cs typeface="+mn-cs"/>
              </a:rPr>
              <a:t>衡量和记录</a:t>
            </a:r>
            <a:r>
              <a:rPr sz="2300" smtClean="0">
                <a:solidFill>
                  <a:srgbClr val="002060"/>
                </a:solidFill>
                <a:latin typeface="思源黑体 CN Bold" panose="020B0800000000000000" pitchFamily="34" charset="-122"/>
                <a:ea typeface="思源黑体 CN Bold" panose="020B0800000000000000" pitchFamily="34" charset="-122"/>
                <a:cs typeface="+mn-cs"/>
              </a:rPr>
              <a:t>单位</a:t>
            </a:r>
            <a:r>
              <a:rPr lang="zh-CN" altLang="en-US" sz="2300" smtClean="0">
                <a:solidFill>
                  <a:srgbClr val="002060"/>
                </a:solidFill>
                <a:latin typeface="思源黑体 CN Bold" panose="020B0800000000000000" pitchFamily="34" charset="-122"/>
                <a:ea typeface="思源黑体 CN Bold" panose="020B0800000000000000" pitchFamily="34" charset="-122"/>
                <a:cs typeface="+mn-cs"/>
              </a:rPr>
              <a:t>。</a:t>
            </a:r>
            <a:endParaRPr sz="2300" dirty="0">
              <a:solidFill>
                <a:srgbClr val="002060"/>
              </a:solidFill>
              <a:latin typeface="思源黑体 CN Bold" panose="020B0800000000000000" pitchFamily="34" charset="-122"/>
              <a:ea typeface="思源黑体 CN Bold" panose="020B0800000000000000" pitchFamily="34" charset="-122"/>
              <a:cs typeface="+mn-cs"/>
            </a:endParaRPr>
          </a:p>
          <a:p>
            <a:pPr lvl="1">
              <a:spcBef>
                <a:spcPct val="55000"/>
              </a:spcBef>
              <a:buClr>
                <a:schemeClr val="tx2"/>
              </a:buClr>
              <a:buFont typeface="Wingdings" panose="05000000000000000000" pitchFamily="2" charset="2"/>
              <a:buChar char="ü"/>
            </a:pPr>
            <a:r>
              <a:rPr lang="zh-CN" altLang="en-US" sz="2300" dirty="0">
                <a:solidFill>
                  <a:srgbClr val="FF0000"/>
                </a:solidFill>
                <a:ea typeface="思源黑体 CN Bold" panose="020B0800000000000000"/>
              </a:rPr>
              <a:t>价值储存</a:t>
            </a:r>
            <a:r>
              <a:rPr lang="zh-CN" altLang="en-US" sz="2300">
                <a:ea typeface="思源黑体 CN Bold" panose="020B0800000000000000"/>
              </a:rPr>
              <a:t>：</a:t>
            </a:r>
            <a:r>
              <a:rPr sz="2300" smtClean="0">
                <a:solidFill>
                  <a:srgbClr val="002060"/>
                </a:solidFill>
                <a:latin typeface="思源黑体 CN Bold" panose="020B0800000000000000" pitchFamily="34" charset="-122"/>
                <a:ea typeface="思源黑体 CN Bold" panose="020B0800000000000000" pitchFamily="34" charset="-122"/>
                <a:cs typeface="+mn-cs"/>
              </a:rPr>
              <a:t>人们</a:t>
            </a:r>
            <a:r>
              <a:rPr lang="zh-CN" altLang="en-US" sz="2300" smtClean="0">
                <a:solidFill>
                  <a:srgbClr val="002060"/>
                </a:solidFill>
                <a:latin typeface="思源黑体 CN Bold" panose="020B0800000000000000" pitchFamily="34" charset="-122"/>
                <a:ea typeface="思源黑体 CN Bold" panose="020B0800000000000000" pitchFamily="34" charset="-122"/>
                <a:cs typeface="+mn-cs"/>
              </a:rPr>
              <a:t>存储货币，</a:t>
            </a:r>
            <a:r>
              <a:rPr sz="2300" smtClean="0">
                <a:solidFill>
                  <a:srgbClr val="002060"/>
                </a:solidFill>
                <a:latin typeface="思源黑体 CN Bold" panose="020B0800000000000000" pitchFamily="34" charset="-122"/>
                <a:ea typeface="思源黑体 CN Bold" panose="020B0800000000000000" pitchFamily="34" charset="-122"/>
                <a:cs typeface="+mn-cs"/>
              </a:rPr>
              <a:t>将购买力从现在转移到未来</a:t>
            </a:r>
            <a:r>
              <a:rPr lang="zh-CN" altLang="en-US" sz="2300" smtClean="0">
                <a:solidFill>
                  <a:srgbClr val="002060"/>
                </a:solidFill>
                <a:latin typeface="思源黑体 CN Bold" panose="020B0800000000000000" pitchFamily="34" charset="-122"/>
                <a:ea typeface="思源黑体 CN Bold" panose="020B0800000000000000" pitchFamily="34" charset="-122"/>
                <a:cs typeface="+mn-cs"/>
              </a:rPr>
              <a:t>。</a:t>
            </a:r>
            <a:endParaRPr lang="en-US" sz="2300" dirty="0">
              <a:ea typeface="思源黑体 CN Bold" panose="020B0800000000000000"/>
            </a:endParaRPr>
          </a:p>
        </p:txBody>
      </p:sp>
      <p:sp>
        <p:nvSpPr>
          <p:cNvPr id="8" name="Rectangle 4"/>
          <p:cNvSpPr txBox="1">
            <a:spLocks noChangeArrowheads="1"/>
          </p:cNvSpPr>
          <p:nvPr/>
        </p:nvSpPr>
        <p:spPr>
          <a:xfrm>
            <a:off x="539552" y="548680"/>
            <a:ext cx="8458200"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395536" y="1556792"/>
            <a:ext cx="8435280" cy="4824536"/>
          </a:xfrm>
          <a:prstGeom prst="rect">
            <a:avLst/>
          </a:prstGeom>
        </p:spPr>
        <p:txBody>
          <a:bodyPr vert="horz" lIns="91440" tIns="45720" rIns="91440" bIns="45720" rtlCol="0">
            <a:no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ts val="3600"/>
              </a:lnSpc>
              <a:buClr>
                <a:schemeClr val="tx2"/>
              </a:buClr>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货币</a:t>
            </a:r>
            <a:r>
              <a:rPr lang="zh-CN" altLang="en-US" sz="2400">
                <a:solidFill>
                  <a:srgbClr val="FF0000"/>
                </a:solidFill>
                <a:latin typeface="微软雅黑" panose="020B0503020204020204" pitchFamily="34" charset="-122"/>
                <a:ea typeface="微软雅黑" panose="020B0503020204020204" pitchFamily="34" charset="-122"/>
              </a:rPr>
              <a:t>供应量</a:t>
            </a:r>
            <a:r>
              <a:rPr lang="zh-CN" altLang="en-US" sz="2400" smtClean="0">
                <a:solidFill>
                  <a:srgbClr val="002060"/>
                </a:solidFill>
                <a:latin typeface="微软雅黑" panose="020B0503020204020204" pitchFamily="34" charset="-122"/>
                <a:ea typeface="微软雅黑" panose="020B0503020204020204" pitchFamily="34" charset="-122"/>
              </a:rPr>
              <a:t>：某个</a:t>
            </a:r>
            <a:r>
              <a:rPr lang="zh-CN" altLang="en-US" sz="2400">
                <a:solidFill>
                  <a:srgbClr val="002060"/>
                </a:solidFill>
                <a:latin typeface="微软雅黑" panose="020B0503020204020204" pitchFamily="34" charset="-122"/>
                <a:ea typeface="微软雅黑" panose="020B0503020204020204" pitchFamily="34" charset="-122"/>
              </a:rPr>
              <a:t>时点的经济生活中可用于各种交易的货币</a:t>
            </a:r>
            <a:r>
              <a:rPr lang="zh-CN" altLang="en-US" sz="2400" smtClean="0">
                <a:solidFill>
                  <a:srgbClr val="002060"/>
                </a:solidFill>
                <a:latin typeface="微软雅黑" panose="020B0503020204020204" pitchFamily="34" charset="-122"/>
                <a:ea typeface="微软雅黑" panose="020B0503020204020204" pitchFamily="34" charset="-122"/>
              </a:rPr>
              <a:t>总量</a:t>
            </a:r>
            <a:r>
              <a:rPr lang="zh-CN" altLang="en-US" sz="2400">
                <a:solidFill>
                  <a:srgbClr val="002060"/>
                </a:solidFill>
                <a:latin typeface="微软雅黑" panose="020B0503020204020204" pitchFamily="34" charset="-122"/>
                <a:ea typeface="微软雅黑" panose="020B0503020204020204" pitchFamily="34" charset="-122"/>
              </a:rPr>
              <a:t>。按照货币流动性不同，把货币供应量</a:t>
            </a:r>
            <a:r>
              <a:rPr lang="zh-CN" altLang="en-US" sz="2400" smtClean="0">
                <a:solidFill>
                  <a:srgbClr val="002060"/>
                </a:solidFill>
                <a:latin typeface="微软雅黑" panose="020B0503020204020204" pitchFamily="34" charset="-122"/>
                <a:ea typeface="微软雅黑" panose="020B0503020204020204" pitchFamily="34" charset="-122"/>
              </a:rPr>
              <a:t>分为</a:t>
            </a:r>
            <a:r>
              <a:rPr lang="en-US" altLang="zh-CN" sz="2400" smtClean="0">
                <a:solidFill>
                  <a:srgbClr val="002060"/>
                </a:solidFill>
                <a:latin typeface="微软雅黑" panose="020B0503020204020204" pitchFamily="34" charset="-122"/>
                <a:ea typeface="微软雅黑" panose="020B0503020204020204" pitchFamily="34" charset="-122"/>
              </a:rPr>
              <a:t>M0</a:t>
            </a:r>
            <a:r>
              <a:rPr lang="zh-CN" altLang="en-US" sz="2400">
                <a:solidFill>
                  <a:srgbClr val="002060"/>
                </a:solidFill>
                <a:latin typeface="微软雅黑" panose="020B0503020204020204" pitchFamily="34" charset="-122"/>
                <a:ea typeface="微软雅黑" panose="020B0503020204020204" pitchFamily="34" charset="-122"/>
              </a:rPr>
              <a:t>、</a:t>
            </a:r>
            <a:r>
              <a:rPr lang="en-US" altLang="zh-CN" sz="2400">
                <a:solidFill>
                  <a:srgbClr val="002060"/>
                </a:solidFill>
                <a:latin typeface="微软雅黑" panose="020B0503020204020204" pitchFamily="34" charset="-122"/>
                <a:ea typeface="微软雅黑" panose="020B0503020204020204" pitchFamily="34" charset="-122"/>
              </a:rPr>
              <a:t>M1</a:t>
            </a:r>
            <a:r>
              <a:rPr lang="zh-CN" altLang="en-US" sz="2400">
                <a:solidFill>
                  <a:srgbClr val="002060"/>
                </a:solidFill>
                <a:latin typeface="微软雅黑" panose="020B0503020204020204" pitchFamily="34" charset="-122"/>
                <a:ea typeface="微软雅黑" panose="020B0503020204020204" pitchFamily="34" charset="-122"/>
              </a:rPr>
              <a:t>、</a:t>
            </a:r>
            <a:r>
              <a:rPr lang="en-US" altLang="zh-CN" sz="2400" smtClean="0">
                <a:solidFill>
                  <a:srgbClr val="002060"/>
                </a:solidFill>
                <a:latin typeface="微软雅黑" panose="020B0503020204020204" pitchFamily="34" charset="-122"/>
                <a:ea typeface="微软雅黑" panose="020B0503020204020204" pitchFamily="34" charset="-122"/>
              </a:rPr>
              <a:t>M2</a:t>
            </a:r>
            <a:r>
              <a:rPr lang="zh-CN" altLang="en-US" sz="2400" smtClean="0">
                <a:solidFill>
                  <a:srgbClr val="002060"/>
                </a:solidFill>
                <a:latin typeface="微软雅黑" panose="020B0503020204020204" pitchFamily="34" charset="-122"/>
                <a:ea typeface="微软雅黑" panose="020B0503020204020204" pitchFamily="34" charset="-122"/>
              </a:rPr>
              <a:t>“三个兄弟”。</a:t>
            </a:r>
            <a:r>
              <a:rPr lang="en-US" altLang="zh-CN" sz="2400">
                <a:solidFill>
                  <a:srgbClr val="002060"/>
                </a:solidFill>
                <a:latin typeface="微软雅黑" panose="020B0503020204020204" pitchFamily="34" charset="-122"/>
                <a:ea typeface="微软雅黑" panose="020B0503020204020204" pitchFamily="34" charset="-122"/>
              </a:rPr>
              <a:t>M</a:t>
            </a:r>
            <a:r>
              <a:rPr lang="zh-CN" altLang="en-US" sz="2400">
                <a:solidFill>
                  <a:srgbClr val="002060"/>
                </a:solidFill>
                <a:latin typeface="微软雅黑" panose="020B0503020204020204" pitchFamily="34" charset="-122"/>
                <a:ea typeface="微软雅黑" panose="020B0503020204020204" pitchFamily="34" charset="-122"/>
              </a:rPr>
              <a:t>是</a:t>
            </a:r>
            <a:r>
              <a:rPr lang="en-US" altLang="zh-CN" sz="2400">
                <a:solidFill>
                  <a:srgbClr val="002060"/>
                </a:solidFill>
                <a:latin typeface="微软雅黑" panose="020B0503020204020204" pitchFamily="34" charset="-122"/>
                <a:ea typeface="微软雅黑" panose="020B0503020204020204" pitchFamily="34" charset="-122"/>
              </a:rPr>
              <a:t>Money</a:t>
            </a:r>
            <a:r>
              <a:rPr lang="zh-CN" altLang="en-US" sz="2400">
                <a:solidFill>
                  <a:srgbClr val="002060"/>
                </a:solidFill>
                <a:latin typeface="微软雅黑" panose="020B0503020204020204" pitchFamily="34" charset="-122"/>
                <a:ea typeface="微软雅黑" panose="020B0503020204020204" pitchFamily="34" charset="-122"/>
              </a:rPr>
              <a:t>首字母，后面跟着的数字代表不同流动性，数字越大流动性越差。</a:t>
            </a:r>
            <a:endParaRPr lang="en-US" altLang="zh-CN" sz="2400">
              <a:solidFill>
                <a:srgbClr val="002060"/>
              </a:solidFill>
              <a:latin typeface="微软雅黑" panose="020B0503020204020204" pitchFamily="34" charset="-122"/>
              <a:ea typeface="微软雅黑" panose="020B0503020204020204" pitchFamily="34" charset="-122"/>
            </a:endParaRPr>
          </a:p>
          <a:p>
            <a:pPr lvl="1">
              <a:lnSpc>
                <a:spcPts val="3600"/>
              </a:lnSpc>
              <a:spcBef>
                <a:spcPct val="15000"/>
              </a:spcBef>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老幺</a:t>
            </a:r>
            <a:r>
              <a:rPr lang="en-US" altLang="zh-CN" sz="2400">
                <a:solidFill>
                  <a:srgbClr val="FF0000"/>
                </a:solidFill>
                <a:latin typeface="微软雅黑" panose="020B0503020204020204" pitchFamily="34" charset="-122"/>
                <a:ea typeface="微软雅黑" panose="020B0503020204020204" pitchFamily="34" charset="-122"/>
              </a:rPr>
              <a:t>M0</a:t>
            </a:r>
            <a:r>
              <a:rPr lang="zh-CN" altLang="en-US" sz="2400">
                <a:solidFill>
                  <a:srgbClr val="002060"/>
                </a:solidFill>
                <a:latin typeface="微软雅黑" panose="020B0503020204020204" pitchFamily="34" charset="-122"/>
                <a:ea typeface="微软雅黑" panose="020B0503020204020204" pitchFamily="34" charset="-122"/>
              </a:rPr>
              <a:t>，又叫“</a:t>
            </a:r>
            <a:r>
              <a:rPr lang="zh-CN" altLang="en-US" sz="2400">
                <a:solidFill>
                  <a:srgbClr val="FF0000"/>
                </a:solidFill>
                <a:latin typeface="微软雅黑" panose="020B0503020204020204" pitchFamily="34" charset="-122"/>
                <a:ea typeface="微软雅黑" panose="020B0503020204020204" pitchFamily="34" charset="-122"/>
              </a:rPr>
              <a:t>现钞</a:t>
            </a:r>
            <a:r>
              <a:rPr lang="zh-CN" altLang="en-US" sz="2400">
                <a:solidFill>
                  <a:srgbClr val="002060"/>
                </a:solidFill>
                <a:latin typeface="微软雅黑" panose="020B0503020204020204" pitchFamily="34" charset="-122"/>
                <a:ea typeface="微软雅黑" panose="020B0503020204020204" pitchFamily="34" charset="-122"/>
              </a:rPr>
              <a:t>”，是指流通于</a:t>
            </a:r>
            <a:r>
              <a:rPr lang="zh-CN" altLang="en-US" sz="2400">
                <a:solidFill>
                  <a:srgbClr val="FF0000"/>
                </a:solidFill>
                <a:latin typeface="微软雅黑" panose="020B0503020204020204" pitchFamily="34" charset="-122"/>
                <a:ea typeface="微软雅黑" panose="020B0503020204020204" pitchFamily="34" charset="-122"/>
              </a:rPr>
              <a:t>银行体系以外</a:t>
            </a:r>
            <a:r>
              <a:rPr lang="zh-CN" altLang="en-US" sz="2400">
                <a:solidFill>
                  <a:srgbClr val="002060"/>
                </a:solidFill>
                <a:latin typeface="微软雅黑" panose="020B0503020204020204" pitchFamily="34" charset="-122"/>
                <a:ea typeface="微软雅黑" panose="020B0503020204020204" pitchFamily="34" charset="-122"/>
              </a:rPr>
              <a:t>的现钞，也就是</a:t>
            </a:r>
            <a:r>
              <a:rPr lang="zh-CN" altLang="en-US" sz="2400">
                <a:solidFill>
                  <a:srgbClr val="FF0000"/>
                </a:solidFill>
                <a:latin typeface="微软雅黑" panose="020B0503020204020204" pitchFamily="34" charset="-122"/>
                <a:ea typeface="微软雅黑" panose="020B0503020204020204" pitchFamily="34" charset="-122"/>
              </a:rPr>
              <a:t>居民和企业手中</a:t>
            </a:r>
            <a:r>
              <a:rPr lang="zh-CN" altLang="en-US" sz="2400">
                <a:solidFill>
                  <a:srgbClr val="002060"/>
                </a:solidFill>
                <a:latin typeface="微软雅黑" panose="020B0503020204020204" pitchFamily="34" charset="-122"/>
                <a:ea typeface="微软雅黑" panose="020B0503020204020204" pitchFamily="34" charset="-122"/>
              </a:rPr>
              <a:t>的现钞。</a:t>
            </a:r>
            <a:r>
              <a:rPr lang="en-US" altLang="zh-CN" sz="2400">
                <a:solidFill>
                  <a:srgbClr val="002060"/>
                </a:solidFill>
                <a:latin typeface="微软雅黑" panose="020B0503020204020204" pitchFamily="34" charset="-122"/>
                <a:ea typeface="微软雅黑" panose="020B0503020204020204" pitchFamily="34" charset="-122"/>
              </a:rPr>
              <a:t>M0</a:t>
            </a:r>
            <a:r>
              <a:rPr lang="zh-CN" altLang="en-US" sz="2400">
                <a:solidFill>
                  <a:srgbClr val="002060"/>
                </a:solidFill>
                <a:latin typeface="微软雅黑" panose="020B0503020204020204" pitchFamily="34" charset="-122"/>
                <a:ea typeface="微软雅黑" panose="020B0503020204020204" pitchFamily="34" charset="-122"/>
              </a:rPr>
              <a:t>虽然是货币家族的老么，但最机灵，</a:t>
            </a:r>
            <a:r>
              <a:rPr lang="zh-CN" altLang="en-US" sz="2400">
                <a:solidFill>
                  <a:srgbClr val="FF0000"/>
                </a:solidFill>
                <a:latin typeface="微软雅黑" panose="020B0503020204020204" pitchFamily="34" charset="-122"/>
                <a:ea typeface="微软雅黑" panose="020B0503020204020204" pitchFamily="34" charset="-122"/>
              </a:rPr>
              <a:t>流动性最强</a:t>
            </a:r>
            <a:r>
              <a:rPr lang="zh-CN" altLang="en-US" sz="2400">
                <a:solidFill>
                  <a:srgbClr val="002060"/>
                </a:solidFill>
                <a:latin typeface="微软雅黑" panose="020B0503020204020204" pitchFamily="34" charset="-122"/>
                <a:ea typeface="微软雅黑" panose="020B0503020204020204" pitchFamily="34" charset="-122"/>
              </a:rPr>
              <a:t>，具有</a:t>
            </a:r>
            <a:r>
              <a:rPr lang="zh-CN" altLang="en-US" sz="2400">
                <a:solidFill>
                  <a:srgbClr val="FF0000"/>
                </a:solidFill>
                <a:latin typeface="微软雅黑" panose="020B0503020204020204" pitchFamily="34" charset="-122"/>
                <a:ea typeface="微软雅黑" panose="020B0503020204020204" pitchFamily="34" charset="-122"/>
              </a:rPr>
              <a:t>最</a:t>
            </a:r>
            <a:r>
              <a:rPr lang="zh-CN" altLang="en-US" sz="2400" smtClean="0">
                <a:solidFill>
                  <a:srgbClr val="FF0000"/>
                </a:solidFill>
                <a:latin typeface="微软雅黑" panose="020B0503020204020204" pitchFamily="34" charset="-122"/>
                <a:ea typeface="微软雅黑" panose="020B0503020204020204" pitchFamily="34" charset="-122"/>
              </a:rPr>
              <a:t>强购买力</a:t>
            </a:r>
            <a:r>
              <a:rPr lang="zh-CN" altLang="en-US" sz="2400" smtClean="0">
                <a:solidFill>
                  <a:srgbClr val="002060"/>
                </a:solidFill>
                <a:latin typeface="微软雅黑" panose="020B0503020204020204" pitchFamily="34" charset="-122"/>
                <a:ea typeface="微软雅黑" panose="020B0503020204020204" pitchFamily="34" charset="-122"/>
              </a:rPr>
              <a:t>。</a:t>
            </a:r>
            <a:endParaRPr lang="zh-CN" altLang="en-US" sz="2400">
              <a:solidFill>
                <a:srgbClr val="002060"/>
              </a:solidFill>
              <a:latin typeface="微软雅黑" panose="020B0503020204020204" pitchFamily="34" charset="-122"/>
              <a:ea typeface="微软雅黑" panose="020B0503020204020204" pitchFamily="34" charset="-122"/>
            </a:endParaRPr>
          </a:p>
        </p:txBody>
      </p:sp>
      <p:sp>
        <p:nvSpPr>
          <p:cNvPr id="9" name="Rectangle 4"/>
          <p:cNvSpPr txBox="1">
            <a:spLocks noChangeArrowheads="1"/>
          </p:cNvSpPr>
          <p:nvPr/>
        </p:nvSpPr>
        <p:spPr>
          <a:xfrm>
            <a:off x="539552" y="548680"/>
            <a:ext cx="8458200"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395536" y="1628800"/>
            <a:ext cx="8568952" cy="4752528"/>
          </a:xfrm>
          <a:prstGeom prst="rect">
            <a:avLst/>
          </a:prstGeom>
        </p:spPr>
        <p:txBody>
          <a:bodyPr vert="horz" lIns="91440" tIns="45720" rIns="91440" bIns="45720" rtlCol="0">
            <a:no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ts val="3600"/>
              </a:lnSpc>
              <a:buClr>
                <a:schemeClr val="tx2"/>
              </a:buClr>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货币</a:t>
            </a:r>
            <a:r>
              <a:rPr lang="zh-CN" altLang="en-US" sz="2400">
                <a:solidFill>
                  <a:srgbClr val="FF0000"/>
                </a:solidFill>
                <a:latin typeface="微软雅黑" panose="020B0503020204020204" pitchFamily="34" charset="-122"/>
                <a:ea typeface="微软雅黑" panose="020B0503020204020204" pitchFamily="34" charset="-122"/>
              </a:rPr>
              <a:t>供应量</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老二</a:t>
            </a:r>
            <a:r>
              <a:rPr lang="en-US" altLang="zh-CN" sz="2400">
                <a:solidFill>
                  <a:srgbClr val="FF0000"/>
                </a:solidFill>
                <a:latin typeface="微软雅黑" panose="020B0503020204020204" pitchFamily="34" charset="-122"/>
                <a:ea typeface="微软雅黑" panose="020B0503020204020204" pitchFamily="34" charset="-122"/>
              </a:rPr>
              <a:t>M1</a:t>
            </a:r>
            <a:r>
              <a:rPr lang="zh-CN" altLang="en-US" sz="2400">
                <a:solidFill>
                  <a:srgbClr val="002060"/>
                </a:solidFill>
                <a:latin typeface="微软雅黑" panose="020B0503020204020204" pitchFamily="34" charset="-122"/>
                <a:ea typeface="微软雅黑" panose="020B0503020204020204" pitchFamily="34" charset="-122"/>
              </a:rPr>
              <a:t>，又叫“</a:t>
            </a:r>
            <a:r>
              <a:rPr lang="zh-CN" altLang="en-US" sz="2400">
                <a:solidFill>
                  <a:srgbClr val="FF0000"/>
                </a:solidFill>
                <a:latin typeface="微软雅黑" panose="020B0503020204020204" pitchFamily="34" charset="-122"/>
                <a:ea typeface="微软雅黑" panose="020B0503020204020204" pitchFamily="34" charset="-122"/>
              </a:rPr>
              <a:t>狭义货币</a:t>
            </a:r>
            <a:r>
              <a:rPr lang="zh-CN" altLang="en-US" sz="2400">
                <a:solidFill>
                  <a:srgbClr val="002060"/>
                </a:solidFill>
                <a:latin typeface="微软雅黑" panose="020B0503020204020204" pitchFamily="34" charset="-122"/>
                <a:ea typeface="微软雅黑" panose="020B0503020204020204" pitchFamily="34" charset="-122"/>
              </a:rPr>
              <a:t>”，由流通于银行体系以外的现钞（</a:t>
            </a:r>
            <a:r>
              <a:rPr lang="en-US" altLang="zh-CN" sz="2400">
                <a:solidFill>
                  <a:srgbClr val="FF0000"/>
                </a:solidFill>
                <a:latin typeface="微软雅黑" panose="020B0503020204020204" pitchFamily="34" charset="-122"/>
                <a:ea typeface="微软雅黑" panose="020B0503020204020204" pitchFamily="34" charset="-122"/>
              </a:rPr>
              <a:t>M0</a:t>
            </a:r>
            <a:r>
              <a:rPr lang="zh-CN" altLang="en-US" sz="240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和</a:t>
            </a:r>
            <a:r>
              <a:rPr lang="zh-CN" altLang="en-US" sz="2400" smtClean="0">
                <a:solidFill>
                  <a:srgbClr val="FF0000"/>
                </a:solidFill>
                <a:latin typeface="微软雅黑" panose="020B0503020204020204" pitchFamily="34" charset="-122"/>
                <a:ea typeface="微软雅黑" panose="020B0503020204020204" pitchFamily="34" charset="-122"/>
              </a:rPr>
              <a:t>企业的活期存款</a:t>
            </a:r>
            <a:r>
              <a:rPr lang="zh-CN" altLang="en-US" sz="2400">
                <a:solidFill>
                  <a:srgbClr val="002060"/>
                </a:solidFill>
                <a:latin typeface="微软雅黑" panose="020B0503020204020204" pitchFamily="34" charset="-122"/>
                <a:ea typeface="微软雅黑" panose="020B0503020204020204" pitchFamily="34" charset="-122"/>
              </a:rPr>
              <a:t>构成</a:t>
            </a:r>
            <a:r>
              <a:rPr lang="zh-CN" altLang="en-US" sz="2400" smtClean="0">
                <a:solidFill>
                  <a:srgbClr val="002060"/>
                </a:solidFill>
                <a:latin typeface="微软雅黑" panose="020B0503020204020204" pitchFamily="34" charset="-122"/>
                <a:ea typeface="微软雅黑" panose="020B0503020204020204" pitchFamily="34" charset="-122"/>
              </a:rPr>
              <a:t>。企业活期存款随时用于支付，</a:t>
            </a:r>
            <a:r>
              <a:rPr lang="zh-CN" altLang="en-US" sz="2400">
                <a:solidFill>
                  <a:srgbClr val="002060"/>
                </a:solidFill>
                <a:latin typeface="微软雅黑" panose="020B0503020204020204" pitchFamily="34" charset="-122"/>
                <a:ea typeface="微软雅黑" panose="020B0503020204020204" pitchFamily="34" charset="-122"/>
              </a:rPr>
              <a:t>所以流动性和购买力不亚于现钞。</a:t>
            </a:r>
            <a:endParaRPr lang="zh-CN" altLang="en-US" sz="240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en-US" altLang="zh-CN" sz="2400">
                <a:solidFill>
                  <a:srgbClr val="002060"/>
                </a:solidFill>
                <a:latin typeface="微软雅黑" panose="020B0503020204020204" pitchFamily="34" charset="-122"/>
                <a:ea typeface="微软雅黑" panose="020B0503020204020204" pitchFamily="34" charset="-122"/>
              </a:rPr>
              <a:t>2025</a:t>
            </a:r>
            <a:r>
              <a:rPr lang="zh-CN" altLang="en-US" sz="2400">
                <a:solidFill>
                  <a:srgbClr val="002060"/>
                </a:solidFill>
                <a:latin typeface="微软雅黑" panose="020B0503020204020204" pitchFamily="34" charset="-122"/>
                <a:ea typeface="微软雅黑" panose="020B0503020204020204" pitchFamily="34" charset="-122"/>
              </a:rPr>
              <a:t>年</a:t>
            </a:r>
            <a:r>
              <a:rPr lang="en-US" altLang="zh-CN" sz="2400">
                <a:solidFill>
                  <a:srgbClr val="002060"/>
                </a:solidFill>
                <a:latin typeface="微软雅黑" panose="020B0503020204020204" pitchFamily="34" charset="-122"/>
                <a:ea typeface="微软雅黑" panose="020B0503020204020204" pitchFamily="34" charset="-122"/>
              </a:rPr>
              <a:t>1</a:t>
            </a:r>
            <a:r>
              <a:rPr lang="zh-CN" altLang="en-US" sz="2400">
                <a:solidFill>
                  <a:srgbClr val="002060"/>
                </a:solidFill>
                <a:latin typeface="微软雅黑" panose="020B0503020204020204" pitchFamily="34" charset="-122"/>
                <a:ea typeface="微软雅黑" panose="020B0503020204020204" pitchFamily="34" charset="-122"/>
              </a:rPr>
              <a:t>月开始，</a:t>
            </a:r>
            <a:r>
              <a:rPr lang="zh-CN" altLang="en-US" sz="2400">
                <a:solidFill>
                  <a:srgbClr val="FF0000"/>
                </a:solidFill>
                <a:latin typeface="微软雅黑" panose="020B0503020204020204" pitchFamily="34" charset="-122"/>
                <a:ea typeface="微软雅黑" panose="020B0503020204020204" pitchFamily="34" charset="-122"/>
              </a:rPr>
              <a:t>居民的活期存款</a:t>
            </a:r>
            <a:r>
              <a:rPr lang="zh-CN" altLang="en-US" sz="2400">
                <a:solidFill>
                  <a:srgbClr val="002060"/>
                </a:solidFill>
                <a:latin typeface="微软雅黑" panose="020B0503020204020204" pitchFamily="34" charset="-122"/>
                <a:ea typeface="微软雅黑" panose="020B0503020204020204" pitchFamily="34" charset="-122"/>
              </a:rPr>
              <a:t>也被纳入</a:t>
            </a:r>
            <a:r>
              <a:rPr lang="en-US" altLang="zh-CN" sz="2400">
                <a:solidFill>
                  <a:srgbClr val="002060"/>
                </a:solidFill>
                <a:latin typeface="微软雅黑" panose="020B0503020204020204" pitchFamily="34" charset="-122"/>
                <a:ea typeface="微软雅黑" panose="020B0503020204020204" pitchFamily="34" charset="-122"/>
              </a:rPr>
              <a:t>M1</a:t>
            </a:r>
            <a:r>
              <a:rPr lang="zh-CN" altLang="en-US" sz="2400">
                <a:solidFill>
                  <a:srgbClr val="002060"/>
                </a:solidFill>
                <a:latin typeface="微软雅黑" panose="020B0503020204020204" pitchFamily="34" charset="-122"/>
                <a:ea typeface="微软雅黑" panose="020B0503020204020204" pitchFamily="34" charset="-122"/>
              </a:rPr>
              <a:t>货币的统计</a:t>
            </a:r>
            <a:r>
              <a:rPr lang="zh-CN" altLang="en-US" sz="2400">
                <a:solidFill>
                  <a:srgbClr val="002060"/>
                </a:solidFill>
                <a:latin typeface="微软雅黑" panose="020B0503020204020204" pitchFamily="34" charset="-122"/>
                <a:ea typeface="微软雅黑" panose="020B0503020204020204" pitchFamily="34" charset="-122"/>
              </a:rPr>
              <a:t>口径中。</a:t>
            </a:r>
            <a:endParaRPr lang="zh-CN" altLang="en-US" sz="240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en-US" altLang="zh-CN" sz="2400">
                <a:solidFill>
                  <a:srgbClr val="FF0000"/>
                </a:solidFill>
                <a:latin typeface="微软雅黑" panose="020B0503020204020204" pitchFamily="34" charset="-122"/>
                <a:ea typeface="微软雅黑" panose="020B0503020204020204" pitchFamily="34" charset="-122"/>
              </a:rPr>
              <a:t>M1</a:t>
            </a:r>
            <a:r>
              <a:rPr lang="zh-CN" altLang="en-US" sz="2400">
                <a:solidFill>
                  <a:srgbClr val="002060"/>
                </a:solidFill>
                <a:latin typeface="微软雅黑" panose="020B0503020204020204" pitchFamily="34" charset="-122"/>
                <a:ea typeface="微软雅黑" panose="020B0503020204020204" pitchFamily="34" charset="-122"/>
              </a:rPr>
              <a:t>是货币</a:t>
            </a:r>
            <a:r>
              <a:rPr lang="zh-CN" altLang="en-US" sz="2400" smtClean="0">
                <a:solidFill>
                  <a:srgbClr val="002060"/>
                </a:solidFill>
                <a:latin typeface="微软雅黑" panose="020B0503020204020204" pitchFamily="34" charset="-122"/>
                <a:ea typeface="微软雅黑" panose="020B0503020204020204" pitchFamily="34" charset="-122"/>
              </a:rPr>
              <a:t>家族老</a:t>
            </a:r>
            <a:r>
              <a:rPr lang="zh-CN" altLang="en-US" sz="2400">
                <a:solidFill>
                  <a:srgbClr val="002060"/>
                </a:solidFill>
                <a:latin typeface="微软雅黑" panose="020B0503020204020204" pitchFamily="34" charset="-122"/>
                <a:ea typeface="微软雅黑" panose="020B0503020204020204" pitchFamily="34" charset="-122"/>
              </a:rPr>
              <a:t>二，代表了一国经济中的</a:t>
            </a:r>
            <a:r>
              <a:rPr lang="zh-CN" altLang="en-US" sz="2400">
                <a:solidFill>
                  <a:srgbClr val="FF0000"/>
                </a:solidFill>
                <a:latin typeface="微软雅黑" panose="020B0503020204020204" pitchFamily="34" charset="-122"/>
                <a:ea typeface="微软雅黑" panose="020B0503020204020204" pitchFamily="34" charset="-122"/>
              </a:rPr>
              <a:t>现实购买力</a:t>
            </a:r>
            <a:r>
              <a:rPr lang="zh-CN" altLang="en-US" sz="2400">
                <a:solidFill>
                  <a:srgbClr val="002060"/>
                </a:solidFill>
                <a:latin typeface="微软雅黑" panose="020B0503020204020204" pitchFamily="34" charset="-122"/>
                <a:ea typeface="微软雅黑" panose="020B0503020204020204" pitchFamily="34" charset="-122"/>
              </a:rPr>
              <a:t>，因此，对社会经济生活有着</a:t>
            </a:r>
            <a:r>
              <a:rPr lang="zh-CN" altLang="en-US" sz="2400">
                <a:solidFill>
                  <a:srgbClr val="FF0000"/>
                </a:solidFill>
                <a:latin typeface="微软雅黑" panose="020B0503020204020204" pitchFamily="34" charset="-122"/>
                <a:ea typeface="微软雅黑" panose="020B0503020204020204" pitchFamily="34" charset="-122"/>
              </a:rPr>
              <a:t>最广泛和最直接的影响</a:t>
            </a:r>
            <a:r>
              <a:rPr lang="zh-CN" altLang="en-US" sz="2400">
                <a:solidFill>
                  <a:srgbClr val="002060"/>
                </a:solidFill>
                <a:latin typeface="微软雅黑" panose="020B0503020204020204" pitchFamily="34" charset="-122"/>
                <a:ea typeface="微软雅黑" panose="020B0503020204020204" pitchFamily="34" charset="-122"/>
              </a:rPr>
              <a:t>。许多国家都把</a:t>
            </a:r>
            <a:r>
              <a:rPr lang="en-US" altLang="zh-CN" sz="2400">
                <a:solidFill>
                  <a:srgbClr val="002060"/>
                </a:solidFill>
                <a:latin typeface="微软雅黑" panose="020B0503020204020204" pitchFamily="34" charset="-122"/>
                <a:ea typeface="微软雅黑" panose="020B0503020204020204" pitchFamily="34" charset="-122"/>
              </a:rPr>
              <a:t>M1 </a:t>
            </a:r>
            <a:r>
              <a:rPr lang="zh-CN" altLang="en-US" sz="2400">
                <a:solidFill>
                  <a:srgbClr val="002060"/>
                </a:solidFill>
                <a:latin typeface="微软雅黑" panose="020B0503020204020204" pitchFamily="34" charset="-122"/>
                <a:ea typeface="微软雅黑" panose="020B0503020204020204" pitchFamily="34" charset="-122"/>
              </a:rPr>
              <a:t>作为调控货币供应量的主要对象</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smtClean="0">
              <a:solidFill>
                <a:srgbClr val="002060"/>
              </a:solidFill>
              <a:latin typeface="微软雅黑" panose="020B0503020204020204" pitchFamily="34" charset="-122"/>
              <a:ea typeface="微软雅黑" panose="020B0503020204020204" pitchFamily="34" charset="-122"/>
            </a:endParaRPr>
          </a:p>
        </p:txBody>
      </p:sp>
      <p:sp>
        <p:nvSpPr>
          <p:cNvPr id="9" name="Rectangle 4"/>
          <p:cNvSpPr txBox="1">
            <a:spLocks noChangeArrowheads="1"/>
          </p:cNvSpPr>
          <p:nvPr/>
        </p:nvSpPr>
        <p:spPr>
          <a:xfrm>
            <a:off x="539552" y="548680"/>
            <a:ext cx="8458200"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395536" y="1268760"/>
            <a:ext cx="8568952" cy="4752528"/>
          </a:xfrm>
          <a:prstGeom prst="rect">
            <a:avLst/>
          </a:prstGeom>
        </p:spPr>
        <p:txBody>
          <a:bodyPr vert="horz" lIns="91440" tIns="45720" rIns="91440" bIns="45720" rtlCol="0">
            <a:no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ts val="3600"/>
              </a:lnSpc>
              <a:buClr>
                <a:schemeClr val="tx2"/>
              </a:buClr>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货币</a:t>
            </a:r>
            <a:r>
              <a:rPr lang="zh-CN" altLang="en-US" sz="2400">
                <a:solidFill>
                  <a:srgbClr val="FF0000"/>
                </a:solidFill>
                <a:latin typeface="微软雅黑" panose="020B0503020204020204" pitchFamily="34" charset="-122"/>
                <a:ea typeface="微软雅黑" panose="020B0503020204020204" pitchFamily="34" charset="-122"/>
              </a:rPr>
              <a:t>供应量</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老大 </a:t>
            </a:r>
            <a:r>
              <a:rPr lang="en-US" altLang="zh-CN" sz="2400">
                <a:solidFill>
                  <a:srgbClr val="FF0000"/>
                </a:solidFill>
                <a:latin typeface="微软雅黑" panose="020B0503020204020204" pitchFamily="34" charset="-122"/>
                <a:ea typeface="微软雅黑" panose="020B0503020204020204" pitchFamily="34" charset="-122"/>
              </a:rPr>
              <a:t>M2</a:t>
            </a:r>
            <a:r>
              <a:rPr lang="zh-CN" altLang="en-US" sz="2400">
                <a:solidFill>
                  <a:srgbClr val="002060"/>
                </a:solidFill>
                <a:latin typeface="微软雅黑" panose="020B0503020204020204" pitchFamily="34" charset="-122"/>
                <a:ea typeface="微软雅黑" panose="020B0503020204020204" pitchFamily="34" charset="-122"/>
              </a:rPr>
              <a:t>，又叫“</a:t>
            </a:r>
            <a:r>
              <a:rPr lang="zh-CN" altLang="en-US" sz="2400">
                <a:solidFill>
                  <a:srgbClr val="FF0000"/>
                </a:solidFill>
                <a:latin typeface="微软雅黑" panose="020B0503020204020204" pitchFamily="34" charset="-122"/>
                <a:ea typeface="微软雅黑" panose="020B0503020204020204" pitchFamily="34" charset="-122"/>
              </a:rPr>
              <a:t>广义货币</a:t>
            </a:r>
            <a:r>
              <a:rPr lang="zh-CN" altLang="en-US" sz="2400">
                <a:solidFill>
                  <a:srgbClr val="002060"/>
                </a:solidFill>
                <a:latin typeface="微软雅黑" panose="020B0503020204020204" pitchFamily="34" charset="-122"/>
                <a:ea typeface="微软雅黑" panose="020B0503020204020204" pitchFamily="34" charset="-122"/>
              </a:rPr>
              <a:t>”，由流通于银行体系之外的</a:t>
            </a:r>
            <a:r>
              <a:rPr lang="zh-CN" altLang="en-US" sz="2400" smtClean="0">
                <a:solidFill>
                  <a:srgbClr val="FF0000"/>
                </a:solidFill>
                <a:latin typeface="微软雅黑" panose="020B0503020204020204" pitchFamily="34" charset="-122"/>
                <a:ea typeface="微软雅黑" panose="020B0503020204020204" pitchFamily="34" charset="-122"/>
              </a:rPr>
              <a:t>现钞</a:t>
            </a:r>
            <a:r>
              <a:rPr lang="zh-CN" altLang="en-US" sz="2400" smtClean="0">
                <a:solidFill>
                  <a:srgbClr val="002060"/>
                </a:solidFill>
                <a:latin typeface="微软雅黑" panose="020B0503020204020204" pitchFamily="34" charset="-122"/>
                <a:ea typeface="微软雅黑" panose="020B0503020204020204" pitchFamily="34" charset="-122"/>
              </a:rPr>
              <a:t>加</a:t>
            </a:r>
            <a:r>
              <a:rPr lang="zh-CN" altLang="en-US" sz="2400" smtClean="0">
                <a:solidFill>
                  <a:srgbClr val="FF0000"/>
                </a:solidFill>
                <a:latin typeface="微软雅黑" panose="020B0503020204020204" pitchFamily="34" charset="-122"/>
                <a:ea typeface="微软雅黑" panose="020B0503020204020204" pitchFamily="34" charset="-122"/>
              </a:rPr>
              <a:t>活期存款</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再加上</a:t>
            </a:r>
            <a:r>
              <a:rPr lang="zh-CN" altLang="en-US" sz="2400">
                <a:solidFill>
                  <a:srgbClr val="FF0000"/>
                </a:solidFill>
                <a:latin typeface="微软雅黑" panose="020B0503020204020204" pitchFamily="34" charset="-122"/>
                <a:ea typeface="微软雅黑" panose="020B0503020204020204" pitchFamily="34" charset="-122"/>
              </a:rPr>
              <a:t>定期存款</a:t>
            </a:r>
            <a:r>
              <a:rPr lang="zh-CN" altLang="en-US" sz="2400">
                <a:solidFill>
                  <a:srgbClr val="002060"/>
                </a:solidFill>
                <a:latin typeface="微软雅黑" panose="020B0503020204020204" pitchFamily="34" charset="-122"/>
                <a:ea typeface="微软雅黑" panose="020B0503020204020204" pitchFamily="34" charset="-122"/>
              </a:rPr>
              <a:t>、</a:t>
            </a:r>
            <a:r>
              <a:rPr lang="zh-CN" altLang="en-US" sz="2400">
                <a:solidFill>
                  <a:srgbClr val="FF0000"/>
                </a:solidFill>
                <a:latin typeface="微软雅黑" panose="020B0503020204020204" pitchFamily="34" charset="-122"/>
                <a:ea typeface="微软雅黑" panose="020B0503020204020204" pitchFamily="34" charset="-122"/>
              </a:rPr>
              <a:t>储蓄</a:t>
            </a:r>
            <a:r>
              <a:rPr lang="zh-CN" altLang="en-US" sz="2400" smtClean="0">
                <a:solidFill>
                  <a:srgbClr val="FF0000"/>
                </a:solidFill>
                <a:latin typeface="微软雅黑" panose="020B0503020204020204" pitchFamily="34" charset="-122"/>
                <a:ea typeface="微软雅黑" panose="020B0503020204020204" pitchFamily="34" charset="-122"/>
              </a:rPr>
              <a:t>存款、其他存款</a:t>
            </a:r>
            <a:r>
              <a:rPr lang="zh-CN" altLang="en-US" sz="2400" smtClean="0">
                <a:solidFill>
                  <a:srgbClr val="002060"/>
                </a:solidFill>
                <a:latin typeface="微软雅黑" panose="020B0503020204020204" pitchFamily="34" charset="-122"/>
                <a:ea typeface="微软雅黑" panose="020B0503020204020204" pitchFamily="34" charset="-122"/>
              </a:rPr>
              <a:t>等</a:t>
            </a:r>
            <a:r>
              <a:rPr lang="zh-CN" altLang="en-US" sz="2400">
                <a:solidFill>
                  <a:srgbClr val="002060"/>
                </a:solidFill>
                <a:latin typeface="微软雅黑" panose="020B0503020204020204" pitchFamily="34" charset="-122"/>
                <a:ea typeface="微软雅黑" panose="020B0503020204020204" pitchFamily="34" charset="-122"/>
              </a:rPr>
              <a:t>构成</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smtClean="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en-US" altLang="zh-CN" sz="2400" smtClean="0">
                <a:solidFill>
                  <a:srgbClr val="FF0000"/>
                </a:solidFill>
                <a:latin typeface="微软雅黑" panose="020B0503020204020204" pitchFamily="34" charset="-122"/>
                <a:ea typeface="微软雅黑" panose="020B0503020204020204" pitchFamily="34" charset="-122"/>
              </a:rPr>
              <a:t>M2</a:t>
            </a:r>
            <a:r>
              <a:rPr lang="zh-CN" altLang="en-US" sz="2400">
                <a:solidFill>
                  <a:srgbClr val="002060"/>
                </a:solidFill>
                <a:latin typeface="微软雅黑" panose="020B0503020204020204" pitchFamily="34" charset="-122"/>
                <a:ea typeface="微软雅黑" panose="020B0503020204020204" pitchFamily="34" charset="-122"/>
              </a:rPr>
              <a:t>是货币</a:t>
            </a:r>
            <a:r>
              <a:rPr lang="zh-CN" altLang="en-US" sz="2400" smtClean="0">
                <a:solidFill>
                  <a:srgbClr val="002060"/>
                </a:solidFill>
                <a:latin typeface="微软雅黑" panose="020B0503020204020204" pitchFamily="34" charset="-122"/>
                <a:ea typeface="微软雅黑" panose="020B0503020204020204" pitchFamily="34" charset="-122"/>
              </a:rPr>
              <a:t>家族老大</a:t>
            </a:r>
            <a:r>
              <a:rPr lang="zh-CN" altLang="en-US" sz="240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包括一切</a:t>
            </a:r>
            <a:r>
              <a:rPr lang="zh-CN" altLang="en-US" sz="2400">
                <a:solidFill>
                  <a:srgbClr val="002060"/>
                </a:solidFill>
                <a:latin typeface="微软雅黑" panose="020B0503020204020204" pitchFamily="34" charset="-122"/>
                <a:ea typeface="微软雅黑" panose="020B0503020204020204" pitchFamily="34" charset="-122"/>
              </a:rPr>
              <a:t>可能成为现实购买力的货币形式。定期存款、储蓄</a:t>
            </a:r>
            <a:r>
              <a:rPr lang="zh-CN" altLang="en-US" sz="2400" smtClean="0">
                <a:solidFill>
                  <a:srgbClr val="002060"/>
                </a:solidFill>
                <a:latin typeface="微软雅黑" panose="020B0503020204020204" pitchFamily="34" charset="-122"/>
                <a:ea typeface="微软雅黑" panose="020B0503020204020204" pitchFamily="34" charset="-122"/>
              </a:rPr>
              <a:t>存款、其他存款等</a:t>
            </a:r>
            <a:r>
              <a:rPr lang="zh-CN" altLang="en-US" sz="2400">
                <a:solidFill>
                  <a:srgbClr val="002060"/>
                </a:solidFill>
                <a:latin typeface="微软雅黑" panose="020B0503020204020204" pitchFamily="34" charset="-122"/>
                <a:ea typeface="微软雅黑" panose="020B0503020204020204" pitchFamily="34" charset="-122"/>
              </a:rPr>
              <a:t>不能直接变现，所以不能立即转变成</a:t>
            </a:r>
            <a:r>
              <a:rPr lang="zh-CN" altLang="en-US" sz="2400" smtClean="0">
                <a:solidFill>
                  <a:srgbClr val="002060"/>
                </a:solidFill>
                <a:latin typeface="微软雅黑" panose="020B0503020204020204" pitchFamily="34" charset="-122"/>
                <a:ea typeface="微软雅黑" panose="020B0503020204020204" pitchFamily="34" charset="-122"/>
              </a:rPr>
              <a:t>现实购买力</a:t>
            </a:r>
            <a:r>
              <a:rPr lang="zh-CN" altLang="en-US" sz="2400">
                <a:solidFill>
                  <a:srgbClr val="002060"/>
                </a:solidFill>
                <a:latin typeface="微软雅黑" panose="020B0503020204020204" pitchFamily="34" charset="-122"/>
                <a:ea typeface="微软雅黑" panose="020B0503020204020204" pitchFamily="34" charset="-122"/>
              </a:rPr>
              <a:t>，但经过</a:t>
            </a:r>
            <a:r>
              <a:rPr lang="zh-CN" altLang="en-US" sz="2400" smtClean="0">
                <a:solidFill>
                  <a:srgbClr val="002060"/>
                </a:solidFill>
                <a:latin typeface="微软雅黑" panose="020B0503020204020204" pitchFamily="34" charset="-122"/>
                <a:ea typeface="微软雅黑" panose="020B0503020204020204" pitchFamily="34" charset="-122"/>
              </a:rPr>
              <a:t>一定时间</a:t>
            </a:r>
            <a:r>
              <a:rPr lang="zh-CN" altLang="en-US" sz="2400">
                <a:solidFill>
                  <a:srgbClr val="002060"/>
                </a:solidFill>
                <a:latin typeface="微软雅黑" panose="020B0503020204020204" pitchFamily="34" charset="-122"/>
                <a:ea typeface="微软雅黑" panose="020B0503020204020204" pitchFamily="34" charset="-122"/>
              </a:rPr>
              <a:t>和手续后，也能够转变为购买力，因此，它们又叫做“</a:t>
            </a:r>
            <a:r>
              <a:rPr lang="zh-CN" altLang="en-US" sz="2400">
                <a:solidFill>
                  <a:srgbClr val="FF0000"/>
                </a:solidFill>
                <a:latin typeface="微软雅黑" panose="020B0503020204020204" pitchFamily="34" charset="-122"/>
                <a:ea typeface="微软雅黑" panose="020B0503020204020204" pitchFamily="34" charset="-122"/>
              </a:rPr>
              <a:t>准货币</a:t>
            </a:r>
            <a:r>
              <a:rPr lang="zh-CN" altLang="en-US" sz="2400">
                <a:solidFill>
                  <a:srgbClr val="002060"/>
                </a:solidFill>
                <a:latin typeface="微软雅黑" panose="020B0503020204020204" pitchFamily="34" charset="-122"/>
                <a:ea typeface="微软雅黑" panose="020B0503020204020204" pitchFamily="34" charset="-122"/>
              </a:rPr>
              <a:t>”。</a:t>
            </a:r>
            <a:endParaRPr lang="zh-CN" altLang="en-US" sz="2400">
              <a:solidFill>
                <a:srgbClr val="002060"/>
              </a:solidFill>
              <a:latin typeface="微软雅黑" panose="020B0503020204020204" pitchFamily="34" charset="-122"/>
              <a:ea typeface="微软雅黑" panose="020B0503020204020204" pitchFamily="34" charset="-122"/>
            </a:endParaRPr>
          </a:p>
          <a:p>
            <a:pPr lvl="1">
              <a:lnSpc>
                <a:spcPts val="3600"/>
              </a:lnSpc>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由于</a:t>
            </a:r>
            <a:r>
              <a:rPr lang="en-US" altLang="zh-CN" sz="2400">
                <a:solidFill>
                  <a:srgbClr val="FF0000"/>
                </a:solidFill>
                <a:latin typeface="微软雅黑" panose="020B0503020204020204" pitchFamily="34" charset="-122"/>
                <a:ea typeface="微软雅黑" panose="020B0503020204020204" pitchFamily="34" charset="-122"/>
              </a:rPr>
              <a:t>M2</a:t>
            </a:r>
            <a:r>
              <a:rPr lang="zh-CN" altLang="en-US" sz="2400">
                <a:solidFill>
                  <a:srgbClr val="002060"/>
                </a:solidFill>
                <a:latin typeface="微软雅黑" panose="020B0503020204020204" pitchFamily="34" charset="-122"/>
                <a:ea typeface="微软雅黑" panose="020B0503020204020204" pitchFamily="34" charset="-122"/>
              </a:rPr>
              <a:t>对研究</a:t>
            </a:r>
            <a:r>
              <a:rPr lang="zh-CN" altLang="en-US" sz="2400">
                <a:solidFill>
                  <a:srgbClr val="FF0000"/>
                </a:solidFill>
                <a:latin typeface="微软雅黑" panose="020B0503020204020204" pitchFamily="34" charset="-122"/>
                <a:ea typeface="微软雅黑" panose="020B0503020204020204" pitchFamily="34" charset="-122"/>
              </a:rPr>
              <a:t>货币流通的整体状况</a:t>
            </a:r>
            <a:r>
              <a:rPr lang="zh-CN" altLang="en-US" sz="2400">
                <a:solidFill>
                  <a:srgbClr val="002060"/>
                </a:solidFill>
                <a:latin typeface="微软雅黑" panose="020B0503020204020204" pitchFamily="34" charset="-122"/>
                <a:ea typeface="微软雅黑" panose="020B0503020204020204" pitchFamily="34" charset="-122"/>
              </a:rPr>
              <a:t>有着重要意义，近年来，很多国家开始把货币供应量的调控目标转向</a:t>
            </a:r>
            <a:r>
              <a:rPr lang="en-US" altLang="zh-CN" sz="2400" smtClean="0">
                <a:solidFill>
                  <a:srgbClr val="002060"/>
                </a:solidFill>
                <a:latin typeface="微软雅黑" panose="020B0503020204020204" pitchFamily="34" charset="-122"/>
                <a:ea typeface="微软雅黑" panose="020B0503020204020204" pitchFamily="34" charset="-122"/>
              </a:rPr>
              <a:t>M2</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smtClean="0">
              <a:solidFill>
                <a:srgbClr val="002060"/>
              </a:solidFill>
              <a:latin typeface="微软雅黑" panose="020B0503020204020204" pitchFamily="34" charset="-122"/>
              <a:ea typeface="微软雅黑" panose="020B0503020204020204" pitchFamily="34" charset="-122"/>
            </a:endParaRPr>
          </a:p>
        </p:txBody>
      </p:sp>
      <p:sp>
        <p:nvSpPr>
          <p:cNvPr id="9" name="Rectangle 4"/>
          <p:cNvSpPr txBox="1">
            <a:spLocks noChangeArrowheads="1"/>
          </p:cNvSpPr>
          <p:nvPr/>
        </p:nvSpPr>
        <p:spPr>
          <a:xfrm>
            <a:off x="539552" y="548680"/>
            <a:ext cx="8458200"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416670" y="1447740"/>
            <a:ext cx="8475809" cy="378146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chemeClr val="tx2"/>
              </a:buClr>
              <a:buFont typeface="Wingdings" panose="05000000000000000000" pitchFamily="2" charset="2"/>
              <a:buChar char="Ø"/>
            </a:pPr>
            <a:r>
              <a:rPr sz="2400" smtClean="0">
                <a:solidFill>
                  <a:srgbClr val="002060"/>
                </a:solidFill>
                <a:latin typeface="微软雅黑" panose="020B0503020204020204" pitchFamily="34" charset="-122"/>
                <a:ea typeface="微软雅黑" panose="020B0503020204020204" pitchFamily="34" charset="-122"/>
                <a:cs typeface="+mn-cs"/>
              </a:rPr>
              <a:t>目前中国人民银行公布的货币划分口径是</a:t>
            </a:r>
            <a:r>
              <a:rPr sz="2400" dirty="0">
                <a:solidFill>
                  <a:srgbClr val="002060"/>
                </a:solidFill>
                <a:latin typeface="微软雅黑" panose="020B0503020204020204" pitchFamily="34" charset="-122"/>
                <a:ea typeface="微软雅黑" panose="020B0503020204020204" pitchFamily="34" charset="-122"/>
                <a:cs typeface="+mn-cs"/>
              </a:rPr>
              <a:t>：</a:t>
            </a:r>
            <a:endParaRPr sz="2400" dirty="0">
              <a:solidFill>
                <a:srgbClr val="002060"/>
              </a:solidFill>
              <a:latin typeface="微软雅黑" panose="020B0503020204020204" pitchFamily="34" charset="-122"/>
              <a:ea typeface="微软雅黑" panose="020B0503020204020204" pitchFamily="34" charset="-122"/>
              <a:cs typeface="+mn-cs"/>
            </a:endParaRPr>
          </a:p>
          <a:p>
            <a:pPr lvl="1">
              <a:buClr>
                <a:schemeClr val="tx2"/>
              </a:buClr>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cs typeface="+mn-cs"/>
              </a:rPr>
              <a:t>M0：流通中现金；</a:t>
            </a:r>
            <a:endParaRPr sz="2400" dirty="0">
              <a:solidFill>
                <a:srgbClr val="002060"/>
              </a:solidFill>
              <a:latin typeface="微软雅黑" panose="020B0503020204020204" pitchFamily="34" charset="-122"/>
              <a:ea typeface="微软雅黑" panose="020B0503020204020204" pitchFamily="34" charset="-122"/>
              <a:cs typeface="+mn-cs"/>
            </a:endParaRPr>
          </a:p>
          <a:p>
            <a:pPr lvl="1">
              <a:buClr>
                <a:schemeClr val="tx2"/>
              </a:buClr>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cs typeface="+mn-cs"/>
              </a:rPr>
              <a:t>M1：M0+活期存款；</a:t>
            </a:r>
            <a:endParaRPr sz="2400" dirty="0">
              <a:solidFill>
                <a:srgbClr val="002060"/>
              </a:solidFill>
              <a:latin typeface="微软雅黑" panose="020B0503020204020204" pitchFamily="34" charset="-122"/>
              <a:ea typeface="微软雅黑" panose="020B0503020204020204" pitchFamily="34" charset="-122"/>
              <a:cs typeface="+mn-cs"/>
            </a:endParaRPr>
          </a:p>
          <a:p>
            <a:pPr lvl="1">
              <a:buClr>
                <a:schemeClr val="tx2"/>
              </a:buClr>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cs typeface="+mn-cs"/>
              </a:rPr>
              <a:t>M2：M1+准货币（</a:t>
            </a:r>
            <a:r>
              <a:rPr sz="2400">
                <a:solidFill>
                  <a:srgbClr val="002060"/>
                </a:solidFill>
                <a:latin typeface="微软雅黑" panose="020B0503020204020204" pitchFamily="34" charset="-122"/>
                <a:ea typeface="微软雅黑" panose="020B0503020204020204" pitchFamily="34" charset="-122"/>
                <a:cs typeface="+mn-cs"/>
              </a:rPr>
              <a:t>定期存款</a:t>
            </a:r>
            <a:r>
              <a:rPr sz="2400" smtClean="0">
                <a:solidFill>
                  <a:srgbClr val="002060"/>
                </a:solidFill>
                <a:latin typeface="微软雅黑" panose="020B0503020204020204" pitchFamily="34" charset="-122"/>
                <a:ea typeface="微软雅黑" panose="020B0503020204020204" pitchFamily="34" charset="-122"/>
                <a:cs typeface="+mn-cs"/>
              </a:rPr>
              <a:t>+储蓄存款</a:t>
            </a:r>
            <a:r>
              <a:rPr sz="2400" dirty="0">
                <a:solidFill>
                  <a:srgbClr val="002060"/>
                </a:solidFill>
                <a:latin typeface="微软雅黑" panose="020B0503020204020204" pitchFamily="34" charset="-122"/>
                <a:ea typeface="微软雅黑" panose="020B0503020204020204" pitchFamily="34" charset="-122"/>
                <a:cs typeface="+mn-cs"/>
              </a:rPr>
              <a:t>+其它存款）。</a:t>
            </a:r>
            <a:endParaRPr sz="2400" dirty="0">
              <a:solidFill>
                <a:srgbClr val="002060"/>
              </a:solidFill>
              <a:latin typeface="微软雅黑" panose="020B0503020204020204" pitchFamily="34" charset="-122"/>
              <a:ea typeface="微软雅黑" panose="020B0503020204020204" pitchFamily="34" charset="-122"/>
              <a:cs typeface="+mn-cs"/>
            </a:endParaRPr>
          </a:p>
          <a:p>
            <a:pPr>
              <a:buClr>
                <a:schemeClr val="tx2"/>
              </a:buClr>
              <a:buFont typeface="Wingdings" panose="05000000000000000000" pitchFamily="2" charset="2"/>
              <a:buChar char="Ø"/>
            </a:pPr>
            <a:r>
              <a:rPr sz="2400" dirty="0">
                <a:solidFill>
                  <a:srgbClr val="002060"/>
                </a:solidFill>
                <a:latin typeface="微软雅黑" panose="020B0503020204020204" pitchFamily="34" charset="-122"/>
                <a:ea typeface="微软雅黑" panose="020B0503020204020204" pitchFamily="34" charset="-122"/>
                <a:cs typeface="+mn-cs"/>
              </a:rPr>
              <a:t>我们一般所说的货币，</a:t>
            </a:r>
            <a:r>
              <a:rPr sz="2400" dirty="0">
                <a:solidFill>
                  <a:srgbClr val="FF0000"/>
                </a:solidFill>
                <a:latin typeface="微软雅黑" panose="020B0503020204020204" pitchFamily="34" charset="-122"/>
                <a:ea typeface="微软雅黑" panose="020B0503020204020204" pitchFamily="34" charset="-122"/>
                <a:cs typeface="+mn-cs"/>
              </a:rPr>
              <a:t>通常主要是指M1</a:t>
            </a:r>
            <a:r>
              <a:rPr sz="2400" dirty="0">
                <a:solidFill>
                  <a:srgbClr val="002060"/>
                </a:solidFill>
                <a:latin typeface="微软雅黑" panose="020B0503020204020204" pitchFamily="34" charset="-122"/>
                <a:ea typeface="微软雅黑" panose="020B0503020204020204" pitchFamily="34" charset="-122"/>
                <a:cs typeface="+mn-cs"/>
              </a:rPr>
              <a:t>，即流通中的现金</a:t>
            </a:r>
            <a:r>
              <a:rPr sz="2400">
                <a:solidFill>
                  <a:srgbClr val="002060"/>
                </a:solidFill>
                <a:latin typeface="微软雅黑" panose="020B0503020204020204" pitchFamily="34" charset="-122"/>
                <a:ea typeface="微软雅黑" panose="020B0503020204020204" pitchFamily="34" charset="-122"/>
                <a:cs typeface="+mn-cs"/>
              </a:rPr>
              <a:t>+</a:t>
            </a:r>
            <a:r>
              <a:rPr sz="2400" smtClean="0">
                <a:solidFill>
                  <a:srgbClr val="002060"/>
                </a:solidFill>
                <a:latin typeface="微软雅黑" panose="020B0503020204020204" pitchFamily="34" charset="-122"/>
                <a:ea typeface="微软雅黑" panose="020B0503020204020204" pitchFamily="34" charset="-122"/>
                <a:cs typeface="+mn-cs"/>
              </a:rPr>
              <a:t>活期存款</a:t>
            </a:r>
            <a:endParaRPr sz="2400" dirty="0">
              <a:solidFill>
                <a:srgbClr val="002060"/>
              </a:solidFill>
              <a:latin typeface="微软雅黑" panose="020B0503020204020204" pitchFamily="34" charset="-122"/>
              <a:ea typeface="微软雅黑" panose="020B0503020204020204" pitchFamily="34" charset="-122"/>
              <a:cs typeface="+mn-cs"/>
            </a:endParaRPr>
          </a:p>
          <a:p>
            <a:pPr>
              <a:buClr>
                <a:schemeClr val="tx2"/>
              </a:buClr>
              <a:buFont typeface="Wingdings" panose="05000000000000000000" pitchFamily="2" charset="2"/>
              <a:buChar char="Ø"/>
            </a:pPr>
            <a:r>
              <a:rPr lang="en-US" altLang="zh-CN" sz="2400" smtClean="0">
                <a:solidFill>
                  <a:srgbClr val="002060"/>
                </a:solidFill>
                <a:latin typeface="微软雅黑" panose="020B0503020204020204" pitchFamily="34" charset="-122"/>
                <a:ea typeface="微软雅黑" panose="020B0503020204020204" pitchFamily="34" charset="-122"/>
              </a:rPr>
              <a:t>2020</a:t>
            </a:r>
            <a:r>
              <a:rPr lang="zh-CN" altLang="en-US" sz="2400">
                <a:solidFill>
                  <a:srgbClr val="002060"/>
                </a:solidFill>
                <a:latin typeface="微软雅黑" panose="020B0503020204020204" pitchFamily="34" charset="-122"/>
                <a:ea typeface="微软雅黑" panose="020B0503020204020204" pitchFamily="34" charset="-122"/>
              </a:rPr>
              <a:t>年</a:t>
            </a:r>
            <a:r>
              <a:rPr lang="en-US" altLang="zh-CN" sz="2400">
                <a:solidFill>
                  <a:srgbClr val="002060"/>
                </a:solidFill>
                <a:latin typeface="微软雅黑" panose="020B0503020204020204" pitchFamily="34" charset="-122"/>
                <a:ea typeface="微软雅黑" panose="020B0503020204020204" pitchFamily="34" charset="-122"/>
              </a:rPr>
              <a:t>12</a:t>
            </a:r>
            <a:r>
              <a:rPr lang="zh-CN" altLang="en-US" sz="2400" smtClean="0">
                <a:solidFill>
                  <a:srgbClr val="002060"/>
                </a:solidFill>
                <a:latin typeface="微软雅黑" panose="020B0503020204020204" pitchFamily="34" charset="-122"/>
                <a:ea typeface="微软雅黑" panose="020B0503020204020204" pitchFamily="34" charset="-122"/>
              </a:rPr>
              <a:t>月我国的货币</a:t>
            </a:r>
            <a:r>
              <a:rPr lang="zh-CN" altLang="en-US" sz="2400">
                <a:solidFill>
                  <a:srgbClr val="002060"/>
                </a:solidFill>
                <a:latin typeface="微软雅黑" panose="020B0503020204020204" pitchFamily="34" charset="-122"/>
                <a:ea typeface="微软雅黑" panose="020B0503020204020204" pitchFamily="34" charset="-122"/>
              </a:rPr>
              <a:t>供应量余额</a:t>
            </a:r>
            <a:r>
              <a:rPr lang="zh-CN" altLang="en-US" sz="2400" smtClean="0">
                <a:solidFill>
                  <a:srgbClr val="002060"/>
                </a:solidFill>
                <a:latin typeface="微软雅黑" panose="020B0503020204020204" pitchFamily="34" charset="-122"/>
                <a:ea typeface="微软雅黑" panose="020B0503020204020204" pitchFamily="34" charset="-122"/>
              </a:rPr>
              <a:t>：</a:t>
            </a:r>
            <a:r>
              <a:rPr lang="en-US" altLang="zh-CN" sz="2400" smtClean="0">
                <a:solidFill>
                  <a:srgbClr val="002060"/>
                </a:solidFill>
                <a:latin typeface="微软雅黑" panose="020B0503020204020204" pitchFamily="34" charset="-122"/>
                <a:ea typeface="微软雅黑" panose="020B0503020204020204" pitchFamily="34" charset="-122"/>
              </a:rPr>
              <a:t>M0=8.43</a:t>
            </a:r>
            <a:r>
              <a:rPr lang="zh-CN" altLang="en-US" sz="2400">
                <a:solidFill>
                  <a:srgbClr val="002060"/>
                </a:solidFill>
                <a:latin typeface="微软雅黑" panose="020B0503020204020204" pitchFamily="34" charset="-122"/>
                <a:ea typeface="微软雅黑" panose="020B0503020204020204" pitchFamily="34" charset="-122"/>
              </a:rPr>
              <a:t>万亿，</a:t>
            </a:r>
            <a:r>
              <a:rPr lang="en-US" altLang="zh-CN" sz="2400">
                <a:solidFill>
                  <a:srgbClr val="002060"/>
                </a:solidFill>
                <a:latin typeface="微软雅黑" panose="020B0503020204020204" pitchFamily="34" charset="-122"/>
                <a:ea typeface="微软雅黑" panose="020B0503020204020204" pitchFamily="34" charset="-122"/>
              </a:rPr>
              <a:t>M1=62.56</a:t>
            </a:r>
            <a:r>
              <a:rPr lang="zh-CN" altLang="en-US" sz="2400">
                <a:solidFill>
                  <a:srgbClr val="002060"/>
                </a:solidFill>
                <a:latin typeface="微软雅黑" panose="020B0503020204020204" pitchFamily="34" charset="-122"/>
                <a:ea typeface="微软雅黑" panose="020B0503020204020204" pitchFamily="34" charset="-122"/>
              </a:rPr>
              <a:t>万亿</a:t>
            </a:r>
            <a:r>
              <a:rPr lang="en-US" altLang="zh-CN" sz="2400">
                <a:solidFill>
                  <a:srgbClr val="002060"/>
                </a:solidFill>
                <a:latin typeface="微软雅黑" panose="020B0503020204020204" pitchFamily="34" charset="-122"/>
                <a:ea typeface="微软雅黑" panose="020B0503020204020204" pitchFamily="34" charset="-122"/>
              </a:rPr>
              <a:t>, M2=218.68</a:t>
            </a:r>
            <a:r>
              <a:rPr lang="zh-CN" altLang="en-US" sz="2400">
                <a:solidFill>
                  <a:srgbClr val="002060"/>
                </a:solidFill>
                <a:latin typeface="微软雅黑" panose="020B0503020204020204" pitchFamily="34" charset="-122"/>
                <a:ea typeface="微软雅黑" panose="020B0503020204020204" pitchFamily="34" charset="-122"/>
              </a:rPr>
              <a:t>万亿</a:t>
            </a:r>
            <a:r>
              <a:rPr lang="en-US" altLang="zh-CN" sz="2400">
                <a:solidFill>
                  <a:srgbClr val="002060"/>
                </a:solidFill>
                <a:latin typeface="微软雅黑" panose="020B0503020204020204" pitchFamily="34" charset="-122"/>
                <a:ea typeface="微软雅黑" panose="020B0503020204020204" pitchFamily="34" charset="-122"/>
              </a:rPr>
              <a:t>, GDP = 101.36</a:t>
            </a:r>
            <a:r>
              <a:rPr lang="zh-CN" altLang="en-US" sz="2400">
                <a:solidFill>
                  <a:srgbClr val="002060"/>
                </a:solidFill>
                <a:latin typeface="微软雅黑" panose="020B0503020204020204" pitchFamily="34" charset="-122"/>
                <a:ea typeface="微软雅黑" panose="020B0503020204020204" pitchFamily="34" charset="-122"/>
              </a:rPr>
              <a:t>万亿</a:t>
            </a:r>
            <a:endParaRPr lang="en-US" altLang="zh-CN" sz="2400">
              <a:solidFill>
                <a:srgbClr val="002060"/>
              </a:solidFill>
              <a:latin typeface="微软雅黑" panose="020B0503020204020204" pitchFamily="34" charset="-122"/>
              <a:ea typeface="微软雅黑" panose="020B0503020204020204" pitchFamily="34" charset="-122"/>
            </a:endParaRPr>
          </a:p>
          <a:p>
            <a:pPr>
              <a:buFont typeface="Wingdings" panose="05000000000000000000" pitchFamily="2" charset="2"/>
              <a:buChar char="Ø"/>
            </a:pPr>
            <a:endParaRPr sz="2400" dirty="0">
              <a:solidFill>
                <a:srgbClr val="002060"/>
              </a:solidFill>
              <a:latin typeface="思源黑体 CN Bold" panose="020B0800000000000000" pitchFamily="34" charset="-122"/>
              <a:ea typeface="思源黑体 CN Bold" panose="020B0800000000000000" pitchFamily="34" charset="-122"/>
              <a:cs typeface="+mn-cs"/>
            </a:endParaRPr>
          </a:p>
          <a:p>
            <a:pPr marL="0" indent="0">
              <a:spcBef>
                <a:spcPct val="15000"/>
              </a:spcBef>
              <a:buFont typeface="Wingdings" panose="05000000000000000000" pitchFamily="2" charset="2"/>
              <a:buNone/>
            </a:pPr>
            <a:endParaRPr lang="en-US" sz="2000" dirty="0">
              <a:ea typeface="思源黑体 CN Bold" panose="020B0800000000000000"/>
            </a:endParaRPr>
          </a:p>
        </p:txBody>
      </p:sp>
      <p:sp>
        <p:nvSpPr>
          <p:cNvPr id="9" name="Rectangle 4"/>
          <p:cNvSpPr txBox="1">
            <a:spLocks noChangeArrowheads="1"/>
          </p:cNvSpPr>
          <p:nvPr/>
        </p:nvSpPr>
        <p:spPr>
          <a:xfrm>
            <a:off x="539552" y="548680"/>
            <a:ext cx="8458200" cy="606077"/>
          </a:xfrm>
          <a:prstGeom prst="rect">
            <a:avLst/>
          </a:prstGeom>
          <a:noFill/>
        </p:spPr>
        <p:txBody>
          <a:bodyPr vert="horz" lIns="91440" tIns="45720" rIns="91440" bIns="0" rtlCol="0" anchor="b">
            <a:noAutofit/>
          </a:bodyPr>
          <a:lstStyle>
            <a:lvl1pPr algn="l" defTabSz="914400" rtl="0" eaLnBrk="1" latinLnBrk="0" hangingPunct="1">
              <a:spcBef>
                <a:spcPct val="0"/>
              </a:spcBef>
              <a:buNone/>
              <a:defRPr sz="3600" b="0" kern="120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rPr>
              <a:t>货币的定义</a:t>
            </a:r>
            <a:endParaRPr kumimoji="0" lang="en-US" altLang="zh-CN" sz="32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8" name="Rectangle 3"/>
          <p:cNvSpPr txBox="1">
            <a:spLocks noChangeArrowheads="1"/>
          </p:cNvSpPr>
          <p:nvPr/>
        </p:nvSpPr>
        <p:spPr>
          <a:xfrm>
            <a:off x="457200" y="1440422"/>
            <a:ext cx="8435280" cy="472488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ts val="3800"/>
              </a:lnSpc>
              <a:spcBef>
                <a:spcPct val="60000"/>
              </a:spcBef>
              <a:buClr>
                <a:schemeClr val="tx2"/>
              </a:buClr>
              <a:buFont typeface="Wingdings" panose="05000000000000000000" pitchFamily="2" charset="2"/>
              <a:buChar char="Ø"/>
            </a:pPr>
            <a:endParaRPr lang="zh-CN" altLang="en-US" sz="2400" dirty="0">
              <a:solidFill>
                <a:srgbClr val="002060"/>
              </a:solidFill>
              <a:latin typeface="微软雅黑" panose="020B0503020204020204" pitchFamily="34" charset="-122"/>
              <a:ea typeface="微软雅黑" panose="020B0503020204020204" pitchFamily="34" charset="-122"/>
              <a:cs typeface="+mn-cs"/>
            </a:endParaRPr>
          </a:p>
        </p:txBody>
      </p:sp>
      <p:sp>
        <p:nvSpPr>
          <p:cNvPr id="9" name="Rectangle 4"/>
          <p:cNvSpPr>
            <a:spLocks noGrp="1" noChangeArrowheads="1"/>
          </p:cNvSpPr>
          <p:nvPr>
            <p:ph type="title"/>
          </p:nvPr>
        </p:nvSpPr>
        <p:spPr>
          <a:xfrm>
            <a:off x="571471" y="381000"/>
            <a:ext cx="8458200" cy="606077"/>
          </a:xfrm>
          <a:noFill/>
        </p:spPr>
        <p:txBody>
          <a:bodyPr bIns="0" anchor="b">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smtClean="0">
                <a:ln>
                  <a:noFill/>
                </a:ln>
                <a:solidFill>
                  <a:srgbClr val="002060"/>
                </a:solidFill>
                <a:effectLst/>
                <a:uLnTx/>
                <a:uFillTx/>
                <a:latin typeface="华光中雅_CNKI" panose="02000500000000000000" pitchFamily="2" charset="-122"/>
                <a:ea typeface="华光中雅_CNKI" panose="02000500000000000000" pitchFamily="2" charset="-122"/>
                <a:cs typeface="Arial" panose="020B0604020202020204"/>
              </a:rPr>
              <a:t>中央银行</a:t>
            </a:r>
            <a:endParaRPr kumimoji="0" lang="en-US" altLang="zh-CN" sz="3700" b="0" i="0" u="none" strike="noStrike" kern="1200" cap="none" spc="0" normalizeH="0" baseline="0" noProof="0" dirty="0">
              <a:ln>
                <a:noFill/>
              </a:ln>
              <a:solidFill>
                <a:srgbClr val="006699"/>
              </a:solidFill>
              <a:effectLst/>
              <a:uLnTx/>
              <a:uFillTx/>
              <a:latin typeface="华光中雅_CNKI" panose="02000500000000000000" pitchFamily="2" charset="-122"/>
              <a:ea typeface="华光中雅_CNKI" panose="02000500000000000000" pitchFamily="2" charset="-122"/>
              <a:cs typeface="Arial" panose="020B0604020202020204"/>
            </a:endParaRPr>
          </a:p>
        </p:txBody>
      </p:sp>
      <p:sp>
        <p:nvSpPr>
          <p:cNvPr id="3" name="矩形 2"/>
          <p:cNvSpPr/>
          <p:nvPr/>
        </p:nvSpPr>
        <p:spPr>
          <a:xfrm>
            <a:off x="323528" y="1412776"/>
            <a:ext cx="8568953" cy="2862322"/>
          </a:xfrm>
          <a:prstGeom prst="rect">
            <a:avLst/>
          </a:prstGeom>
        </p:spPr>
        <p:txBody>
          <a:bodyPr wrap="square">
            <a:spAutoFit/>
          </a:bodyPr>
          <a:lstStyle/>
          <a:p>
            <a:pPr marL="342900" indent="-342900">
              <a:lnSpc>
                <a:spcPts val="3600"/>
              </a:lnSpc>
              <a:buClr>
                <a:schemeClr val="tx2"/>
              </a:buClr>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定义</a:t>
            </a:r>
            <a:r>
              <a:rPr lang="zh-CN" altLang="en-US" sz="2400" smtClean="0">
                <a:solidFill>
                  <a:srgbClr val="002060"/>
                </a:solidFill>
                <a:latin typeface="微软雅黑" panose="020B0503020204020204" pitchFamily="34" charset="-122"/>
                <a:ea typeface="微软雅黑" panose="020B0503020204020204" pitchFamily="34" charset="-122"/>
              </a:rPr>
              <a:t>：制定和执行</a:t>
            </a:r>
            <a:r>
              <a:rPr lang="zh-CN" altLang="en-US" sz="2400">
                <a:solidFill>
                  <a:srgbClr val="002060"/>
                </a:solidFill>
                <a:latin typeface="微软雅黑" panose="020B0503020204020204" pitchFamily="34" charset="-122"/>
                <a:ea typeface="微软雅黑" panose="020B0503020204020204" pitchFamily="34" charset="-122"/>
              </a:rPr>
              <a:t>国家</a:t>
            </a:r>
            <a:r>
              <a:rPr lang="zh-CN" altLang="en-US" sz="2400" smtClean="0">
                <a:solidFill>
                  <a:srgbClr val="002060"/>
                </a:solidFill>
                <a:latin typeface="微软雅黑" panose="020B0503020204020204" pitchFamily="34" charset="-122"/>
                <a:ea typeface="微软雅黑" panose="020B0503020204020204" pitchFamily="34" charset="-122"/>
              </a:rPr>
              <a:t>货币政策</a:t>
            </a:r>
            <a:r>
              <a:rPr lang="zh-CN" altLang="en-US" sz="2400">
                <a:solidFill>
                  <a:srgbClr val="002060"/>
                </a:solidFill>
                <a:latin typeface="微软雅黑" panose="020B0503020204020204" pitchFamily="34" charset="-122"/>
                <a:ea typeface="微软雅黑" panose="020B0503020204020204" pitchFamily="34" charset="-122"/>
              </a:rPr>
              <a:t>、监督银行系统、</a:t>
            </a:r>
            <a:r>
              <a:rPr lang="zh-CN" altLang="en-US" sz="2400">
                <a:solidFill>
                  <a:srgbClr val="FF0000"/>
                </a:solidFill>
                <a:latin typeface="微软雅黑" panose="020B0503020204020204" pitchFamily="34" charset="-122"/>
                <a:ea typeface="微软雅黑" panose="020B0503020204020204" pitchFamily="34" charset="-122"/>
              </a:rPr>
              <a:t>调节货币供应量</a:t>
            </a:r>
            <a:r>
              <a:rPr lang="zh-CN" altLang="en-US" sz="2400">
                <a:solidFill>
                  <a:srgbClr val="002060"/>
                </a:solidFill>
                <a:latin typeface="微软雅黑" panose="020B0503020204020204" pitchFamily="34" charset="-122"/>
                <a:ea typeface="微软雅黑" panose="020B0503020204020204" pitchFamily="34" charset="-122"/>
              </a:rPr>
              <a:t>的</a:t>
            </a:r>
            <a:r>
              <a:rPr lang="zh-CN" altLang="en-US" sz="2400" smtClean="0">
                <a:solidFill>
                  <a:srgbClr val="002060"/>
                </a:solidFill>
                <a:latin typeface="微软雅黑" panose="020B0503020204020204" pitchFamily="34" charset="-122"/>
                <a:ea typeface="微软雅黑" panose="020B0503020204020204" pitchFamily="34" charset="-122"/>
              </a:rPr>
              <a:t>机构。</a:t>
            </a:r>
            <a:r>
              <a:rPr lang="zh-CN" altLang="en-US" sz="2400">
                <a:solidFill>
                  <a:srgbClr val="002060"/>
                </a:solidFill>
                <a:latin typeface="微软雅黑" panose="020B0503020204020204" pitchFamily="34" charset="-122"/>
                <a:ea typeface="微软雅黑" panose="020B0503020204020204" pitchFamily="34" charset="-122"/>
              </a:rPr>
              <a:t>中国人民银行（</a:t>
            </a:r>
            <a:r>
              <a:rPr lang="en-US" altLang="zh-CN" sz="2400">
                <a:solidFill>
                  <a:srgbClr val="002060"/>
                </a:solidFill>
                <a:latin typeface="微软雅黑" panose="020B0503020204020204" pitchFamily="34" charset="-122"/>
                <a:ea typeface="微软雅黑" panose="020B0503020204020204" pitchFamily="34" charset="-122"/>
              </a:rPr>
              <a:t>PBC</a:t>
            </a:r>
            <a:r>
              <a:rPr lang="zh-CN" altLang="en-US" sz="2400" smtClean="0">
                <a:solidFill>
                  <a:srgbClr val="002060"/>
                </a:solidFill>
                <a:latin typeface="微软雅黑" panose="020B0503020204020204" pitchFamily="34" charset="-122"/>
                <a:ea typeface="微软雅黑" panose="020B0503020204020204" pitchFamily="34" charset="-122"/>
              </a:rPr>
              <a:t>）、美</a:t>
            </a:r>
            <a:r>
              <a:rPr lang="zh-CN" altLang="en-US" sz="2400">
                <a:solidFill>
                  <a:srgbClr val="002060"/>
                </a:solidFill>
                <a:latin typeface="微软雅黑" panose="020B0503020204020204" pitchFamily="34" charset="-122"/>
                <a:ea typeface="微软雅黑" panose="020B0503020204020204" pitchFamily="34" charset="-122"/>
              </a:rPr>
              <a:t>联</a:t>
            </a:r>
            <a:r>
              <a:rPr lang="zh-CN" altLang="en-US" sz="2400" smtClean="0">
                <a:solidFill>
                  <a:srgbClr val="002060"/>
                </a:solidFill>
                <a:latin typeface="微软雅黑" panose="020B0503020204020204" pitchFamily="34" charset="-122"/>
                <a:ea typeface="微软雅黑" panose="020B0503020204020204" pitchFamily="34" charset="-122"/>
              </a:rPr>
              <a:t>储等。</a:t>
            </a:r>
            <a:endParaRPr lang="zh-CN" altLang="en-US" sz="2400">
              <a:solidFill>
                <a:srgbClr val="002060"/>
              </a:solidFill>
              <a:latin typeface="微软雅黑" panose="020B0503020204020204" pitchFamily="34" charset="-122"/>
              <a:ea typeface="微软雅黑" panose="020B0503020204020204" pitchFamily="34" charset="-122"/>
            </a:endParaRPr>
          </a:p>
          <a:p>
            <a:pPr marL="342900" indent="-342900">
              <a:lnSpc>
                <a:spcPts val="3600"/>
              </a:lnSpc>
              <a:buClr>
                <a:schemeClr val="tx2"/>
              </a:buClr>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货币</a:t>
            </a:r>
            <a:r>
              <a:rPr lang="zh-CN" altLang="en-US" sz="2400">
                <a:solidFill>
                  <a:srgbClr val="FF0000"/>
                </a:solidFill>
                <a:latin typeface="微软雅黑" panose="020B0503020204020204" pitchFamily="34" charset="-122"/>
                <a:ea typeface="微软雅黑" panose="020B0503020204020204" pitchFamily="34" charset="-122"/>
              </a:rPr>
              <a:t>政策</a:t>
            </a:r>
            <a:r>
              <a:rPr lang="zh-CN" altLang="en-US" sz="2400">
                <a:solidFill>
                  <a:srgbClr val="002060"/>
                </a:solidFill>
                <a:latin typeface="微软雅黑" panose="020B0503020204020204" pitchFamily="34" charset="-122"/>
                <a:ea typeface="微软雅黑" panose="020B0503020204020204" pitchFamily="34" charset="-122"/>
              </a:rPr>
              <a:t>：中央银行为实现其</a:t>
            </a:r>
            <a:r>
              <a:rPr lang="zh-CN" altLang="en-US" sz="2400" smtClean="0">
                <a:solidFill>
                  <a:srgbClr val="002060"/>
                </a:solidFill>
                <a:latin typeface="微软雅黑" panose="020B0503020204020204" pitchFamily="34" charset="-122"/>
                <a:ea typeface="微软雅黑" panose="020B0503020204020204" pitchFamily="34" charset="-122"/>
              </a:rPr>
              <a:t>特定经济目标，而</a:t>
            </a:r>
            <a:r>
              <a:rPr lang="zh-CN" altLang="en-US" sz="2400">
                <a:solidFill>
                  <a:srgbClr val="002060"/>
                </a:solidFill>
                <a:latin typeface="微软雅黑" panose="020B0503020204020204" pitchFamily="34" charset="-122"/>
                <a:ea typeface="微软雅黑" panose="020B0503020204020204" pitchFamily="34" charset="-122"/>
              </a:rPr>
              <a:t>采用的各种控制和调节货币</a:t>
            </a:r>
            <a:r>
              <a:rPr lang="zh-CN" altLang="en-US" sz="2400" smtClean="0">
                <a:solidFill>
                  <a:srgbClr val="002060"/>
                </a:solidFill>
                <a:latin typeface="微软雅黑" panose="020B0503020204020204" pitchFamily="34" charset="-122"/>
                <a:ea typeface="微软雅黑" panose="020B0503020204020204" pitchFamily="34" charset="-122"/>
              </a:rPr>
              <a:t>供应量的</a:t>
            </a:r>
            <a:r>
              <a:rPr lang="zh-CN" altLang="en-US" sz="2400">
                <a:solidFill>
                  <a:srgbClr val="002060"/>
                </a:solidFill>
                <a:latin typeface="微软雅黑" panose="020B0503020204020204" pitchFamily="34" charset="-122"/>
                <a:ea typeface="微软雅黑" panose="020B0503020204020204" pitchFamily="34" charset="-122"/>
              </a:rPr>
              <a:t>方针、政策和措施的总称</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smtClean="0">
              <a:solidFill>
                <a:srgbClr val="002060"/>
              </a:solidFill>
              <a:latin typeface="微软雅黑" panose="020B0503020204020204" pitchFamily="34" charset="-122"/>
              <a:ea typeface="微软雅黑" panose="020B0503020204020204" pitchFamily="34" charset="-122"/>
            </a:endParaRPr>
          </a:p>
          <a:p>
            <a:pPr marL="342900" indent="-342900">
              <a:lnSpc>
                <a:spcPts val="3600"/>
              </a:lnSpc>
              <a:buClr>
                <a:schemeClr val="tx2"/>
              </a:buClr>
              <a:buFont typeface="Wingdings" panose="05000000000000000000" pitchFamily="2" charset="2"/>
              <a:buChar char="Ø"/>
            </a:pPr>
            <a:r>
              <a:rPr lang="zh-CN" altLang="en-US" sz="2400" smtClean="0">
                <a:solidFill>
                  <a:srgbClr val="002060"/>
                </a:solidFill>
                <a:latin typeface="微软雅黑" panose="020B0503020204020204" pitchFamily="34" charset="-122"/>
                <a:ea typeface="微软雅黑" panose="020B0503020204020204" pitchFamily="34" charset="-122"/>
              </a:rPr>
              <a:t>货币</a:t>
            </a:r>
            <a:r>
              <a:rPr lang="zh-CN" altLang="en-US" sz="2400">
                <a:solidFill>
                  <a:srgbClr val="002060"/>
                </a:solidFill>
                <a:latin typeface="微软雅黑" panose="020B0503020204020204" pitchFamily="34" charset="-122"/>
                <a:ea typeface="微软雅黑" panose="020B0503020204020204" pitchFamily="34" charset="-122"/>
              </a:rPr>
              <a:t>政策的</a:t>
            </a:r>
            <a:r>
              <a:rPr lang="zh-CN" altLang="en-US" sz="2400" smtClean="0">
                <a:solidFill>
                  <a:srgbClr val="FF0000"/>
                </a:solidFill>
                <a:latin typeface="微软雅黑" panose="020B0503020204020204" pitchFamily="34" charset="-122"/>
                <a:ea typeface="微软雅黑" panose="020B0503020204020204" pitchFamily="34" charset="-122"/>
              </a:rPr>
              <a:t>实质</a:t>
            </a:r>
            <a:r>
              <a:rPr lang="zh-CN" altLang="en-US" sz="2400" smtClean="0">
                <a:solidFill>
                  <a:srgbClr val="002060"/>
                </a:solidFill>
                <a:latin typeface="微软雅黑" panose="020B0503020204020204" pitchFamily="34" charset="-122"/>
                <a:ea typeface="微软雅黑" panose="020B0503020204020204" pitchFamily="34" charset="-122"/>
              </a:rPr>
              <a:t>：国家</a:t>
            </a:r>
            <a:r>
              <a:rPr lang="zh-CN" altLang="en-US" sz="2400">
                <a:solidFill>
                  <a:srgbClr val="002060"/>
                </a:solidFill>
                <a:latin typeface="微软雅黑" panose="020B0503020204020204" pitchFamily="34" charset="-122"/>
                <a:ea typeface="微软雅黑" panose="020B0503020204020204" pitchFamily="34" charset="-122"/>
              </a:rPr>
              <a:t>对</a:t>
            </a:r>
            <a:r>
              <a:rPr lang="zh-CN" altLang="en-US" sz="2400" smtClean="0">
                <a:solidFill>
                  <a:srgbClr val="002060"/>
                </a:solidFill>
                <a:latin typeface="微软雅黑" panose="020B0503020204020204" pitchFamily="34" charset="-122"/>
                <a:ea typeface="微软雅黑" panose="020B0503020204020204" pitchFamily="34" charset="-122"/>
              </a:rPr>
              <a:t>货币供应量根据</a:t>
            </a:r>
            <a:r>
              <a:rPr lang="zh-CN" altLang="en-US" sz="2400">
                <a:solidFill>
                  <a:srgbClr val="002060"/>
                </a:solidFill>
                <a:latin typeface="微软雅黑" panose="020B0503020204020204" pitchFamily="34" charset="-122"/>
                <a:ea typeface="微软雅黑" panose="020B0503020204020204" pitchFamily="34" charset="-122"/>
              </a:rPr>
              <a:t>不同时期的经济发展情况而采取“</a:t>
            </a:r>
            <a:r>
              <a:rPr lang="zh-CN" altLang="en-US" sz="2400">
                <a:solidFill>
                  <a:srgbClr val="FF0000"/>
                </a:solidFill>
                <a:latin typeface="微软雅黑" panose="020B0503020204020204" pitchFamily="34" charset="-122"/>
                <a:ea typeface="微软雅黑" panose="020B0503020204020204" pitchFamily="34" charset="-122"/>
              </a:rPr>
              <a:t>紧</a:t>
            </a:r>
            <a:r>
              <a:rPr lang="zh-CN" altLang="en-US" sz="240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FF0000"/>
                </a:solidFill>
                <a:latin typeface="微软雅黑" panose="020B0503020204020204" pitchFamily="34" charset="-122"/>
                <a:ea typeface="微软雅黑" panose="020B0503020204020204" pitchFamily="34" charset="-122"/>
              </a:rPr>
              <a:t>松</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或“</a:t>
            </a:r>
            <a:r>
              <a:rPr lang="zh-CN" altLang="en-US" sz="2400">
                <a:solidFill>
                  <a:srgbClr val="FF0000"/>
                </a:solidFill>
                <a:latin typeface="微软雅黑" panose="020B0503020204020204" pitchFamily="34" charset="-122"/>
                <a:ea typeface="微软雅黑" panose="020B0503020204020204" pitchFamily="34" charset="-122"/>
              </a:rPr>
              <a:t>适度</a:t>
            </a:r>
            <a:r>
              <a:rPr lang="zh-CN" altLang="en-US" sz="2400">
                <a:solidFill>
                  <a:srgbClr val="002060"/>
                </a:solidFill>
                <a:latin typeface="微软雅黑" panose="020B0503020204020204" pitchFamily="34" charset="-122"/>
                <a:ea typeface="微软雅黑" panose="020B0503020204020204" pitchFamily="34" charset="-122"/>
              </a:rPr>
              <a:t>”等不同的政策</a:t>
            </a:r>
            <a:r>
              <a:rPr lang="zh-CN" altLang="en-US" sz="2400" smtClean="0">
                <a:solidFill>
                  <a:srgbClr val="002060"/>
                </a:solidFill>
                <a:latin typeface="微软雅黑" panose="020B0503020204020204" pitchFamily="34" charset="-122"/>
                <a:ea typeface="微软雅黑" panose="020B0503020204020204" pitchFamily="34" charset="-122"/>
              </a:rPr>
              <a:t>趋向。</a:t>
            </a:r>
            <a:endParaRPr lang="zh-CN" altLang="en-US" sz="240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4"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1139" name="Rectangle 3"/>
          <p:cNvSpPr>
            <a:spLocks noGrp="1" noChangeArrowheads="1"/>
          </p:cNvSpPr>
          <p:nvPr>
            <p:ph type="body" idx="4294967295"/>
          </p:nvPr>
        </p:nvSpPr>
        <p:spPr>
          <a:xfrm>
            <a:off x="179512" y="980728"/>
            <a:ext cx="8812924" cy="5616624"/>
          </a:xfrm>
        </p:spPr>
        <p:txBody>
          <a:bodyPr>
            <a:noAutofit/>
          </a:bodyPr>
          <a:lstStyle/>
          <a:p>
            <a:pPr marL="400050" lvl="1">
              <a:lnSpc>
                <a:spcPct val="105000"/>
              </a:lnSpc>
              <a:spcBef>
                <a:spcPct val="30000"/>
              </a:spcBef>
              <a:buClr>
                <a:schemeClr val="tx2"/>
              </a:buClr>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中国人民银行</a:t>
            </a:r>
            <a:endParaRPr lang="en-US" sz="2400" smtClean="0">
              <a:solidFill>
                <a:srgbClr val="FF0000"/>
              </a:solidFill>
              <a:latin typeface="微软雅黑" panose="020B0503020204020204" pitchFamily="34" charset="-122"/>
              <a:ea typeface="微软雅黑" panose="020B0503020204020204" pitchFamily="34" charset="-122"/>
            </a:endParaRPr>
          </a:p>
          <a:p>
            <a:pPr marL="914400" lvl="2" indent="-342900">
              <a:lnSpc>
                <a:spcPct val="105000"/>
              </a:lnSpc>
              <a:spcBef>
                <a:spcPct val="30000"/>
              </a:spcBef>
              <a:buClr>
                <a:schemeClr val="tx2"/>
              </a:buClr>
              <a:buFont typeface="Wingdings" panose="05000000000000000000" pitchFamily="2" charset="2"/>
              <a:buChar char="u"/>
            </a:pPr>
            <a:r>
              <a:rPr sz="2400" smtClean="0">
                <a:solidFill>
                  <a:srgbClr val="FF0000"/>
                </a:solidFill>
                <a:latin typeface="微软雅黑" panose="020B0503020204020204" pitchFamily="34" charset="-122"/>
                <a:ea typeface="微软雅黑" panose="020B0503020204020204" pitchFamily="34" charset="-122"/>
              </a:rPr>
              <a:t>管理层</a:t>
            </a:r>
            <a:endParaRPr sz="2400" dirty="0">
              <a:solidFill>
                <a:srgbClr val="002060"/>
              </a:solidFill>
              <a:latin typeface="微软雅黑" panose="020B0503020204020204" pitchFamily="34" charset="-122"/>
              <a:ea typeface="微软雅黑" panose="020B0503020204020204" pitchFamily="34" charset="-122"/>
            </a:endParaRPr>
          </a:p>
          <a:p>
            <a:pPr marL="1314450" lvl="3" indent="-285750">
              <a:lnSpc>
                <a:spcPct val="105000"/>
              </a:lnSpc>
              <a:spcBef>
                <a:spcPct val="30000"/>
              </a:spcBef>
              <a:buClr>
                <a:schemeClr val="tx2"/>
              </a:buClr>
              <a:buFont typeface="Wingdings" panose="05000000000000000000" pitchFamily="2" charset="2"/>
              <a:buChar char="ü"/>
            </a:pPr>
            <a:r>
              <a:rPr lang="zh-CN" sz="2400">
                <a:solidFill>
                  <a:srgbClr val="002060"/>
                </a:solidFill>
                <a:latin typeface="微软雅黑" panose="020B0503020204020204" pitchFamily="34" charset="-122"/>
                <a:ea typeface="微软雅黑" panose="020B0503020204020204" pitchFamily="34" charset="-122"/>
              </a:rPr>
              <a:t>潘功胜</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中国人民银行</a:t>
            </a:r>
            <a:r>
              <a:rPr lang="zh-CN" sz="2400" smtClean="0">
                <a:solidFill>
                  <a:srgbClr val="002060"/>
                </a:solidFill>
                <a:latin typeface="微软雅黑" panose="020B0503020204020204" pitchFamily="34" charset="-122"/>
                <a:ea typeface="微软雅黑" panose="020B0503020204020204" pitchFamily="34" charset="-122"/>
              </a:rPr>
              <a:t>党委书记、</a:t>
            </a:r>
            <a:r>
              <a:rPr sz="2400" smtClean="0">
                <a:solidFill>
                  <a:srgbClr val="002060"/>
                </a:solidFill>
                <a:latin typeface="微软雅黑" panose="020B0503020204020204" pitchFamily="34" charset="-122"/>
                <a:ea typeface="微软雅黑" panose="020B0503020204020204" pitchFamily="34" charset="-122"/>
              </a:rPr>
              <a:t>行长</a:t>
            </a:r>
            <a:r>
              <a:rPr sz="2400" dirty="0">
                <a:solidFill>
                  <a:srgbClr val="002060"/>
                </a:solidFill>
                <a:latin typeface="微软雅黑" panose="020B0503020204020204" pitchFamily="34" charset="-122"/>
                <a:ea typeface="微软雅黑" panose="020B0503020204020204" pitchFamily="34" charset="-122"/>
              </a:rPr>
              <a:t>   </a:t>
            </a:r>
            <a:endParaRPr sz="2400" dirty="0">
              <a:solidFill>
                <a:srgbClr val="002060"/>
              </a:solidFill>
              <a:latin typeface="微软雅黑" panose="020B0503020204020204" pitchFamily="34" charset="-122"/>
              <a:ea typeface="微软雅黑" panose="020B0503020204020204" pitchFamily="34" charset="-122"/>
            </a:endParaRPr>
          </a:p>
          <a:p>
            <a:pPr marL="914400" lvl="2" indent="-342900">
              <a:lnSpc>
                <a:spcPct val="105000"/>
              </a:lnSpc>
              <a:spcBef>
                <a:spcPct val="30000"/>
              </a:spcBef>
              <a:buClr>
                <a:schemeClr val="tx2"/>
              </a:buClr>
              <a:buFont typeface="Wingdings" panose="05000000000000000000" pitchFamily="2" charset="2"/>
              <a:buChar char="u"/>
            </a:pPr>
            <a:r>
              <a:rPr sz="2400" smtClean="0">
                <a:solidFill>
                  <a:srgbClr val="FF0000"/>
                </a:solidFill>
                <a:latin typeface="微软雅黑" panose="020B0503020204020204" pitchFamily="34" charset="-122"/>
                <a:ea typeface="微软雅黑" panose="020B0503020204020204" pitchFamily="34" charset="-122"/>
              </a:rPr>
              <a:t>货币政策委员会</a:t>
            </a:r>
            <a:endParaRPr lang="en-US" sz="2400" smtClean="0">
              <a:solidFill>
                <a:srgbClr val="FF0000"/>
              </a:solidFill>
              <a:latin typeface="微软雅黑" panose="020B0503020204020204" pitchFamily="34" charset="-122"/>
              <a:ea typeface="微软雅黑" panose="020B0503020204020204" pitchFamily="34" charset="-122"/>
            </a:endParaRPr>
          </a:p>
          <a:p>
            <a:pPr marL="1314450" lvl="3" indent="-285750">
              <a:lnSpc>
                <a:spcPct val="125000"/>
              </a:lnSpc>
              <a:spcBef>
                <a:spcPct val="30000"/>
              </a:spcBef>
              <a:buClr>
                <a:schemeClr val="tx2"/>
              </a:buClr>
              <a:buFont typeface="Wingdings" panose="05000000000000000000" pitchFamily="2" charset="2"/>
              <a:buChar char="ü"/>
            </a:pPr>
            <a:r>
              <a:rPr lang="en-US" altLang="zh-CN" sz="2400" smtClean="0">
                <a:solidFill>
                  <a:srgbClr val="002060"/>
                </a:solidFill>
                <a:latin typeface="微软雅黑" panose="020B0503020204020204" pitchFamily="34" charset="-122"/>
                <a:ea typeface="微软雅黑" panose="020B0503020204020204" pitchFamily="34" charset="-122"/>
              </a:rPr>
              <a:t>1997</a:t>
            </a:r>
            <a:r>
              <a:rPr lang="zh-CN" altLang="en-US" sz="2400">
                <a:solidFill>
                  <a:srgbClr val="002060"/>
                </a:solidFill>
                <a:latin typeface="微软雅黑" panose="020B0503020204020204" pitchFamily="34" charset="-122"/>
                <a:ea typeface="微软雅黑" panose="020B0503020204020204" pitchFamily="34" charset="-122"/>
              </a:rPr>
              <a:t>年</a:t>
            </a:r>
            <a:r>
              <a:rPr lang="en-US" altLang="zh-CN" sz="2400">
                <a:solidFill>
                  <a:srgbClr val="002060"/>
                </a:solidFill>
                <a:latin typeface="微软雅黑" panose="020B0503020204020204" pitchFamily="34" charset="-122"/>
                <a:ea typeface="微软雅黑" panose="020B0503020204020204" pitchFamily="34" charset="-122"/>
              </a:rPr>
              <a:t>7</a:t>
            </a:r>
            <a:r>
              <a:rPr lang="zh-CN" altLang="en-US" sz="2400">
                <a:solidFill>
                  <a:srgbClr val="002060"/>
                </a:solidFill>
                <a:latin typeface="微软雅黑" panose="020B0503020204020204" pitchFamily="34" charset="-122"/>
                <a:ea typeface="微软雅黑" panose="020B0503020204020204" pitchFamily="34" charset="-122"/>
              </a:rPr>
              <a:t>月</a:t>
            </a:r>
            <a:r>
              <a:rPr lang="zh-CN" altLang="en-US" sz="2400" smtClean="0">
                <a:solidFill>
                  <a:srgbClr val="002060"/>
                </a:solidFill>
                <a:latin typeface="微软雅黑" panose="020B0503020204020204" pitchFamily="34" charset="-122"/>
                <a:ea typeface="微软雅黑" panose="020B0503020204020204" pitchFamily="34" charset="-122"/>
              </a:rPr>
              <a:t>成立。</a:t>
            </a:r>
            <a:endParaRPr lang="en-US" altLang="zh-CN" sz="2400" smtClean="0">
              <a:solidFill>
                <a:srgbClr val="002060"/>
              </a:solidFill>
              <a:latin typeface="微软雅黑" panose="020B0503020204020204" pitchFamily="34" charset="-122"/>
              <a:ea typeface="微软雅黑" panose="020B0503020204020204" pitchFamily="34" charset="-122"/>
            </a:endParaRPr>
          </a:p>
          <a:p>
            <a:pPr marL="1314450" lvl="3" indent="-285750">
              <a:lnSpc>
                <a:spcPct val="125000"/>
              </a:lnSpc>
              <a:spcBef>
                <a:spcPct val="30000"/>
              </a:spcBef>
              <a:buClr>
                <a:schemeClr val="tx2"/>
              </a:buClr>
              <a:buFont typeface="Wingdings" panose="05000000000000000000" pitchFamily="2" charset="2"/>
              <a:buChar char="ü"/>
            </a:pPr>
            <a:r>
              <a:rPr lang="zh-CN" altLang="en-US" sz="2400" smtClean="0">
                <a:solidFill>
                  <a:srgbClr val="002060"/>
                </a:solidFill>
                <a:latin typeface="微软雅黑" panose="020B0503020204020204" pitchFamily="34" charset="-122"/>
                <a:ea typeface="微软雅黑" panose="020B0503020204020204" pitchFamily="34" charset="-122"/>
              </a:rPr>
              <a:t>中国人民银行</a:t>
            </a:r>
            <a:r>
              <a:rPr lang="zh-CN" altLang="en-US" sz="2400">
                <a:solidFill>
                  <a:srgbClr val="002060"/>
                </a:solidFill>
                <a:latin typeface="微软雅黑" panose="020B0503020204020204" pitchFamily="34" charset="-122"/>
                <a:ea typeface="微软雅黑" panose="020B0503020204020204" pitchFamily="34" charset="-122"/>
              </a:rPr>
              <a:t>制定货币政策的</a:t>
            </a:r>
            <a:r>
              <a:rPr lang="zh-CN" altLang="en-US" sz="2400">
                <a:solidFill>
                  <a:srgbClr val="FF0000"/>
                </a:solidFill>
                <a:latin typeface="微软雅黑" panose="020B0503020204020204" pitchFamily="34" charset="-122"/>
                <a:ea typeface="微软雅黑" panose="020B0503020204020204" pitchFamily="34" charset="-122"/>
              </a:rPr>
              <a:t>咨询议事</a:t>
            </a:r>
            <a:r>
              <a:rPr lang="zh-CN" altLang="en-US" sz="2400" smtClean="0">
                <a:solidFill>
                  <a:srgbClr val="FF0000"/>
                </a:solidFill>
                <a:latin typeface="微软雅黑" panose="020B0503020204020204" pitchFamily="34" charset="-122"/>
                <a:ea typeface="微软雅黑" panose="020B0503020204020204" pitchFamily="34" charset="-122"/>
              </a:rPr>
              <a:t>机构</a:t>
            </a:r>
            <a:r>
              <a:rPr lang="zh-CN" altLang="en-US" sz="2400" smtClean="0">
                <a:solidFill>
                  <a:srgbClr val="002060"/>
                </a:solidFill>
                <a:latin typeface="微软雅黑" panose="020B0503020204020204" pitchFamily="34" charset="-122"/>
                <a:ea typeface="微软雅黑" panose="020B0503020204020204" pitchFamily="34" charset="-122"/>
              </a:rPr>
              <a:t>。</a:t>
            </a:r>
            <a:endParaRPr lang="zh-CN" altLang="en-US" sz="2400">
              <a:solidFill>
                <a:srgbClr val="002060"/>
              </a:solidFill>
              <a:latin typeface="微软雅黑" panose="020B0503020204020204" pitchFamily="34" charset="-122"/>
              <a:ea typeface="微软雅黑" panose="020B0503020204020204" pitchFamily="34" charset="-122"/>
            </a:endParaRPr>
          </a:p>
          <a:p>
            <a:pPr marL="1314450" lvl="3" indent="-285750">
              <a:lnSpc>
                <a:spcPct val="125000"/>
              </a:lnSpc>
              <a:spcBef>
                <a:spcPct val="30000"/>
              </a:spcBef>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货币</a:t>
            </a:r>
            <a:r>
              <a:rPr lang="zh-CN" altLang="en-US" sz="2400" smtClean="0">
                <a:solidFill>
                  <a:srgbClr val="002060"/>
                </a:solidFill>
                <a:latin typeface="微软雅黑" panose="020B0503020204020204" pitchFamily="34" charset="-122"/>
                <a:ea typeface="微软雅黑" panose="020B0503020204020204" pitchFamily="34" charset="-122"/>
              </a:rPr>
              <a:t>政策</a:t>
            </a:r>
            <a:r>
              <a:rPr lang="zh-CN" altLang="en-US" sz="2400" smtClean="0">
                <a:solidFill>
                  <a:srgbClr val="FF0000"/>
                </a:solidFill>
                <a:latin typeface="微软雅黑" panose="020B0503020204020204" pitchFamily="34" charset="-122"/>
                <a:ea typeface="微软雅黑" panose="020B0503020204020204" pitchFamily="34" charset="-122"/>
              </a:rPr>
              <a:t>主要工具</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公开市场业务、存款准备金、中央银行贷款、利率政策、常备借贷便利。</a:t>
            </a:r>
            <a:endParaRPr lang="zh-CN" altLang="en-US" sz="2400">
              <a:solidFill>
                <a:srgbClr val="002060"/>
              </a:solidFill>
              <a:latin typeface="微软雅黑" panose="020B0503020204020204" pitchFamily="34" charset="-122"/>
              <a:ea typeface="微软雅黑" panose="020B0503020204020204" pitchFamily="34" charset="-122"/>
            </a:endParaRPr>
          </a:p>
          <a:p>
            <a:pPr marL="1314450" lvl="3" indent="-285750">
              <a:lnSpc>
                <a:spcPct val="125000"/>
              </a:lnSpc>
              <a:spcBef>
                <a:spcPct val="30000"/>
              </a:spcBef>
              <a:buClr>
                <a:schemeClr val="tx2"/>
              </a:buClr>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主席：潘功</a:t>
            </a:r>
            <a:r>
              <a:rPr lang="zh-CN" altLang="en-US" sz="2400">
                <a:solidFill>
                  <a:srgbClr val="002060"/>
                </a:solidFill>
                <a:latin typeface="微软雅黑" panose="020B0503020204020204" pitchFamily="34" charset="-122"/>
                <a:ea typeface="微软雅黑" panose="020B0503020204020204" pitchFamily="34" charset="-122"/>
              </a:rPr>
              <a:t>胜。</a:t>
            </a:r>
            <a:endParaRPr lang="zh-CN" altLang="en-US" sz="2400">
              <a:solidFill>
                <a:srgbClr val="002060"/>
              </a:solidFill>
              <a:latin typeface="微软雅黑" panose="020B0503020204020204" pitchFamily="34" charset="-122"/>
              <a:ea typeface="微软雅黑" panose="020B0503020204020204" pitchFamily="34" charset="-122"/>
            </a:endParaRPr>
          </a:p>
          <a:p>
            <a:pPr marL="914400" lvl="2" indent="-342900">
              <a:lnSpc>
                <a:spcPct val="105000"/>
              </a:lnSpc>
              <a:spcBef>
                <a:spcPct val="30000"/>
              </a:spcBef>
              <a:buClr>
                <a:schemeClr val="tx2"/>
              </a:buClr>
              <a:buFont typeface="Wingdings" panose="05000000000000000000" pitchFamily="2" charset="2"/>
              <a:buChar char="u"/>
            </a:pPr>
            <a:endParaRPr sz="2200" dirty="0">
              <a:solidFill>
                <a:srgbClr val="FF0000"/>
              </a:solidFill>
              <a:latin typeface="微软雅黑" panose="020B0503020204020204" pitchFamily="34" charset="-122"/>
              <a:ea typeface="微软雅黑" panose="020B0503020204020204" pitchFamily="34" charset="-122"/>
            </a:endParaRPr>
          </a:p>
        </p:txBody>
      </p:sp>
      <p:sp>
        <p:nvSpPr>
          <p:cNvPr id="14343"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4"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883186"/>
            <a:ext cx="3960000" cy="36000"/>
          </a:xfrm>
          <a:prstGeom prst="rect">
            <a:avLst/>
          </a:prstGeom>
          <a:noFill/>
        </p:spPr>
      </p:pic>
      <p:sp>
        <p:nvSpPr>
          <p:cNvPr id="6" name="Rectangle 4"/>
          <p:cNvSpPr txBox="1">
            <a:spLocks noChangeArrowheads="1"/>
          </p:cNvSpPr>
          <p:nvPr/>
        </p:nvSpPr>
        <p:spPr>
          <a:xfrm>
            <a:off x="467544" y="188640"/>
            <a:ext cx="8458200" cy="606077"/>
          </a:xfrm>
          <a:prstGeom prst="rect">
            <a:avLst/>
          </a:prstGeom>
          <a:noFill/>
        </p:spPr>
        <p:txBody>
          <a:bodyPr bIns="0" anchor="b">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smtClean="0">
                <a:latin typeface="华光中雅_CNKI" panose="02000500000000000000" pitchFamily="2" charset="-122"/>
                <a:ea typeface="华光中雅_CNKI" panose="02000500000000000000" pitchFamily="2" charset="-122"/>
                <a:cs typeface="Arial" panose="020B0604020202020204"/>
              </a:rPr>
              <a:t>中央银行</a:t>
            </a:r>
            <a:endParaRPr lang="en-US" altLang="zh-CN" sz="3700" dirty="0">
              <a:solidFill>
                <a:srgbClr val="006699"/>
              </a:solidFill>
              <a:latin typeface="华光中雅_CNKI" panose="02000500000000000000" pitchFamily="2" charset="-122"/>
              <a:ea typeface="华光中雅_CNKI" panose="02000500000000000000" pitchFamily="2" charset="-122"/>
              <a:cs typeface="Arial" panose="020B0604020202020204"/>
            </a:endParaRPr>
          </a:p>
        </p:txBody>
      </p:sp>
    </p:spTree>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1139" name="Rectangle 3"/>
          <p:cNvSpPr>
            <a:spLocks noGrp="1" noChangeArrowheads="1"/>
          </p:cNvSpPr>
          <p:nvPr>
            <p:ph type="body" idx="4294967295"/>
          </p:nvPr>
        </p:nvSpPr>
        <p:spPr>
          <a:xfrm>
            <a:off x="179512" y="1052736"/>
            <a:ext cx="8812924" cy="5256584"/>
          </a:xfrm>
        </p:spPr>
        <p:txBody>
          <a:bodyPr>
            <a:noAutofit/>
          </a:bodyPr>
          <a:lstStyle/>
          <a:p>
            <a:pPr marL="457200" lvl="1" indent="-342900">
              <a:lnSpc>
                <a:spcPct val="105000"/>
              </a:lnSpc>
              <a:spcBef>
                <a:spcPct val="30000"/>
              </a:spcBef>
              <a:buClr>
                <a:schemeClr val="tx2"/>
              </a:buClr>
              <a:buFont typeface="Wingdings" panose="05000000000000000000" pitchFamily="2" charset="2"/>
              <a:buChar char="Ø"/>
            </a:pPr>
            <a:r>
              <a:rPr lang="zh-CN" altLang="en-US" sz="2400">
                <a:solidFill>
                  <a:srgbClr val="FF0000"/>
                </a:solidFill>
                <a:latin typeface="微软雅黑" panose="020B0503020204020204" pitchFamily="34" charset="-122"/>
                <a:ea typeface="微软雅黑" panose="020B0503020204020204" pitchFamily="34" charset="-122"/>
              </a:rPr>
              <a:t>中国人民银行</a:t>
            </a:r>
            <a:endParaRPr lang="en-US" altLang="zh-CN" sz="2400">
              <a:solidFill>
                <a:srgbClr val="FF0000"/>
              </a:solidFill>
              <a:latin typeface="微软雅黑" panose="020B0503020204020204" pitchFamily="34" charset="-122"/>
              <a:ea typeface="微软雅黑" panose="020B0503020204020204" pitchFamily="34" charset="-122"/>
            </a:endParaRPr>
          </a:p>
          <a:p>
            <a:pPr marL="857250" lvl="2" indent="-342900">
              <a:lnSpc>
                <a:spcPct val="105000"/>
              </a:lnSpc>
              <a:spcBef>
                <a:spcPct val="30000"/>
              </a:spcBef>
              <a:buClr>
                <a:schemeClr val="tx2"/>
              </a:buClr>
              <a:buFont typeface="Wingdings" panose="05000000000000000000" pitchFamily="2" charset="2"/>
              <a:buChar char="u"/>
            </a:pPr>
            <a:r>
              <a:rPr sz="2400" smtClean="0">
                <a:solidFill>
                  <a:srgbClr val="FF0000"/>
                </a:solidFill>
                <a:latin typeface="微软雅黑" panose="020B0503020204020204" pitchFamily="34" charset="-122"/>
                <a:ea typeface="微软雅黑" panose="020B0503020204020204" pitchFamily="34" charset="-122"/>
              </a:rPr>
              <a:t>各地分行</a:t>
            </a:r>
            <a:endParaRPr sz="2400" dirty="0">
              <a:solidFill>
                <a:srgbClr val="002060"/>
              </a:solidFill>
              <a:latin typeface="微软雅黑" panose="020B0503020204020204" pitchFamily="34" charset="-122"/>
              <a:ea typeface="微软雅黑" panose="020B0503020204020204" pitchFamily="34" charset="-122"/>
            </a:endParaRPr>
          </a:p>
          <a:p>
            <a:pPr marL="1314450" lvl="3" indent="-342900">
              <a:lnSpc>
                <a:spcPct val="105000"/>
              </a:lnSpc>
              <a:spcBef>
                <a:spcPct val="30000"/>
              </a:spcBef>
              <a:buClr>
                <a:schemeClr val="tx2"/>
              </a:buClr>
              <a:buFont typeface="Wingdings" panose="05000000000000000000" pitchFamily="2" charset="2"/>
              <a:buChar char="ü"/>
            </a:pPr>
            <a:r>
              <a:rPr sz="2200" dirty="0">
                <a:solidFill>
                  <a:srgbClr val="002060"/>
                </a:solidFill>
                <a:latin typeface="微软雅黑" panose="020B0503020204020204" pitchFamily="34" charset="-122"/>
                <a:ea typeface="微软雅黑" panose="020B0503020204020204" pitchFamily="34" charset="-122"/>
              </a:rPr>
              <a:t>北京（总部）、上海（地区总部）</a:t>
            </a:r>
            <a:endParaRPr sz="2200" dirty="0">
              <a:solidFill>
                <a:srgbClr val="002060"/>
              </a:solidFill>
              <a:latin typeface="微软雅黑" panose="020B0503020204020204" pitchFamily="34" charset="-122"/>
              <a:ea typeface="微软雅黑" panose="020B0503020204020204" pitchFamily="34" charset="-122"/>
            </a:endParaRPr>
          </a:p>
          <a:p>
            <a:pPr marL="1314450" lvl="3" indent="-342900">
              <a:lnSpc>
                <a:spcPct val="105000"/>
              </a:lnSpc>
              <a:spcBef>
                <a:spcPct val="30000"/>
              </a:spcBef>
              <a:buClr>
                <a:schemeClr val="tx2"/>
              </a:buClr>
              <a:buFont typeface="Wingdings" panose="05000000000000000000" pitchFamily="2" charset="2"/>
              <a:buChar char="ü"/>
            </a:pPr>
            <a:r>
              <a:rPr sz="2200" dirty="0">
                <a:solidFill>
                  <a:srgbClr val="002060"/>
                </a:solidFill>
                <a:latin typeface="微软雅黑" panose="020B0503020204020204" pitchFamily="34" charset="-122"/>
                <a:ea typeface="微软雅黑" panose="020B0503020204020204" pitchFamily="34" charset="-122"/>
              </a:rPr>
              <a:t>天津分行\沈阳分行\南京分行\济南分行\武汉分行\广州分行\成都分行\西安分行	</a:t>
            </a:r>
            <a:endParaRPr sz="2200" dirty="0">
              <a:solidFill>
                <a:srgbClr val="002060"/>
              </a:solidFill>
              <a:latin typeface="微软雅黑" panose="020B0503020204020204" pitchFamily="34" charset="-122"/>
              <a:ea typeface="微软雅黑" panose="020B0503020204020204" pitchFamily="34" charset="-122"/>
            </a:endParaRPr>
          </a:p>
          <a:p>
            <a:pPr marL="1314450" lvl="3" indent="-342900">
              <a:lnSpc>
                <a:spcPct val="125000"/>
              </a:lnSpc>
              <a:spcBef>
                <a:spcPct val="30000"/>
              </a:spcBef>
              <a:buClr>
                <a:schemeClr val="tx2"/>
              </a:buClr>
              <a:buFont typeface="Wingdings" panose="05000000000000000000" pitchFamily="2" charset="2"/>
              <a:buChar char="ü"/>
            </a:pPr>
            <a:r>
              <a:rPr sz="2200" dirty="0">
                <a:solidFill>
                  <a:srgbClr val="002060"/>
                </a:solidFill>
                <a:latin typeface="微软雅黑" panose="020B0503020204020204" pitchFamily="34" charset="-122"/>
                <a:ea typeface="微软雅黑" panose="020B0503020204020204" pitchFamily="34" charset="-122"/>
              </a:rPr>
              <a:t>重庆营业管理部\石家庄中心支行\太原中心支行\呼和浩特中心支行\长春中心支行\哈尔滨中心支行\杭州中心支行\福州中心支行\合肥中心支行\郑州中心支行\长沙中心支行\南昌中心支行\南宁中心支行\海口中心支行\昆明中心支行\贵阳中心支行\拉萨中心支行\兰州中心支行\西宁中心支行\银川中心支行\乌鲁木齐中心支行\深圳市中心支行\大连市中心支行\青岛市中心支行\宁波市中心支行\厦门市中心支行 </a:t>
            </a:r>
            <a:endParaRPr sz="2200" dirty="0">
              <a:solidFill>
                <a:srgbClr val="002060"/>
              </a:solidFill>
              <a:latin typeface="微软雅黑" panose="020B0503020204020204" pitchFamily="34" charset="-122"/>
              <a:ea typeface="微软雅黑" panose="020B0503020204020204" pitchFamily="34" charset="-122"/>
            </a:endParaRPr>
          </a:p>
          <a:p>
            <a:pPr marL="571500" lvl="2" indent="0">
              <a:lnSpc>
                <a:spcPct val="105000"/>
              </a:lnSpc>
              <a:spcBef>
                <a:spcPct val="30000"/>
              </a:spcBef>
              <a:buClr>
                <a:srgbClr val="008080"/>
              </a:buClr>
              <a:buNone/>
            </a:pPr>
            <a:endParaRPr sz="2400" dirty="0">
              <a:solidFill>
                <a:srgbClr val="002060"/>
              </a:solidFill>
              <a:latin typeface="思源黑体 CN Bold" panose="020B0800000000000000" pitchFamily="34" charset="-122"/>
              <a:ea typeface="思源黑体 CN Bold" panose="020B0800000000000000" pitchFamily="34" charset="-122"/>
            </a:endParaRPr>
          </a:p>
        </p:txBody>
      </p:sp>
      <p:sp>
        <p:nvSpPr>
          <p:cNvPr id="14343"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4"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883186"/>
            <a:ext cx="3960000" cy="36000"/>
          </a:xfrm>
          <a:prstGeom prst="rect">
            <a:avLst/>
          </a:prstGeom>
          <a:noFill/>
        </p:spPr>
      </p:pic>
      <p:sp>
        <p:nvSpPr>
          <p:cNvPr id="6" name="Rectangle 4"/>
          <p:cNvSpPr txBox="1">
            <a:spLocks noChangeArrowheads="1"/>
          </p:cNvSpPr>
          <p:nvPr/>
        </p:nvSpPr>
        <p:spPr>
          <a:xfrm>
            <a:off x="467544" y="188640"/>
            <a:ext cx="8458200" cy="606077"/>
          </a:xfrm>
          <a:prstGeom prst="rect">
            <a:avLst/>
          </a:prstGeom>
          <a:noFill/>
        </p:spPr>
        <p:txBody>
          <a:bodyPr bIns="0" anchor="b">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smtClean="0">
                <a:latin typeface="华光中雅_CNKI" panose="02000500000000000000" pitchFamily="2" charset="-122"/>
                <a:ea typeface="华光中雅_CNKI" panose="02000500000000000000" pitchFamily="2" charset="-122"/>
                <a:cs typeface="Arial" panose="020B0604020202020204"/>
              </a:rPr>
              <a:t>中央银行</a:t>
            </a:r>
            <a:endParaRPr lang="en-US" altLang="zh-CN" sz="3700" dirty="0">
              <a:solidFill>
                <a:srgbClr val="006699"/>
              </a:solidFill>
              <a:latin typeface="华光中雅_CNKI" panose="02000500000000000000" pitchFamily="2" charset="-122"/>
              <a:ea typeface="华光中雅_CNKI" panose="02000500000000000000" pitchFamily="2" charset="-122"/>
              <a:cs typeface="Arial" panose="020B0604020202020204"/>
            </a:endParaRPr>
          </a:p>
        </p:txBody>
      </p:sp>
    </p:spTree>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6" name="Rectangle 3"/>
          <p:cNvSpPr txBox="1">
            <a:spLocks noChangeArrowheads="1"/>
          </p:cNvSpPr>
          <p:nvPr/>
        </p:nvSpPr>
        <p:spPr>
          <a:xfrm>
            <a:off x="323528" y="1412776"/>
            <a:ext cx="8322743" cy="4824536"/>
          </a:xfrm>
          <a:prstGeom prst="rect">
            <a:avLst/>
          </a:prstGeom>
        </p:spPr>
        <p:txBody>
          <a:bodyPr vert="horz" lIns="91440" tIns="45720" rIns="91440" bIns="45720" rtlCol="0">
            <a:no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spcBef>
                <a:spcPct val="30000"/>
              </a:spcBef>
              <a:buClr>
                <a:schemeClr val="tx2"/>
              </a:buClr>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cs typeface="+mn-cs"/>
              </a:rPr>
              <a:t>美联储：</a:t>
            </a:r>
            <a:r>
              <a:rPr lang="zh-CN" altLang="en-US" sz="2400">
                <a:solidFill>
                  <a:srgbClr val="002060"/>
                </a:solidFill>
                <a:latin typeface="微软雅黑" panose="020B0503020204020204" pitchFamily="34" charset="-122"/>
                <a:ea typeface="微软雅黑" panose="020B0503020204020204" pitchFamily="34" charset="-122"/>
                <a:cs typeface="+mn-cs"/>
              </a:rPr>
              <a:t>美国联邦储备系统</a:t>
            </a:r>
            <a:endParaRPr lang="en-US" sz="2400">
              <a:solidFill>
                <a:srgbClr val="002060"/>
              </a:solidFill>
              <a:latin typeface="微软雅黑" panose="020B0503020204020204" pitchFamily="34" charset="-122"/>
              <a:ea typeface="微软雅黑" panose="020B0503020204020204" pitchFamily="34" charset="-122"/>
              <a:cs typeface="+mn-cs"/>
            </a:endParaRPr>
          </a:p>
          <a:p>
            <a:pPr>
              <a:lnSpc>
                <a:spcPct val="100000"/>
              </a:lnSpc>
              <a:spcBef>
                <a:spcPct val="30000"/>
              </a:spcBef>
              <a:buClr>
                <a:schemeClr val="tx2"/>
              </a:buClr>
              <a:buFont typeface="Wingdings" panose="05000000000000000000" pitchFamily="2" charset="2"/>
              <a:buChar char="Ø"/>
            </a:pPr>
            <a:r>
              <a:rPr sz="2400" smtClean="0">
                <a:solidFill>
                  <a:srgbClr val="002060"/>
                </a:solidFill>
                <a:latin typeface="微软雅黑" panose="020B0503020204020204" pitchFamily="34" charset="-122"/>
                <a:ea typeface="微软雅黑" panose="020B0503020204020204" pitchFamily="34" charset="-122"/>
                <a:cs typeface="+mn-cs"/>
              </a:rPr>
              <a:t>联邦储备</a:t>
            </a:r>
            <a:r>
              <a:rPr lang="zh-CN" altLang="en-US" sz="2400" smtClean="0">
                <a:solidFill>
                  <a:srgbClr val="002060"/>
                </a:solidFill>
                <a:latin typeface="微软雅黑" panose="020B0503020204020204" pitchFamily="34" charset="-122"/>
                <a:ea typeface="微软雅黑" panose="020B0503020204020204" pitchFamily="34" charset="-122"/>
                <a:cs typeface="+mn-cs"/>
              </a:rPr>
              <a:t>银行</a:t>
            </a:r>
            <a:r>
              <a:rPr sz="2400" smtClean="0">
                <a:solidFill>
                  <a:srgbClr val="002060"/>
                </a:solidFill>
                <a:latin typeface="微软雅黑" panose="020B0503020204020204" pitchFamily="34" charset="-122"/>
                <a:ea typeface="微软雅黑" panose="020B0503020204020204" pitchFamily="34" charset="-122"/>
                <a:cs typeface="+mn-cs"/>
              </a:rPr>
              <a:t>系统包括：</a:t>
            </a:r>
            <a:endParaRPr sz="2400" smtClean="0">
              <a:solidFill>
                <a:srgbClr val="002060"/>
              </a:solidFill>
              <a:latin typeface="微软雅黑" panose="020B0503020204020204" pitchFamily="34" charset="-122"/>
              <a:ea typeface="微软雅黑" panose="020B0503020204020204" pitchFamily="34" charset="-122"/>
              <a:cs typeface="+mn-cs"/>
            </a:endParaRPr>
          </a:p>
          <a:p>
            <a:pPr marL="914400" lvl="2" indent="-342900">
              <a:spcBef>
                <a:spcPct val="30000"/>
              </a:spcBef>
              <a:buClr>
                <a:schemeClr val="tx2"/>
              </a:buClr>
              <a:buFont typeface="Wingdings" panose="05000000000000000000" pitchFamily="2" charset="2"/>
              <a:buChar char="ü"/>
            </a:pPr>
            <a:r>
              <a:rPr lang="zh-CN" altLang="en-US" smtClean="0">
                <a:solidFill>
                  <a:srgbClr val="FF0000"/>
                </a:solidFill>
                <a:latin typeface="微软雅黑" panose="020B0503020204020204" pitchFamily="34" charset="-122"/>
                <a:ea typeface="微软雅黑" panose="020B0503020204020204" pitchFamily="34" charset="-122"/>
              </a:rPr>
              <a:t>董事会</a:t>
            </a:r>
            <a:r>
              <a:rPr lang="zh-CN" altLang="en-US" dirty="0">
                <a:solidFill>
                  <a:srgbClr val="FF0000"/>
                </a:solidFill>
                <a:latin typeface="微软雅黑" panose="020B0503020204020204" pitchFamily="34" charset="-122"/>
                <a:ea typeface="微软雅黑" panose="020B0503020204020204" pitchFamily="34" charset="-122"/>
              </a:rPr>
              <a:t>（</a:t>
            </a:r>
            <a:r>
              <a:rPr dirty="0">
                <a:solidFill>
                  <a:srgbClr val="FF0000"/>
                </a:solidFill>
                <a:latin typeface="微软雅黑" panose="020B0503020204020204" pitchFamily="34" charset="-122"/>
                <a:ea typeface="微软雅黑" panose="020B0503020204020204" pitchFamily="34" charset="-122"/>
                <a:cs typeface="+mn-cs"/>
              </a:rPr>
              <a:t>7</a:t>
            </a:r>
            <a:r>
              <a:rPr>
                <a:solidFill>
                  <a:srgbClr val="FF0000"/>
                </a:solidFill>
                <a:latin typeface="微软雅黑" panose="020B0503020204020204" pitchFamily="34" charset="-122"/>
                <a:ea typeface="微软雅黑" panose="020B0503020204020204" pitchFamily="34" charset="-122"/>
                <a:cs typeface="+mn-cs"/>
              </a:rPr>
              <a:t>名成员</a:t>
            </a:r>
            <a:r>
              <a:rPr lang="zh-CN" altLang="en-US" smtClean="0">
                <a:solidFill>
                  <a:srgbClr val="FF0000"/>
                </a:solidFill>
                <a:latin typeface="微软雅黑" panose="020B0503020204020204" pitchFamily="34" charset="-122"/>
                <a:ea typeface="微软雅黑" panose="020B0503020204020204" pitchFamily="34" charset="-122"/>
              </a:rPr>
              <a:t>）：</a:t>
            </a:r>
            <a:r>
              <a:rPr smtClean="0">
                <a:solidFill>
                  <a:srgbClr val="002060"/>
                </a:solidFill>
                <a:latin typeface="微软雅黑" panose="020B0503020204020204" pitchFamily="34" charset="-122"/>
                <a:ea typeface="微软雅黑" panose="020B0503020204020204" pitchFamily="34" charset="-122"/>
                <a:cs typeface="+mn-cs"/>
              </a:rPr>
              <a:t>位于华盛顿特区</a:t>
            </a:r>
            <a:r>
              <a:rPr dirty="0">
                <a:solidFill>
                  <a:srgbClr val="002060"/>
                </a:solidFill>
                <a:latin typeface="微软雅黑" panose="020B0503020204020204" pitchFamily="34" charset="-122"/>
                <a:ea typeface="微软雅黑" panose="020B0503020204020204" pitchFamily="34" charset="-122"/>
                <a:cs typeface="+mn-cs"/>
              </a:rPr>
              <a:t>。</a:t>
            </a:r>
            <a:endParaRPr dirty="0">
              <a:solidFill>
                <a:srgbClr val="002060"/>
              </a:solidFill>
              <a:latin typeface="微软雅黑" panose="020B0503020204020204" pitchFamily="34" charset="-122"/>
              <a:ea typeface="微软雅黑" panose="020B0503020204020204" pitchFamily="34" charset="-122"/>
              <a:cs typeface="+mn-cs"/>
            </a:endParaRPr>
          </a:p>
          <a:p>
            <a:pPr marL="914400" lvl="2" indent="-342900">
              <a:spcBef>
                <a:spcPct val="30000"/>
              </a:spcBef>
              <a:buClr>
                <a:schemeClr val="tx2"/>
              </a:buClr>
              <a:buFont typeface="Wingdings" panose="05000000000000000000" pitchFamily="2" charset="2"/>
              <a:buChar char="ü"/>
            </a:pPr>
            <a:r>
              <a:rPr lang="en-US" altLang="zh-CN" dirty="0">
                <a:solidFill>
                  <a:srgbClr val="FF0000"/>
                </a:solidFill>
                <a:latin typeface="微软雅黑" panose="020B0503020204020204" pitchFamily="34" charset="-122"/>
                <a:ea typeface="微软雅黑" panose="020B0503020204020204" pitchFamily="34" charset="-122"/>
              </a:rPr>
              <a:t>12</a:t>
            </a:r>
            <a:r>
              <a:rPr lang="zh-CN" altLang="en-US" dirty="0">
                <a:solidFill>
                  <a:srgbClr val="FF0000"/>
                </a:solidFill>
                <a:latin typeface="微软雅黑" panose="020B0503020204020204" pitchFamily="34" charset="-122"/>
                <a:ea typeface="微软雅黑" panose="020B0503020204020204" pitchFamily="34" charset="-122"/>
              </a:rPr>
              <a:t>家</a:t>
            </a:r>
            <a:r>
              <a:rPr lang="zh-CN" altLang="en-US">
                <a:solidFill>
                  <a:srgbClr val="FF0000"/>
                </a:solidFill>
                <a:latin typeface="微软雅黑" panose="020B0503020204020204" pitchFamily="34" charset="-122"/>
                <a:ea typeface="微软雅黑" panose="020B0503020204020204" pitchFamily="34" charset="-122"/>
              </a:rPr>
              <a:t>地区性</a:t>
            </a:r>
            <a:r>
              <a:rPr lang="zh-CN" altLang="en-US" smtClean="0">
                <a:solidFill>
                  <a:srgbClr val="FF0000"/>
                </a:solidFill>
                <a:latin typeface="微软雅黑" panose="020B0503020204020204" pitchFamily="34" charset="-122"/>
                <a:ea typeface="微软雅黑" panose="020B0503020204020204" pitchFamily="34" charset="-122"/>
              </a:rPr>
              <a:t>联邦银行：</a:t>
            </a:r>
            <a:r>
              <a:rPr smtClean="0">
                <a:solidFill>
                  <a:srgbClr val="002060"/>
                </a:solidFill>
                <a:latin typeface="微软雅黑" panose="020B0503020204020204" pitchFamily="34" charset="-122"/>
                <a:ea typeface="微软雅黑" panose="020B0503020204020204" pitchFamily="34" charset="-122"/>
                <a:cs typeface="+mn-cs"/>
              </a:rPr>
              <a:t>位于美国各地</a:t>
            </a:r>
            <a:r>
              <a:rPr dirty="0">
                <a:solidFill>
                  <a:srgbClr val="002060"/>
                </a:solidFill>
                <a:latin typeface="微软雅黑" panose="020B0503020204020204" pitchFamily="34" charset="-122"/>
                <a:ea typeface="微软雅黑" panose="020B0503020204020204" pitchFamily="34" charset="-122"/>
                <a:cs typeface="+mn-cs"/>
              </a:rPr>
              <a:t>。</a:t>
            </a:r>
            <a:endParaRPr dirty="0">
              <a:solidFill>
                <a:srgbClr val="002060"/>
              </a:solidFill>
              <a:latin typeface="微软雅黑" panose="020B0503020204020204" pitchFamily="34" charset="-122"/>
              <a:ea typeface="微软雅黑" panose="020B0503020204020204" pitchFamily="34" charset="-122"/>
              <a:cs typeface="+mn-cs"/>
            </a:endParaRPr>
          </a:p>
          <a:p>
            <a:pPr marL="914400" lvl="2" indent="-342900">
              <a:spcBef>
                <a:spcPct val="30000"/>
              </a:spcBef>
              <a:buClr>
                <a:schemeClr val="tx2"/>
              </a:buClr>
              <a:buFont typeface="Wingdings" panose="05000000000000000000" pitchFamily="2" charset="2"/>
              <a:buChar char="ü"/>
            </a:pPr>
            <a:r>
              <a:rPr lang="zh-CN" altLang="en-US" dirty="0">
                <a:solidFill>
                  <a:srgbClr val="FF0000"/>
                </a:solidFill>
                <a:latin typeface="微软雅黑" panose="020B0503020204020204" pitchFamily="34" charset="-122"/>
                <a:ea typeface="微软雅黑" panose="020B0503020204020204" pitchFamily="34" charset="-122"/>
              </a:rPr>
              <a:t>联邦公开市场委员会（</a:t>
            </a:r>
            <a:r>
              <a:rPr lang="en-US" altLang="zh-CN">
                <a:solidFill>
                  <a:srgbClr val="FF0000"/>
                </a:solidFill>
                <a:latin typeface="微软雅黑" panose="020B0503020204020204" pitchFamily="34" charset="-122"/>
                <a:ea typeface="微软雅黑" panose="020B0503020204020204" pitchFamily="34" charset="-122"/>
              </a:rPr>
              <a:t>FOMC</a:t>
            </a:r>
            <a:r>
              <a:rPr lang="zh-CN" altLang="en-US" smtClean="0">
                <a:solidFill>
                  <a:srgbClr val="FF0000"/>
                </a:solidFill>
                <a:latin typeface="微软雅黑" panose="020B0503020204020204" pitchFamily="34" charset="-122"/>
                <a:ea typeface="微软雅黑" panose="020B0503020204020204" pitchFamily="34" charset="-122"/>
              </a:rPr>
              <a:t>）：</a:t>
            </a:r>
            <a:r>
              <a:rPr lang="en-US" altLang="zh-CN" smtClean="0">
                <a:solidFill>
                  <a:srgbClr val="002060"/>
                </a:solidFill>
                <a:latin typeface="微软雅黑" panose="020B0503020204020204" pitchFamily="34" charset="-122"/>
                <a:ea typeface="微软雅黑" panose="020B0503020204020204" pitchFamily="34" charset="-122"/>
                <a:cs typeface="+mn-cs"/>
              </a:rPr>
              <a:t>12</a:t>
            </a:r>
            <a:r>
              <a:rPr lang="zh-CN" altLang="en-US">
                <a:solidFill>
                  <a:srgbClr val="002060"/>
                </a:solidFill>
                <a:latin typeface="微软雅黑" panose="020B0503020204020204" pitchFamily="34" charset="-122"/>
                <a:ea typeface="微软雅黑" panose="020B0503020204020204" pitchFamily="34" charset="-122"/>
                <a:cs typeface="+mn-cs"/>
              </a:rPr>
              <a:t>名委员组成，</a:t>
            </a:r>
            <a:r>
              <a:rPr lang="en-US" altLang="zh-CN">
                <a:solidFill>
                  <a:srgbClr val="002060"/>
                </a:solidFill>
                <a:latin typeface="微软雅黑" panose="020B0503020204020204" pitchFamily="34" charset="-122"/>
                <a:ea typeface="微软雅黑" panose="020B0503020204020204" pitchFamily="34" charset="-122"/>
                <a:cs typeface="+mn-cs"/>
              </a:rPr>
              <a:t>7</a:t>
            </a:r>
            <a:r>
              <a:rPr lang="zh-CN" altLang="en-US" smtClean="0">
                <a:solidFill>
                  <a:srgbClr val="002060"/>
                </a:solidFill>
                <a:latin typeface="微软雅黑" panose="020B0503020204020204" pitchFamily="34" charset="-122"/>
                <a:ea typeface="微软雅黑" panose="020B0503020204020204" pitchFamily="34" charset="-122"/>
                <a:cs typeface="+mn-cs"/>
              </a:rPr>
              <a:t>名董事会成员和</a:t>
            </a:r>
            <a:r>
              <a:rPr lang="zh-CN" altLang="en-US">
                <a:solidFill>
                  <a:srgbClr val="002060"/>
                </a:solidFill>
                <a:latin typeface="微软雅黑" panose="020B0503020204020204" pitchFamily="34" charset="-122"/>
                <a:ea typeface="微软雅黑" panose="020B0503020204020204" pitchFamily="34" charset="-122"/>
                <a:cs typeface="+mn-cs"/>
              </a:rPr>
              <a:t>纽约联邦储备银行行长占</a:t>
            </a:r>
            <a:r>
              <a:rPr lang="en-US" altLang="zh-CN">
                <a:solidFill>
                  <a:srgbClr val="002060"/>
                </a:solidFill>
                <a:latin typeface="微软雅黑" panose="020B0503020204020204" pitchFamily="34" charset="-122"/>
                <a:ea typeface="微软雅黑" panose="020B0503020204020204" pitchFamily="34" charset="-122"/>
                <a:cs typeface="+mn-cs"/>
              </a:rPr>
              <a:t>8</a:t>
            </a:r>
            <a:r>
              <a:rPr lang="zh-CN" altLang="en-US">
                <a:solidFill>
                  <a:srgbClr val="002060"/>
                </a:solidFill>
                <a:latin typeface="微软雅黑" panose="020B0503020204020204" pitchFamily="34" charset="-122"/>
                <a:ea typeface="微软雅黑" panose="020B0503020204020204" pitchFamily="34" charset="-122"/>
                <a:cs typeface="+mn-cs"/>
              </a:rPr>
              <a:t>个席位，另外</a:t>
            </a:r>
            <a:r>
              <a:rPr lang="en-US" altLang="zh-CN">
                <a:solidFill>
                  <a:srgbClr val="002060"/>
                </a:solidFill>
                <a:latin typeface="微软雅黑" panose="020B0503020204020204" pitchFamily="34" charset="-122"/>
                <a:ea typeface="微软雅黑" panose="020B0503020204020204" pitchFamily="34" charset="-122"/>
                <a:cs typeface="+mn-cs"/>
              </a:rPr>
              <a:t>4</a:t>
            </a:r>
            <a:r>
              <a:rPr lang="zh-CN" altLang="en-US">
                <a:solidFill>
                  <a:srgbClr val="002060"/>
                </a:solidFill>
                <a:latin typeface="微软雅黑" panose="020B0503020204020204" pitchFamily="34" charset="-122"/>
                <a:ea typeface="微软雅黑" panose="020B0503020204020204" pitchFamily="34" charset="-122"/>
                <a:cs typeface="+mn-cs"/>
              </a:rPr>
              <a:t>个</a:t>
            </a:r>
            <a:r>
              <a:rPr lang="zh-CN" altLang="en-US" smtClean="0">
                <a:solidFill>
                  <a:srgbClr val="002060"/>
                </a:solidFill>
                <a:latin typeface="微软雅黑" panose="020B0503020204020204" pitchFamily="34" charset="-122"/>
                <a:ea typeface="微软雅黑" panose="020B0503020204020204" pitchFamily="34" charset="-122"/>
                <a:cs typeface="+mn-cs"/>
              </a:rPr>
              <a:t>席位由</a:t>
            </a:r>
            <a:r>
              <a:rPr lang="zh-CN" altLang="en-US">
                <a:solidFill>
                  <a:srgbClr val="002060"/>
                </a:solidFill>
                <a:latin typeface="微软雅黑" panose="020B0503020204020204" pitchFamily="34" charset="-122"/>
                <a:ea typeface="微软雅黑" panose="020B0503020204020204" pitchFamily="34" charset="-122"/>
                <a:cs typeface="+mn-cs"/>
              </a:rPr>
              <a:t>其余</a:t>
            </a:r>
            <a:r>
              <a:rPr lang="en-US" altLang="zh-CN">
                <a:solidFill>
                  <a:srgbClr val="002060"/>
                </a:solidFill>
                <a:latin typeface="微软雅黑" panose="020B0503020204020204" pitchFamily="34" charset="-122"/>
                <a:ea typeface="微软雅黑" panose="020B0503020204020204" pitchFamily="34" charset="-122"/>
                <a:cs typeface="+mn-cs"/>
              </a:rPr>
              <a:t>11</a:t>
            </a:r>
            <a:r>
              <a:rPr lang="zh-CN" altLang="en-US">
                <a:solidFill>
                  <a:srgbClr val="002060"/>
                </a:solidFill>
                <a:latin typeface="微软雅黑" panose="020B0503020204020204" pitchFamily="34" charset="-122"/>
                <a:ea typeface="微软雅黑" panose="020B0503020204020204" pitchFamily="34" charset="-122"/>
                <a:cs typeface="+mn-cs"/>
              </a:rPr>
              <a:t>家联邦储备银行的行长轮流担任</a:t>
            </a:r>
            <a:r>
              <a:rPr lang="zh-CN" altLang="en-US" smtClean="0">
                <a:solidFill>
                  <a:srgbClr val="002060"/>
                </a:solidFill>
                <a:latin typeface="微软雅黑" panose="020B0503020204020204" pitchFamily="34" charset="-122"/>
                <a:ea typeface="微软雅黑" panose="020B0503020204020204" pitchFamily="34" charset="-122"/>
                <a:cs typeface="+mn-cs"/>
              </a:rPr>
              <a:t>。</a:t>
            </a:r>
            <a:endParaRPr lang="en-US" altLang="zh-CN" smtClean="0">
              <a:solidFill>
                <a:srgbClr val="002060"/>
              </a:solidFill>
              <a:latin typeface="微软雅黑" panose="020B0503020204020204" pitchFamily="34" charset="-122"/>
              <a:ea typeface="微软雅黑" panose="020B0503020204020204" pitchFamily="34" charset="-122"/>
              <a:cs typeface="+mn-cs"/>
            </a:endParaRPr>
          </a:p>
          <a:p>
            <a:pPr marL="914400" lvl="2" indent="-342900">
              <a:spcBef>
                <a:spcPct val="30000"/>
              </a:spcBef>
              <a:buClr>
                <a:schemeClr val="tx2"/>
              </a:buClr>
              <a:buFont typeface="Wingdings" panose="05000000000000000000" pitchFamily="2" charset="2"/>
              <a:buChar char="ü"/>
            </a:pPr>
            <a:r>
              <a:rPr lang="en-US" altLang="zh-CN">
                <a:solidFill>
                  <a:srgbClr val="FF0000"/>
                </a:solidFill>
                <a:latin typeface="微软雅黑" panose="020B0503020204020204" pitchFamily="34" charset="-122"/>
                <a:ea typeface="微软雅黑" panose="020B0503020204020204" pitchFamily="34" charset="-122"/>
                <a:cs typeface="+mn-cs"/>
              </a:rPr>
              <a:t>FOMC</a:t>
            </a:r>
            <a:r>
              <a:rPr lang="zh-CN" altLang="en-US">
                <a:solidFill>
                  <a:srgbClr val="002060"/>
                </a:solidFill>
                <a:latin typeface="微软雅黑" panose="020B0503020204020204" pitchFamily="34" charset="-122"/>
                <a:ea typeface="微软雅黑" panose="020B0503020204020204" pitchFamily="34" charset="-122"/>
                <a:cs typeface="+mn-cs"/>
              </a:rPr>
              <a:t>决议和执行</a:t>
            </a:r>
            <a:r>
              <a:rPr lang="zh-CN" altLang="en-US">
                <a:solidFill>
                  <a:srgbClr val="FF0000"/>
                </a:solidFill>
                <a:latin typeface="微软雅黑" panose="020B0503020204020204" pitchFamily="34" charset="-122"/>
                <a:ea typeface="微软雅黑" panose="020B0503020204020204" pitchFamily="34" charset="-122"/>
                <a:cs typeface="+mn-cs"/>
              </a:rPr>
              <a:t>公开市场操作</a:t>
            </a:r>
            <a:r>
              <a:rPr lang="zh-CN" altLang="en-US">
                <a:solidFill>
                  <a:srgbClr val="002060"/>
                </a:solidFill>
                <a:latin typeface="微软雅黑" panose="020B0503020204020204" pitchFamily="34" charset="-122"/>
                <a:ea typeface="微软雅黑" panose="020B0503020204020204" pitchFamily="34" charset="-122"/>
                <a:cs typeface="+mn-cs"/>
              </a:rPr>
              <a:t>，是联储体系中最重要的部门。</a:t>
            </a:r>
            <a:r>
              <a:rPr lang="zh-CN" altLang="en-US" smtClean="0">
                <a:solidFill>
                  <a:srgbClr val="002060"/>
                </a:solidFill>
                <a:latin typeface="微软雅黑" panose="020B0503020204020204" pitchFamily="34" charset="-122"/>
                <a:ea typeface="微软雅黑" panose="020B0503020204020204" pitchFamily="34" charset="-122"/>
                <a:cs typeface="+mn-cs"/>
              </a:rPr>
              <a:t>每年开</a:t>
            </a:r>
            <a:r>
              <a:rPr lang="zh-CN" altLang="en-US">
                <a:solidFill>
                  <a:srgbClr val="002060"/>
                </a:solidFill>
                <a:latin typeface="微软雅黑" panose="020B0503020204020204" pitchFamily="34" charset="-122"/>
                <a:ea typeface="微软雅黑" panose="020B0503020204020204" pitchFamily="34" charset="-122"/>
                <a:cs typeface="+mn-cs"/>
              </a:rPr>
              <a:t>八次会议，每六周一次</a:t>
            </a:r>
            <a:r>
              <a:rPr>
                <a:solidFill>
                  <a:srgbClr val="002060"/>
                </a:solidFill>
                <a:latin typeface="微软雅黑" panose="020B0503020204020204" pitchFamily="34" charset="-122"/>
                <a:ea typeface="微软雅黑" panose="020B0503020204020204" pitchFamily="34" charset="-122"/>
                <a:cs typeface="+mn-cs"/>
              </a:rPr>
              <a:t>。</a:t>
            </a:r>
            <a:endParaRPr lang="en-US">
              <a:solidFill>
                <a:srgbClr val="002060"/>
              </a:solidFill>
              <a:latin typeface="微软雅黑" panose="020B0503020204020204" pitchFamily="34" charset="-122"/>
              <a:ea typeface="微软雅黑" panose="020B0503020204020204" pitchFamily="34" charset="-122"/>
              <a:cs typeface="+mn-cs"/>
            </a:endParaRPr>
          </a:p>
          <a:p>
            <a:pPr marL="914400" lvl="2" indent="-342900">
              <a:spcBef>
                <a:spcPct val="30000"/>
              </a:spcBef>
              <a:buClr>
                <a:schemeClr val="tx2"/>
              </a:buClr>
              <a:buFont typeface="Wingdings" panose="05000000000000000000" pitchFamily="2" charset="2"/>
              <a:buChar char="ü"/>
            </a:pPr>
            <a:r>
              <a:rPr lang="en-US" altLang="zh-CN" smtClean="0">
                <a:solidFill>
                  <a:srgbClr val="FF0000"/>
                </a:solidFill>
                <a:latin typeface="微软雅黑" panose="020B0503020204020204" pitchFamily="34" charset="-122"/>
                <a:ea typeface="微软雅黑" panose="020B0503020204020204" pitchFamily="34" charset="-122"/>
                <a:cs typeface="+mn-cs"/>
              </a:rPr>
              <a:t>FOMC</a:t>
            </a:r>
            <a:r>
              <a:rPr>
                <a:solidFill>
                  <a:srgbClr val="002060"/>
                </a:solidFill>
                <a:latin typeface="微软雅黑" panose="020B0503020204020204" pitchFamily="34" charset="-122"/>
                <a:ea typeface="微软雅黑" panose="020B0503020204020204" pitchFamily="34" charset="-122"/>
                <a:cs typeface="+mn-cs"/>
              </a:rPr>
              <a:t>决定货币政策</a:t>
            </a:r>
            <a:r>
              <a:rPr dirty="0">
                <a:solidFill>
                  <a:srgbClr val="002060"/>
                </a:solidFill>
                <a:latin typeface="微软雅黑" panose="020B0503020204020204" pitchFamily="34" charset="-122"/>
                <a:ea typeface="微软雅黑" panose="020B0503020204020204" pitchFamily="34" charset="-122"/>
                <a:cs typeface="+mn-cs"/>
              </a:rPr>
              <a:t>。</a:t>
            </a:r>
            <a:endParaRPr dirty="0">
              <a:solidFill>
                <a:srgbClr val="002060"/>
              </a:solidFill>
              <a:latin typeface="微软雅黑" panose="020B0503020204020204" pitchFamily="34" charset="-122"/>
              <a:ea typeface="微软雅黑" panose="020B0503020204020204" pitchFamily="34" charset="-122"/>
              <a:cs typeface="+mn-cs"/>
            </a:endParaRPr>
          </a:p>
        </p:txBody>
      </p:sp>
      <p:sp>
        <p:nvSpPr>
          <p:cNvPr id="8" name="Rectangle 4"/>
          <p:cNvSpPr txBox="1">
            <a:spLocks noChangeArrowheads="1"/>
          </p:cNvSpPr>
          <p:nvPr/>
        </p:nvSpPr>
        <p:spPr>
          <a:xfrm>
            <a:off x="467544" y="692696"/>
            <a:ext cx="8458200" cy="606077"/>
          </a:xfrm>
          <a:prstGeom prst="rect">
            <a:avLst/>
          </a:prstGeom>
          <a:noFill/>
        </p:spPr>
        <p:txBody>
          <a:bodyPr bIns="0" anchor="b">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smtClean="0">
                <a:latin typeface="华光中雅_CNKI" panose="02000500000000000000" pitchFamily="2" charset="-122"/>
                <a:ea typeface="华光中雅_CNKI" panose="02000500000000000000" pitchFamily="2" charset="-122"/>
                <a:cs typeface="Arial" panose="020B0604020202020204"/>
              </a:rPr>
              <a:t>中央银行</a:t>
            </a:r>
            <a:endParaRPr lang="en-US" altLang="zh-CN" sz="3700" dirty="0">
              <a:solidFill>
                <a:srgbClr val="006699"/>
              </a:solidFill>
              <a:latin typeface="华光中雅_CNKI" panose="02000500000000000000" pitchFamily="2" charset="-122"/>
              <a:ea typeface="华光中雅_CNKI" panose="02000500000000000000" pitchFamily="2"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571471" y="1273711"/>
            <a:ext cx="3960000" cy="36000"/>
          </a:xfrm>
          <a:prstGeom prst="rect">
            <a:avLst/>
          </a:prstGeom>
          <a:noFill/>
        </p:spPr>
      </p:pic>
      <p:sp>
        <p:nvSpPr>
          <p:cNvPr id="8" name="标题 7"/>
          <p:cNvSpPr>
            <a:spLocks noGrp="1"/>
          </p:cNvSpPr>
          <p:nvPr>
            <p:ph type="title"/>
          </p:nvPr>
        </p:nvSpPr>
        <p:spPr>
          <a:xfrm>
            <a:off x="457200" y="553750"/>
            <a:ext cx="3466728" cy="584775"/>
          </a:xfrm>
          <a:prstGeom prst="rect">
            <a:avLst/>
          </a:prstGeom>
        </p:spPr>
        <p:txBody>
          <a:bodyPr wrap="square">
            <a:spAutoFit/>
          </a:bodyPr>
          <a:lstStyle/>
          <a:p>
            <a:r>
              <a:rPr lang="zh-CN" altLang="en-US" sz="3200" smtClean="0">
                <a:latin typeface="华光中雅_CNKI" panose="02000500000000000000" pitchFamily="2" charset="-122"/>
                <a:ea typeface="华光中雅_CNKI" panose="02000500000000000000" pitchFamily="2" charset="-122"/>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9" name="TextBox 16"/>
          <p:cNvSpPr txBox="1"/>
          <p:nvPr/>
        </p:nvSpPr>
        <p:spPr>
          <a:xfrm>
            <a:off x="395536" y="1268760"/>
            <a:ext cx="8487732" cy="3416320"/>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存款准备金</a:t>
            </a:r>
            <a:r>
              <a:rPr lang="zh-CN" altLang="en-US" sz="2400" smtClean="0">
                <a:solidFill>
                  <a:srgbClr val="002060"/>
                </a:solidFill>
                <a:latin typeface="微软雅黑" panose="020B0503020204020204" pitchFamily="34" charset="-122"/>
                <a:ea typeface="微软雅黑" panose="020B0503020204020204" pitchFamily="34" charset="-122"/>
              </a:rPr>
              <a:t>：商业</a:t>
            </a:r>
            <a:r>
              <a:rPr sz="2400" smtClean="0">
                <a:solidFill>
                  <a:srgbClr val="002060"/>
                </a:solidFill>
                <a:latin typeface="微软雅黑" panose="020B0503020204020204" pitchFamily="34" charset="-122"/>
                <a:ea typeface="微软雅黑" panose="020B0503020204020204" pitchFamily="34" charset="-122"/>
              </a:rPr>
              <a:t>银行保留一部分存款作为准备金</a:t>
            </a:r>
            <a:r>
              <a:rPr sz="2400" dirty="0">
                <a:solidFill>
                  <a:srgbClr val="002060"/>
                </a:solidFill>
                <a:latin typeface="微软雅黑" panose="020B0503020204020204" pitchFamily="34" charset="-122"/>
                <a:ea typeface="微软雅黑" panose="020B0503020204020204" pitchFamily="34" charset="-122"/>
              </a:rPr>
              <a:t>，其余部分用于发放贷款。</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Ø"/>
            </a:pPr>
            <a:r>
              <a:rPr sz="2400">
                <a:solidFill>
                  <a:srgbClr val="002060"/>
                </a:solidFill>
                <a:latin typeface="微软雅黑" panose="020B0503020204020204" pitchFamily="34" charset="-122"/>
                <a:ea typeface="微软雅黑" panose="020B0503020204020204" pitchFamily="34" charset="-122"/>
              </a:rPr>
              <a:t>中央银行制定</a:t>
            </a:r>
            <a:r>
              <a:rPr lang="zh-CN" altLang="en-US" sz="2400">
                <a:solidFill>
                  <a:srgbClr val="002060"/>
                </a:solidFill>
                <a:latin typeface="微软雅黑" panose="020B0503020204020204" pitchFamily="34" charset="-122"/>
                <a:ea typeface="微软雅黑" panose="020B0503020204020204" pitchFamily="34" charset="-122"/>
              </a:rPr>
              <a:t>存款</a:t>
            </a:r>
            <a:r>
              <a:rPr sz="2400">
                <a:solidFill>
                  <a:srgbClr val="002060"/>
                </a:solidFill>
                <a:latin typeface="微软雅黑" panose="020B0503020204020204" pitchFamily="34" charset="-122"/>
                <a:ea typeface="微软雅黑" panose="020B0503020204020204" pitchFamily="34" charset="-122"/>
              </a:rPr>
              <a:t>准备金</a:t>
            </a:r>
            <a:r>
              <a:rPr lang="zh-CN" sz="2400" smtClean="0">
                <a:solidFill>
                  <a:srgbClr val="FF0000"/>
                </a:solidFill>
                <a:latin typeface="微软雅黑" panose="020B0503020204020204" pitchFamily="34" charset="-122"/>
                <a:ea typeface="微软雅黑" panose="020B0503020204020204" pitchFamily="34" charset="-122"/>
              </a:rPr>
              <a:t>标准</a:t>
            </a:r>
            <a:r>
              <a:rPr lang="zh-CN" altLang="en-US" sz="2400" smtClean="0">
                <a:solidFill>
                  <a:srgbClr val="002060"/>
                </a:solidFill>
                <a:latin typeface="微软雅黑" panose="020B0503020204020204" pitchFamily="34" charset="-122"/>
                <a:ea typeface="微软雅黑" panose="020B0503020204020204" pitchFamily="34" charset="-122"/>
              </a:rPr>
              <a:t>：即</a:t>
            </a:r>
            <a:r>
              <a:rPr sz="2400" smtClean="0">
                <a:solidFill>
                  <a:srgbClr val="002060"/>
                </a:solidFill>
                <a:latin typeface="微软雅黑" panose="020B0503020204020204" pitchFamily="34" charset="-122"/>
                <a:ea typeface="微软雅黑" panose="020B0503020204020204" pitchFamily="34" charset="-122"/>
              </a:rPr>
              <a:t>银行必须针对存款持有的最低准备金数额的规定。如果</a:t>
            </a:r>
            <a:r>
              <a:rPr lang="zh-CN" altLang="en-US" sz="2400" smtClean="0">
                <a:solidFill>
                  <a:srgbClr val="002060"/>
                </a:solidFill>
                <a:latin typeface="微软雅黑" panose="020B0503020204020204" pitchFamily="34" charset="-122"/>
                <a:ea typeface="微软雅黑" panose="020B0503020204020204" pitchFamily="34" charset="-122"/>
              </a:rPr>
              <a:t>银行</a:t>
            </a:r>
            <a:r>
              <a:rPr sz="2400" smtClean="0">
                <a:solidFill>
                  <a:srgbClr val="002060"/>
                </a:solidFill>
                <a:latin typeface="微软雅黑" panose="020B0503020204020204" pitchFamily="34" charset="-122"/>
                <a:ea typeface="微软雅黑" panose="020B0503020204020204" pitchFamily="34" charset="-122"/>
              </a:rPr>
              <a:t>愿意</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银行可以持有超过此最低</a:t>
            </a:r>
            <a:r>
              <a:rPr lang="zh-CN" altLang="en-US" sz="2400" smtClean="0">
                <a:solidFill>
                  <a:srgbClr val="002060"/>
                </a:solidFill>
                <a:latin typeface="微软雅黑" panose="020B0503020204020204" pitchFamily="34" charset="-122"/>
                <a:ea typeface="微软雅黑" panose="020B0503020204020204" pitchFamily="34" charset="-122"/>
              </a:rPr>
              <a:t>标准</a:t>
            </a:r>
            <a:r>
              <a:rPr sz="2400" smtClean="0">
                <a:solidFill>
                  <a:srgbClr val="002060"/>
                </a:solidFill>
                <a:latin typeface="微软雅黑" panose="020B0503020204020204" pitchFamily="34" charset="-122"/>
                <a:ea typeface="微软雅黑" panose="020B0503020204020204" pitchFamily="34" charset="-122"/>
              </a:rPr>
              <a:t>的金额</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存款</a:t>
            </a:r>
            <a:r>
              <a:rPr sz="2400" smtClean="0">
                <a:solidFill>
                  <a:srgbClr val="FF0000"/>
                </a:solidFill>
                <a:latin typeface="微软雅黑" panose="020B0503020204020204" pitchFamily="34" charset="-122"/>
                <a:ea typeface="微软雅黑" panose="020B0503020204020204" pitchFamily="34" charset="-122"/>
              </a:rPr>
              <a:t>准备金率</a:t>
            </a:r>
            <a:r>
              <a:rPr lang="zh-CN" altLang="en-US" sz="2400" smtClean="0">
                <a:solidFill>
                  <a:srgbClr val="FF0000"/>
                </a:solidFill>
                <a:latin typeface="微软雅黑" panose="020B0503020204020204" pitchFamily="34" charset="-122"/>
                <a:ea typeface="微软雅黑" panose="020B0503020204020204" pitchFamily="34" charset="-122"/>
              </a:rPr>
              <a:t>（</a:t>
            </a:r>
            <a:r>
              <a:rPr sz="2400" smtClean="0">
                <a:solidFill>
                  <a:srgbClr val="FF0000"/>
                </a:solidFill>
                <a:latin typeface="微软雅黑" panose="020B0503020204020204" pitchFamily="34" charset="-122"/>
                <a:ea typeface="微软雅黑" panose="020B0503020204020204" pitchFamily="34" charset="-122"/>
              </a:rPr>
              <a:t>R</a:t>
            </a:r>
            <a:r>
              <a:rPr lang="zh-CN" altLang="en-US" sz="2400" smtClean="0">
                <a:solidFill>
                  <a:srgbClr val="FF000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：等于</a:t>
            </a:r>
            <a:r>
              <a:rPr sz="2400" smtClean="0">
                <a:solidFill>
                  <a:srgbClr val="002060"/>
                </a:solidFill>
                <a:latin typeface="微软雅黑" panose="020B0503020204020204" pitchFamily="34" charset="-122"/>
                <a:ea typeface="微软雅黑" panose="020B0503020204020204" pitchFamily="34" charset="-122"/>
              </a:rPr>
              <a:t>总准备金占总存款的百分比</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409575" y="1172210"/>
            <a:ext cx="7746365" cy="4819781"/>
          </a:xfrm>
          <a:prstGeom prst="rect">
            <a:avLst/>
          </a:prstGeom>
          <a:noFill/>
        </p:spPr>
        <p:txBody>
          <a:bodyPr wrap="square" rtlCol="0">
            <a:spAutoFit/>
          </a:bodyPr>
          <a:lstStyle/>
          <a:p>
            <a:pPr marL="342900" indent="-342900" algn="l">
              <a:lnSpc>
                <a:spcPct val="160000"/>
              </a:lnSpc>
              <a:buFont typeface="Wingdings" panose="05000000000000000000" pitchFamily="2" charset="2"/>
              <a:buChar char="Ø"/>
            </a:pPr>
            <a:r>
              <a:rPr lang="zh-CN" altLang="en-US" sz="2400" smtClean="0">
                <a:solidFill>
                  <a:srgbClr val="002060"/>
                </a:solidFill>
                <a:latin typeface="微软雅黑" panose="020B0503020204020204" pitchFamily="34" charset="-122"/>
                <a:ea typeface="微软雅黑" panose="020B0503020204020204" pitchFamily="34" charset="-122"/>
              </a:rPr>
              <a:t>银行</a:t>
            </a:r>
            <a:r>
              <a:rPr sz="2400" smtClean="0">
                <a:solidFill>
                  <a:srgbClr val="002060"/>
                </a:solidFill>
                <a:latin typeface="微软雅黑" panose="020B0503020204020204" pitchFamily="34" charset="-122"/>
                <a:ea typeface="微软雅黑" panose="020B0503020204020204" pitchFamily="34" charset="-122"/>
              </a:rPr>
              <a:t>T</a:t>
            </a:r>
            <a:r>
              <a:rPr lang="zh-CN" sz="2400" dirty="0">
                <a:solidFill>
                  <a:srgbClr val="002060"/>
                </a:solidFill>
                <a:latin typeface="微软雅黑" panose="020B0503020204020204" pitchFamily="34" charset="-122"/>
                <a:ea typeface="微软雅黑" panose="020B0503020204020204" pitchFamily="34" charset="-122"/>
              </a:rPr>
              <a:t>型账户</a:t>
            </a:r>
            <a:r>
              <a:rPr sz="2400" dirty="0">
                <a:solidFill>
                  <a:srgbClr val="002060"/>
                </a:solidFill>
                <a:latin typeface="微软雅黑" panose="020B0503020204020204" pitchFamily="34" charset="-122"/>
                <a:ea typeface="微软雅黑" panose="020B0503020204020204" pitchFamily="34" charset="-122"/>
              </a:rPr>
              <a:t>：显示银行资产和负债的简化会计报表。</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60000"/>
              </a:lnSpc>
              <a:buFont typeface="Wingdings" panose="05000000000000000000" charset="0"/>
              <a:buChar char=""/>
            </a:pPr>
            <a:endParaRPr lang="zh-CN" sz="2400" dirty="0">
              <a:solidFill>
                <a:srgbClr val="002060"/>
              </a:solidFill>
              <a:latin typeface="思源黑体 CN Bold" panose="020B0800000000000000" pitchFamily="34" charset="-122"/>
              <a:ea typeface="思源黑体 CN Bold" panose="020B0800000000000000" pitchFamily="34" charset="-122"/>
            </a:endParaRPr>
          </a:p>
          <a:p>
            <a:pPr marL="342900" indent="-342900" algn="l">
              <a:lnSpc>
                <a:spcPct val="160000"/>
              </a:lnSpc>
              <a:buFont typeface="Wingdings" panose="05000000000000000000" charset="0"/>
              <a:buChar char=""/>
            </a:pPr>
            <a:endParaRPr lang="zh-CN" sz="2400" dirty="0">
              <a:solidFill>
                <a:srgbClr val="002060"/>
              </a:solidFill>
              <a:latin typeface="思源黑体 CN Bold" panose="020B0800000000000000" pitchFamily="34" charset="-122"/>
              <a:ea typeface="思源黑体 CN Bold" panose="020B0800000000000000" pitchFamily="34" charset="-122"/>
            </a:endParaRPr>
          </a:p>
          <a:p>
            <a:pPr marL="342900" indent="-342900" algn="l">
              <a:lnSpc>
                <a:spcPct val="160000"/>
              </a:lnSpc>
              <a:buFont typeface="Wingdings" panose="05000000000000000000" charset="0"/>
              <a:buChar char=""/>
            </a:pPr>
            <a:endParaRPr sz="2400" dirty="0">
              <a:solidFill>
                <a:srgbClr val="002060"/>
              </a:solidFill>
              <a:latin typeface="思源黑体 CN Bold" panose="020B0800000000000000" pitchFamily="34" charset="-122"/>
              <a:ea typeface="思源黑体 CN Bold" panose="020B0800000000000000" pitchFamily="34" charset="-122"/>
            </a:endParaRPr>
          </a:p>
          <a:p>
            <a:pPr marL="342900" indent="-342900" algn="l">
              <a:lnSpc>
                <a:spcPct val="160000"/>
              </a:lnSpc>
              <a:buFont typeface="Wingdings" panose="05000000000000000000" charset="0"/>
              <a:buChar char=""/>
            </a:pPr>
            <a:endParaRPr lang="en-US" sz="2400" smtClean="0">
              <a:solidFill>
                <a:srgbClr val="002060"/>
              </a:solidFill>
              <a:latin typeface="思源黑体 CN Bold" panose="020B0800000000000000" pitchFamily="34" charset="-122"/>
              <a:ea typeface="思源黑体 CN Bold" panose="020B0800000000000000"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银行</a:t>
            </a:r>
            <a:r>
              <a:rPr sz="2400" smtClean="0">
                <a:solidFill>
                  <a:srgbClr val="FF0000"/>
                </a:solidFill>
                <a:latin typeface="微软雅黑" panose="020B0503020204020204" pitchFamily="34" charset="-122"/>
                <a:ea typeface="微软雅黑" panose="020B0503020204020204" pitchFamily="34" charset="-122"/>
              </a:rPr>
              <a:t>负债</a:t>
            </a:r>
            <a:r>
              <a:rPr sz="2400" smtClean="0">
                <a:solidFill>
                  <a:srgbClr val="002060"/>
                </a:solidFill>
                <a:latin typeface="微软雅黑" panose="020B0503020204020204" pitchFamily="34" charset="-122"/>
                <a:ea typeface="微软雅黑" panose="020B0503020204020204" pitchFamily="34" charset="-122"/>
              </a:rPr>
              <a:t>包括存款</a:t>
            </a:r>
            <a:r>
              <a:rPr sz="2400" dirty="0">
                <a:solidFill>
                  <a:srgbClr val="002060"/>
                </a:solidFill>
                <a:latin typeface="微软雅黑" panose="020B0503020204020204" pitchFamily="34" charset="-122"/>
                <a:ea typeface="微软雅黑" panose="020B0503020204020204" pitchFamily="34" charset="-122"/>
              </a:rPr>
              <a:t>，</a:t>
            </a:r>
            <a:r>
              <a:rPr sz="2400">
                <a:solidFill>
                  <a:srgbClr val="FF0000"/>
                </a:solidFill>
                <a:latin typeface="微软雅黑" panose="020B0503020204020204" pitchFamily="34" charset="-122"/>
                <a:ea typeface="微软雅黑" panose="020B0503020204020204" pitchFamily="34" charset="-122"/>
              </a:rPr>
              <a:t>资产</a:t>
            </a:r>
            <a:r>
              <a:rPr sz="2400">
                <a:solidFill>
                  <a:srgbClr val="002060"/>
                </a:solidFill>
                <a:latin typeface="微软雅黑" panose="020B0503020204020204" pitchFamily="34" charset="-122"/>
                <a:ea typeface="微软雅黑" panose="020B0503020204020204" pitchFamily="34" charset="-122"/>
              </a:rPr>
              <a:t>包括贷款和准备金</a:t>
            </a:r>
            <a:r>
              <a:rPr sz="2400" smtClean="0">
                <a:solidFill>
                  <a:srgbClr val="002060"/>
                </a:solidFill>
                <a:latin typeface="微软雅黑" panose="020B0503020204020204" pitchFamily="34" charset="-122"/>
                <a:ea typeface="微软雅黑" panose="020B0503020204020204" pitchFamily="34" charset="-122"/>
              </a:rPr>
              <a:t>。准备金按要求存入</a:t>
            </a:r>
            <a:r>
              <a:rPr lang="zh-CN" sz="2400" dirty="0">
                <a:solidFill>
                  <a:srgbClr val="002060"/>
                </a:solidFill>
                <a:latin typeface="微软雅黑" panose="020B0503020204020204" pitchFamily="34" charset="-122"/>
                <a:ea typeface="微软雅黑" panose="020B0503020204020204" pitchFamily="34" charset="-122"/>
              </a:rPr>
              <a:t>中央银行</a:t>
            </a:r>
            <a:r>
              <a:rPr sz="2400" dirty="0">
                <a:solidFill>
                  <a:srgbClr val="002060"/>
                </a:solidFill>
                <a:latin typeface="微软雅黑" panose="020B0503020204020204" pitchFamily="34" charset="-122"/>
                <a:ea typeface="微软雅黑" panose="020B0503020204020204" pitchFamily="34" charset="-122"/>
              </a:rPr>
              <a:t>并赚取利息。</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在此例中，</a:t>
            </a:r>
            <a:r>
              <a:rPr sz="2400" smtClean="0">
                <a:solidFill>
                  <a:srgbClr val="FF0000"/>
                </a:solidFill>
                <a:latin typeface="微软雅黑" panose="020B0503020204020204" pitchFamily="34" charset="-122"/>
                <a:ea typeface="微软雅黑" panose="020B0503020204020204" pitchFamily="34" charset="-122"/>
              </a:rPr>
              <a:t>R</a:t>
            </a:r>
            <a:r>
              <a:rPr sz="2400" smtClean="0">
                <a:solidFill>
                  <a:srgbClr val="002060"/>
                </a:solidFill>
                <a:latin typeface="微软雅黑" panose="020B0503020204020204" pitchFamily="34" charset="-122"/>
                <a:ea typeface="微软雅黑" panose="020B0503020204020204" pitchFamily="34" charset="-122"/>
              </a:rPr>
              <a:t> </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10/100 </a:t>
            </a:r>
            <a:r>
              <a:rPr sz="2400" dirty="0">
                <a:solidFill>
                  <a:srgbClr val="002060"/>
                </a:solidFill>
                <a:latin typeface="微软雅黑" panose="020B0503020204020204" pitchFamily="34" charset="-122"/>
                <a:ea typeface="微软雅黑" panose="020B0503020204020204" pitchFamily="34" charset="-122"/>
              </a:rPr>
              <a:t>= 10%。</a:t>
            </a:r>
            <a:endParaRPr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161814" name="Group 22"/>
          <p:cNvGraphicFramePr>
            <a:graphicFrameLocks noGrp="1"/>
          </p:cNvGraphicFramePr>
          <p:nvPr>
            <p:custDataLst>
              <p:tags r:id="rId3"/>
            </p:custDataLst>
          </p:nvPr>
        </p:nvGraphicFramePr>
        <p:xfrm>
          <a:off x="1763688" y="1988839"/>
          <a:ext cx="5762625" cy="2066290"/>
        </p:xfrm>
        <a:graphic>
          <a:graphicData uri="http://schemas.openxmlformats.org/drawingml/2006/table">
            <a:tbl>
              <a:tblPr/>
              <a:tblGrid>
                <a:gridCol w="2881313"/>
                <a:gridCol w="2881312"/>
              </a:tblGrid>
              <a:tr h="313184">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第一国民银行</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a:noFill/>
                    </a:lnB>
                    <a:lnTlToBr>
                      <a:noFill/>
                    </a:lnTlToBr>
                    <a:lnBlToTr>
                      <a:noFill/>
                    </a:lnBlToTr>
                    <a:solidFill>
                      <a:srgbClr val="92D050"/>
                    </a:solidFill>
                  </a:tcPr>
                </a:tc>
                <a:tc hMerge="1">
                  <a:tcPr/>
                </a:tc>
              </a:tr>
              <a:tr h="492125">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资产</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负债</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r>
              <a:tr h="1116965">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准备金</a:t>
                      </a:r>
                      <a:r>
                        <a:rPr lang="en-US" sz="2400" kern="1200" smtClean="0">
                          <a:solidFill>
                            <a:srgbClr val="002060"/>
                          </a:solidFill>
                          <a:latin typeface="微软雅黑" panose="020B0503020204020204" pitchFamily="34" charset="-122"/>
                          <a:ea typeface="微软雅黑" panose="020B0503020204020204" pitchFamily="34" charset="-122"/>
                          <a:cs typeface="+mn-cs"/>
                        </a:rPr>
                        <a:t>	  10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贷款</a:t>
                      </a:r>
                      <a:r>
                        <a:rPr lang="en-US" sz="2400" kern="1200" smtClean="0">
                          <a:solidFill>
                            <a:srgbClr val="002060"/>
                          </a:solidFill>
                          <a:latin typeface="微软雅黑" panose="020B0503020204020204" pitchFamily="34" charset="-122"/>
                          <a:ea typeface="微软雅黑" panose="020B0503020204020204" pitchFamily="34" charset="-122"/>
                          <a:cs typeface="+mn-cs"/>
                        </a:rPr>
                        <a:t>  	  90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r>
            </a:tbl>
          </a:graphicData>
        </a:graphic>
      </p:graphicFrame>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pic>
        <p:nvPicPr>
          <p:cNvPr id="8" name="图片 7" descr="logo-VI系统0630-PPT-12.png"/>
          <p:cNvPicPr>
            <a:picLocks noChangeAspect="1"/>
          </p:cNvPicPr>
          <p:nvPr/>
        </p:nvPicPr>
        <p:blipFill>
          <a:blip r:embed="rId4" cstate="print"/>
          <a:stretch>
            <a:fillRect/>
          </a:stretch>
        </p:blipFill>
        <p:spPr>
          <a:xfrm>
            <a:off x="433281" y="6286520"/>
            <a:ext cx="1495513" cy="288536"/>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814"/>
                                        </p:tgtEl>
                                        <p:attrNameLst>
                                          <p:attrName>style.visibility</p:attrName>
                                        </p:attrNameLst>
                                      </p:cBhvr>
                                      <p:to>
                                        <p:strVal val="visible"/>
                                      </p:to>
                                    </p:set>
                                    <p:animEffect transition="in" filter="fade">
                                      <p:cBhvr>
                                        <p:cTn id="7" dur="500"/>
                                        <p:tgtEl>
                                          <p:spTgt spid="161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449224" y="1196752"/>
            <a:ext cx="7746365" cy="4819781"/>
          </a:xfrm>
          <a:prstGeom prst="rect">
            <a:avLst/>
          </a:prstGeom>
          <a:noFill/>
        </p:spPr>
        <p:txBody>
          <a:bodyPr wrap="square" rtlCol="0">
            <a:spAutoFit/>
          </a:bodyPr>
          <a:lstStyle/>
          <a:p>
            <a:pPr marL="342900" indent="-342900">
              <a:lnSpc>
                <a:spcPct val="160000"/>
              </a:lnSpc>
              <a:buFont typeface="Wingdings" panose="05000000000000000000" pitchFamily="2" charset="2"/>
              <a:buChar char="Ø"/>
            </a:pPr>
            <a:r>
              <a:rPr lang="zh-CN" altLang="en-US" sz="2400" smtClean="0">
                <a:solidFill>
                  <a:srgbClr val="002060"/>
                </a:solidFill>
                <a:latin typeface="华光琥珀_CNKI" panose="02000500000000000000" pitchFamily="2" charset="-122"/>
                <a:ea typeface="华光琥珀_CNKI" panose="02000500000000000000" pitchFamily="2" charset="-122"/>
              </a:rPr>
              <a:t>举例</a:t>
            </a:r>
            <a:r>
              <a:rPr lang="en-US" altLang="zh-CN" sz="2400" smtClean="0">
                <a:solidFill>
                  <a:srgbClr val="002060"/>
                </a:solidFill>
                <a:latin typeface="华光琥珀_CNKI" panose="02000500000000000000" pitchFamily="2" charset="-122"/>
                <a:ea typeface="华光琥珀_CNKI" panose="02000500000000000000" pitchFamily="2" charset="-122"/>
              </a:rPr>
              <a:t>1</a:t>
            </a:r>
            <a:r>
              <a:rPr lang="zh-CN" altLang="en-US" sz="2400" smtClean="0">
                <a:solidFill>
                  <a:srgbClr val="002060"/>
                </a:solidFill>
                <a:latin typeface="华光琥珀_CNKI" panose="02000500000000000000" pitchFamily="2" charset="-122"/>
                <a:ea typeface="华光琥珀_CNKI" panose="02000500000000000000" pitchFamily="2" charset="-122"/>
              </a:rPr>
              <a:t>：</a:t>
            </a:r>
            <a:r>
              <a:rPr sz="2400" smtClean="0">
                <a:solidFill>
                  <a:srgbClr val="002060"/>
                </a:solidFill>
                <a:latin typeface="微软雅黑" panose="020B0503020204020204" pitchFamily="34" charset="-122"/>
                <a:ea typeface="微软雅黑" panose="020B0503020204020204" pitchFamily="34" charset="-122"/>
              </a:rPr>
              <a:t>为了</a:t>
            </a:r>
            <a:r>
              <a:rPr lang="zh-CN" altLang="en-US" sz="2400" smtClean="0">
                <a:solidFill>
                  <a:srgbClr val="002060"/>
                </a:solidFill>
                <a:latin typeface="微软雅黑" panose="020B0503020204020204" pitchFamily="34" charset="-122"/>
                <a:ea typeface="微软雅黑" panose="020B0503020204020204" pitchFamily="34" charset="-122"/>
              </a:rPr>
              <a:t>演示</a:t>
            </a:r>
            <a:r>
              <a:rPr sz="2400" smtClean="0">
                <a:solidFill>
                  <a:srgbClr val="FF0000"/>
                </a:solidFill>
                <a:latin typeface="微软雅黑" panose="020B0503020204020204" pitchFamily="34" charset="-122"/>
                <a:ea typeface="微软雅黑" panose="020B0503020204020204" pitchFamily="34" charset="-122"/>
              </a:rPr>
              <a:t>银行</a:t>
            </a:r>
            <a:r>
              <a:rPr lang="zh-CN" altLang="en-US" sz="2400" smtClean="0">
                <a:solidFill>
                  <a:srgbClr val="FF0000"/>
                </a:solidFill>
                <a:latin typeface="微软雅黑" panose="020B0503020204020204" pitchFamily="34" charset="-122"/>
                <a:ea typeface="微软雅黑" panose="020B0503020204020204" pitchFamily="34" charset="-122"/>
              </a:rPr>
              <a:t>以及准备金制度</a:t>
            </a:r>
            <a:r>
              <a:rPr sz="2400" smtClean="0">
                <a:solidFill>
                  <a:srgbClr val="002060"/>
                </a:solidFill>
                <a:latin typeface="微软雅黑" panose="020B0503020204020204" pitchFamily="34" charset="-122"/>
                <a:ea typeface="微软雅黑" panose="020B0503020204020204" pitchFamily="34" charset="-122"/>
              </a:rPr>
              <a:t>对货币供应量的影响</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我们计算 </a:t>
            </a:r>
            <a:r>
              <a:rPr sz="2400">
                <a:solidFill>
                  <a:srgbClr val="002060"/>
                </a:solidFill>
                <a:latin typeface="微软雅黑" panose="020B0503020204020204" pitchFamily="34" charset="-122"/>
                <a:ea typeface="微软雅黑" panose="020B0503020204020204" pitchFamily="34" charset="-122"/>
              </a:rPr>
              <a:t>3 </a:t>
            </a:r>
            <a:r>
              <a:rPr sz="2400" smtClean="0">
                <a:solidFill>
                  <a:srgbClr val="002060"/>
                </a:solidFill>
                <a:latin typeface="微软雅黑" panose="020B0503020204020204" pitchFamily="34" charset="-122"/>
                <a:ea typeface="微软雅黑" panose="020B0503020204020204" pitchFamily="34" charset="-122"/>
              </a:rPr>
              <a:t>种不同情况下的货币供应量</a:t>
            </a:r>
            <a:r>
              <a:rPr lang="zh-CN" altLang="en-US" sz="2400">
                <a:solidFill>
                  <a:srgbClr val="002060"/>
                </a:solidFill>
                <a:latin typeface="微软雅黑" panose="020B0503020204020204" pitchFamily="34" charset="-122"/>
                <a:ea typeface="微软雅黑" panose="020B0503020204020204" pitchFamily="34" charset="-122"/>
              </a:rPr>
              <a:t>。假设有</a:t>
            </a:r>
            <a:r>
              <a:rPr lang="en-US" altLang="zh-CN" sz="2400">
                <a:solidFill>
                  <a:srgbClr val="002060"/>
                </a:solidFill>
                <a:latin typeface="微软雅黑" panose="020B0503020204020204" pitchFamily="34" charset="-122"/>
                <a:ea typeface="微软雅黑" panose="020B0503020204020204" pitchFamily="34" charset="-122"/>
              </a:rPr>
              <a:t>100</a:t>
            </a:r>
            <a:r>
              <a:rPr lang="zh-CN" altLang="en-US" sz="2400">
                <a:solidFill>
                  <a:srgbClr val="002060"/>
                </a:solidFill>
                <a:latin typeface="微软雅黑" panose="020B0503020204020204" pitchFamily="34" charset="-122"/>
                <a:ea typeface="微软雅黑" panose="020B0503020204020204" pitchFamily="34" charset="-122"/>
              </a:rPr>
              <a:t>元的货币在流通。</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sz="2400" smtClean="0">
                <a:solidFill>
                  <a:srgbClr val="002060"/>
                </a:solidFill>
                <a:latin typeface="微软雅黑" panose="020B0503020204020204" pitchFamily="34" charset="-122"/>
                <a:ea typeface="微软雅黑" panose="020B0503020204020204" pitchFamily="34" charset="-122"/>
              </a:rPr>
              <a:t>没有银行</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sz="2400" smtClean="0">
                <a:solidFill>
                  <a:srgbClr val="002060"/>
                </a:solidFill>
                <a:latin typeface="微软雅黑" panose="020B0503020204020204" pitchFamily="34" charset="-122"/>
                <a:ea typeface="微软雅黑" panose="020B0503020204020204" pitchFamily="34" charset="-122"/>
              </a:rPr>
              <a:t>100</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准备金制度</a:t>
            </a:r>
            <a:r>
              <a:rPr sz="2400" dirty="0">
                <a:solidFill>
                  <a:srgbClr val="002060"/>
                </a:solidFill>
                <a:latin typeface="微软雅黑" panose="020B0503020204020204" pitchFamily="34" charset="-122"/>
                <a:ea typeface="微软雅黑" panose="020B0503020204020204" pitchFamily="34" charset="-122"/>
              </a:rPr>
              <a:t>：即银行持有100%的存款作为准备金</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不放贷</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sz="2400" smtClean="0">
                <a:solidFill>
                  <a:srgbClr val="FF0000"/>
                </a:solidFill>
                <a:latin typeface="微软雅黑" panose="020B0503020204020204" pitchFamily="34" charset="-122"/>
                <a:ea typeface="微软雅黑" panose="020B0503020204020204" pitchFamily="34" charset="-122"/>
              </a:rPr>
              <a:t>部分</a:t>
            </a:r>
            <a:r>
              <a:rPr sz="2400" smtClean="0">
                <a:solidFill>
                  <a:srgbClr val="002060"/>
                </a:solidFill>
                <a:latin typeface="微软雅黑" panose="020B0503020204020204" pitchFamily="34" charset="-122"/>
                <a:ea typeface="微软雅黑" panose="020B0503020204020204" pitchFamily="34" charset="-122"/>
              </a:rPr>
              <a:t>准备金</a:t>
            </a:r>
            <a:r>
              <a:rPr lang="zh-CN" sz="2400" smtClean="0">
                <a:solidFill>
                  <a:srgbClr val="002060"/>
                </a:solidFill>
                <a:latin typeface="微软雅黑" panose="020B0503020204020204" pitchFamily="34" charset="-122"/>
                <a:ea typeface="微软雅黑" panose="020B0503020204020204" pitchFamily="34" charset="-122"/>
              </a:rPr>
              <a:t>制度</a:t>
            </a:r>
            <a:r>
              <a:rPr lang="zh-CN" altLang="en-US" sz="2400">
                <a:solidFill>
                  <a:srgbClr val="002060"/>
                </a:solidFill>
                <a:latin typeface="微软雅黑" panose="020B0503020204020204" pitchFamily="34" charset="-122"/>
                <a:ea typeface="微软雅黑" panose="020B0503020204020204" pitchFamily="34" charset="-122"/>
              </a:rPr>
              <a:t>。即</a:t>
            </a:r>
            <a:r>
              <a:rPr lang="zh-CN" altLang="en-US" sz="2400" smtClean="0">
                <a:solidFill>
                  <a:srgbClr val="002060"/>
                </a:solidFill>
                <a:latin typeface="微软雅黑" panose="020B0503020204020204" pitchFamily="34" charset="-122"/>
                <a:ea typeface="微软雅黑" panose="020B0503020204020204" pitchFamily="34" charset="-122"/>
              </a:rPr>
              <a:t>银行将部分存款</a:t>
            </a:r>
            <a:r>
              <a:rPr lang="zh-CN" altLang="en-US" sz="2400">
                <a:solidFill>
                  <a:srgbClr val="002060"/>
                </a:solidFill>
                <a:latin typeface="微软雅黑" panose="020B0503020204020204" pitchFamily="34" charset="-122"/>
                <a:ea typeface="微软雅黑" panose="020B0503020204020204" pitchFamily="34" charset="-122"/>
              </a:rPr>
              <a:t>作为准备金</a:t>
            </a:r>
            <a:r>
              <a:rPr lang="zh-CN" altLang="en-US" sz="2400" smtClean="0">
                <a:solidFill>
                  <a:srgbClr val="002060"/>
                </a:solidFill>
                <a:latin typeface="微软雅黑" panose="020B0503020204020204" pitchFamily="34" charset="-122"/>
                <a:ea typeface="微软雅黑" panose="020B0503020204020204" pitchFamily="34" charset="-122"/>
              </a:rPr>
              <a:t>，其他的放贷出去。</a:t>
            </a:r>
            <a:endParaRPr lang="zh-CN" sz="2400" dirty="0">
              <a:solidFill>
                <a:srgbClr val="002060"/>
              </a:solidFill>
              <a:latin typeface="微软雅黑" panose="020B0503020204020204" pitchFamily="34" charset="-122"/>
              <a:ea typeface="微软雅黑" panose="020B0503020204020204" pitchFamily="34" charset="-122"/>
            </a:endParaRPr>
          </a:p>
        </p:txBody>
      </p:sp>
      <p:sp>
        <p:nvSpPr>
          <p:cNvPr id="6"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pic>
        <p:nvPicPr>
          <p:cNvPr id="7" name="图片 6"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419528" y="1268760"/>
            <a:ext cx="8040904" cy="2456057"/>
          </a:xfrm>
          <a:prstGeom prst="rect">
            <a:avLst/>
          </a:prstGeom>
          <a:noFill/>
        </p:spPr>
        <p:txBody>
          <a:bodyPr wrap="square" rtlCol="0">
            <a:spAutoFit/>
          </a:bodyPr>
          <a:lstStyle/>
          <a:p>
            <a:pPr indent="0" algn="l">
              <a:lnSpc>
                <a:spcPct val="160000"/>
              </a:lnSpc>
              <a:buFont typeface="Wingdings" panose="05000000000000000000" charset="0"/>
              <a:buNone/>
            </a:pPr>
            <a:r>
              <a:rPr sz="2400" smtClean="0">
                <a:solidFill>
                  <a:srgbClr val="002060"/>
                </a:solidFill>
                <a:latin typeface="微软雅黑" panose="020B0503020204020204" pitchFamily="34" charset="-122"/>
                <a:ea typeface="微软雅黑" panose="020B0503020204020204" pitchFamily="34" charset="-122"/>
              </a:rPr>
              <a:t>1</a:t>
            </a:r>
            <a:r>
              <a:rPr lang="en-US" sz="2400" smtClean="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没有银行</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公众持有 </a:t>
            </a:r>
            <a:r>
              <a:rPr sz="2400">
                <a:solidFill>
                  <a:srgbClr val="002060"/>
                </a:solidFill>
                <a:latin typeface="微软雅黑" panose="020B0503020204020204" pitchFamily="34" charset="-122"/>
                <a:ea typeface="微软雅黑" panose="020B0503020204020204" pitchFamily="34" charset="-122"/>
              </a:rPr>
              <a:t>100 </a:t>
            </a:r>
            <a:r>
              <a:rPr sz="2400" smtClean="0">
                <a:solidFill>
                  <a:srgbClr val="002060"/>
                </a:solidFill>
                <a:latin typeface="微软雅黑" panose="020B0503020204020204" pitchFamily="34" charset="-122"/>
                <a:ea typeface="微软雅黑" panose="020B0503020204020204" pitchFamily="34" charset="-122"/>
              </a:rPr>
              <a:t>元作为货币</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货币供应量 = </a:t>
            </a:r>
            <a:r>
              <a:rPr sz="2400">
                <a:solidFill>
                  <a:srgbClr val="002060"/>
                </a:solidFill>
                <a:latin typeface="微软雅黑" panose="020B0503020204020204" pitchFamily="34" charset="-122"/>
                <a:ea typeface="微软雅黑" panose="020B0503020204020204" pitchFamily="34" charset="-122"/>
              </a:rPr>
              <a:t>100 </a:t>
            </a:r>
            <a:r>
              <a:rPr sz="2400" smtClean="0">
                <a:solidFill>
                  <a:srgbClr val="002060"/>
                </a:solidFill>
                <a:latin typeface="微软雅黑" panose="020B0503020204020204" pitchFamily="34" charset="-122"/>
                <a:ea typeface="微软雅黑" panose="020B0503020204020204" pitchFamily="34" charset="-122"/>
              </a:rPr>
              <a:t>元</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相当于央行</a:t>
            </a:r>
            <a:r>
              <a:rPr lang="zh-CN" altLang="en-US" sz="2400" smtClean="0">
                <a:solidFill>
                  <a:srgbClr val="002060"/>
                </a:solidFill>
                <a:latin typeface="微软雅黑" panose="020B0503020204020204" pitchFamily="34" charset="-122"/>
                <a:ea typeface="微软雅黑" panose="020B0503020204020204" pitchFamily="34" charset="-122"/>
              </a:rPr>
              <a:t>的</a:t>
            </a:r>
            <a:r>
              <a:rPr sz="2400" smtClean="0">
                <a:solidFill>
                  <a:srgbClr val="002060"/>
                </a:solidFill>
                <a:latin typeface="微软雅黑" panose="020B0503020204020204" pitchFamily="34" charset="-122"/>
                <a:ea typeface="微软雅黑" panose="020B0503020204020204" pitchFamily="34" charset="-122"/>
              </a:rPr>
              <a:t>直升飞机撒钱或者挨家挨户敲门发钱</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sp>
        <p:nvSpPr>
          <p:cNvPr id="6"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pic>
        <p:nvPicPr>
          <p:cNvPr id="7" name="图片 6"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Tree>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426571" y="1135366"/>
            <a:ext cx="7746365" cy="553357"/>
          </a:xfrm>
          <a:prstGeom prst="rect">
            <a:avLst/>
          </a:prstGeom>
          <a:noFill/>
        </p:spPr>
        <p:txBody>
          <a:bodyPr wrap="square" rtlCol="0">
            <a:spAutoFit/>
          </a:bodyPr>
          <a:lstStyle/>
          <a:p>
            <a:pPr indent="0" algn="l">
              <a:lnSpc>
                <a:spcPct val="140000"/>
              </a:lnSpc>
              <a:buFont typeface="Wingdings" panose="05000000000000000000" charset="0"/>
              <a:buNone/>
            </a:pPr>
            <a:r>
              <a:rPr sz="2400" smtClean="0">
                <a:solidFill>
                  <a:srgbClr val="002060"/>
                </a:solidFill>
                <a:latin typeface="微软雅黑" panose="020B0503020204020204" pitchFamily="34" charset="-122"/>
                <a:ea typeface="微软雅黑" panose="020B0503020204020204" pitchFamily="34" charset="-122"/>
              </a:rPr>
              <a:t>2</a:t>
            </a:r>
            <a:r>
              <a:rPr lang="en-US" sz="2400" smtClean="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100</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准备金</a:t>
            </a:r>
            <a:r>
              <a:rPr lang="zh-CN" sz="2400" smtClean="0">
                <a:solidFill>
                  <a:srgbClr val="002060"/>
                </a:solidFill>
                <a:latin typeface="微软雅黑" panose="020B0503020204020204" pitchFamily="34" charset="-122"/>
                <a:ea typeface="微软雅黑" panose="020B0503020204020204" pitchFamily="34" charset="-122"/>
              </a:rPr>
              <a:t>制度</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161814" name="Group 22"/>
          <p:cNvGraphicFramePr>
            <a:graphicFrameLocks noGrp="1"/>
          </p:cNvGraphicFramePr>
          <p:nvPr>
            <p:custDataLst>
              <p:tags r:id="rId3"/>
            </p:custDataLst>
          </p:nvPr>
        </p:nvGraphicFramePr>
        <p:xfrm>
          <a:off x="1835696" y="1700808"/>
          <a:ext cx="5762625" cy="2158365"/>
        </p:xfrm>
        <a:graphic>
          <a:graphicData uri="http://schemas.openxmlformats.org/drawingml/2006/table">
            <a:tbl>
              <a:tblPr/>
              <a:tblGrid>
                <a:gridCol w="2881313"/>
                <a:gridCol w="2881312"/>
              </a:tblGrid>
              <a:tr h="549275">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第一国民银行</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a:noFill/>
                    </a:lnB>
                    <a:lnTlToBr>
                      <a:noFill/>
                    </a:lnTlToBr>
                    <a:lnBlToTr>
                      <a:noFill/>
                    </a:lnBlToTr>
                    <a:solidFill>
                      <a:srgbClr val="92D050"/>
                    </a:solidFill>
                  </a:tcPr>
                </a:tc>
                <a:tc hMerge="1">
                  <a:tcPr/>
                </a:tc>
              </a:tr>
              <a:tr h="492125">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资产</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负债</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r>
              <a:tr h="1116965">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准备金        </a:t>
                      </a: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贷款</a:t>
                      </a:r>
                      <a:r>
                        <a:rPr lang="en-US" sz="2400" kern="1200" smtClean="0">
                          <a:solidFill>
                            <a:srgbClr val="002060"/>
                          </a:solidFill>
                          <a:latin typeface="微软雅黑" panose="020B0503020204020204" pitchFamily="34" charset="-122"/>
                          <a:ea typeface="微软雅黑" panose="020B0503020204020204" pitchFamily="34" charset="-122"/>
                          <a:cs typeface="+mn-cs"/>
                        </a:rPr>
                        <a:t>              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r>
            </a:tbl>
          </a:graphicData>
        </a:graphic>
      </p:graphicFrame>
      <p:sp>
        <p:nvSpPr>
          <p:cNvPr id="2" name="文本框 1"/>
          <p:cNvSpPr txBox="1"/>
          <p:nvPr/>
        </p:nvSpPr>
        <p:spPr>
          <a:xfrm>
            <a:off x="539552" y="3933056"/>
            <a:ext cx="8604448" cy="2400657"/>
          </a:xfrm>
          <a:prstGeom prst="rect">
            <a:avLst/>
          </a:prstGeom>
          <a:noFill/>
        </p:spPr>
        <p:txBody>
          <a:bodyPr wrap="square" rtlCol="0" anchor="t">
            <a:spAutoFit/>
          </a:bodyPr>
          <a:lstStyle/>
          <a:p>
            <a:pPr marL="800100" lvl="1" indent="-342900">
              <a:lnSpc>
                <a:spcPts val="36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公众将 </a:t>
            </a:r>
            <a:r>
              <a:rPr lang="en-US" altLang="zh-CN" sz="2400">
                <a:solidFill>
                  <a:srgbClr val="002060"/>
                </a:solidFill>
                <a:latin typeface="微软雅黑" panose="020B0503020204020204" pitchFamily="34" charset="-122"/>
                <a:ea typeface="微软雅黑" panose="020B0503020204020204" pitchFamily="34" charset="-122"/>
              </a:rPr>
              <a:t>100 </a:t>
            </a:r>
            <a:r>
              <a:rPr lang="zh-CN" altLang="en-US" sz="2400">
                <a:solidFill>
                  <a:srgbClr val="002060"/>
                </a:solidFill>
                <a:latin typeface="微软雅黑" panose="020B0503020204020204" pitchFamily="34" charset="-122"/>
                <a:ea typeface="微软雅黑" panose="020B0503020204020204" pitchFamily="34" charset="-122"/>
              </a:rPr>
              <a:t>元存入第一国民银行。</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6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第一国民银行</a:t>
            </a:r>
            <a:r>
              <a:rPr sz="2400">
                <a:solidFill>
                  <a:srgbClr val="002060"/>
                </a:solidFill>
                <a:latin typeface="微软雅黑" panose="020B0503020204020204" pitchFamily="34" charset="-122"/>
                <a:ea typeface="微软雅黑" panose="020B0503020204020204" pitchFamily="34" charset="-122"/>
              </a:rPr>
              <a:t>持有 </a:t>
            </a:r>
            <a:r>
              <a:rPr sz="2400" dirty="0">
                <a:solidFill>
                  <a:srgbClr val="002060"/>
                </a:solidFill>
                <a:latin typeface="微软雅黑" panose="020B0503020204020204" pitchFamily="34" charset="-122"/>
                <a:ea typeface="微软雅黑" panose="020B0503020204020204" pitchFamily="34" charset="-122"/>
              </a:rPr>
              <a:t>100</a:t>
            </a:r>
            <a:r>
              <a:rPr sz="2400">
                <a:solidFill>
                  <a:srgbClr val="002060"/>
                </a:solidFill>
                <a:latin typeface="微软雅黑" panose="020B0503020204020204" pitchFamily="34" charset="-122"/>
                <a:ea typeface="微软雅黑" panose="020B0503020204020204" pitchFamily="34" charset="-122"/>
              </a:rPr>
              <a:t>% 的存款作为准备金</a:t>
            </a:r>
            <a:r>
              <a:rPr lang="zh-CN" altLang="en-US" sz="2400">
                <a:solidFill>
                  <a:srgbClr val="002060"/>
                </a:solidFill>
                <a:latin typeface="微软雅黑" panose="020B0503020204020204" pitchFamily="34" charset="-122"/>
                <a:ea typeface="微软雅黑" panose="020B0503020204020204" pitchFamily="34" charset="-122"/>
              </a:rPr>
              <a:t>。</a:t>
            </a:r>
            <a:endParaRPr 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6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货币供应量 </a:t>
            </a:r>
            <a:r>
              <a:rPr lang="en-US" altLang="zh-CN" sz="2400">
                <a:solidFill>
                  <a:srgbClr val="002060"/>
                </a:solidFill>
                <a:latin typeface="微软雅黑" panose="020B0503020204020204" pitchFamily="34" charset="-122"/>
                <a:ea typeface="微软雅黑" panose="020B0503020204020204" pitchFamily="34" charset="-122"/>
              </a:rPr>
              <a:t>= </a:t>
            </a:r>
            <a:r>
              <a:rPr lang="zh-CN" altLang="en-US" sz="2400">
                <a:solidFill>
                  <a:srgbClr val="002060"/>
                </a:solidFill>
                <a:latin typeface="微软雅黑" panose="020B0503020204020204" pitchFamily="34" charset="-122"/>
                <a:ea typeface="微软雅黑" panose="020B0503020204020204" pitchFamily="34" charset="-122"/>
              </a:rPr>
              <a:t>现钞 </a:t>
            </a:r>
            <a:r>
              <a:rPr lang="en-US" altLang="zh-CN" sz="2400">
                <a:solidFill>
                  <a:srgbClr val="002060"/>
                </a:solidFill>
                <a:latin typeface="微软雅黑" panose="020B0503020204020204" pitchFamily="34" charset="-122"/>
                <a:ea typeface="微软雅黑" panose="020B0503020204020204" pitchFamily="34" charset="-122"/>
              </a:rPr>
              <a:t>+ </a:t>
            </a:r>
            <a:r>
              <a:rPr lang="zh-CN" altLang="en-US" sz="2400">
                <a:solidFill>
                  <a:srgbClr val="002060"/>
                </a:solidFill>
                <a:latin typeface="微软雅黑" panose="020B0503020204020204" pitchFamily="34" charset="-122"/>
                <a:ea typeface="微软雅黑" panose="020B0503020204020204" pitchFamily="34" charset="-122"/>
              </a:rPr>
              <a:t>存款 </a:t>
            </a:r>
            <a:r>
              <a:rPr lang="en-US" altLang="zh-CN" sz="2400">
                <a:solidFill>
                  <a:srgbClr val="002060"/>
                </a:solidFill>
                <a:latin typeface="微软雅黑" panose="020B0503020204020204" pitchFamily="34" charset="-122"/>
                <a:ea typeface="微软雅黑" panose="020B0503020204020204" pitchFamily="34" charset="-122"/>
              </a:rPr>
              <a:t>= 0 + 100 = 100</a:t>
            </a:r>
            <a:r>
              <a:rPr lang="zh-CN" altLang="en-US" sz="2400">
                <a:solidFill>
                  <a:srgbClr val="002060"/>
                </a:solidFill>
                <a:latin typeface="微软雅黑" panose="020B0503020204020204" pitchFamily="34" charset="-122"/>
                <a:ea typeface="微软雅黑" panose="020B0503020204020204" pitchFamily="34" charset="-122"/>
              </a:rPr>
              <a:t>。这里的存款是活期的，随时可取，基本等同于现金。</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6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在 </a:t>
            </a:r>
            <a:r>
              <a:rPr lang="en-US" altLang="zh-CN" sz="2400">
                <a:solidFill>
                  <a:srgbClr val="002060"/>
                </a:solidFill>
                <a:latin typeface="微软雅黑" panose="020B0503020204020204" pitchFamily="34" charset="-122"/>
                <a:ea typeface="微软雅黑" panose="020B0503020204020204" pitchFamily="34" charset="-122"/>
              </a:rPr>
              <a:t>100% </a:t>
            </a:r>
            <a:r>
              <a:rPr lang="zh-CN" altLang="en-US" sz="2400" smtClean="0">
                <a:solidFill>
                  <a:srgbClr val="002060"/>
                </a:solidFill>
                <a:latin typeface="微软雅黑" panose="020B0503020204020204" pitchFamily="34" charset="-122"/>
                <a:ea typeface="微软雅黑" panose="020B0503020204020204" pitchFamily="34" charset="-122"/>
              </a:rPr>
              <a:t>准备金制度</a:t>
            </a:r>
            <a:r>
              <a:rPr lang="zh-CN" altLang="en-US" sz="2400">
                <a:solidFill>
                  <a:srgbClr val="002060"/>
                </a:solidFill>
                <a:latin typeface="微软雅黑" panose="020B0503020204020204" pitchFamily="34" charset="-122"/>
                <a:ea typeface="微软雅黑" panose="020B0503020204020204" pitchFamily="34" charset="-122"/>
              </a:rPr>
              <a:t>中，银行不会影响货币供应量</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思源黑体 CN Bold" panose="020B0800000000000000" pitchFamily="34" charset="-122"/>
              <a:ea typeface="思源黑体 CN Bold" panose="020B0800000000000000" pitchFamily="34" charset="-122"/>
            </a:endParaRPr>
          </a:p>
        </p:txBody>
      </p:sp>
      <p:sp>
        <p:nvSpPr>
          <p:cNvPr id="9"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pic>
        <p:nvPicPr>
          <p:cNvPr id="10" name="图片 9" descr="logo-VI系统0630-PPT-12.png"/>
          <p:cNvPicPr>
            <a:picLocks noChangeAspect="1"/>
          </p:cNvPicPr>
          <p:nvPr/>
        </p:nvPicPr>
        <p:blipFill>
          <a:blip r:embed="rId4" cstate="print"/>
          <a:stretch>
            <a:fillRect/>
          </a:stretch>
        </p:blipFill>
        <p:spPr>
          <a:xfrm>
            <a:off x="395536" y="6381328"/>
            <a:ext cx="1495513" cy="288536"/>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814"/>
                                        </p:tgtEl>
                                        <p:attrNameLst>
                                          <p:attrName>style.visibility</p:attrName>
                                        </p:attrNameLst>
                                      </p:cBhvr>
                                      <p:to>
                                        <p:strVal val="visible"/>
                                      </p:to>
                                    </p:set>
                                    <p:animEffect transition="in" filter="fade">
                                      <p:cBhvr>
                                        <p:cTn id="7" dur="500"/>
                                        <p:tgtEl>
                                          <p:spTgt spid="161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179512" y="1052736"/>
            <a:ext cx="7746365" cy="553037"/>
          </a:xfrm>
          <a:prstGeom prst="rect">
            <a:avLst/>
          </a:prstGeom>
          <a:noFill/>
        </p:spPr>
        <p:txBody>
          <a:bodyPr wrap="square" rtlCol="0">
            <a:spAutoFit/>
          </a:bodyPr>
          <a:lstStyle/>
          <a:p>
            <a:pPr indent="0" algn="l">
              <a:lnSpc>
                <a:spcPct val="140000"/>
              </a:lnSpc>
              <a:buFont typeface="Wingdings" panose="05000000000000000000" charset="0"/>
              <a:buNone/>
            </a:pPr>
            <a:r>
              <a:rPr sz="2400" smtClean="0">
                <a:solidFill>
                  <a:srgbClr val="FF0000"/>
                </a:solidFill>
                <a:latin typeface="思源黑体 CN Bold" panose="020B0800000000000000" pitchFamily="34" charset="-122"/>
                <a:ea typeface="思源黑体 CN Bold" panose="020B0800000000000000" pitchFamily="34" charset="-122"/>
              </a:rPr>
              <a:t> </a:t>
            </a:r>
            <a:r>
              <a:rPr sz="2400" smtClean="0">
                <a:solidFill>
                  <a:srgbClr val="002060"/>
                </a:solidFill>
                <a:latin typeface="微软雅黑" panose="020B0503020204020204" pitchFamily="34" charset="-122"/>
                <a:ea typeface="微软雅黑" panose="020B0503020204020204" pitchFamily="34" charset="-122"/>
              </a:rPr>
              <a:t>3</a:t>
            </a:r>
            <a:r>
              <a:rPr lang="en-US" sz="2400" smtClean="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部分准备金</a:t>
            </a:r>
            <a:r>
              <a:rPr lang="zh-CN" sz="2400" smtClean="0">
                <a:solidFill>
                  <a:srgbClr val="002060"/>
                </a:solidFill>
                <a:latin typeface="微软雅黑" panose="020B0503020204020204" pitchFamily="34" charset="-122"/>
                <a:ea typeface="微软雅黑" panose="020B0503020204020204" pitchFamily="34" charset="-122"/>
              </a:rPr>
              <a:t>制度</a:t>
            </a:r>
            <a:endParaRPr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161814" name="Group 22"/>
          <p:cNvGraphicFramePr>
            <a:graphicFrameLocks noGrp="1"/>
          </p:cNvGraphicFramePr>
          <p:nvPr>
            <p:custDataLst>
              <p:tags r:id="rId3"/>
            </p:custDataLst>
          </p:nvPr>
        </p:nvGraphicFramePr>
        <p:xfrm>
          <a:off x="1403648" y="1772816"/>
          <a:ext cx="5762625" cy="2158365"/>
        </p:xfrm>
        <a:graphic>
          <a:graphicData uri="http://schemas.openxmlformats.org/drawingml/2006/table">
            <a:tbl>
              <a:tblPr/>
              <a:tblGrid>
                <a:gridCol w="2881313"/>
                <a:gridCol w="2881312"/>
              </a:tblGrid>
              <a:tr h="549275">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第一国民银行</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a:noFill/>
                    </a:lnB>
                    <a:lnTlToBr>
                      <a:noFill/>
                    </a:lnTlToBr>
                    <a:lnBlToTr>
                      <a:noFill/>
                    </a:lnBlToTr>
                    <a:solidFill>
                      <a:srgbClr val="92D050"/>
                    </a:solidFill>
                  </a:tcPr>
                </a:tc>
                <a:tc hMerge="1">
                  <a:tcPr/>
                </a:tc>
              </a:tr>
              <a:tr h="492125">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资产</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负债</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r>
              <a:tr h="1116965">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准备金</a:t>
                      </a:r>
                      <a:r>
                        <a:rPr lang="en-US" sz="2400" kern="1200" smtClean="0">
                          <a:solidFill>
                            <a:srgbClr val="002060"/>
                          </a:solidFill>
                          <a:latin typeface="微软雅黑" panose="020B0503020204020204" pitchFamily="34" charset="-122"/>
                          <a:ea typeface="微软雅黑" panose="020B0503020204020204" pitchFamily="34" charset="-122"/>
                          <a:cs typeface="+mn-cs"/>
                        </a:rPr>
                        <a:t>	  10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贷款</a:t>
                      </a:r>
                      <a:r>
                        <a:rPr lang="en-US" sz="2400" kern="1200" smtClean="0">
                          <a:solidFill>
                            <a:srgbClr val="002060"/>
                          </a:solidFill>
                          <a:latin typeface="微软雅黑" panose="020B0503020204020204" pitchFamily="34" charset="-122"/>
                          <a:ea typeface="微软雅黑" panose="020B0503020204020204" pitchFamily="34" charset="-122"/>
                          <a:cs typeface="+mn-cs"/>
                        </a:rPr>
                        <a:t>  	  90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r>
            </a:tbl>
          </a:graphicData>
        </a:graphic>
      </p:graphicFrame>
      <p:sp>
        <p:nvSpPr>
          <p:cNvPr id="5" name="文本框 4"/>
          <p:cNvSpPr txBox="1"/>
          <p:nvPr/>
        </p:nvSpPr>
        <p:spPr>
          <a:xfrm>
            <a:off x="323528" y="4077072"/>
            <a:ext cx="8640960" cy="1938020"/>
          </a:xfrm>
          <a:prstGeom prst="rect">
            <a:avLst/>
          </a:prstGeom>
          <a:noFill/>
        </p:spPr>
        <p:txBody>
          <a:bodyPr wrap="square" rtlCol="0" anchor="t">
            <a:spAutoFit/>
          </a:bodyPr>
          <a:lstStyle/>
          <a:p>
            <a:pPr marL="800100" lvl="1" indent="-342900">
              <a:lnSpc>
                <a:spcPts val="36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假设 </a:t>
            </a:r>
            <a:r>
              <a:rPr lang="en-US" altLang="zh-CN" sz="2400">
                <a:solidFill>
                  <a:srgbClr val="002060"/>
                </a:solidFill>
                <a:latin typeface="微软雅黑" panose="020B0503020204020204" pitchFamily="34" charset="-122"/>
                <a:ea typeface="微软雅黑" panose="020B0503020204020204" pitchFamily="34" charset="-122"/>
              </a:rPr>
              <a:t>R = 10%</a:t>
            </a:r>
            <a:r>
              <a:rPr lang="zh-CN" altLang="en-US" sz="2400">
                <a:solidFill>
                  <a:srgbClr val="002060"/>
                </a:solidFill>
                <a:latin typeface="微软雅黑" panose="020B0503020204020204" pitchFamily="34" charset="-122"/>
                <a:ea typeface="微软雅黑" panose="020B0503020204020204" pitchFamily="34" charset="-122"/>
              </a:rPr>
              <a:t>。 第一国民银行将</a:t>
            </a:r>
            <a:r>
              <a:rPr lang="en-US" altLang="zh-CN" sz="2400">
                <a:solidFill>
                  <a:srgbClr val="002060"/>
                </a:solidFill>
                <a:latin typeface="微软雅黑" panose="020B0503020204020204" pitchFamily="34" charset="-122"/>
                <a:ea typeface="微软雅黑" panose="020B0503020204020204" pitchFamily="34" charset="-122"/>
              </a:rPr>
              <a:t>90%</a:t>
            </a:r>
            <a:r>
              <a:rPr lang="zh-CN" altLang="en-US" sz="2400">
                <a:solidFill>
                  <a:srgbClr val="002060"/>
                </a:solidFill>
                <a:latin typeface="微软雅黑" panose="020B0503020204020204" pitchFamily="34" charset="-122"/>
                <a:ea typeface="微软雅黑" panose="020B0503020204020204" pitchFamily="34" charset="-122"/>
              </a:rPr>
              <a:t>全部贷款</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6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存款人有 </a:t>
            </a:r>
            <a:r>
              <a:rPr sz="2400">
                <a:solidFill>
                  <a:srgbClr val="002060"/>
                </a:solidFill>
                <a:latin typeface="微软雅黑" panose="020B0503020204020204" pitchFamily="34" charset="-122"/>
                <a:ea typeface="微软雅黑" panose="020B0503020204020204" pitchFamily="34" charset="-122"/>
              </a:rPr>
              <a:t>100 </a:t>
            </a:r>
            <a:r>
              <a:rPr sz="2400" smtClean="0">
                <a:solidFill>
                  <a:srgbClr val="002060"/>
                </a:solidFill>
                <a:latin typeface="微软雅黑" panose="020B0503020204020204" pitchFamily="34" charset="-122"/>
                <a:ea typeface="微软雅黑" panose="020B0503020204020204" pitchFamily="34" charset="-122"/>
              </a:rPr>
              <a:t>元的存款</a:t>
            </a:r>
            <a:r>
              <a:rPr sz="2400" dirty="0">
                <a:solidFill>
                  <a:srgbClr val="002060"/>
                </a:solidFill>
                <a:latin typeface="微软雅黑" panose="020B0503020204020204" pitchFamily="34" charset="-122"/>
                <a:ea typeface="微软雅黑" panose="020B0503020204020204" pitchFamily="34" charset="-122"/>
              </a:rPr>
              <a:t>，借款人有 </a:t>
            </a:r>
            <a:r>
              <a:rPr sz="2400">
                <a:solidFill>
                  <a:srgbClr val="002060"/>
                </a:solidFill>
                <a:latin typeface="微软雅黑" panose="020B0503020204020204" pitchFamily="34" charset="-122"/>
                <a:ea typeface="微软雅黑" panose="020B0503020204020204" pitchFamily="34" charset="-122"/>
              </a:rPr>
              <a:t>90 </a:t>
            </a:r>
            <a:r>
              <a:rPr sz="2400" smtClean="0">
                <a:solidFill>
                  <a:srgbClr val="002060"/>
                </a:solidFill>
                <a:latin typeface="微软雅黑" panose="020B0503020204020204" pitchFamily="34" charset="-122"/>
                <a:ea typeface="微软雅黑" panose="020B0503020204020204" pitchFamily="34" charset="-122"/>
              </a:rPr>
              <a:t>元的</a:t>
            </a:r>
            <a:r>
              <a:rPr lang="zh-CN" altLang="en-US" sz="2400">
                <a:solidFill>
                  <a:srgbClr val="002060"/>
                </a:solidFill>
                <a:latin typeface="微软雅黑" panose="020B0503020204020204" pitchFamily="34" charset="-122"/>
                <a:ea typeface="微软雅黑" panose="020B0503020204020204" pitchFamily="34" charset="-122"/>
              </a:rPr>
              <a:t>现金</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ts val="36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货币供应量 </a:t>
            </a:r>
            <a:r>
              <a:rPr sz="2400">
                <a:solidFill>
                  <a:srgbClr val="002060"/>
                </a:solidFill>
                <a:latin typeface="微软雅黑" panose="020B0503020204020204" pitchFamily="34" charset="-122"/>
                <a:ea typeface="微软雅黑" panose="020B0503020204020204" pitchFamily="34" charset="-122"/>
              </a:rPr>
              <a:t>= </a:t>
            </a:r>
            <a:r>
              <a:rPr lang="zh-CN" altLang="en-US" sz="2400">
                <a:solidFill>
                  <a:srgbClr val="002060"/>
                </a:solidFill>
                <a:latin typeface="微软雅黑" panose="020B0503020204020204" pitchFamily="34" charset="-122"/>
                <a:ea typeface="微软雅黑" panose="020B0503020204020204" pitchFamily="34" charset="-122"/>
              </a:rPr>
              <a:t>现金</a:t>
            </a:r>
            <a:r>
              <a:rPr sz="2400" smtClean="0">
                <a:solidFill>
                  <a:srgbClr val="002060"/>
                </a:solidFill>
                <a:latin typeface="微软雅黑" panose="020B0503020204020204" pitchFamily="34" charset="-122"/>
                <a:ea typeface="微软雅黑" panose="020B0503020204020204" pitchFamily="34" charset="-122"/>
              </a:rPr>
              <a:t>+ </a:t>
            </a:r>
            <a:r>
              <a:rPr lang="zh-CN" altLang="en-US" sz="2400" smtClean="0">
                <a:solidFill>
                  <a:srgbClr val="002060"/>
                </a:solidFill>
                <a:latin typeface="微软雅黑" panose="020B0503020204020204" pitchFamily="34" charset="-122"/>
                <a:ea typeface="微软雅黑" panose="020B0503020204020204" pitchFamily="34" charset="-122"/>
              </a:rPr>
              <a:t>存款</a:t>
            </a:r>
            <a:r>
              <a:rPr sz="2400" smtClean="0">
                <a:solidFill>
                  <a:srgbClr val="002060"/>
                </a:solidFill>
                <a:latin typeface="微软雅黑" panose="020B0503020204020204" pitchFamily="34" charset="-122"/>
                <a:ea typeface="微软雅黑" panose="020B0503020204020204" pitchFamily="34" charset="-122"/>
              </a:rPr>
              <a:t>= 90 </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100 </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190 </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ts val="36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部分</a:t>
            </a:r>
            <a:r>
              <a:rPr lang="zh-CN" altLang="en-US" sz="2400" smtClean="0">
                <a:solidFill>
                  <a:srgbClr val="002060"/>
                </a:solidFill>
                <a:latin typeface="微软雅黑" panose="020B0503020204020204" pitchFamily="34" charset="-122"/>
                <a:ea typeface="微软雅黑" panose="020B0503020204020204" pitchFamily="34" charset="-122"/>
              </a:rPr>
              <a:t>准备金制度</a:t>
            </a:r>
            <a:r>
              <a:rPr lang="zh-CN" altLang="en-US" sz="2400" smtClean="0">
                <a:solidFill>
                  <a:srgbClr val="FF0000"/>
                </a:solidFill>
                <a:latin typeface="微软雅黑" panose="020B0503020204020204" pitchFamily="34" charset="-122"/>
                <a:ea typeface="微软雅黑" panose="020B0503020204020204" pitchFamily="34" charset="-122"/>
              </a:rPr>
              <a:t>创造货币和购买力</a:t>
            </a:r>
            <a:r>
              <a:rPr lang="zh-CN" altLang="en-US" sz="240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9" name="图片 8" descr="logo-VI系统0630-PPT-12.png"/>
          <p:cNvPicPr>
            <a:picLocks noChangeAspect="1"/>
          </p:cNvPicPr>
          <p:nvPr/>
        </p:nvPicPr>
        <p:blipFill>
          <a:blip r:embed="rId4" cstate="print"/>
          <a:stretch>
            <a:fillRect/>
          </a:stretch>
        </p:blipFill>
        <p:spPr>
          <a:xfrm>
            <a:off x="433281" y="6286520"/>
            <a:ext cx="1495513" cy="288536"/>
          </a:xfrm>
          <a:prstGeom prst="rect">
            <a:avLst/>
          </a:prstGeom>
        </p:spPr>
      </p:pic>
      <p:sp>
        <p:nvSpPr>
          <p:cNvPr id="10"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814"/>
                                        </p:tgtEl>
                                        <p:attrNameLst>
                                          <p:attrName>style.visibility</p:attrName>
                                        </p:attrNameLst>
                                      </p:cBhvr>
                                      <p:to>
                                        <p:strVal val="visible"/>
                                      </p:to>
                                    </p:set>
                                    <p:animEffect transition="in" filter="fade">
                                      <p:cBhvr>
                                        <p:cTn id="7" dur="500"/>
                                        <p:tgtEl>
                                          <p:spTgt spid="161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graphicFrame>
        <p:nvGraphicFramePr>
          <p:cNvPr id="161814" name="Group 22"/>
          <p:cNvGraphicFramePr>
            <a:graphicFrameLocks noGrp="1"/>
          </p:cNvGraphicFramePr>
          <p:nvPr>
            <p:custDataLst>
              <p:tags r:id="rId3"/>
            </p:custDataLst>
          </p:nvPr>
        </p:nvGraphicFramePr>
        <p:xfrm>
          <a:off x="1835696" y="1628800"/>
          <a:ext cx="5762625" cy="2158365"/>
        </p:xfrm>
        <a:graphic>
          <a:graphicData uri="http://schemas.openxmlformats.org/drawingml/2006/table">
            <a:tbl>
              <a:tblPr/>
              <a:tblGrid>
                <a:gridCol w="2881313"/>
                <a:gridCol w="2881312"/>
              </a:tblGrid>
              <a:tr h="549275">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rPr>
                        <a:t>第二国民银行</a:t>
                      </a:r>
                      <a:endParaRPr lang="zh-CN" altLang="en-US" sz="2400" kern="1200" dirty="0" smtClean="0">
                        <a:solidFill>
                          <a:srgbClr val="002060"/>
                        </a:solidFill>
                        <a:latin typeface="思源黑体 CN Bold" panose="020B0800000000000000" pitchFamily="34" charset="-122"/>
                        <a:ea typeface="思源黑体 CN Bold" panose="020B0800000000000000" pitchFamily="34" charset="-122"/>
                        <a:cs typeface="+mn-cs"/>
                      </a:endParaRPr>
                    </a:p>
                  </a:txBody>
                  <a:tcPr anchor="ctr" horzOverflow="overflow">
                    <a:lnL>
                      <a:noFill/>
                    </a:lnL>
                    <a:lnR>
                      <a:noFill/>
                    </a:lnR>
                    <a:lnT>
                      <a:noFill/>
                    </a:lnT>
                    <a:lnB>
                      <a:noFill/>
                    </a:lnB>
                    <a:lnTlToBr>
                      <a:noFill/>
                    </a:lnTlToBr>
                    <a:lnBlToTr>
                      <a:noFill/>
                    </a:lnBlToTr>
                    <a:solidFill>
                      <a:srgbClr val="00B0F0"/>
                    </a:solidFill>
                  </a:tcPr>
                </a:tc>
                <a:tc hMerge="1">
                  <a:tcPr/>
                </a:tc>
              </a:tr>
              <a:tr h="492125">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rPr>
                        <a:t>资产</a:t>
                      </a:r>
                      <a:endPar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rPr>
                        <a:t>负债</a:t>
                      </a:r>
                      <a:endPar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r>
              <a:tr h="1116965">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rPr>
                        <a:t>准备金        </a:t>
                      </a:r>
                      <a:r>
                        <a:rPr lang="en-US" sz="2400" kern="1200" smtClean="0">
                          <a:solidFill>
                            <a:srgbClr val="002060"/>
                          </a:solidFill>
                          <a:latin typeface="思源黑体 CN Bold" panose="020B0800000000000000" pitchFamily="34" charset="-122"/>
                          <a:ea typeface="思源黑体 CN Bold" panose="020B0800000000000000" pitchFamily="34" charset="-122"/>
                          <a:cs typeface="+mn-cs"/>
                        </a:rPr>
                        <a:t> 9</a:t>
                      </a:r>
                      <a:endParaRPr lang="en-US" sz="2400" kern="1200" smtClean="0">
                        <a:solidFill>
                          <a:srgbClr val="002060"/>
                        </a:solidFill>
                        <a:latin typeface="思源黑体 CN Bold" panose="020B0800000000000000" pitchFamily="34" charset="-122"/>
                        <a:ea typeface="思源黑体 CN Bold" panose="020B0800000000000000"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思源黑体 CN Bold" panose="020B0800000000000000" pitchFamily="34" charset="-122"/>
                          <a:ea typeface="思源黑体 CN Bold" panose="020B0800000000000000" pitchFamily="34" charset="-122"/>
                          <a:cs typeface="+mn-cs"/>
                        </a:rPr>
                        <a:t>贷款</a:t>
                      </a:r>
                      <a:r>
                        <a:rPr lang="en-US" sz="2400" kern="1200" smtClean="0">
                          <a:solidFill>
                            <a:srgbClr val="002060"/>
                          </a:solidFill>
                          <a:latin typeface="思源黑体 CN Bold" panose="020B0800000000000000" pitchFamily="34" charset="-122"/>
                          <a:ea typeface="思源黑体 CN Bold" panose="020B0800000000000000" pitchFamily="34" charset="-122"/>
                          <a:cs typeface="+mn-cs"/>
                        </a:rPr>
                        <a:t>            81</a:t>
                      </a:r>
                      <a:endParaRPr lang="en-US" sz="2400" kern="1200" smtClean="0">
                        <a:solidFill>
                          <a:srgbClr val="002060"/>
                        </a:solidFill>
                        <a:latin typeface="思源黑体 CN Bold" panose="020B0800000000000000" pitchFamily="34" charset="-122"/>
                        <a:ea typeface="思源黑体 CN Bold" panose="020B0800000000000000"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00B0F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思源黑体 CN Bold" panose="020B0800000000000000" pitchFamily="34" charset="-122"/>
                          <a:ea typeface="思源黑体 CN Bold" panose="020B0800000000000000" pitchFamily="34" charset="-122"/>
                          <a:cs typeface="+mn-cs"/>
                        </a:rPr>
                        <a:t>存款</a:t>
                      </a:r>
                      <a:r>
                        <a:rPr lang="en-US" sz="2400" kern="1200" smtClean="0">
                          <a:solidFill>
                            <a:srgbClr val="002060"/>
                          </a:solidFill>
                          <a:latin typeface="思源黑体 CN Bold" panose="020B0800000000000000" pitchFamily="34" charset="-122"/>
                          <a:ea typeface="思源黑体 CN Bold" panose="020B0800000000000000" pitchFamily="34" charset="-122"/>
                          <a:cs typeface="+mn-cs"/>
                        </a:rPr>
                        <a:t>	 </a:t>
                      </a:r>
                      <a:r>
                        <a:rPr lang="en-US" sz="2400" kern="1200" dirty="0" smtClean="0">
                          <a:solidFill>
                            <a:srgbClr val="002060"/>
                          </a:solidFill>
                          <a:latin typeface="思源黑体 CN Bold" panose="020B0800000000000000" pitchFamily="34" charset="-122"/>
                          <a:ea typeface="思源黑体 CN Bold" panose="020B0800000000000000" pitchFamily="34" charset="-122"/>
                          <a:cs typeface="+mn-cs"/>
                        </a:rPr>
                        <a:t>90</a:t>
                      </a:r>
                      <a:endParaRPr lang="en-US" sz="2400" kern="1200" dirty="0" smtClean="0">
                        <a:solidFill>
                          <a:srgbClr val="002060"/>
                        </a:solidFill>
                        <a:latin typeface="思源黑体 CN Bold" panose="020B0800000000000000" pitchFamily="34" charset="-122"/>
                        <a:ea typeface="思源黑体 CN Bold" panose="020B0800000000000000"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00B0F0"/>
                    </a:solidFill>
                  </a:tcPr>
                </a:tc>
              </a:tr>
            </a:tbl>
          </a:graphicData>
        </a:graphic>
      </p:graphicFrame>
      <p:sp>
        <p:nvSpPr>
          <p:cNvPr id="2" name="文本框 1"/>
          <p:cNvSpPr txBox="1"/>
          <p:nvPr/>
        </p:nvSpPr>
        <p:spPr>
          <a:xfrm>
            <a:off x="107504" y="3933056"/>
            <a:ext cx="8801889" cy="1554272"/>
          </a:xfrm>
          <a:prstGeom prst="rect">
            <a:avLst/>
          </a:prstGeom>
          <a:noFill/>
        </p:spPr>
        <p:txBody>
          <a:bodyPr wrap="square" rtlCol="0" anchor="t">
            <a:spAutoFit/>
          </a:bodyPr>
          <a:lstStyle/>
          <a:p>
            <a:pPr marL="800100" lvl="1" indent="-342900">
              <a:lnSpc>
                <a:spcPts val="38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借款人将 </a:t>
            </a:r>
            <a:r>
              <a:rPr lang="en-US" altLang="zh-CN" sz="2400">
                <a:solidFill>
                  <a:srgbClr val="002060"/>
                </a:solidFill>
                <a:latin typeface="微软雅黑" panose="020B0503020204020204" pitchFamily="34" charset="-122"/>
                <a:ea typeface="微软雅黑" panose="020B0503020204020204" pitchFamily="34" charset="-122"/>
              </a:rPr>
              <a:t>90</a:t>
            </a:r>
            <a:r>
              <a:rPr lang="zh-CN" altLang="en-US" sz="2400">
                <a:solidFill>
                  <a:srgbClr val="002060"/>
                </a:solidFill>
                <a:latin typeface="微软雅黑" panose="020B0503020204020204" pitchFamily="34" charset="-122"/>
                <a:ea typeface="微软雅黑" panose="020B0503020204020204" pitchFamily="34" charset="-122"/>
              </a:rPr>
              <a:t>元存入第二国民银行。</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lang="zh-CN" altLang="en-US" sz="2400" smtClean="0">
                <a:solidFill>
                  <a:srgbClr val="002060"/>
                </a:solidFill>
                <a:latin typeface="微软雅黑" panose="020B0503020204020204" pitchFamily="34" charset="-122"/>
                <a:ea typeface="微软雅黑" panose="020B0503020204020204" pitchFamily="34" charset="-122"/>
              </a:rPr>
              <a:t>因为 </a:t>
            </a:r>
            <a:r>
              <a:rPr lang="en-US" altLang="zh-CN" sz="2400">
                <a:solidFill>
                  <a:srgbClr val="002060"/>
                </a:solidFill>
                <a:latin typeface="微软雅黑" panose="020B0503020204020204" pitchFamily="34" charset="-122"/>
                <a:ea typeface="微软雅黑" panose="020B0503020204020204" pitchFamily="34" charset="-122"/>
              </a:rPr>
              <a:t>R = 10%</a:t>
            </a:r>
            <a:r>
              <a:rPr lang="zh-CN" altLang="en-US" sz="2400">
                <a:solidFill>
                  <a:srgbClr val="002060"/>
                </a:solidFill>
                <a:latin typeface="微软雅黑" panose="020B0503020204020204" pitchFamily="34" charset="-122"/>
                <a:ea typeface="微软雅黑" panose="020B0503020204020204" pitchFamily="34" charset="-122"/>
              </a:rPr>
              <a:t>，第二国民银行将贷出除 </a:t>
            </a:r>
            <a:r>
              <a:rPr lang="en-US" altLang="zh-CN" sz="2400">
                <a:solidFill>
                  <a:srgbClr val="002060"/>
                </a:solidFill>
                <a:latin typeface="微软雅黑" panose="020B0503020204020204" pitchFamily="34" charset="-122"/>
                <a:ea typeface="微软雅黑" panose="020B0503020204020204" pitchFamily="34" charset="-122"/>
              </a:rPr>
              <a:t>10% </a:t>
            </a:r>
            <a:r>
              <a:rPr lang="zh-CN" altLang="en-US" sz="2400">
                <a:solidFill>
                  <a:srgbClr val="002060"/>
                </a:solidFill>
                <a:latin typeface="微软雅黑" panose="020B0503020204020204" pitchFamily="34" charset="-122"/>
                <a:ea typeface="微软雅黑" panose="020B0503020204020204" pitchFamily="34" charset="-122"/>
              </a:rPr>
              <a:t>以外的所有存款</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10" name="图片 9" descr="logo-VI系统0630-PPT-12.png"/>
          <p:cNvPicPr>
            <a:picLocks noChangeAspect="1"/>
          </p:cNvPicPr>
          <p:nvPr/>
        </p:nvPicPr>
        <p:blipFill>
          <a:blip r:embed="rId4" cstate="print"/>
          <a:stretch>
            <a:fillRect/>
          </a:stretch>
        </p:blipFill>
        <p:spPr>
          <a:xfrm>
            <a:off x="433281" y="6286520"/>
            <a:ext cx="1495513" cy="288536"/>
          </a:xfrm>
          <a:prstGeom prst="rect">
            <a:avLst/>
          </a:prstGeom>
        </p:spPr>
      </p:pic>
      <p:sp>
        <p:nvSpPr>
          <p:cNvPr id="11"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
        <p:nvSpPr>
          <p:cNvPr id="12" name="TextBox 16"/>
          <p:cNvSpPr txBox="1"/>
          <p:nvPr/>
        </p:nvSpPr>
        <p:spPr>
          <a:xfrm>
            <a:off x="179512" y="1052736"/>
            <a:ext cx="7746365" cy="553037"/>
          </a:xfrm>
          <a:prstGeom prst="rect">
            <a:avLst/>
          </a:prstGeom>
          <a:noFill/>
        </p:spPr>
        <p:txBody>
          <a:bodyPr wrap="square" rtlCol="0">
            <a:spAutoFit/>
          </a:bodyPr>
          <a:lstStyle/>
          <a:p>
            <a:pPr indent="0" algn="l">
              <a:lnSpc>
                <a:spcPct val="140000"/>
              </a:lnSpc>
              <a:buFont typeface="Wingdings" panose="05000000000000000000" charset="0"/>
              <a:buNone/>
            </a:pPr>
            <a:r>
              <a:rPr sz="2400" smtClean="0">
                <a:solidFill>
                  <a:srgbClr val="FF0000"/>
                </a:solidFill>
                <a:latin typeface="思源黑体 CN Bold" panose="020B0800000000000000" pitchFamily="34" charset="-122"/>
                <a:ea typeface="思源黑体 CN Bold" panose="020B0800000000000000" pitchFamily="34" charset="-122"/>
              </a:rPr>
              <a:t> </a:t>
            </a:r>
            <a:r>
              <a:rPr sz="2400" smtClean="0">
                <a:solidFill>
                  <a:srgbClr val="002060"/>
                </a:solidFill>
                <a:latin typeface="微软雅黑" panose="020B0503020204020204" pitchFamily="34" charset="-122"/>
                <a:ea typeface="微软雅黑" panose="020B0503020204020204" pitchFamily="34" charset="-122"/>
              </a:rPr>
              <a:t>3</a:t>
            </a:r>
            <a:r>
              <a:rPr lang="en-US" sz="2400" smtClean="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部分准备金</a:t>
            </a:r>
            <a:r>
              <a:rPr lang="zh-CN" sz="2400" smtClean="0">
                <a:solidFill>
                  <a:srgbClr val="002060"/>
                </a:solidFill>
                <a:latin typeface="微软雅黑" panose="020B0503020204020204" pitchFamily="34" charset="-122"/>
                <a:ea typeface="微软雅黑" panose="020B0503020204020204" pitchFamily="34" charset="-122"/>
              </a:rPr>
              <a:t>制度</a:t>
            </a:r>
            <a:endParaRPr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814"/>
                                        </p:tgtEl>
                                        <p:attrNameLst>
                                          <p:attrName>style.visibility</p:attrName>
                                        </p:attrNameLst>
                                      </p:cBhvr>
                                      <p:to>
                                        <p:strVal val="visible"/>
                                      </p:to>
                                    </p:set>
                                    <p:animEffect transition="in" filter="fade">
                                      <p:cBhvr>
                                        <p:cTn id="7" dur="500"/>
                                        <p:tgtEl>
                                          <p:spTgt spid="161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332740" y="1135366"/>
            <a:ext cx="7746365" cy="553037"/>
          </a:xfrm>
          <a:prstGeom prst="rect">
            <a:avLst/>
          </a:prstGeom>
          <a:noFill/>
        </p:spPr>
        <p:txBody>
          <a:bodyPr wrap="square" rtlCol="0">
            <a:spAutoFit/>
          </a:bodyPr>
          <a:lstStyle/>
          <a:p>
            <a:pPr indent="0" algn="l">
              <a:lnSpc>
                <a:spcPct val="140000"/>
              </a:lnSpc>
              <a:buFont typeface="Wingdings" panose="05000000000000000000" charset="0"/>
              <a:buNone/>
            </a:pPr>
            <a:r>
              <a:rPr lang="en-US" sz="2400">
                <a:solidFill>
                  <a:srgbClr val="002060"/>
                </a:solidFill>
                <a:latin typeface="微软雅黑" panose="020B0503020204020204" pitchFamily="34" charset="-122"/>
                <a:ea typeface="微软雅黑" panose="020B0503020204020204" pitchFamily="34" charset="-122"/>
              </a:rPr>
              <a:t>3</a:t>
            </a:r>
            <a:r>
              <a:rPr sz="2400" dirty="0">
                <a:solidFill>
                  <a:srgbClr val="002060"/>
                </a:solidFill>
                <a:latin typeface="微软雅黑" panose="020B0503020204020204" pitchFamily="34" charset="-122"/>
                <a:ea typeface="微软雅黑" panose="020B0503020204020204" pitchFamily="34" charset="-122"/>
              </a:rPr>
              <a:t>：</a:t>
            </a:r>
            <a:r>
              <a:rPr lang="zh-CN" sz="2400">
                <a:solidFill>
                  <a:srgbClr val="002060"/>
                </a:solidFill>
                <a:latin typeface="微软雅黑" panose="020B0503020204020204" pitchFamily="34" charset="-122"/>
                <a:ea typeface="微软雅黑" panose="020B0503020204020204" pitchFamily="34" charset="-122"/>
              </a:rPr>
              <a:t>部分</a:t>
            </a:r>
            <a:r>
              <a:rPr sz="2400" smtClean="0">
                <a:solidFill>
                  <a:srgbClr val="002060"/>
                </a:solidFill>
                <a:latin typeface="微软雅黑" panose="020B0503020204020204" pitchFamily="34" charset="-122"/>
                <a:ea typeface="微软雅黑" panose="020B0503020204020204" pitchFamily="34" charset="-122"/>
              </a:rPr>
              <a:t>准备金</a:t>
            </a:r>
            <a:r>
              <a:rPr lang="zh-CN" sz="2400" smtClean="0">
                <a:solidFill>
                  <a:srgbClr val="002060"/>
                </a:solidFill>
                <a:latin typeface="微软雅黑" panose="020B0503020204020204" pitchFamily="34" charset="-122"/>
                <a:ea typeface="微软雅黑" panose="020B0503020204020204" pitchFamily="34" charset="-122"/>
              </a:rPr>
              <a:t>制度</a:t>
            </a:r>
            <a:endParaRPr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161814" name="Group 22"/>
          <p:cNvGraphicFramePr>
            <a:graphicFrameLocks noGrp="1"/>
          </p:cNvGraphicFramePr>
          <p:nvPr>
            <p:custDataLst>
              <p:tags r:id="rId3"/>
            </p:custDataLst>
          </p:nvPr>
        </p:nvGraphicFramePr>
        <p:xfrm>
          <a:off x="1547664" y="1772816"/>
          <a:ext cx="5762625" cy="2158365"/>
        </p:xfrm>
        <a:graphic>
          <a:graphicData uri="http://schemas.openxmlformats.org/drawingml/2006/table">
            <a:tbl>
              <a:tblPr/>
              <a:tblGrid>
                <a:gridCol w="2881313"/>
                <a:gridCol w="2881312"/>
              </a:tblGrid>
              <a:tr h="549275">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第三国民银行</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a:noFill/>
                    </a:lnB>
                    <a:lnTlToBr>
                      <a:noFill/>
                    </a:lnTlToBr>
                    <a:lnBlToTr>
                      <a:noFill/>
                    </a:lnBlToTr>
                    <a:solidFill>
                      <a:srgbClr val="FFC000"/>
                    </a:solidFill>
                  </a:tcPr>
                </a:tc>
                <a:tc hMerge="1">
                  <a:tcPr/>
                </a:tc>
              </a:tr>
              <a:tr h="492125">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资产</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负债</a:t>
                      </a:r>
                      <a:endParaRPr lang="zh-CN" alt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r>
              <a:tr h="1116965">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准备金     </a:t>
                      </a:r>
                      <a:r>
                        <a:rPr lang="en-US" sz="2400" kern="1200" smtClean="0">
                          <a:solidFill>
                            <a:srgbClr val="002060"/>
                          </a:solidFill>
                          <a:latin typeface="微软雅黑" panose="020B0503020204020204" pitchFamily="34" charset="-122"/>
                          <a:ea typeface="微软雅黑" panose="020B0503020204020204" pitchFamily="34" charset="-122"/>
                          <a:cs typeface="+mn-cs"/>
                        </a:rPr>
                        <a:t>8.10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贷款</a:t>
                      </a:r>
                      <a:r>
                        <a:rPr lang="en-US" sz="2400" kern="1200" smtClean="0">
                          <a:solidFill>
                            <a:srgbClr val="002060"/>
                          </a:solidFill>
                          <a:latin typeface="微软雅黑" panose="020B0503020204020204" pitchFamily="34" charset="-122"/>
                          <a:ea typeface="微软雅黑" panose="020B0503020204020204" pitchFamily="34" charset="-122"/>
                          <a:cs typeface="+mn-cs"/>
                        </a:rPr>
                        <a:t>        72.90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81</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r>
            </a:tbl>
          </a:graphicData>
        </a:graphic>
      </p:graphicFrame>
      <p:sp>
        <p:nvSpPr>
          <p:cNvPr id="5" name="文本框 4"/>
          <p:cNvSpPr txBox="1"/>
          <p:nvPr/>
        </p:nvSpPr>
        <p:spPr>
          <a:xfrm>
            <a:off x="395536" y="4149080"/>
            <a:ext cx="8573963" cy="1554272"/>
          </a:xfrm>
          <a:prstGeom prst="rect">
            <a:avLst/>
          </a:prstGeom>
          <a:noFill/>
        </p:spPr>
        <p:txBody>
          <a:bodyPr wrap="square" rtlCol="0" anchor="t">
            <a:spAutoFit/>
          </a:bodyPr>
          <a:lstStyle/>
          <a:p>
            <a:pPr marL="800100" lvl="1" indent="-342900">
              <a:lnSpc>
                <a:spcPts val="38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第二国民银行的借款人将 </a:t>
            </a:r>
            <a:r>
              <a:rPr lang="en-US" altLang="zh-CN" sz="2400">
                <a:solidFill>
                  <a:srgbClr val="002060"/>
                </a:solidFill>
                <a:latin typeface="微软雅黑" panose="020B0503020204020204" pitchFamily="34" charset="-122"/>
                <a:ea typeface="微软雅黑" panose="020B0503020204020204" pitchFamily="34" charset="-122"/>
              </a:rPr>
              <a:t>81 </a:t>
            </a:r>
            <a:r>
              <a:rPr lang="zh-CN" altLang="en-US" sz="2400">
                <a:solidFill>
                  <a:srgbClr val="002060"/>
                </a:solidFill>
                <a:latin typeface="微软雅黑" panose="020B0503020204020204" pitchFamily="34" charset="-122"/>
                <a:ea typeface="微软雅黑" panose="020B0503020204020204" pitchFamily="34" charset="-122"/>
              </a:rPr>
              <a:t>元存入第三国民银行。</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lang="zh-CN" altLang="en-US" sz="2400" smtClean="0">
                <a:solidFill>
                  <a:srgbClr val="002060"/>
                </a:solidFill>
                <a:latin typeface="微软雅黑" panose="020B0503020204020204" pitchFamily="34" charset="-122"/>
                <a:ea typeface="微软雅黑" panose="020B0503020204020204" pitchFamily="34" charset="-122"/>
              </a:rPr>
              <a:t>因为</a:t>
            </a:r>
            <a:r>
              <a:rPr sz="2400" smtClean="0">
                <a:solidFill>
                  <a:srgbClr val="002060"/>
                </a:solidFill>
                <a:latin typeface="微软雅黑" panose="020B0503020204020204" pitchFamily="34" charset="-122"/>
                <a:ea typeface="微软雅黑" panose="020B0503020204020204" pitchFamily="34" charset="-122"/>
              </a:rPr>
              <a:t>R </a:t>
            </a:r>
            <a:r>
              <a:rPr sz="2400" dirty="0">
                <a:solidFill>
                  <a:srgbClr val="002060"/>
                </a:solidFill>
                <a:latin typeface="微软雅黑" panose="020B0503020204020204" pitchFamily="34" charset="-122"/>
                <a:ea typeface="微软雅黑" panose="020B0503020204020204" pitchFamily="34" charset="-122"/>
              </a:rPr>
              <a:t>= </a:t>
            </a:r>
            <a:r>
              <a:rPr sz="2400">
                <a:solidFill>
                  <a:srgbClr val="002060"/>
                </a:solidFill>
                <a:latin typeface="微软雅黑" panose="020B0503020204020204" pitchFamily="34" charset="-122"/>
                <a:ea typeface="微软雅黑" panose="020B0503020204020204" pitchFamily="34" charset="-122"/>
              </a:rPr>
              <a:t>10</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第三国民银行</a:t>
            </a:r>
            <a:r>
              <a:rPr sz="2400" smtClean="0">
                <a:solidFill>
                  <a:srgbClr val="002060"/>
                </a:solidFill>
                <a:latin typeface="微软雅黑" panose="020B0503020204020204" pitchFamily="34" charset="-122"/>
                <a:ea typeface="微软雅黑" panose="020B0503020204020204" pitchFamily="34" charset="-122"/>
              </a:rPr>
              <a:t>将贷出除 </a:t>
            </a:r>
            <a:r>
              <a:rPr sz="2400" dirty="0">
                <a:solidFill>
                  <a:srgbClr val="002060"/>
                </a:solidFill>
                <a:latin typeface="微软雅黑" panose="020B0503020204020204" pitchFamily="34" charset="-122"/>
                <a:ea typeface="微软雅黑" panose="020B0503020204020204" pitchFamily="34" charset="-122"/>
              </a:rPr>
              <a:t>10% 以外的所有存款。</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10" name="图片 9" descr="logo-VI系统0630-PPT-12.png"/>
          <p:cNvPicPr>
            <a:picLocks noChangeAspect="1"/>
          </p:cNvPicPr>
          <p:nvPr/>
        </p:nvPicPr>
        <p:blipFill>
          <a:blip r:embed="rId4" cstate="print"/>
          <a:stretch>
            <a:fillRect/>
          </a:stretch>
        </p:blipFill>
        <p:spPr>
          <a:xfrm>
            <a:off x="433281" y="6286520"/>
            <a:ext cx="1495513" cy="288536"/>
          </a:xfrm>
          <a:prstGeom prst="rect">
            <a:avLst/>
          </a:prstGeom>
        </p:spPr>
      </p:pic>
      <p:sp>
        <p:nvSpPr>
          <p:cNvPr id="11"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814"/>
                                        </p:tgtEl>
                                        <p:attrNameLst>
                                          <p:attrName>style.visibility</p:attrName>
                                        </p:attrNameLst>
                                      </p:cBhvr>
                                      <p:to>
                                        <p:strVal val="visible"/>
                                      </p:to>
                                    </p:set>
                                    <p:animEffect transition="in" filter="fade">
                                      <p:cBhvr>
                                        <p:cTn id="7" dur="500"/>
                                        <p:tgtEl>
                                          <p:spTgt spid="161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8022" name="Rectangle 22"/>
          <p:cNvSpPr>
            <a:spLocks noChangeArrowheads="1"/>
          </p:cNvSpPr>
          <p:nvPr/>
        </p:nvSpPr>
        <p:spPr bwMode="auto">
          <a:xfrm>
            <a:off x="527050" y="1741805"/>
            <a:ext cx="8293422"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5000"/>
              </a:lnSpc>
              <a:spcBef>
                <a:spcPct val="20000"/>
              </a:spcBef>
              <a:buClr>
                <a:srgbClr val="00B85C"/>
              </a:buClr>
              <a:buSzPct val="120000"/>
              <a:buFont typeface="Wingdings" panose="05000000000000000000" pitchFamily="2" charset="2"/>
              <a:buNone/>
            </a:pPr>
            <a:r>
              <a:rPr sz="2400" dirty="0">
                <a:solidFill>
                  <a:srgbClr val="002060"/>
                </a:solidFill>
                <a:latin typeface="思源黑体 CN Bold" panose="020B0800000000000000" pitchFamily="34" charset="-122"/>
                <a:ea typeface="思源黑体 CN Bold" panose="020B0800000000000000" pitchFamily="34" charset="-122"/>
              </a:rPr>
              <a:t>这个过程继续进行</a:t>
            </a:r>
            <a:r>
              <a:rPr sz="2400">
                <a:solidFill>
                  <a:srgbClr val="002060"/>
                </a:solidFill>
                <a:latin typeface="思源黑体 CN Bold" panose="020B0800000000000000" pitchFamily="34" charset="-122"/>
                <a:ea typeface="思源黑体 CN Bold" panose="020B0800000000000000" pitchFamily="34" charset="-122"/>
              </a:rPr>
              <a:t>，</a:t>
            </a:r>
            <a:r>
              <a:rPr sz="2400" smtClean="0">
                <a:solidFill>
                  <a:srgbClr val="002060"/>
                </a:solidFill>
                <a:latin typeface="思源黑体 CN Bold" panose="020B0800000000000000" pitchFamily="34" charset="-122"/>
                <a:ea typeface="思源黑体 CN Bold" panose="020B0800000000000000" pitchFamily="34" charset="-122"/>
              </a:rPr>
              <a:t>每笔新贷款都会创造</a:t>
            </a:r>
            <a:r>
              <a:rPr lang="zh-CN" altLang="en-US" sz="2400" smtClean="0">
                <a:solidFill>
                  <a:srgbClr val="002060"/>
                </a:solidFill>
                <a:latin typeface="思源黑体 CN Bold" panose="020B0800000000000000" pitchFamily="34" charset="-122"/>
                <a:ea typeface="思源黑体 CN Bold" panose="020B0800000000000000" pitchFamily="34" charset="-122"/>
              </a:rPr>
              <a:t>货币</a:t>
            </a:r>
            <a:r>
              <a:rPr sz="2400" smtClean="0">
                <a:solidFill>
                  <a:srgbClr val="002060"/>
                </a:solidFill>
                <a:latin typeface="思源黑体 CN Bold" panose="020B0800000000000000" pitchFamily="34" charset="-122"/>
                <a:ea typeface="思源黑体 CN Bold" panose="020B0800000000000000" pitchFamily="34" charset="-122"/>
              </a:rPr>
              <a:t>。 </a:t>
            </a:r>
            <a:r>
              <a:rPr sz="2400">
                <a:solidFill>
                  <a:srgbClr val="002060"/>
                </a:solidFill>
                <a:latin typeface="思源黑体 CN Bold" panose="020B0800000000000000" pitchFamily="34" charset="-122"/>
                <a:ea typeface="思源黑体 CN Bold" panose="020B0800000000000000" pitchFamily="34" charset="-122"/>
              </a:rPr>
              <a:t>(</a:t>
            </a:r>
            <a:r>
              <a:rPr sz="2400" smtClean="0">
                <a:solidFill>
                  <a:srgbClr val="002060"/>
                </a:solidFill>
                <a:latin typeface="思源黑体 CN Bold" panose="020B0800000000000000" pitchFamily="34" charset="-122"/>
                <a:ea typeface="思源黑体 CN Bold" panose="020B0800000000000000" pitchFamily="34" charset="-122"/>
              </a:rPr>
              <a:t>一个等比数列</a:t>
            </a:r>
            <a:r>
              <a:rPr lang="zh-CN" altLang="en-US" sz="2400" smtClean="0">
                <a:solidFill>
                  <a:srgbClr val="002060"/>
                </a:solidFill>
                <a:latin typeface="思源黑体 CN Bold" panose="020B0800000000000000" pitchFamily="34" charset="-122"/>
                <a:ea typeface="思源黑体 CN Bold" panose="020B0800000000000000" pitchFamily="34" charset="-122"/>
              </a:rPr>
              <a:t>，如下</a:t>
            </a:r>
            <a:r>
              <a:rPr sz="2400" smtClean="0">
                <a:solidFill>
                  <a:srgbClr val="002060"/>
                </a:solidFill>
                <a:latin typeface="思源黑体 CN Bold" panose="020B0800000000000000" pitchFamily="34" charset="-122"/>
                <a:ea typeface="思源黑体 CN Bold" panose="020B0800000000000000" pitchFamily="34" charset="-122"/>
              </a:rPr>
              <a:t>)</a:t>
            </a:r>
            <a:endParaRPr sz="2400" dirty="0">
              <a:solidFill>
                <a:srgbClr val="002060"/>
              </a:solidFill>
              <a:latin typeface="思源黑体 CN Bold" panose="020B0800000000000000" pitchFamily="34" charset="-122"/>
              <a:ea typeface="思源黑体 CN Bold" panose="020B0800000000000000" pitchFamily="34" charset="-122"/>
            </a:endParaRPr>
          </a:p>
        </p:txBody>
      </p:sp>
      <p:graphicFrame>
        <p:nvGraphicFramePr>
          <p:cNvPr id="128146" name="Group 146"/>
          <p:cNvGraphicFramePr>
            <a:graphicFrameLocks noGrp="1"/>
          </p:cNvGraphicFramePr>
          <p:nvPr>
            <p:custDataLst>
              <p:tags r:id="rId1"/>
            </p:custDataLst>
          </p:nvPr>
        </p:nvGraphicFramePr>
        <p:xfrm>
          <a:off x="539552" y="2564904"/>
          <a:ext cx="4521449" cy="3184525"/>
        </p:xfrm>
        <a:graphic>
          <a:graphicData uri="http://schemas.openxmlformats.org/drawingml/2006/table">
            <a:tbl>
              <a:tblPr/>
              <a:tblGrid>
                <a:gridCol w="2925194"/>
                <a:gridCol w="1596255"/>
              </a:tblGrid>
              <a:tr h="2646362">
                <a:tc>
                  <a:txBody>
                    <a:bodyPr/>
                    <a:lstStyle/>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最初的</a:t>
                      </a: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第一国民贷款</a:t>
                      </a:r>
                      <a:r>
                        <a:rPr lang="en-US" sz="2400" kern="1200" smtClean="0">
                          <a:solidFill>
                            <a:srgbClr val="002060"/>
                          </a:solidFill>
                          <a:latin typeface="微软雅黑" panose="020B0503020204020204" pitchFamily="34" charset="-122"/>
                          <a:ea typeface="微软雅黑" panose="020B0503020204020204" pitchFamily="34" charset="-122"/>
                          <a:cs typeface="+mn-cs"/>
                        </a:rPr>
                        <a:t>  </a:t>
                      </a:r>
                      <a:r>
                        <a:rPr lang="en-US" sz="2400" kern="1200" dirty="0" smtClean="0">
                          <a:solidFill>
                            <a:srgbClr val="002060"/>
                          </a:solidFill>
                          <a:latin typeface="微软雅黑" panose="020B0503020204020204" pitchFamily="34" charset="-122"/>
                          <a:ea typeface="微软雅黑" panose="020B0503020204020204" pitchFamily="34" charset="-122"/>
                          <a:cs typeface="+mn-cs"/>
                        </a:rPr>
                        <a:t>=</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第二国民贷款</a:t>
                      </a:r>
                      <a:r>
                        <a:rPr lang="en-US" sz="2400" kern="1200" smtClean="0">
                          <a:solidFill>
                            <a:srgbClr val="002060"/>
                          </a:solidFill>
                          <a:latin typeface="微软雅黑" panose="020B0503020204020204" pitchFamily="34" charset="-122"/>
                          <a:ea typeface="微软雅黑" panose="020B0503020204020204" pitchFamily="34" charset="-122"/>
                          <a:cs typeface="+mn-cs"/>
                        </a:rPr>
                        <a:t>  </a:t>
                      </a:r>
                      <a:r>
                        <a:rPr lang="en-US" sz="2400" kern="1200" dirty="0" smtClean="0">
                          <a:solidFill>
                            <a:srgbClr val="002060"/>
                          </a:solidFill>
                          <a:latin typeface="微软雅黑" panose="020B0503020204020204" pitchFamily="34" charset="-122"/>
                          <a:ea typeface="微软雅黑" panose="020B0503020204020204" pitchFamily="34" charset="-122"/>
                          <a:cs typeface="+mn-cs"/>
                        </a:rPr>
                        <a:t>= </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第三国民贷款</a:t>
                      </a:r>
                      <a:r>
                        <a:rPr lang="en-US" sz="2400" kern="1200" smtClean="0">
                          <a:solidFill>
                            <a:srgbClr val="002060"/>
                          </a:solidFill>
                          <a:latin typeface="微软雅黑" panose="020B0503020204020204" pitchFamily="34" charset="-122"/>
                          <a:ea typeface="微软雅黑" panose="020B0503020204020204" pitchFamily="34" charset="-122"/>
                          <a:cs typeface="+mn-cs"/>
                        </a:rPr>
                        <a:t>  = </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40000"/>
                        </a:lnSpc>
                        <a:spcBef>
                          <a:spcPct val="0"/>
                        </a:spcBef>
                        <a:spcAft>
                          <a:spcPct val="0"/>
                        </a:spcAft>
                        <a:buClr>
                          <a:srgbClr val="339966"/>
                        </a:buClr>
                        <a:buSzPct val="120000"/>
                        <a:buFont typeface="Wingdings" panose="05000000000000000000" pitchFamily="2" charset="2"/>
                        <a:buNone/>
                      </a:pPr>
                      <a:r>
                        <a:rPr lang="en-US" sz="2400" kern="1200" dirty="0" smtClean="0">
                          <a:solidFill>
                            <a:srgbClr val="002060"/>
                          </a:solidFill>
                          <a:latin typeface="微软雅黑" panose="020B0503020204020204" pitchFamily="34" charset="-122"/>
                          <a:ea typeface="微软雅黑" panose="020B0503020204020204" pitchFamily="34" charset="-122"/>
                          <a:cs typeface="+mn-cs"/>
                        </a:rPr>
                        <a:t>.</a:t>
                      </a:r>
                      <a:br>
                        <a:rPr lang="en-US" sz="2400" kern="1200" dirty="0" smtClean="0">
                          <a:solidFill>
                            <a:srgbClr val="002060"/>
                          </a:solidFill>
                          <a:latin typeface="微软雅黑" panose="020B0503020204020204" pitchFamily="34" charset="-122"/>
                          <a:ea typeface="微软雅黑" panose="020B0503020204020204" pitchFamily="34" charset="-122"/>
                          <a:cs typeface="+mn-cs"/>
                        </a:rPr>
                      </a:br>
                      <a:r>
                        <a:rPr lang="en-US" sz="2400" kern="1200" dirty="0" smtClean="0">
                          <a:solidFill>
                            <a:srgbClr val="002060"/>
                          </a:solidFill>
                          <a:latin typeface="微软雅黑" panose="020B0503020204020204" pitchFamily="34" charset="-122"/>
                          <a:ea typeface="微软雅黑" panose="020B0503020204020204" pitchFamily="34" charset="-122"/>
                          <a:cs typeface="+mn-cs"/>
                        </a:rPr>
                        <a:t>.</a:t>
                      </a:r>
                      <a:br>
                        <a:rPr lang="en-US" sz="2400" kern="1200" dirty="0" smtClean="0">
                          <a:solidFill>
                            <a:srgbClr val="002060"/>
                          </a:solidFill>
                          <a:latin typeface="微软雅黑" panose="020B0503020204020204" pitchFamily="34" charset="-122"/>
                          <a:ea typeface="微软雅黑" panose="020B0503020204020204" pitchFamily="34" charset="-122"/>
                          <a:cs typeface="+mn-cs"/>
                        </a:rPr>
                      </a:br>
                      <a:r>
                        <a:rPr lang="en-US" sz="2400" kern="1200" dirty="0" smtClean="0">
                          <a:solidFill>
                            <a:srgbClr val="002060"/>
                          </a:solidFill>
                          <a:latin typeface="微软雅黑" panose="020B0503020204020204" pitchFamily="34" charset="-122"/>
                          <a:ea typeface="微软雅黑" panose="020B0503020204020204" pitchFamily="34" charset="-122"/>
                          <a:cs typeface="+mn-cs"/>
                        </a:rPr>
                        <a:t>.</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tabLst>
                          <a:tab pos="58420" algn="l"/>
                          <a:tab pos="914400" algn="dec"/>
                        </a:tabLst>
                      </a:pP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tabLst>
                          <a:tab pos="58420" algn="l"/>
                          <a:tab pos="914400" algn="dec"/>
                        </a:tabLst>
                      </a:pPr>
                      <a:r>
                        <a:rPr lang="en-US" sz="2400" kern="1200" smtClean="0">
                          <a:solidFill>
                            <a:srgbClr val="002060"/>
                          </a:solidFill>
                          <a:latin typeface="微软雅黑" panose="020B0503020204020204" pitchFamily="34" charset="-122"/>
                          <a:ea typeface="微软雅黑" panose="020B0503020204020204" pitchFamily="34" charset="-122"/>
                          <a:cs typeface="+mn-cs"/>
                        </a:rPr>
                        <a:t>	90</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tabLst>
                          <a:tab pos="58420" algn="l"/>
                          <a:tab pos="914400" algn="dec"/>
                        </a:tabLst>
                      </a:pPr>
                      <a:r>
                        <a:rPr lang="en-US" sz="2400" kern="1200" smtClean="0">
                          <a:solidFill>
                            <a:srgbClr val="002060"/>
                          </a:solidFill>
                          <a:latin typeface="微软雅黑" panose="020B0503020204020204" pitchFamily="34" charset="-122"/>
                          <a:ea typeface="微软雅黑" panose="020B0503020204020204" pitchFamily="34" charset="-122"/>
                          <a:cs typeface="+mn-cs"/>
                        </a:rPr>
                        <a:t>	81</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5000"/>
                        </a:lnSpc>
                        <a:spcBef>
                          <a:spcPct val="20000"/>
                        </a:spcBef>
                        <a:spcAft>
                          <a:spcPct val="0"/>
                        </a:spcAft>
                        <a:buClr>
                          <a:srgbClr val="339966"/>
                        </a:buClr>
                        <a:buSzPct val="120000"/>
                        <a:buFont typeface="Wingdings" panose="05000000000000000000" pitchFamily="2" charset="2"/>
                        <a:buNone/>
                        <a:tabLst>
                          <a:tab pos="58420" algn="l"/>
                          <a:tab pos="914400" algn="dec"/>
                        </a:tabLst>
                      </a:pPr>
                      <a:r>
                        <a:rPr lang="en-US" sz="2400" kern="1200" smtClean="0">
                          <a:solidFill>
                            <a:srgbClr val="002060"/>
                          </a:solidFill>
                          <a:latin typeface="微软雅黑" panose="020B0503020204020204" pitchFamily="34" charset="-122"/>
                          <a:ea typeface="微软雅黑" panose="020B0503020204020204" pitchFamily="34" charset="-122"/>
                          <a:cs typeface="+mn-cs"/>
                        </a:rPr>
                        <a:t>	72</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40000"/>
                        </a:lnSpc>
                        <a:spcBef>
                          <a:spcPct val="0"/>
                        </a:spcBef>
                        <a:spcAft>
                          <a:spcPct val="0"/>
                        </a:spcAft>
                        <a:buClr>
                          <a:srgbClr val="339966"/>
                        </a:buClr>
                        <a:buSzPct val="120000"/>
                        <a:buFont typeface="Wingdings" panose="05000000000000000000" pitchFamily="2" charset="2"/>
                        <a:buNone/>
                        <a:tabLst>
                          <a:tab pos="58420" algn="l"/>
                          <a:tab pos="914400" algn="dec"/>
                        </a:tabLst>
                      </a:pPr>
                      <a:r>
                        <a:rPr lang="en-US" sz="2400" kern="1200" smtClean="0">
                          <a:solidFill>
                            <a:srgbClr val="002060"/>
                          </a:solidFill>
                          <a:latin typeface="微软雅黑" panose="020B0503020204020204" pitchFamily="34" charset="-122"/>
                          <a:ea typeface="微软雅黑" panose="020B0503020204020204" pitchFamily="34" charset="-122"/>
                          <a:cs typeface="+mn-cs"/>
                        </a:rPr>
                        <a:t>.</a:t>
                      </a:r>
                      <a:br>
                        <a:rPr lang="en-US" sz="2400" kern="1200" smtClean="0">
                          <a:solidFill>
                            <a:srgbClr val="002060"/>
                          </a:solidFill>
                          <a:latin typeface="微软雅黑" panose="020B0503020204020204" pitchFamily="34" charset="-122"/>
                          <a:ea typeface="微软雅黑" panose="020B0503020204020204" pitchFamily="34" charset="-122"/>
                          <a:cs typeface="+mn-cs"/>
                        </a:rPr>
                      </a:br>
                      <a:r>
                        <a:rPr lang="en-US" sz="2400" kern="1200" smtClean="0">
                          <a:solidFill>
                            <a:srgbClr val="002060"/>
                          </a:solidFill>
                          <a:latin typeface="微软雅黑" panose="020B0503020204020204" pitchFamily="34" charset="-122"/>
                          <a:ea typeface="微软雅黑" panose="020B0503020204020204" pitchFamily="34" charset="-122"/>
                          <a:cs typeface="+mn-cs"/>
                        </a:rPr>
                        <a:t>.</a:t>
                      </a:r>
                      <a:br>
                        <a:rPr lang="en-US" sz="2400" kern="1200" smtClean="0">
                          <a:solidFill>
                            <a:srgbClr val="002060"/>
                          </a:solidFill>
                          <a:latin typeface="微软雅黑" panose="020B0503020204020204" pitchFamily="34" charset="-122"/>
                          <a:ea typeface="微软雅黑" panose="020B0503020204020204" pitchFamily="34" charset="-122"/>
                          <a:cs typeface="+mn-cs"/>
                        </a:rPr>
                      </a:br>
                      <a:r>
                        <a:rPr lang="en-US" sz="2400" kern="1200" smtClean="0">
                          <a:solidFill>
                            <a:srgbClr val="002060"/>
                          </a:solidFill>
                          <a:latin typeface="微软雅黑" panose="020B0503020204020204" pitchFamily="34" charset="-122"/>
                          <a:ea typeface="微软雅黑" panose="020B0503020204020204" pitchFamily="34" charset="-122"/>
                          <a:cs typeface="+mn-cs"/>
                        </a:rPr>
                        <a:t>.</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txBody>
                  <a:tcPr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53816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总货币供给</a:t>
                      </a:r>
                      <a:r>
                        <a:rPr lang="en-US" sz="2400" kern="1200" smtClean="0">
                          <a:solidFill>
                            <a:srgbClr val="002060"/>
                          </a:solidFill>
                          <a:latin typeface="微软雅黑" panose="020B0503020204020204" pitchFamily="34" charset="-122"/>
                          <a:ea typeface="微软雅黑" panose="020B0503020204020204" pitchFamily="34" charset="-122"/>
                          <a:cs typeface="+mn-cs"/>
                        </a:rPr>
                        <a:t>     =</a:t>
                      </a:r>
                      <a:endParaRPr lang="en-US" sz="2400" kern="120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tab pos="58420" algn="l"/>
                          <a:tab pos="914400" algn="dec"/>
                        </a:tabLst>
                      </a:pPr>
                      <a:r>
                        <a:rPr lang="en-US" sz="2400" kern="1200" smtClean="0">
                          <a:solidFill>
                            <a:srgbClr val="002060"/>
                          </a:solidFill>
                          <a:latin typeface="微软雅黑" panose="020B0503020204020204" pitchFamily="34" charset="-122"/>
                          <a:ea typeface="微软雅黑" panose="020B0503020204020204" pitchFamily="34" charset="-122"/>
                          <a:cs typeface="+mn-cs"/>
                        </a:rPr>
                        <a:t>		1000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bl>
          </a:graphicData>
        </a:graphic>
      </p:graphicFrame>
      <p:sp>
        <p:nvSpPr>
          <p:cNvPr id="128140" name="Text Box 140"/>
          <p:cNvSpPr txBox="1">
            <a:spLocks noChangeArrowheads="1"/>
          </p:cNvSpPr>
          <p:nvPr/>
        </p:nvSpPr>
        <p:spPr bwMode="auto">
          <a:xfrm>
            <a:off x="5580112" y="2708920"/>
            <a:ext cx="2664296" cy="1403461"/>
          </a:xfrm>
          <a:prstGeom prst="rect">
            <a:avLst/>
          </a:prstGeom>
          <a:solidFill>
            <a:schemeClr val="bg1"/>
          </a:solidFill>
          <a:ln w="9525">
            <a:noFill/>
            <a:miter lim="800000"/>
          </a:ln>
          <a:effectLst>
            <a:outerShdw blurRad="50800" dist="38100" dir="2700000" algn="tl" rotWithShape="0">
              <a:prstClr val="black">
                <a:alpha val="40000"/>
              </a:prstClr>
            </a:outerShdw>
          </a:effectLst>
        </p:spPr>
        <p:txBody>
          <a:bodyPr wrap="square" tIns="91440" bIns="91440">
            <a:spAutoFit/>
          </a:bodyPr>
          <a:lstStyle/>
          <a:p>
            <a:pPr>
              <a:lnSpc>
                <a:spcPct val="110000"/>
              </a:lnSpc>
              <a:spcBef>
                <a:spcPct val="50000"/>
              </a:spcBef>
              <a:defRPr/>
            </a:pPr>
            <a:r>
              <a:rPr lang="en-US" sz="2400" dirty="0">
                <a:latin typeface="微软雅黑" panose="020B0503020204020204" pitchFamily="34" charset="-122"/>
                <a:ea typeface="微软雅黑" panose="020B0503020204020204" pitchFamily="34" charset="-122"/>
                <a:cs typeface="Arial" panose="020B0604020202020204"/>
              </a:rPr>
              <a:t>在这个例子中，</a:t>
            </a:r>
            <a:r>
              <a:rPr lang="en-US" sz="2400">
                <a:latin typeface="微软雅黑" panose="020B0503020204020204" pitchFamily="34" charset="-122"/>
                <a:ea typeface="微软雅黑" panose="020B0503020204020204" pitchFamily="34" charset="-122"/>
                <a:cs typeface="Arial" panose="020B0604020202020204"/>
              </a:rPr>
              <a:t>100 </a:t>
            </a:r>
            <a:r>
              <a:rPr lang="en-US" sz="2400" smtClean="0">
                <a:latin typeface="微软雅黑" panose="020B0503020204020204" pitchFamily="34" charset="-122"/>
                <a:ea typeface="微软雅黑" panose="020B0503020204020204" pitchFamily="34" charset="-122"/>
                <a:cs typeface="Arial" panose="020B0604020202020204"/>
              </a:rPr>
              <a:t>元的</a:t>
            </a:r>
            <a:r>
              <a:rPr lang="zh-CN" altLang="en-US" sz="2400" smtClean="0">
                <a:latin typeface="微软雅黑" panose="020B0503020204020204" pitchFamily="34" charset="-122"/>
                <a:ea typeface="微软雅黑" panose="020B0503020204020204" pitchFamily="34" charset="-122"/>
                <a:cs typeface="Arial" panose="020B0604020202020204"/>
              </a:rPr>
              <a:t>存款</a:t>
            </a:r>
            <a:r>
              <a:rPr lang="en-US" sz="2400" smtClean="0">
                <a:latin typeface="微软雅黑" panose="020B0503020204020204" pitchFamily="34" charset="-122"/>
                <a:ea typeface="微软雅黑" panose="020B0503020204020204" pitchFamily="34" charset="-122"/>
                <a:cs typeface="Arial" panose="020B0604020202020204"/>
              </a:rPr>
              <a:t>产生 </a:t>
            </a:r>
            <a:r>
              <a:rPr lang="en-US" sz="2400">
                <a:latin typeface="微软雅黑" panose="020B0503020204020204" pitchFamily="34" charset="-122"/>
                <a:ea typeface="微软雅黑" panose="020B0503020204020204" pitchFamily="34" charset="-122"/>
                <a:cs typeface="Arial" panose="020B0604020202020204"/>
              </a:rPr>
              <a:t>1000 </a:t>
            </a:r>
            <a:r>
              <a:rPr lang="en-US" sz="2400" smtClean="0">
                <a:latin typeface="微软雅黑" panose="020B0503020204020204" pitchFamily="34" charset="-122"/>
                <a:ea typeface="微软雅黑" panose="020B0503020204020204" pitchFamily="34" charset="-122"/>
                <a:cs typeface="Arial" panose="020B0604020202020204"/>
              </a:rPr>
              <a:t>元的</a:t>
            </a:r>
            <a:r>
              <a:rPr lang="zh-CN" altLang="en-US" sz="2400" smtClean="0">
                <a:latin typeface="微软雅黑" panose="020B0503020204020204" pitchFamily="34" charset="-122"/>
                <a:ea typeface="微软雅黑" panose="020B0503020204020204" pitchFamily="34" charset="-122"/>
                <a:cs typeface="Arial" panose="020B0604020202020204"/>
              </a:rPr>
              <a:t>货币</a:t>
            </a:r>
            <a:r>
              <a:rPr lang="en-US" sz="2400" smtClean="0">
                <a:latin typeface="微软雅黑" panose="020B0503020204020204" pitchFamily="34" charset="-122"/>
                <a:ea typeface="微软雅黑" panose="020B0503020204020204" pitchFamily="34" charset="-122"/>
                <a:cs typeface="Arial" panose="020B0604020202020204"/>
              </a:rPr>
              <a:t>。</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24590" name="FlagCount" hidden="1">
            <a:hlinkClick r:id="rId2"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3" cstate="print"/>
          <a:srcRect t="-37500" b="-37500"/>
          <a:stretch>
            <a:fillRect/>
          </a:stretch>
        </p:blipFill>
        <p:spPr bwMode="auto">
          <a:xfrm flipV="1">
            <a:off x="332711" y="994946"/>
            <a:ext cx="3960000" cy="36000"/>
          </a:xfrm>
          <a:prstGeom prst="rect">
            <a:avLst/>
          </a:prstGeom>
          <a:noFill/>
        </p:spPr>
      </p:pic>
      <p:pic>
        <p:nvPicPr>
          <p:cNvPr id="9" name="图片 8" descr="logo-VI系统0630-PPT-12.png"/>
          <p:cNvPicPr>
            <a:picLocks noChangeAspect="1"/>
          </p:cNvPicPr>
          <p:nvPr/>
        </p:nvPicPr>
        <p:blipFill>
          <a:blip r:embed="rId4" cstate="print"/>
          <a:stretch>
            <a:fillRect/>
          </a:stretch>
        </p:blipFill>
        <p:spPr>
          <a:xfrm>
            <a:off x="433281" y="6286520"/>
            <a:ext cx="1495513" cy="288536"/>
          </a:xfrm>
          <a:prstGeom prst="rect">
            <a:avLst/>
          </a:prstGeom>
        </p:spPr>
      </p:pic>
      <p:sp>
        <p:nvSpPr>
          <p:cNvPr id="10"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
        <p:nvSpPr>
          <p:cNvPr id="12" name="TextBox 16"/>
          <p:cNvSpPr txBox="1"/>
          <p:nvPr/>
        </p:nvSpPr>
        <p:spPr>
          <a:xfrm>
            <a:off x="332740" y="1135366"/>
            <a:ext cx="7746365" cy="553037"/>
          </a:xfrm>
          <a:prstGeom prst="rect">
            <a:avLst/>
          </a:prstGeom>
          <a:noFill/>
        </p:spPr>
        <p:txBody>
          <a:bodyPr wrap="square" rtlCol="0">
            <a:spAutoFit/>
          </a:bodyPr>
          <a:lstStyle/>
          <a:p>
            <a:pPr indent="0" algn="l">
              <a:lnSpc>
                <a:spcPct val="140000"/>
              </a:lnSpc>
              <a:buFont typeface="Wingdings" panose="05000000000000000000" charset="0"/>
              <a:buNone/>
            </a:pPr>
            <a:r>
              <a:rPr lang="en-US" sz="2400">
                <a:solidFill>
                  <a:srgbClr val="002060"/>
                </a:solidFill>
                <a:latin typeface="微软雅黑" panose="020B0503020204020204" pitchFamily="34" charset="-122"/>
                <a:ea typeface="微软雅黑" panose="020B0503020204020204" pitchFamily="34" charset="-122"/>
              </a:rPr>
              <a:t>3</a:t>
            </a:r>
            <a:r>
              <a:rPr sz="2400" dirty="0">
                <a:solidFill>
                  <a:srgbClr val="002060"/>
                </a:solidFill>
                <a:latin typeface="微软雅黑" panose="020B0503020204020204" pitchFamily="34" charset="-122"/>
                <a:ea typeface="微软雅黑" panose="020B0503020204020204" pitchFamily="34" charset="-122"/>
              </a:rPr>
              <a:t>：</a:t>
            </a:r>
            <a:r>
              <a:rPr lang="zh-CN" sz="2400">
                <a:solidFill>
                  <a:srgbClr val="002060"/>
                </a:solidFill>
                <a:latin typeface="微软雅黑" panose="020B0503020204020204" pitchFamily="34" charset="-122"/>
                <a:ea typeface="微软雅黑" panose="020B0503020204020204" pitchFamily="34" charset="-122"/>
              </a:rPr>
              <a:t>部分</a:t>
            </a:r>
            <a:r>
              <a:rPr sz="2400" smtClean="0">
                <a:solidFill>
                  <a:srgbClr val="002060"/>
                </a:solidFill>
                <a:latin typeface="微软雅黑" panose="020B0503020204020204" pitchFamily="34" charset="-122"/>
                <a:ea typeface="微软雅黑" panose="020B0503020204020204" pitchFamily="34" charset="-122"/>
              </a:rPr>
              <a:t>准备金</a:t>
            </a:r>
            <a:r>
              <a:rPr lang="zh-CN" sz="2400" smtClean="0">
                <a:solidFill>
                  <a:srgbClr val="002060"/>
                </a:solidFill>
                <a:latin typeface="微软雅黑" panose="020B0503020204020204" pitchFamily="34" charset="-122"/>
                <a:ea typeface="微软雅黑" panose="020B0503020204020204" pitchFamily="34" charset="-122"/>
              </a:rPr>
              <a:t>制度</a:t>
            </a:r>
            <a:endParaRPr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22"/>
                                        </p:tgtEl>
                                        <p:attrNameLst>
                                          <p:attrName>style.visibility</p:attrName>
                                        </p:attrNameLst>
                                      </p:cBhvr>
                                      <p:to>
                                        <p:strVal val="visible"/>
                                      </p:to>
                                    </p:set>
                                    <p:animEffect transition="in" filter="wipe(left)">
                                      <p:cBhvr>
                                        <p:cTn id="7" dur="500"/>
                                        <p:tgtEl>
                                          <p:spTgt spid="1280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8146"/>
                                        </p:tgtEl>
                                        <p:attrNameLst>
                                          <p:attrName>style.visibility</p:attrName>
                                        </p:attrNameLst>
                                      </p:cBhvr>
                                      <p:to>
                                        <p:strVal val="visible"/>
                                      </p:to>
                                    </p:set>
                                    <p:animEffect transition="in" filter="wipe(up)">
                                      <p:cBhvr>
                                        <p:cTn id="12" dur="500"/>
                                        <p:tgtEl>
                                          <p:spTgt spid="1281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8140"/>
                                        </p:tgtEl>
                                        <p:attrNameLst>
                                          <p:attrName>style.visibility</p:attrName>
                                        </p:attrNameLst>
                                      </p:cBhvr>
                                      <p:to>
                                        <p:strVal val="visible"/>
                                      </p:to>
                                    </p:set>
                                    <p:animEffect transition="in" filter="fade">
                                      <p:cBhvr>
                                        <p:cTn id="17" dur="500"/>
                                        <p:tgtEl>
                                          <p:spTgt spid="128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22" grpId="0"/>
      <p:bldP spid="12814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419528" y="1328272"/>
            <a:ext cx="7746365" cy="2456057"/>
          </a:xfrm>
          <a:prstGeom prst="rect">
            <a:avLst/>
          </a:prstGeom>
          <a:noFill/>
        </p:spPr>
        <p:txBody>
          <a:bodyPr wrap="square" rtlCol="0">
            <a:spAutoFit/>
          </a:bodyPr>
          <a:lstStyle/>
          <a:p>
            <a:pPr marL="342900" indent="-342900" algn="l">
              <a:lnSpc>
                <a:spcPct val="160000"/>
              </a:lnSpc>
              <a:buFont typeface="Wingdings" panose="05000000000000000000" pitchFamily="2" charset="2"/>
              <a:buChar char="Ø"/>
            </a:pPr>
            <a:r>
              <a:rPr sz="2400" smtClean="0">
                <a:solidFill>
                  <a:srgbClr val="FF0000"/>
                </a:solidFill>
                <a:latin typeface="微软雅黑" panose="020B0503020204020204" pitchFamily="34" charset="-122"/>
                <a:ea typeface="微软雅黑" panose="020B0503020204020204" pitchFamily="34" charset="-122"/>
              </a:rPr>
              <a:t>货币乘数</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银行系统每一元流动性</a:t>
            </a:r>
            <a:r>
              <a:rPr lang="zh-CN" altLang="en-US" sz="2400" smtClean="0">
                <a:solidFill>
                  <a:srgbClr val="002060"/>
                </a:solidFill>
                <a:latin typeface="微软雅黑" panose="020B0503020204020204" pitchFamily="34" charset="-122"/>
                <a:ea typeface="微软雅黑" panose="020B0503020204020204" pitchFamily="34" charset="-122"/>
              </a:rPr>
              <a:t>所</a:t>
            </a:r>
            <a:r>
              <a:rPr sz="2400" smtClean="0">
                <a:solidFill>
                  <a:srgbClr val="002060"/>
                </a:solidFill>
                <a:latin typeface="微软雅黑" panose="020B0503020204020204" pitchFamily="34" charset="-122"/>
                <a:ea typeface="微软雅黑" panose="020B0503020204020204" pitchFamily="34" charset="-122"/>
              </a:rPr>
              <a:t>产生的货币量</a:t>
            </a:r>
            <a:r>
              <a:rPr lang="zh-CN" altLang="en-US" sz="2400" smtClean="0">
                <a:solidFill>
                  <a:srgbClr val="002060"/>
                </a:solidFill>
                <a:latin typeface="微软雅黑" panose="020B0503020204020204" pitchFamily="34" charset="-122"/>
                <a:ea typeface="微软雅黑" panose="020B0503020204020204" pitchFamily="34" charset="-122"/>
              </a:rPr>
              <a:t>。数值上</a:t>
            </a:r>
            <a:r>
              <a:rPr sz="2400" smtClean="0">
                <a:solidFill>
                  <a:srgbClr val="002060"/>
                </a:solidFill>
                <a:latin typeface="微软雅黑" panose="020B0503020204020204" pitchFamily="34" charset="-122"/>
                <a:ea typeface="微软雅黑" panose="020B0503020204020204" pitchFamily="34" charset="-122"/>
              </a:rPr>
              <a:t>等于 </a:t>
            </a:r>
            <a:r>
              <a:rPr sz="2400" dirty="0">
                <a:solidFill>
                  <a:srgbClr val="002060"/>
                </a:solidFill>
                <a:latin typeface="微软雅黑" panose="020B0503020204020204" pitchFamily="34" charset="-122"/>
                <a:ea typeface="微软雅黑" panose="020B0503020204020204" pitchFamily="34" charset="-122"/>
              </a:rPr>
              <a:t>1/R。</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60000"/>
              </a:lnSpc>
              <a:buFont typeface="Wingdings" panose="05000000000000000000" pitchFamily="2" charset="2"/>
              <a:buChar char="Ø"/>
            </a:pPr>
            <a:r>
              <a:rPr sz="2400" smtClean="0">
                <a:solidFill>
                  <a:srgbClr val="002060"/>
                </a:solidFill>
                <a:latin typeface="微软雅黑" panose="020B0503020204020204" pitchFamily="34" charset="-122"/>
                <a:ea typeface="微软雅黑" panose="020B0503020204020204" pitchFamily="34" charset="-122"/>
              </a:rPr>
              <a:t>在我们的例子中</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R </a:t>
            </a:r>
            <a:r>
              <a:rPr sz="2400" dirty="0">
                <a:solidFill>
                  <a:srgbClr val="002060"/>
                </a:solidFill>
                <a:latin typeface="微软雅黑" panose="020B0503020204020204" pitchFamily="34" charset="-122"/>
                <a:ea typeface="微软雅黑" panose="020B0503020204020204" pitchFamily="34" charset="-122"/>
              </a:rPr>
              <a:t>= </a:t>
            </a:r>
            <a:r>
              <a:rPr sz="2400">
                <a:solidFill>
                  <a:srgbClr val="002060"/>
                </a:solidFill>
                <a:latin typeface="微软雅黑" panose="020B0503020204020204" pitchFamily="34" charset="-122"/>
                <a:ea typeface="微软雅黑" panose="020B0503020204020204" pitchFamily="34" charset="-122"/>
              </a:rPr>
              <a:t>10</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，则</a:t>
            </a:r>
            <a:r>
              <a:rPr sz="2400" smtClean="0">
                <a:solidFill>
                  <a:srgbClr val="002060"/>
                </a:solidFill>
                <a:latin typeface="微软雅黑" panose="020B0503020204020204" pitchFamily="34" charset="-122"/>
                <a:ea typeface="微软雅黑" panose="020B0503020204020204" pitchFamily="34" charset="-122"/>
              </a:rPr>
              <a:t>货币乘数 </a:t>
            </a:r>
            <a:r>
              <a:rPr sz="2400" dirty="0">
                <a:solidFill>
                  <a:srgbClr val="002060"/>
                </a:solidFill>
                <a:latin typeface="微软雅黑" panose="020B0503020204020204" pitchFamily="34" charset="-122"/>
                <a:ea typeface="微软雅黑" panose="020B0503020204020204" pitchFamily="34" charset="-122"/>
              </a:rPr>
              <a:t>= 1/R </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10</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100 元的初始流动性创造了 </a:t>
            </a:r>
            <a:r>
              <a:rPr sz="2400">
                <a:solidFill>
                  <a:srgbClr val="002060"/>
                </a:solidFill>
                <a:latin typeface="微软雅黑" panose="020B0503020204020204" pitchFamily="34" charset="-122"/>
                <a:ea typeface="微软雅黑" panose="020B0503020204020204" pitchFamily="34" charset="-122"/>
              </a:rPr>
              <a:t>1000 </a:t>
            </a:r>
            <a:r>
              <a:rPr sz="2400" smtClean="0">
                <a:solidFill>
                  <a:srgbClr val="002060"/>
                </a:solidFill>
                <a:latin typeface="微软雅黑" panose="020B0503020204020204" pitchFamily="34" charset="-122"/>
                <a:ea typeface="微软雅黑" panose="020B0503020204020204" pitchFamily="34" charset="-122"/>
              </a:rPr>
              <a:t>元的</a:t>
            </a:r>
            <a:r>
              <a:rPr lang="zh-CN" altLang="en-US" sz="2400" smtClean="0">
                <a:solidFill>
                  <a:srgbClr val="002060"/>
                </a:solidFill>
                <a:latin typeface="微软雅黑" panose="020B0503020204020204" pitchFamily="34" charset="-122"/>
                <a:ea typeface="微软雅黑" panose="020B0503020204020204" pitchFamily="34" charset="-122"/>
              </a:rPr>
              <a:t>货币供应量。</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539552" y="1412776"/>
            <a:ext cx="7746365" cy="3046988"/>
          </a:xfrm>
          <a:prstGeom prst="rect">
            <a:avLst/>
          </a:prstGeom>
          <a:noFill/>
        </p:spPr>
        <p:txBody>
          <a:bodyPr wrap="square" rtlCol="0">
            <a:spAutoFit/>
          </a:bodyPr>
          <a:lstStyle/>
          <a:p>
            <a:pPr indent="0" algn="l">
              <a:lnSpc>
                <a:spcPct val="160000"/>
              </a:lnSpc>
              <a:buFont typeface="Wingdings" panose="05000000000000000000" charset="0"/>
              <a:buNone/>
            </a:pPr>
            <a:r>
              <a:rPr lang="zh-CN" altLang="en-US" sz="2400" smtClean="0">
                <a:solidFill>
                  <a:srgbClr val="002060"/>
                </a:solidFill>
                <a:latin typeface="华光琥珀_CNKI" panose="02000500000000000000" pitchFamily="2" charset="-122"/>
                <a:ea typeface="华光琥珀_CNKI" panose="02000500000000000000" pitchFamily="2" charset="-122"/>
              </a:rPr>
              <a:t>举例</a:t>
            </a:r>
            <a:r>
              <a:rPr lang="en-US" altLang="zh-CN" sz="2400" smtClean="0">
                <a:solidFill>
                  <a:srgbClr val="002060"/>
                </a:solidFill>
                <a:latin typeface="华光琥珀_CNKI" panose="02000500000000000000" pitchFamily="2" charset="-122"/>
                <a:ea typeface="华光琥珀_CNKI" panose="02000500000000000000" pitchFamily="2" charset="-122"/>
              </a:rPr>
              <a:t>2</a:t>
            </a:r>
            <a:r>
              <a:rPr lang="zh-CN" altLang="en-US" sz="2400" smtClean="0">
                <a:solidFill>
                  <a:srgbClr val="002060"/>
                </a:solidFill>
                <a:latin typeface="微软雅黑" panose="020B0503020204020204" pitchFamily="34" charset="-122"/>
                <a:ea typeface="微软雅黑" panose="020B0503020204020204" pitchFamily="34" charset="-122"/>
              </a:rPr>
              <a:t>：假期</a:t>
            </a:r>
            <a:r>
              <a:rPr sz="2400" smtClean="0">
                <a:solidFill>
                  <a:srgbClr val="002060"/>
                </a:solidFill>
                <a:latin typeface="微软雅黑" panose="020B0503020204020204" pitchFamily="34" charset="-122"/>
                <a:ea typeface="微软雅黑" panose="020B0503020204020204" pitchFamily="34" charset="-122"/>
              </a:rPr>
              <a:t>打扫</a:t>
            </a:r>
            <a:r>
              <a:rPr lang="zh-CN" altLang="en-US" sz="2400" smtClean="0">
                <a:solidFill>
                  <a:srgbClr val="002060"/>
                </a:solidFill>
                <a:latin typeface="微软雅黑" panose="020B0503020204020204" pitchFamily="34" charset="-122"/>
                <a:ea typeface="微软雅黑" panose="020B0503020204020204" pitchFamily="34" charset="-122"/>
              </a:rPr>
              <a:t>屋子的时候</a:t>
            </a:r>
            <a:r>
              <a:rPr sz="2400" smtClean="0">
                <a:solidFill>
                  <a:srgbClr val="002060"/>
                </a:solidFill>
                <a:latin typeface="微软雅黑" panose="020B0503020204020204" pitchFamily="34" charset="-122"/>
                <a:ea typeface="微软雅黑" panose="020B0503020204020204" pitchFamily="34" charset="-122"/>
              </a:rPr>
              <a:t>，</a:t>
            </a:r>
            <a:r>
              <a:rPr sz="2400">
                <a:solidFill>
                  <a:srgbClr val="002060"/>
                </a:solidFill>
                <a:latin typeface="微软雅黑" panose="020B0503020204020204" pitchFamily="34" charset="-122"/>
                <a:ea typeface="微软雅黑" panose="020B0503020204020204" pitchFamily="34" charset="-122"/>
              </a:rPr>
              <a:t>你在沙发垫子下面找到了一张 </a:t>
            </a:r>
            <a:r>
              <a:rPr sz="2400" smtClean="0">
                <a:solidFill>
                  <a:srgbClr val="002060"/>
                </a:solidFill>
                <a:latin typeface="微软雅黑" panose="020B0503020204020204" pitchFamily="34" charset="-122"/>
                <a:ea typeface="微软雅黑" panose="020B0503020204020204" pitchFamily="34" charset="-122"/>
              </a:rPr>
              <a:t>50元的钞票</a:t>
            </a:r>
            <a:r>
              <a:rPr lang="zh-CN" altLang="en-US" sz="2400" smtClean="0">
                <a:solidFill>
                  <a:srgbClr val="002060"/>
                </a:solidFill>
                <a:latin typeface="微软雅黑" panose="020B0503020204020204" pitchFamily="34" charset="-122"/>
                <a:ea typeface="微软雅黑" panose="020B0503020204020204" pitchFamily="34" charset="-122"/>
              </a:rPr>
              <a:t>。你</a:t>
            </a:r>
            <a:r>
              <a:rPr sz="2400" smtClean="0">
                <a:solidFill>
                  <a:srgbClr val="002060"/>
                </a:solidFill>
                <a:latin typeface="微软雅黑" panose="020B0503020204020204" pitchFamily="34" charset="-122"/>
                <a:ea typeface="微软雅黑" panose="020B0503020204020204" pitchFamily="34" charset="-122"/>
              </a:rPr>
              <a:t>将</a:t>
            </a:r>
            <a:r>
              <a:rPr lang="zh-CN" sz="2400">
                <a:solidFill>
                  <a:srgbClr val="002060"/>
                </a:solidFill>
                <a:latin typeface="微软雅黑" panose="020B0503020204020204" pitchFamily="34" charset="-122"/>
                <a:ea typeface="微软雅黑" panose="020B0503020204020204" pitchFamily="34" charset="-122"/>
              </a:rPr>
              <a:t>钞票</a:t>
            </a:r>
            <a:r>
              <a:rPr sz="2400" smtClean="0">
                <a:solidFill>
                  <a:srgbClr val="002060"/>
                </a:solidFill>
                <a:latin typeface="微软雅黑" panose="020B0503020204020204" pitchFamily="34" charset="-122"/>
                <a:ea typeface="微软雅黑" panose="020B0503020204020204" pitchFamily="34" charset="-122"/>
              </a:rPr>
              <a:t>存入</a:t>
            </a:r>
            <a:r>
              <a:rPr lang="zh-CN" altLang="en-US" sz="2400" smtClean="0">
                <a:solidFill>
                  <a:srgbClr val="002060"/>
                </a:solidFill>
                <a:latin typeface="微软雅黑" panose="020B0503020204020204" pitchFamily="34" charset="-122"/>
                <a:ea typeface="微软雅黑" panose="020B0503020204020204" pitchFamily="34" charset="-122"/>
              </a:rPr>
              <a:t>银行</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假定中央银行对商业银行的</a:t>
            </a:r>
            <a:r>
              <a:rPr sz="2400" smtClean="0">
                <a:solidFill>
                  <a:srgbClr val="002060"/>
                </a:solidFill>
                <a:latin typeface="微软雅黑" panose="020B0503020204020204" pitchFamily="34" charset="-122"/>
                <a:ea typeface="微软雅黑" panose="020B0503020204020204" pitchFamily="34" charset="-122"/>
              </a:rPr>
              <a:t>准备金要求是 </a:t>
            </a:r>
            <a:r>
              <a:rPr sz="2400" dirty="0">
                <a:solidFill>
                  <a:srgbClr val="002060"/>
                </a:solidFill>
                <a:latin typeface="微软雅黑" panose="020B0503020204020204" pitchFamily="34" charset="-122"/>
                <a:ea typeface="微软雅黑" panose="020B0503020204020204" pitchFamily="34" charset="-122"/>
              </a:rPr>
              <a:t>20%。</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sz="2400" smtClean="0">
                <a:solidFill>
                  <a:srgbClr val="002060"/>
                </a:solidFill>
                <a:latin typeface="微软雅黑" panose="020B0503020204020204" pitchFamily="34" charset="-122"/>
                <a:ea typeface="微软雅黑" panose="020B0503020204020204" pitchFamily="34" charset="-122"/>
              </a:rPr>
              <a:t>货币供应量可以增加的</a:t>
            </a:r>
            <a:r>
              <a:rPr sz="2400" smtClean="0">
                <a:solidFill>
                  <a:srgbClr val="FF0000"/>
                </a:solidFill>
                <a:latin typeface="微软雅黑" panose="020B0503020204020204" pitchFamily="34" charset="-122"/>
                <a:ea typeface="微软雅黑" panose="020B0503020204020204" pitchFamily="34" charset="-122"/>
              </a:rPr>
              <a:t>最大</a:t>
            </a:r>
            <a:r>
              <a:rPr sz="2400" smtClean="0">
                <a:solidFill>
                  <a:srgbClr val="002060"/>
                </a:solidFill>
                <a:latin typeface="微软雅黑" panose="020B0503020204020204" pitchFamily="34" charset="-122"/>
                <a:ea typeface="微软雅黑" panose="020B0503020204020204" pitchFamily="34" charset="-122"/>
              </a:rPr>
              <a:t>数量是多少</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sz="2400" smtClean="0">
                <a:solidFill>
                  <a:srgbClr val="002060"/>
                </a:solidFill>
                <a:latin typeface="微软雅黑" panose="020B0503020204020204" pitchFamily="34" charset="-122"/>
                <a:ea typeface="微软雅黑" panose="020B0503020204020204" pitchFamily="34" charset="-122"/>
              </a:rPr>
              <a:t>货币供应量可以增加的</a:t>
            </a:r>
            <a:r>
              <a:rPr sz="2400" smtClean="0">
                <a:solidFill>
                  <a:srgbClr val="FF0000"/>
                </a:solidFill>
                <a:latin typeface="微软雅黑" panose="020B0503020204020204" pitchFamily="34" charset="-122"/>
                <a:ea typeface="微软雅黑" panose="020B0503020204020204" pitchFamily="34" charset="-122"/>
              </a:rPr>
              <a:t>最小</a:t>
            </a:r>
            <a:r>
              <a:rPr sz="2400" smtClean="0">
                <a:solidFill>
                  <a:srgbClr val="002060"/>
                </a:solidFill>
                <a:latin typeface="微软雅黑" panose="020B0503020204020204" pitchFamily="34" charset="-122"/>
                <a:ea typeface="微软雅黑" panose="020B0503020204020204" pitchFamily="34" charset="-122"/>
              </a:rPr>
              <a:t>数量是多少</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322407" y="1412776"/>
            <a:ext cx="8577580" cy="3637919"/>
          </a:xfrm>
          <a:prstGeom prst="rect">
            <a:avLst/>
          </a:prstGeom>
          <a:noFill/>
        </p:spPr>
        <p:txBody>
          <a:bodyPr wrap="square" rtlCol="0">
            <a:spAutoFit/>
          </a:bodyPr>
          <a:lstStyle/>
          <a:p>
            <a:pPr indent="0" algn="l">
              <a:lnSpc>
                <a:spcPct val="160000"/>
              </a:lnSpc>
              <a:buFont typeface="Wingdings" panose="05000000000000000000" charset="0"/>
              <a:buNone/>
            </a:pPr>
            <a:r>
              <a:rPr lang="en-US" altLang="zh-CN" sz="2400">
                <a:solidFill>
                  <a:srgbClr val="002060"/>
                </a:solidFill>
                <a:latin typeface="微软雅黑" panose="020B0503020204020204" pitchFamily="34" charset="-122"/>
                <a:ea typeface="微软雅黑" panose="020B0503020204020204" pitchFamily="34" charset="-122"/>
              </a:rPr>
              <a:t>1. </a:t>
            </a:r>
            <a:r>
              <a:rPr sz="2400">
                <a:solidFill>
                  <a:srgbClr val="002060"/>
                </a:solidFill>
                <a:latin typeface="微软雅黑" panose="020B0503020204020204" pitchFamily="34" charset="-122"/>
                <a:ea typeface="微软雅黑" panose="020B0503020204020204" pitchFamily="34" charset="-122"/>
              </a:rPr>
              <a:t>货币供应量可以增加的</a:t>
            </a:r>
            <a:r>
              <a:rPr sz="2400">
                <a:solidFill>
                  <a:srgbClr val="FF0000"/>
                </a:solidFill>
                <a:latin typeface="微软雅黑" panose="020B0503020204020204" pitchFamily="34" charset="-122"/>
                <a:ea typeface="微软雅黑" panose="020B0503020204020204" pitchFamily="34" charset="-122"/>
              </a:rPr>
              <a:t>最大</a:t>
            </a:r>
            <a:r>
              <a:rPr sz="2400">
                <a:solidFill>
                  <a:srgbClr val="002060"/>
                </a:solidFill>
                <a:latin typeface="微软雅黑" panose="020B0503020204020204" pitchFamily="34" charset="-122"/>
                <a:ea typeface="微软雅黑" panose="020B0503020204020204" pitchFamily="34" charset="-122"/>
              </a:rPr>
              <a:t>数量是多少</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如果银行不持有超额准备金，那么货币乘数 = 1/R = 1/0.2 = </a:t>
            </a:r>
            <a:r>
              <a:rPr sz="2400" dirty="0">
                <a:solidFill>
                  <a:srgbClr val="FF0000"/>
                </a:solidFill>
                <a:latin typeface="微软雅黑" panose="020B0503020204020204" pitchFamily="34" charset="-122"/>
                <a:ea typeface="微软雅黑" panose="020B0503020204020204" pitchFamily="34" charset="-122"/>
              </a:rPr>
              <a:t>5</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lang="zh-CN" altLang="en-US" sz="2400">
                <a:solidFill>
                  <a:srgbClr val="002060"/>
                </a:solidFill>
                <a:latin typeface="微软雅黑" panose="020B0503020204020204" pitchFamily="34" charset="-122"/>
                <a:ea typeface="微软雅黑" panose="020B0503020204020204" pitchFamily="34" charset="-122"/>
              </a:rPr>
              <a:t>存款</a:t>
            </a:r>
            <a:r>
              <a:rPr lang="zh-CN" altLang="en-US" sz="2400" smtClean="0">
                <a:solidFill>
                  <a:srgbClr val="002060"/>
                </a:solidFill>
                <a:latin typeface="微软雅黑" panose="020B0503020204020204" pitchFamily="34" charset="-122"/>
                <a:ea typeface="微软雅黑" panose="020B0503020204020204" pitchFamily="34" charset="-122"/>
              </a:rPr>
              <a:t>增加</a:t>
            </a:r>
            <a:r>
              <a:rPr sz="2400" smtClean="0">
                <a:solidFill>
                  <a:srgbClr val="002060"/>
                </a:solidFill>
                <a:latin typeface="微软雅黑" panose="020B0503020204020204" pitchFamily="34" charset="-122"/>
                <a:ea typeface="微软雅黑" panose="020B0503020204020204" pitchFamily="34" charset="-122"/>
              </a:rPr>
              <a:t>的最大</a:t>
            </a:r>
            <a:r>
              <a:rPr lang="zh-CN" altLang="en-US" sz="2400" smtClean="0">
                <a:solidFill>
                  <a:srgbClr val="002060"/>
                </a:solidFill>
                <a:latin typeface="微软雅黑" panose="020B0503020204020204" pitchFamily="34" charset="-122"/>
                <a:ea typeface="微软雅黑" panose="020B0503020204020204" pitchFamily="34" charset="-122"/>
              </a:rPr>
              <a:t>数量</a:t>
            </a:r>
            <a:r>
              <a:rPr sz="2400" smtClean="0">
                <a:solidFill>
                  <a:srgbClr val="002060"/>
                </a:solidFill>
                <a:latin typeface="微软雅黑" panose="020B0503020204020204" pitchFamily="34" charset="-122"/>
                <a:ea typeface="微软雅黑" panose="020B0503020204020204" pitchFamily="34" charset="-122"/>
              </a:rPr>
              <a:t>为 </a:t>
            </a:r>
            <a:r>
              <a:rPr sz="2400" dirty="0">
                <a:solidFill>
                  <a:srgbClr val="002060"/>
                </a:solidFill>
                <a:latin typeface="微软雅黑" panose="020B0503020204020204" pitchFamily="34" charset="-122"/>
                <a:ea typeface="微软雅黑" panose="020B0503020204020204" pitchFamily="34" charset="-122"/>
              </a:rPr>
              <a:t>5 x </a:t>
            </a:r>
            <a:r>
              <a:rPr sz="2400">
                <a:solidFill>
                  <a:srgbClr val="002060"/>
                </a:solidFill>
                <a:latin typeface="微软雅黑" panose="020B0503020204020204" pitchFamily="34" charset="-122"/>
                <a:ea typeface="微软雅黑" panose="020B0503020204020204" pitchFamily="34" charset="-122"/>
              </a:rPr>
              <a:t>50 </a:t>
            </a:r>
            <a:r>
              <a:rPr sz="2400" smtClean="0">
                <a:solidFill>
                  <a:srgbClr val="002060"/>
                </a:solidFill>
                <a:latin typeface="微软雅黑" panose="020B0503020204020204" pitchFamily="34" charset="-122"/>
                <a:ea typeface="微软雅黑" panose="020B0503020204020204" pitchFamily="34" charset="-122"/>
              </a:rPr>
              <a:t>元 </a:t>
            </a:r>
            <a:r>
              <a:rPr sz="2400" dirty="0">
                <a:solidFill>
                  <a:srgbClr val="002060"/>
                </a:solidFill>
                <a:latin typeface="微软雅黑" panose="020B0503020204020204" pitchFamily="34" charset="-122"/>
                <a:ea typeface="微软雅黑" panose="020B0503020204020204" pitchFamily="34" charset="-122"/>
              </a:rPr>
              <a:t>= </a:t>
            </a:r>
            <a:r>
              <a:rPr sz="2400">
                <a:solidFill>
                  <a:srgbClr val="002060"/>
                </a:solidFill>
                <a:latin typeface="微软雅黑" panose="020B0503020204020204" pitchFamily="34" charset="-122"/>
                <a:ea typeface="微软雅黑" panose="020B0503020204020204" pitchFamily="34" charset="-122"/>
              </a:rPr>
              <a:t>250 </a:t>
            </a:r>
            <a:r>
              <a:rPr sz="2400" smtClean="0">
                <a:solidFill>
                  <a:srgbClr val="002060"/>
                </a:solidFill>
                <a:latin typeface="微软雅黑" panose="020B0503020204020204" pitchFamily="34" charset="-122"/>
                <a:ea typeface="微软雅黑" panose="020B0503020204020204" pitchFamily="34" charset="-122"/>
              </a:rPr>
              <a:t>元</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但货币供应量也包括</a:t>
            </a:r>
            <a:r>
              <a:rPr lang="zh-CN" sz="2400" dirty="0">
                <a:solidFill>
                  <a:srgbClr val="002060"/>
                </a:solidFill>
                <a:latin typeface="微软雅黑" panose="020B0503020204020204" pitchFamily="34" charset="-122"/>
                <a:ea typeface="微软雅黑" panose="020B0503020204020204" pitchFamily="34" charset="-122"/>
              </a:rPr>
              <a:t>现金</a:t>
            </a:r>
            <a:r>
              <a:rPr sz="2400" dirty="0">
                <a:solidFill>
                  <a:srgbClr val="002060"/>
                </a:solidFill>
                <a:latin typeface="微软雅黑" panose="020B0503020204020204" pitchFamily="34" charset="-122"/>
                <a:ea typeface="微软雅黑" panose="020B0503020204020204" pitchFamily="34" charset="-122"/>
              </a:rPr>
              <a:t>，下跌了 </a:t>
            </a:r>
            <a:r>
              <a:rPr sz="2400">
                <a:solidFill>
                  <a:srgbClr val="002060"/>
                </a:solidFill>
                <a:latin typeface="微软雅黑" panose="020B0503020204020204" pitchFamily="34" charset="-122"/>
                <a:ea typeface="微软雅黑" panose="020B0503020204020204" pitchFamily="34" charset="-122"/>
              </a:rPr>
              <a:t>50 </a:t>
            </a:r>
            <a:r>
              <a:rPr sz="2400" smtClean="0">
                <a:solidFill>
                  <a:srgbClr val="002060"/>
                </a:solidFill>
                <a:latin typeface="微软雅黑" panose="020B0503020204020204" pitchFamily="34" charset="-122"/>
                <a:ea typeface="微软雅黑" panose="020B0503020204020204" pitchFamily="34" charset="-122"/>
              </a:rPr>
              <a:t>元</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因此，货币供应量的最大增加 = </a:t>
            </a:r>
            <a:r>
              <a:rPr sz="2400">
                <a:solidFill>
                  <a:srgbClr val="FF0000"/>
                </a:solidFill>
                <a:latin typeface="微软雅黑" panose="020B0503020204020204" pitchFamily="34" charset="-122"/>
                <a:ea typeface="微软雅黑" panose="020B0503020204020204" pitchFamily="34" charset="-122"/>
              </a:rPr>
              <a:t>200</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元</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332740" y="1449070"/>
            <a:ext cx="8577580" cy="1865126"/>
          </a:xfrm>
          <a:prstGeom prst="rect">
            <a:avLst/>
          </a:prstGeom>
          <a:noFill/>
        </p:spPr>
        <p:txBody>
          <a:bodyPr wrap="square" rtlCol="0">
            <a:spAutoFit/>
          </a:bodyPr>
          <a:lstStyle/>
          <a:p>
            <a:pPr indent="0" algn="l">
              <a:lnSpc>
                <a:spcPct val="160000"/>
              </a:lnSpc>
              <a:buFont typeface="Wingdings" panose="05000000000000000000" charset="0"/>
              <a:buNone/>
            </a:pPr>
            <a:r>
              <a:rPr lang="en-US" altLang="zh-CN" sz="2400">
                <a:solidFill>
                  <a:srgbClr val="002060"/>
                </a:solidFill>
                <a:latin typeface="微软雅黑" panose="020B0503020204020204" pitchFamily="34" charset="-122"/>
                <a:ea typeface="微软雅黑" panose="020B0503020204020204" pitchFamily="34" charset="-122"/>
              </a:rPr>
              <a:t>2. </a:t>
            </a:r>
            <a:r>
              <a:rPr sz="2400">
                <a:solidFill>
                  <a:srgbClr val="002060"/>
                </a:solidFill>
                <a:latin typeface="微软雅黑" panose="020B0503020204020204" pitchFamily="34" charset="-122"/>
                <a:ea typeface="微软雅黑" panose="020B0503020204020204" pitchFamily="34" charset="-122"/>
              </a:rPr>
              <a:t>货币供应量可以增加的</a:t>
            </a:r>
            <a:r>
              <a:rPr sz="2400">
                <a:solidFill>
                  <a:srgbClr val="FF0000"/>
                </a:solidFill>
                <a:latin typeface="微软雅黑" panose="020B0503020204020204" pitchFamily="34" charset="-122"/>
                <a:ea typeface="微软雅黑" panose="020B0503020204020204" pitchFamily="34" charset="-122"/>
              </a:rPr>
              <a:t>最小</a:t>
            </a:r>
            <a:r>
              <a:rPr sz="2400">
                <a:solidFill>
                  <a:srgbClr val="002060"/>
                </a:solidFill>
                <a:latin typeface="微软雅黑" panose="020B0503020204020204" pitchFamily="34" charset="-122"/>
                <a:ea typeface="微软雅黑" panose="020B0503020204020204" pitchFamily="34" charset="-122"/>
              </a:rPr>
              <a:t>数量是多少</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如果银行没有从你的存款中贷款，</a:t>
            </a:r>
            <a:r>
              <a:rPr lang="zh-CN" altLang="en-US" sz="2400" smtClean="0">
                <a:solidFill>
                  <a:srgbClr val="002060"/>
                </a:solidFill>
                <a:latin typeface="微软雅黑" panose="020B0503020204020204" pitchFamily="34" charset="-122"/>
                <a:ea typeface="微软雅黑" panose="020B0503020204020204" pitchFamily="34" charset="-122"/>
              </a:rPr>
              <a:t>即</a:t>
            </a:r>
            <a:r>
              <a:rPr lang="en-US" altLang="zh-CN" sz="2400" smtClean="0">
                <a:solidFill>
                  <a:srgbClr val="002060"/>
                </a:solidFill>
                <a:latin typeface="微软雅黑" panose="020B0503020204020204" pitchFamily="34" charset="-122"/>
                <a:ea typeface="微软雅黑" panose="020B0503020204020204" pitchFamily="34" charset="-122"/>
              </a:rPr>
              <a:t>100%</a:t>
            </a:r>
            <a:r>
              <a:rPr lang="zh-CN" altLang="en-US" sz="2400" smtClean="0">
                <a:solidFill>
                  <a:srgbClr val="002060"/>
                </a:solidFill>
                <a:latin typeface="微软雅黑" panose="020B0503020204020204" pitchFamily="34" charset="-122"/>
                <a:ea typeface="微软雅黑" panose="020B0503020204020204" pitchFamily="34" charset="-122"/>
              </a:rPr>
              <a:t>准备金，则</a:t>
            </a:r>
            <a:endParaRPr lang="en-US" altLang="zh-CN" sz="2400" smtClean="0">
              <a:solidFill>
                <a:srgbClr val="002060"/>
              </a:solidFill>
              <a:latin typeface="微软雅黑" panose="020B0503020204020204" pitchFamily="34" charset="-122"/>
              <a:ea typeface="微软雅黑" panose="020B0503020204020204" pitchFamily="34" charset="-122"/>
            </a:endParaRPr>
          </a:p>
          <a:p>
            <a:pPr marL="342900" indent="-342900" algn="l">
              <a:lnSpc>
                <a:spcPct val="160000"/>
              </a:lnSpc>
              <a:buFont typeface="Wingdings" panose="05000000000000000000" pitchFamily="2" charset="2"/>
              <a:buChar char="ü"/>
            </a:pPr>
            <a:r>
              <a:rPr lang="zh-CN" sz="2400" smtClean="0">
                <a:solidFill>
                  <a:srgbClr val="002060"/>
                </a:solidFill>
                <a:latin typeface="微软雅黑" panose="020B0503020204020204" pitchFamily="34" charset="-122"/>
                <a:ea typeface="微软雅黑" panose="020B0503020204020204" pitchFamily="34" charset="-122"/>
              </a:rPr>
              <a:t>现金</a:t>
            </a:r>
            <a:r>
              <a:rPr sz="2400" dirty="0">
                <a:solidFill>
                  <a:srgbClr val="002060"/>
                </a:solidFill>
                <a:latin typeface="微软雅黑" panose="020B0503020204020204" pitchFamily="34" charset="-122"/>
                <a:ea typeface="微软雅黑" panose="020B0503020204020204" pitchFamily="34" charset="-122"/>
              </a:rPr>
              <a:t>下降 </a:t>
            </a:r>
            <a:r>
              <a:rPr sz="2400">
                <a:solidFill>
                  <a:srgbClr val="002060"/>
                </a:solidFill>
                <a:latin typeface="微软雅黑" panose="020B0503020204020204" pitchFamily="34" charset="-122"/>
                <a:ea typeface="微软雅黑" panose="020B0503020204020204" pitchFamily="34" charset="-122"/>
              </a:rPr>
              <a:t>50 </a:t>
            </a:r>
            <a:r>
              <a:rPr sz="2400" smtClean="0">
                <a:solidFill>
                  <a:srgbClr val="002060"/>
                </a:solidFill>
                <a:latin typeface="微软雅黑" panose="020B0503020204020204" pitchFamily="34" charset="-122"/>
                <a:ea typeface="微软雅黑" panose="020B0503020204020204" pitchFamily="34" charset="-122"/>
              </a:rPr>
              <a:t>元</a:t>
            </a:r>
            <a:r>
              <a:rPr sz="2400" dirty="0">
                <a:solidFill>
                  <a:srgbClr val="002060"/>
                </a:solidFill>
                <a:latin typeface="微软雅黑" panose="020B0503020204020204" pitchFamily="34" charset="-122"/>
                <a:ea typeface="微软雅黑" panose="020B0503020204020204" pitchFamily="34" charset="-122"/>
              </a:rPr>
              <a:t>，存款增加 </a:t>
            </a:r>
            <a:r>
              <a:rPr sz="2400">
                <a:solidFill>
                  <a:srgbClr val="002060"/>
                </a:solidFill>
                <a:latin typeface="微软雅黑" panose="020B0503020204020204" pitchFamily="34" charset="-122"/>
                <a:ea typeface="微软雅黑" panose="020B0503020204020204" pitchFamily="34" charset="-122"/>
              </a:rPr>
              <a:t>50 </a:t>
            </a:r>
            <a:r>
              <a:rPr sz="2400" smtClean="0">
                <a:solidFill>
                  <a:srgbClr val="002060"/>
                </a:solidFill>
                <a:latin typeface="微软雅黑" panose="020B0503020204020204" pitchFamily="34" charset="-122"/>
                <a:ea typeface="微软雅黑" panose="020B0503020204020204" pitchFamily="34" charset="-122"/>
              </a:rPr>
              <a:t>元</a:t>
            </a:r>
            <a:r>
              <a:rPr sz="2400" dirty="0">
                <a:solidFill>
                  <a:srgbClr val="002060"/>
                </a:solidFill>
                <a:latin typeface="微软雅黑" panose="020B0503020204020204" pitchFamily="34" charset="-122"/>
                <a:ea typeface="微软雅黑" panose="020B0503020204020204" pitchFamily="34" charset="-122"/>
              </a:rPr>
              <a:t>，</a:t>
            </a:r>
            <a:r>
              <a:rPr sz="2400">
                <a:solidFill>
                  <a:srgbClr val="002060"/>
                </a:solidFill>
                <a:latin typeface="微软雅黑" panose="020B0503020204020204" pitchFamily="34" charset="-122"/>
                <a:ea typeface="微软雅黑" panose="020B0503020204020204" pitchFamily="34" charset="-122"/>
              </a:rPr>
              <a:t>货币供应量不变</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44475" y="1052736"/>
            <a:ext cx="8899525" cy="2797048"/>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lang="zh-CN" altLang="en-US" sz="2400" smtClean="0">
                <a:solidFill>
                  <a:srgbClr val="002060"/>
                </a:solidFill>
                <a:latin typeface="微软雅黑" panose="020B0503020204020204" pitchFamily="34" charset="-122"/>
                <a:ea typeface="微软雅黑" panose="020B0503020204020204" pitchFamily="34" charset="-122"/>
              </a:rPr>
              <a:t>银行的</a:t>
            </a:r>
            <a:r>
              <a:rPr lang="zh-CN" altLang="en-US" sz="2400" smtClean="0">
                <a:solidFill>
                  <a:srgbClr val="FF0000"/>
                </a:solidFill>
                <a:latin typeface="微软雅黑" panose="020B0503020204020204" pitchFamily="34" charset="-122"/>
                <a:ea typeface="微软雅黑" panose="020B0503020204020204" pitchFamily="34" charset="-122"/>
              </a:rPr>
              <a:t>资产负债表</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资产</a:t>
            </a:r>
            <a:r>
              <a:rPr sz="2400" dirty="0">
                <a:solidFill>
                  <a:srgbClr val="002060"/>
                </a:solidFill>
                <a:latin typeface="微软雅黑" panose="020B0503020204020204" pitchFamily="34" charset="-122"/>
                <a:ea typeface="微软雅黑" panose="020B0503020204020204" pitchFamily="34" charset="-122"/>
              </a:rPr>
              <a:t>：除了准备金和贷款</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银行还持有证券</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负债：除了存款，银行还通过发债</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发股获得资金</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sz="2400" dirty="0">
                <a:solidFill>
                  <a:srgbClr val="FF0000"/>
                </a:solidFill>
                <a:latin typeface="微软雅黑" panose="020B0503020204020204" pitchFamily="34" charset="-122"/>
                <a:ea typeface="微软雅黑" panose="020B0503020204020204" pitchFamily="34" charset="-122"/>
              </a:rPr>
              <a:t>资本金</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银行通过向所有者发行股权获得的</a:t>
            </a:r>
            <a:r>
              <a:rPr lang="zh-CN" altLang="en-US" sz="2400" smtClean="0">
                <a:solidFill>
                  <a:srgbClr val="002060"/>
                </a:solidFill>
                <a:latin typeface="微软雅黑" panose="020B0503020204020204" pitchFamily="34" charset="-122"/>
                <a:ea typeface="微软雅黑" panose="020B0503020204020204" pitchFamily="34" charset="-122"/>
              </a:rPr>
              <a:t>资金</a:t>
            </a:r>
            <a:endParaRPr sz="2400" dirty="0">
              <a:solidFill>
                <a:srgbClr val="002060"/>
              </a:solidFill>
              <a:latin typeface="微软雅黑" panose="020B0503020204020204" pitchFamily="34" charset="-122"/>
              <a:ea typeface="微软雅黑" panose="020B0503020204020204" pitchFamily="34" charset="-122"/>
            </a:endParaRPr>
          </a:p>
          <a:p>
            <a:pPr lvl="4">
              <a:lnSpc>
                <a:spcPct val="150000"/>
              </a:lnSpc>
            </a:pPr>
            <a:r>
              <a:rPr sz="2400" smtClean="0">
                <a:solidFill>
                  <a:srgbClr val="002060"/>
                </a:solidFill>
                <a:latin typeface="微软雅黑" panose="020B0503020204020204" pitchFamily="34" charset="-122"/>
                <a:ea typeface="微软雅黑" panose="020B0503020204020204" pitchFamily="34" charset="-122"/>
              </a:rPr>
              <a:t>= </a:t>
            </a:r>
            <a:r>
              <a:rPr sz="2400" dirty="0">
                <a:solidFill>
                  <a:srgbClr val="002060"/>
                </a:solidFill>
                <a:latin typeface="微软雅黑" panose="020B0503020204020204" pitchFamily="34" charset="-122"/>
                <a:ea typeface="微软雅黑" panose="020B0503020204020204" pitchFamily="34" charset="-122"/>
              </a:rPr>
              <a:t>银行资产 </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银行非资本</a:t>
            </a:r>
            <a:r>
              <a:rPr lang="zh-CN" altLang="en-US" sz="2400" smtClean="0">
                <a:solidFill>
                  <a:srgbClr val="002060"/>
                </a:solidFill>
                <a:latin typeface="微软雅黑" panose="020B0503020204020204" pitchFamily="34" charset="-122"/>
                <a:ea typeface="微软雅黑" panose="020B0503020204020204" pitchFamily="34" charset="-122"/>
              </a:rPr>
              <a:t>金</a:t>
            </a:r>
            <a:r>
              <a:rPr sz="2400" smtClean="0">
                <a:solidFill>
                  <a:srgbClr val="002060"/>
                </a:solidFill>
                <a:latin typeface="微软雅黑" panose="020B0503020204020204" pitchFamily="34" charset="-122"/>
                <a:ea typeface="微软雅黑" panose="020B0503020204020204" pitchFamily="34" charset="-122"/>
              </a:rPr>
              <a:t>负债</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graphicFrame>
        <p:nvGraphicFramePr>
          <p:cNvPr id="8" name="Group 27"/>
          <p:cNvGraphicFramePr>
            <a:graphicFrameLocks noGrp="1"/>
          </p:cNvGraphicFramePr>
          <p:nvPr>
            <p:custDataLst>
              <p:tags r:id="rId4"/>
            </p:custDataLst>
          </p:nvPr>
        </p:nvGraphicFramePr>
        <p:xfrm>
          <a:off x="2051720" y="3861048"/>
          <a:ext cx="6219825" cy="2432050"/>
        </p:xfrm>
        <a:graphic>
          <a:graphicData uri="http://schemas.openxmlformats.org/drawingml/2006/table">
            <a:tbl>
              <a:tblPr/>
              <a:tblGrid>
                <a:gridCol w="3109912"/>
                <a:gridCol w="3109913"/>
              </a:tblGrid>
              <a:tr h="432048">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国民银行</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a:noFill/>
                    </a:lnB>
                    <a:lnTlToBr>
                      <a:noFill/>
                    </a:lnTlToBr>
                    <a:lnBlToTr>
                      <a:noFill/>
                    </a:lnBlToTr>
                    <a:solidFill>
                      <a:srgbClr val="92D050"/>
                    </a:solidFill>
                  </a:tcPr>
                </a:tc>
                <a:tc hMerge="1">
                  <a:tcPr/>
                </a:tc>
              </a:tr>
              <a:tr h="386829">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资产</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负债</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r>
              <a:tr h="1517650">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准备金</a:t>
                      </a:r>
                      <a:r>
                        <a:rPr lang="en-US" sz="2400" kern="1200" smtClean="0">
                          <a:solidFill>
                            <a:srgbClr val="002060"/>
                          </a:solidFill>
                          <a:latin typeface="微软雅黑" panose="020B0503020204020204" pitchFamily="34" charset="-122"/>
                          <a:ea typeface="微软雅黑" panose="020B0503020204020204" pitchFamily="34" charset="-122"/>
                          <a:cs typeface="+mn-cs"/>
                        </a:rPr>
                        <a:t>	200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贷款</a:t>
                      </a:r>
                      <a:r>
                        <a:rPr lang="en-US" sz="2400" kern="1200" dirty="0" smtClean="0">
                          <a:solidFill>
                            <a:srgbClr val="002060"/>
                          </a:solidFill>
                          <a:latin typeface="微软雅黑" panose="020B0503020204020204" pitchFamily="34" charset="-122"/>
                          <a:ea typeface="微软雅黑" panose="020B0503020204020204" pitchFamily="34" charset="-122"/>
                          <a:cs typeface="+mn-cs"/>
                        </a:rPr>
                        <a:t>  </a:t>
                      </a:r>
                      <a:r>
                        <a:rPr lang="en-US" sz="2400" kern="1200" smtClean="0">
                          <a:solidFill>
                            <a:srgbClr val="002060"/>
                          </a:solidFill>
                          <a:latin typeface="微软雅黑" panose="020B0503020204020204" pitchFamily="34" charset="-122"/>
                          <a:ea typeface="微软雅黑" panose="020B0503020204020204" pitchFamily="34" charset="-122"/>
                          <a:cs typeface="+mn-cs"/>
                        </a:rPr>
                        <a:t>	700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证券</a:t>
                      </a:r>
                      <a:r>
                        <a:rPr lang="en-US" sz="2400" kern="1200" dirty="0" smtClean="0">
                          <a:solidFill>
                            <a:srgbClr val="002060"/>
                          </a:solidFill>
                          <a:latin typeface="微软雅黑" panose="020B0503020204020204" pitchFamily="34" charset="-122"/>
                          <a:ea typeface="微软雅黑" panose="020B0503020204020204" pitchFamily="34" charset="-122"/>
                          <a:cs typeface="+mn-cs"/>
                        </a:rPr>
                        <a:t> </a:t>
                      </a: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800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债券</a:t>
                      </a:r>
                      <a:r>
                        <a:rPr lang="en-US" sz="2400" kern="1200" smtClean="0">
                          <a:solidFill>
                            <a:srgbClr val="002060"/>
                          </a:solidFill>
                          <a:latin typeface="微软雅黑" panose="020B0503020204020204" pitchFamily="34" charset="-122"/>
                          <a:ea typeface="微软雅黑" panose="020B0503020204020204" pitchFamily="34" charset="-122"/>
                          <a:cs typeface="+mn-cs"/>
                        </a:rPr>
                        <a:t>	150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defRPr/>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资本金</a:t>
                      </a:r>
                      <a:r>
                        <a:rPr lang="en-US" sz="2400" kern="1200" smtClean="0">
                          <a:solidFill>
                            <a:srgbClr val="002060"/>
                          </a:solidFill>
                          <a:latin typeface="微软雅黑" panose="020B0503020204020204" pitchFamily="34" charset="-122"/>
                          <a:ea typeface="微软雅黑" panose="020B0503020204020204" pitchFamily="34" charset="-122"/>
                          <a:cs typeface="+mn-cs"/>
                        </a:rPr>
                        <a:t>	50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r>
            </a:tbl>
          </a:graphicData>
        </a:graphic>
      </p:graphicFrame>
    </p:spTree>
  </p:cSld>
  <p:clrMapOvr>
    <a:masterClrMapping/>
  </p:clrMapOvr>
  <p:transition>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1" y="3645024"/>
            <a:ext cx="8964488" cy="2041585"/>
          </a:xfrm>
          <a:prstGeom prst="rect">
            <a:avLst/>
          </a:prstGeom>
          <a:noFill/>
        </p:spPr>
        <p:txBody>
          <a:bodyPr wrap="square" rtlCol="0">
            <a:spAutoFit/>
          </a:bodyPr>
          <a:lstStyle/>
          <a:p>
            <a:pPr marL="800100" lvl="1" indent="-342900">
              <a:lnSpc>
                <a:spcPts val="3800"/>
              </a:lnSpc>
              <a:buFont typeface="Wingdings" panose="05000000000000000000" pitchFamily="2" charset="2"/>
              <a:buChar char="ü"/>
            </a:pPr>
            <a:r>
              <a:rPr lang="zh-CN" altLang="en-US" sz="2400">
                <a:solidFill>
                  <a:srgbClr val="FF0000"/>
                </a:solidFill>
                <a:latin typeface="微软雅黑" panose="020B0503020204020204" pitchFamily="34" charset="-122"/>
                <a:ea typeface="微软雅黑" panose="020B0503020204020204" pitchFamily="34" charset="-122"/>
              </a:rPr>
              <a:t>杠杆</a:t>
            </a:r>
            <a:r>
              <a:rPr lang="zh-CN" altLang="en-US" sz="2400">
                <a:solidFill>
                  <a:srgbClr val="002060"/>
                </a:solidFill>
                <a:latin typeface="微软雅黑" panose="020B0503020204020204" pitchFamily="34" charset="-122"/>
                <a:ea typeface="微软雅黑" panose="020B0503020204020204" pitchFamily="34" charset="-122"/>
              </a:rPr>
              <a:t>：利用借入资金补充作为投资用途的</a:t>
            </a:r>
            <a:r>
              <a:rPr lang="zh-CN" altLang="en-US" sz="2400" smtClean="0">
                <a:solidFill>
                  <a:srgbClr val="002060"/>
                </a:solidFill>
                <a:latin typeface="微软雅黑" panose="020B0503020204020204" pitchFamily="34" charset="-122"/>
                <a:ea typeface="微软雅黑" panose="020B0503020204020204" pitchFamily="34" charset="-122"/>
              </a:rPr>
              <a:t>现有资本金                  </a:t>
            </a:r>
            <a:endParaRPr lang="en-US" altLang="zh-CN" sz="2400" smtClean="0">
              <a:solidFill>
                <a:srgbClr val="002060"/>
              </a:solidFill>
              <a:latin typeface="微软雅黑" panose="020B0503020204020204" pitchFamily="34" charset="-122"/>
              <a:ea typeface="微软雅黑" panose="020B0503020204020204" pitchFamily="34" charset="-122"/>
            </a:endParaRPr>
          </a:p>
          <a:p>
            <a:pPr lvl="1">
              <a:lnSpc>
                <a:spcPts val="3800"/>
              </a:lnSpc>
            </a:pPr>
            <a:r>
              <a:rPr lang="en-US" altLang="zh-CN" sz="2400" smtClean="0">
                <a:solidFill>
                  <a:srgbClr val="002060"/>
                </a:solidFill>
                <a:latin typeface="微软雅黑" panose="020B0503020204020204" pitchFamily="34" charset="-122"/>
                <a:ea typeface="微软雅黑" panose="020B0503020204020204" pitchFamily="34" charset="-122"/>
              </a:rPr>
              <a:t>              = </a:t>
            </a:r>
            <a:r>
              <a:rPr lang="zh-CN" altLang="en-US" sz="2400">
                <a:solidFill>
                  <a:srgbClr val="002060"/>
                </a:solidFill>
                <a:latin typeface="微软雅黑" panose="020B0503020204020204" pitchFamily="34" charset="-122"/>
                <a:ea typeface="微软雅黑" panose="020B0503020204020204" pitchFamily="34" charset="-122"/>
              </a:rPr>
              <a:t>资产 </a:t>
            </a:r>
            <a:r>
              <a:rPr lang="en-US" altLang="zh-CN" sz="2400">
                <a:solidFill>
                  <a:srgbClr val="002060"/>
                </a:solidFill>
                <a:latin typeface="微软雅黑" panose="020B0503020204020204" pitchFamily="34" charset="-122"/>
                <a:ea typeface="微软雅黑" panose="020B0503020204020204" pitchFamily="34" charset="-122"/>
              </a:rPr>
              <a:t>/ </a:t>
            </a:r>
            <a:r>
              <a:rPr lang="zh-CN" altLang="en-US" sz="2400">
                <a:solidFill>
                  <a:srgbClr val="002060"/>
                </a:solidFill>
                <a:latin typeface="微软雅黑" panose="020B0503020204020204" pitchFamily="34" charset="-122"/>
                <a:ea typeface="微软雅黑" panose="020B0503020204020204" pitchFamily="34" charset="-122"/>
              </a:rPr>
              <a:t>银行资本金</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lang="zh-CN" altLang="en-US" sz="2400" smtClean="0">
                <a:solidFill>
                  <a:srgbClr val="002060"/>
                </a:solidFill>
                <a:latin typeface="微软雅黑" panose="020B0503020204020204" pitchFamily="34" charset="-122"/>
                <a:ea typeface="微软雅黑" panose="020B0503020204020204" pitchFamily="34" charset="-122"/>
              </a:rPr>
              <a:t>本例中，</a:t>
            </a:r>
            <a:r>
              <a:rPr sz="2400" smtClean="0">
                <a:solidFill>
                  <a:srgbClr val="002060"/>
                </a:solidFill>
                <a:latin typeface="微软雅黑" panose="020B0503020204020204" pitchFamily="34" charset="-122"/>
                <a:ea typeface="微软雅黑" panose="020B0503020204020204" pitchFamily="34" charset="-122"/>
              </a:rPr>
              <a:t>杠杆率 </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1000/50 </a:t>
            </a:r>
            <a:r>
              <a:rPr sz="2400" dirty="0">
                <a:solidFill>
                  <a:srgbClr val="002060"/>
                </a:solidFill>
                <a:latin typeface="微软雅黑" panose="020B0503020204020204" pitchFamily="34" charset="-122"/>
                <a:ea typeface="微软雅黑" panose="020B0503020204020204" pitchFamily="34" charset="-122"/>
              </a:rPr>
              <a:t>= 20</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lang="zh-CN" sz="2400" dirty="0">
                <a:solidFill>
                  <a:srgbClr val="002060"/>
                </a:solidFill>
                <a:latin typeface="微软雅黑" panose="020B0503020204020204" pitchFamily="34" charset="-122"/>
                <a:ea typeface="微软雅黑" panose="020B0503020204020204" pitchFamily="34" charset="-122"/>
              </a:rPr>
              <a:t>含义</a:t>
            </a:r>
            <a:r>
              <a:rPr sz="2400" dirty="0">
                <a:solidFill>
                  <a:srgbClr val="002060"/>
                </a:solidFill>
                <a:latin typeface="微软雅黑" panose="020B0503020204020204" pitchFamily="34" charset="-122"/>
                <a:ea typeface="微软雅黑" panose="020B0503020204020204" pitchFamily="34" charset="-122"/>
              </a:rPr>
              <a:t>：每 </a:t>
            </a:r>
            <a:r>
              <a:rPr sz="2400">
                <a:solidFill>
                  <a:srgbClr val="002060"/>
                </a:solidFill>
                <a:latin typeface="微软雅黑" panose="020B0503020204020204" pitchFamily="34" charset="-122"/>
                <a:ea typeface="微软雅黑" panose="020B0503020204020204" pitchFamily="34" charset="-122"/>
              </a:rPr>
              <a:t>20 </a:t>
            </a:r>
            <a:r>
              <a:rPr sz="2400" smtClean="0">
                <a:solidFill>
                  <a:srgbClr val="002060"/>
                </a:solidFill>
                <a:latin typeface="微软雅黑" panose="020B0503020204020204" pitchFamily="34" charset="-122"/>
                <a:ea typeface="微软雅黑" panose="020B0503020204020204" pitchFamily="34" charset="-122"/>
              </a:rPr>
              <a:t>元资产</a:t>
            </a:r>
            <a:r>
              <a:rPr sz="2400" dirty="0">
                <a:solidFill>
                  <a:srgbClr val="002060"/>
                </a:solidFill>
                <a:latin typeface="微软雅黑" panose="020B0503020204020204" pitchFamily="34" charset="-122"/>
                <a:ea typeface="微软雅黑" panose="020B0503020204020204" pitchFamily="34" charset="-122"/>
              </a:rPr>
              <a:t>，</a:t>
            </a:r>
            <a:r>
              <a:rPr sz="2400">
                <a:solidFill>
                  <a:srgbClr val="002060"/>
                </a:solidFill>
                <a:latin typeface="微软雅黑" panose="020B0503020204020204" pitchFamily="34" charset="-122"/>
                <a:ea typeface="微软雅黑" panose="020B0503020204020204" pitchFamily="34" charset="-122"/>
              </a:rPr>
              <a:t>1 </a:t>
            </a:r>
            <a:r>
              <a:rPr sz="2400" smtClean="0">
                <a:solidFill>
                  <a:srgbClr val="002060"/>
                </a:solidFill>
                <a:latin typeface="微软雅黑" panose="020B0503020204020204" pitchFamily="34" charset="-122"/>
                <a:ea typeface="微软雅黑" panose="020B0503020204020204" pitchFamily="34" charset="-122"/>
              </a:rPr>
              <a:t>元来自银行所有者</a:t>
            </a:r>
            <a:r>
              <a:rPr sz="2400" dirty="0">
                <a:solidFill>
                  <a:srgbClr val="002060"/>
                </a:solidFill>
                <a:latin typeface="微软雅黑" panose="020B0503020204020204" pitchFamily="34" charset="-122"/>
                <a:ea typeface="微软雅黑" panose="020B0503020204020204" pitchFamily="34" charset="-122"/>
              </a:rPr>
              <a:t>，</a:t>
            </a:r>
            <a:r>
              <a:rPr sz="2400">
                <a:solidFill>
                  <a:srgbClr val="002060"/>
                </a:solidFill>
                <a:latin typeface="微软雅黑" panose="020B0503020204020204" pitchFamily="34" charset="-122"/>
                <a:ea typeface="微软雅黑" panose="020B0503020204020204" pitchFamily="34" charset="-122"/>
              </a:rPr>
              <a:t>19 </a:t>
            </a:r>
            <a:r>
              <a:rPr sz="2400" smtClean="0">
                <a:solidFill>
                  <a:srgbClr val="002060"/>
                </a:solidFill>
                <a:latin typeface="微软雅黑" panose="020B0503020204020204" pitchFamily="34" charset="-122"/>
                <a:ea typeface="微软雅黑" panose="020B0503020204020204" pitchFamily="34" charset="-122"/>
              </a:rPr>
              <a:t>元来自借款</a:t>
            </a:r>
            <a:r>
              <a:rPr lang="zh-CN" altLang="en-US" sz="2400" smtClean="0">
                <a:solidFill>
                  <a:srgbClr val="002060"/>
                </a:solidFill>
                <a:latin typeface="思源黑体 CN Bold" panose="020B0800000000000000" pitchFamily="34" charset="-122"/>
                <a:ea typeface="思源黑体 CN Bold" panose="020B0800000000000000" pitchFamily="34" charset="-122"/>
              </a:rPr>
              <a:t>。</a:t>
            </a: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7" name="图片 6"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graphicFrame>
        <p:nvGraphicFramePr>
          <p:cNvPr id="8" name="Group 27"/>
          <p:cNvGraphicFramePr>
            <a:graphicFrameLocks noGrp="1"/>
          </p:cNvGraphicFramePr>
          <p:nvPr>
            <p:custDataLst>
              <p:tags r:id="rId4"/>
            </p:custDataLst>
          </p:nvPr>
        </p:nvGraphicFramePr>
        <p:xfrm>
          <a:off x="1475656" y="1124744"/>
          <a:ext cx="6219825" cy="2432050"/>
        </p:xfrm>
        <a:graphic>
          <a:graphicData uri="http://schemas.openxmlformats.org/drawingml/2006/table">
            <a:tbl>
              <a:tblPr/>
              <a:tblGrid>
                <a:gridCol w="3109912"/>
                <a:gridCol w="3109913"/>
              </a:tblGrid>
              <a:tr h="432048">
                <a:tc gridSpan="2">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smtClean="0">
                          <a:solidFill>
                            <a:srgbClr val="002060"/>
                          </a:solidFill>
                          <a:latin typeface="微软雅黑" panose="020B0503020204020204" pitchFamily="34" charset="-122"/>
                          <a:ea typeface="微软雅黑" panose="020B0503020204020204" pitchFamily="34" charset="-122"/>
                          <a:cs typeface="+mn-cs"/>
                        </a:rPr>
                        <a:t>国民银行</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a:noFill/>
                    </a:lnB>
                    <a:lnTlToBr>
                      <a:noFill/>
                    </a:lnTlToBr>
                    <a:lnBlToTr>
                      <a:noFill/>
                    </a:lnBlToTr>
                    <a:solidFill>
                      <a:srgbClr val="92D050"/>
                    </a:solidFill>
                  </a:tcPr>
                </a:tc>
                <a:tc hMerge="1">
                  <a:tcPr/>
                </a:tc>
              </a:tr>
              <a:tr h="386829">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资产</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负债</a:t>
                      </a:r>
                      <a:endParaRPr lang="zh-CN" alt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r>
              <a:tr h="1517650">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准备金</a:t>
                      </a:r>
                      <a:r>
                        <a:rPr lang="en-US" sz="2400" kern="1200" smtClean="0">
                          <a:solidFill>
                            <a:srgbClr val="002060"/>
                          </a:solidFill>
                          <a:latin typeface="微软雅黑" panose="020B0503020204020204" pitchFamily="34" charset="-122"/>
                          <a:ea typeface="微软雅黑" panose="020B0503020204020204" pitchFamily="34" charset="-122"/>
                          <a:cs typeface="+mn-cs"/>
                        </a:rPr>
                        <a:t>	200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贷款</a:t>
                      </a:r>
                      <a:r>
                        <a:rPr lang="en-US" sz="2400" kern="1200" dirty="0" smtClean="0">
                          <a:solidFill>
                            <a:srgbClr val="002060"/>
                          </a:solidFill>
                          <a:latin typeface="微软雅黑" panose="020B0503020204020204" pitchFamily="34" charset="-122"/>
                          <a:ea typeface="微软雅黑" panose="020B0503020204020204" pitchFamily="34" charset="-122"/>
                          <a:cs typeface="+mn-cs"/>
                        </a:rPr>
                        <a:t>  </a:t>
                      </a:r>
                      <a:r>
                        <a:rPr lang="en-US" sz="2400" kern="1200" smtClean="0">
                          <a:solidFill>
                            <a:srgbClr val="002060"/>
                          </a:solidFill>
                          <a:latin typeface="微软雅黑" panose="020B0503020204020204" pitchFamily="34" charset="-122"/>
                          <a:ea typeface="微软雅黑" panose="020B0503020204020204" pitchFamily="34" charset="-122"/>
                          <a:cs typeface="+mn-cs"/>
                        </a:rPr>
                        <a:t>	700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887220"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证券</a:t>
                      </a:r>
                      <a:r>
                        <a:rPr lang="en-US" sz="2400" kern="1200" dirty="0" smtClean="0">
                          <a:solidFill>
                            <a:srgbClr val="002060"/>
                          </a:solidFill>
                          <a:latin typeface="微软雅黑" panose="020B0503020204020204" pitchFamily="34" charset="-122"/>
                          <a:ea typeface="微软雅黑" panose="020B0503020204020204" pitchFamily="34" charset="-122"/>
                          <a:cs typeface="+mn-cs"/>
                        </a:rPr>
                        <a:t> </a:t>
                      </a:r>
                      <a:r>
                        <a:rPr lang="en-US" sz="2400" kern="1200" smtClean="0">
                          <a:solidFill>
                            <a:srgbClr val="002060"/>
                          </a:solidFill>
                          <a:latin typeface="微软雅黑" panose="020B0503020204020204" pitchFamily="34" charset="-122"/>
                          <a:ea typeface="微软雅黑" panose="020B0503020204020204" pitchFamily="34" charset="-122"/>
                          <a:cs typeface="+mn-cs"/>
                        </a:rPr>
                        <a:t>	100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存款</a:t>
                      </a:r>
                      <a:r>
                        <a:rPr lang="en-US" sz="2400" kern="1200" smtClean="0">
                          <a:solidFill>
                            <a:srgbClr val="002060"/>
                          </a:solidFill>
                          <a:latin typeface="微软雅黑" panose="020B0503020204020204" pitchFamily="34" charset="-122"/>
                          <a:ea typeface="微软雅黑" panose="020B0503020204020204" pitchFamily="34" charset="-122"/>
                          <a:cs typeface="+mn-cs"/>
                        </a:rPr>
                        <a:t>	800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债券</a:t>
                      </a:r>
                      <a:r>
                        <a:rPr lang="en-US" sz="2400" kern="1200" smtClean="0">
                          <a:solidFill>
                            <a:srgbClr val="002060"/>
                          </a:solidFill>
                          <a:latin typeface="微软雅黑" panose="020B0503020204020204" pitchFamily="34" charset="-122"/>
                          <a:ea typeface="微软雅黑" panose="020B0503020204020204" pitchFamily="34" charset="-122"/>
                          <a:cs typeface="+mn-cs"/>
                        </a:rPr>
                        <a:t>	150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p>
                      <a:pPr marL="59055" marR="0" lvl="0" indent="0" algn="l" defTabSz="914400" rtl="0" eaLnBrk="1" fontAlgn="base" latinLnBrk="0" hangingPunct="1">
                        <a:lnSpc>
                          <a:spcPct val="100000"/>
                        </a:lnSpc>
                        <a:spcBef>
                          <a:spcPct val="30000"/>
                        </a:spcBef>
                        <a:spcAft>
                          <a:spcPct val="0"/>
                        </a:spcAft>
                        <a:buClr>
                          <a:srgbClr val="339966"/>
                        </a:buClr>
                        <a:buSzPct val="120000"/>
                        <a:buFont typeface="Wingdings" panose="05000000000000000000" pitchFamily="2" charset="2"/>
                        <a:buNone/>
                        <a:tabLst>
                          <a:tab pos="1947545" algn="l"/>
                        </a:tabLst>
                        <a:defRPr/>
                      </a:pPr>
                      <a:r>
                        <a:rPr lang="zh-CN" altLang="en-US" sz="2400" kern="1200" dirty="0" smtClean="0">
                          <a:solidFill>
                            <a:srgbClr val="002060"/>
                          </a:solidFill>
                          <a:latin typeface="微软雅黑" panose="020B0503020204020204" pitchFamily="34" charset="-122"/>
                          <a:ea typeface="微软雅黑" panose="020B0503020204020204" pitchFamily="34" charset="-122"/>
                          <a:cs typeface="+mn-cs"/>
                        </a:rPr>
                        <a:t>资本金</a:t>
                      </a:r>
                      <a:r>
                        <a:rPr lang="en-US" sz="2400" kern="1200" smtClean="0">
                          <a:solidFill>
                            <a:srgbClr val="002060"/>
                          </a:solidFill>
                          <a:latin typeface="微软雅黑" panose="020B0503020204020204" pitchFamily="34" charset="-122"/>
                          <a:ea typeface="微软雅黑" panose="020B0503020204020204" pitchFamily="34" charset="-122"/>
                          <a:cs typeface="+mn-cs"/>
                        </a:rPr>
                        <a:t>	50</a:t>
                      </a:r>
                      <a:endParaRPr lang="en-US" sz="2400" kern="1200" dirty="0" smtClean="0">
                        <a:solidFill>
                          <a:srgbClr val="00206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r>
            </a:tbl>
          </a:graphicData>
        </a:graphic>
      </p:graphicFrame>
      <p:sp>
        <p:nvSpPr>
          <p:cNvPr id="9"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333484" y="1059521"/>
            <a:ext cx="8257867" cy="4247317"/>
          </a:xfrm>
          <a:prstGeom prst="rect">
            <a:avLst/>
          </a:prstGeom>
          <a:noFill/>
        </p:spPr>
        <p:txBody>
          <a:bodyPr wrap="square" rtlCol="0">
            <a:spAutoFit/>
          </a:bodyPr>
          <a:lstStyle/>
          <a:p>
            <a:pPr marL="342900" indent="-342900" algn="l">
              <a:lnSpc>
                <a:spcPts val="3600"/>
              </a:lnSpc>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杠杆放大了盈亏</a:t>
            </a:r>
            <a:r>
              <a:rPr lang="zh-CN" altLang="en-US" sz="2400" smtClean="0">
                <a:solidFill>
                  <a:srgbClr val="002060"/>
                </a:solidFill>
                <a:latin typeface="微软雅黑" panose="020B0503020204020204" pitchFamily="34" charset="-122"/>
                <a:ea typeface="微软雅黑" panose="020B0503020204020204" pitchFamily="34" charset="-122"/>
              </a:rPr>
              <a:t>：该例中</a:t>
            </a:r>
            <a:r>
              <a:rPr sz="2400" smtClean="0">
                <a:solidFill>
                  <a:srgbClr val="002060"/>
                </a:solidFill>
                <a:latin typeface="微软雅黑" panose="020B0503020204020204" pitchFamily="34" charset="-122"/>
                <a:ea typeface="微软雅黑" panose="020B0503020204020204" pitchFamily="34" charset="-122"/>
              </a:rPr>
              <a:t>，</a:t>
            </a:r>
            <a:r>
              <a:rPr sz="2400" dirty="0">
                <a:solidFill>
                  <a:srgbClr val="FF0000"/>
                </a:solidFill>
                <a:latin typeface="微软雅黑" panose="020B0503020204020204" pitchFamily="34" charset="-122"/>
                <a:ea typeface="微软雅黑" panose="020B0503020204020204" pitchFamily="34" charset="-122"/>
              </a:rPr>
              <a:t>假设银行资产增值 5%</a:t>
            </a:r>
            <a:r>
              <a:rPr sz="2400" dirty="0">
                <a:solidFill>
                  <a:srgbClr val="002060"/>
                </a:solidFill>
                <a:latin typeface="微软雅黑" panose="020B0503020204020204" pitchFamily="34" charset="-122"/>
                <a:ea typeface="微软雅黑" panose="020B0503020204020204" pitchFamily="34" charset="-122"/>
              </a:rPr>
              <a:t>，从 </a:t>
            </a:r>
            <a:r>
              <a:rPr sz="2400">
                <a:solidFill>
                  <a:srgbClr val="002060"/>
                </a:solidFill>
                <a:latin typeface="微软雅黑" panose="020B0503020204020204" pitchFamily="34" charset="-122"/>
                <a:ea typeface="微软雅黑" panose="020B0503020204020204" pitchFamily="34" charset="-122"/>
              </a:rPr>
              <a:t>1000 </a:t>
            </a:r>
            <a:r>
              <a:rPr sz="2400" smtClean="0">
                <a:solidFill>
                  <a:srgbClr val="002060"/>
                </a:solidFill>
                <a:latin typeface="微软雅黑" panose="020B0503020204020204" pitchFamily="34" charset="-122"/>
                <a:ea typeface="微软雅黑" panose="020B0503020204020204" pitchFamily="34" charset="-122"/>
              </a:rPr>
              <a:t>元到 </a:t>
            </a:r>
            <a:r>
              <a:rPr sz="2400">
                <a:solidFill>
                  <a:srgbClr val="002060"/>
                </a:solidFill>
                <a:latin typeface="微软雅黑" panose="020B0503020204020204" pitchFamily="34" charset="-122"/>
                <a:ea typeface="微软雅黑" panose="020B0503020204020204" pitchFamily="34" charset="-122"/>
              </a:rPr>
              <a:t>1050 </a:t>
            </a:r>
            <a:r>
              <a:rPr sz="2400" smtClean="0">
                <a:solidFill>
                  <a:srgbClr val="002060"/>
                </a:solidFill>
                <a:latin typeface="微软雅黑" panose="020B0503020204020204" pitchFamily="34" charset="-122"/>
                <a:ea typeface="微软雅黑" panose="020B0503020204020204" pitchFamily="34" charset="-122"/>
              </a:rPr>
              <a:t>元。银行资本</a:t>
            </a:r>
            <a:r>
              <a:rPr lang="zh-CN" altLang="en-US" sz="2400">
                <a:solidFill>
                  <a:srgbClr val="002060"/>
                </a:solidFill>
                <a:latin typeface="微软雅黑" panose="020B0503020204020204" pitchFamily="34" charset="-122"/>
                <a:ea typeface="微软雅黑" panose="020B0503020204020204" pitchFamily="34" charset="-122"/>
              </a:rPr>
              <a:t>就会</a:t>
            </a:r>
            <a:r>
              <a:rPr sz="2400" smtClean="0">
                <a:solidFill>
                  <a:srgbClr val="002060"/>
                </a:solidFill>
                <a:latin typeface="微软雅黑" panose="020B0503020204020204" pitchFamily="34" charset="-122"/>
                <a:ea typeface="微软雅黑" panose="020B0503020204020204" pitchFamily="34" charset="-122"/>
              </a:rPr>
              <a:t>从 </a:t>
            </a:r>
            <a:r>
              <a:rPr sz="2400">
                <a:solidFill>
                  <a:srgbClr val="002060"/>
                </a:solidFill>
                <a:latin typeface="微软雅黑" panose="020B0503020204020204" pitchFamily="34" charset="-122"/>
                <a:ea typeface="微软雅黑" panose="020B0503020204020204" pitchFamily="34" charset="-122"/>
              </a:rPr>
              <a:t>50 </a:t>
            </a:r>
            <a:r>
              <a:rPr sz="2400" smtClean="0">
                <a:solidFill>
                  <a:srgbClr val="002060"/>
                </a:solidFill>
                <a:latin typeface="微软雅黑" panose="020B0503020204020204" pitchFamily="34" charset="-122"/>
                <a:ea typeface="微软雅黑" panose="020B0503020204020204" pitchFamily="34" charset="-122"/>
              </a:rPr>
              <a:t>元增加到 </a:t>
            </a:r>
            <a:r>
              <a:rPr sz="2400">
                <a:solidFill>
                  <a:srgbClr val="002060"/>
                </a:solidFill>
                <a:latin typeface="微软雅黑" panose="020B0503020204020204" pitchFamily="34" charset="-122"/>
                <a:ea typeface="微软雅黑" panose="020B0503020204020204" pitchFamily="34" charset="-122"/>
              </a:rPr>
              <a:t>100 </a:t>
            </a:r>
            <a:r>
              <a:rPr sz="2400" smtClean="0">
                <a:solidFill>
                  <a:srgbClr val="002060"/>
                </a:solidFill>
                <a:latin typeface="微软雅黑" panose="020B0503020204020204" pitchFamily="34" charset="-122"/>
                <a:ea typeface="微软雅黑" panose="020B0503020204020204" pitchFamily="34" charset="-122"/>
              </a:rPr>
              <a:t>元</a:t>
            </a:r>
            <a:r>
              <a:rPr sz="2400" dirty="0">
                <a:solidFill>
                  <a:srgbClr val="002060"/>
                </a:solidFill>
                <a:latin typeface="微软雅黑" panose="020B0503020204020204" pitchFamily="34" charset="-122"/>
                <a:ea typeface="微软雅黑" panose="020B0503020204020204" pitchFamily="34" charset="-122"/>
              </a:rPr>
              <a:t>，使所有者权益增加一倍</a:t>
            </a:r>
            <a:r>
              <a:rPr lang="zh-CN" sz="2400" dirty="0">
                <a:solidFill>
                  <a:srgbClr val="002060"/>
                </a:solidFill>
                <a:latin typeface="微软雅黑" panose="020B0503020204020204" pitchFamily="34" charset="-122"/>
                <a:ea typeface="微软雅黑" panose="020B0503020204020204" pitchFamily="34" charset="-122"/>
              </a:rPr>
              <a:t>。</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假设存款和</a:t>
            </a:r>
            <a:r>
              <a:rPr lang="zh-CN" altLang="en-US" sz="2400" smtClean="0">
                <a:solidFill>
                  <a:srgbClr val="002060"/>
                </a:solidFill>
                <a:latin typeface="微软雅黑" panose="020B0503020204020204" pitchFamily="34" charset="-122"/>
                <a:ea typeface="微软雅黑" panose="020B0503020204020204" pitchFamily="34" charset="-122"/>
              </a:rPr>
              <a:t>债券</a:t>
            </a:r>
            <a:r>
              <a:rPr sz="2400" smtClean="0">
                <a:solidFill>
                  <a:srgbClr val="002060"/>
                </a:solidFill>
                <a:latin typeface="微软雅黑" panose="020B0503020204020204" pitchFamily="34" charset="-122"/>
                <a:ea typeface="微软雅黑" panose="020B0503020204020204" pitchFamily="34" charset="-122"/>
              </a:rPr>
              <a:t>的利息率</a:t>
            </a:r>
            <a:r>
              <a:rPr lang="zh-CN" sz="2400" dirty="0">
                <a:solidFill>
                  <a:srgbClr val="002060"/>
                </a:solidFill>
                <a:latin typeface="微软雅黑" panose="020B0503020204020204" pitchFamily="34" charset="-122"/>
                <a:ea typeface="微软雅黑" panose="020B0503020204020204" pitchFamily="34" charset="-122"/>
              </a:rPr>
              <a:t>很</a:t>
            </a:r>
            <a:r>
              <a:rPr sz="2400" dirty="0">
                <a:solidFill>
                  <a:srgbClr val="002060"/>
                </a:solidFill>
                <a:latin typeface="微软雅黑" panose="020B0503020204020204" pitchFamily="34" charset="-122"/>
                <a:ea typeface="微软雅黑" panose="020B0503020204020204" pitchFamily="34" charset="-122"/>
              </a:rPr>
              <a:t>低，</a:t>
            </a:r>
            <a:r>
              <a:rPr lang="zh-CN" sz="2400" dirty="0">
                <a:solidFill>
                  <a:srgbClr val="002060"/>
                </a:solidFill>
                <a:latin typeface="微软雅黑" panose="020B0503020204020204" pitchFamily="34" charset="-122"/>
                <a:ea typeface="微软雅黑" panose="020B0503020204020204" pitchFamily="34" charset="-122"/>
              </a:rPr>
              <a:t>忽略</a:t>
            </a:r>
            <a:r>
              <a:rPr sz="2400">
                <a:solidFill>
                  <a:srgbClr val="002060"/>
                </a:solidFill>
                <a:latin typeface="微软雅黑" panose="020B0503020204020204" pitchFamily="34" charset="-122"/>
                <a:ea typeface="微软雅黑" panose="020B0503020204020204" pitchFamily="34" charset="-122"/>
              </a:rPr>
              <a:t>不计</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FF0000"/>
                </a:solidFill>
                <a:latin typeface="微软雅黑" panose="020B0503020204020204" pitchFamily="34" charset="-122"/>
                <a:ea typeface="微软雅黑" panose="020B0503020204020204" pitchFamily="34" charset="-122"/>
              </a:rPr>
              <a:t>相反如果银行资产</a:t>
            </a:r>
            <a:r>
              <a:rPr lang="zh-CN" altLang="en-US" sz="2400">
                <a:solidFill>
                  <a:srgbClr val="FF0000"/>
                </a:solidFill>
                <a:latin typeface="微软雅黑" panose="020B0503020204020204" pitchFamily="34" charset="-122"/>
                <a:ea typeface="微软雅黑" panose="020B0503020204020204" pitchFamily="34" charset="-122"/>
              </a:rPr>
              <a:t>贬值</a:t>
            </a:r>
            <a:r>
              <a:rPr sz="2400" smtClean="0">
                <a:solidFill>
                  <a:srgbClr val="FF0000"/>
                </a:solidFill>
                <a:latin typeface="微软雅黑" panose="020B0503020204020204" pitchFamily="34" charset="-122"/>
                <a:ea typeface="微软雅黑" panose="020B0503020204020204" pitchFamily="34" charset="-122"/>
              </a:rPr>
              <a:t> </a:t>
            </a:r>
            <a:r>
              <a:rPr sz="2400" dirty="0">
                <a:solidFill>
                  <a:srgbClr val="FF0000"/>
                </a:solidFill>
                <a:latin typeface="微软雅黑" panose="020B0503020204020204" pitchFamily="34" charset="-122"/>
                <a:ea typeface="微软雅黑" panose="020B0503020204020204" pitchFamily="34" charset="-122"/>
              </a:rPr>
              <a:t>5%，</a:t>
            </a:r>
            <a:r>
              <a:rPr sz="2400" dirty="0">
                <a:solidFill>
                  <a:srgbClr val="002060"/>
                </a:solidFill>
                <a:latin typeface="微软雅黑" panose="020B0503020204020204" pitchFamily="34" charset="-122"/>
                <a:ea typeface="微软雅黑" panose="020B0503020204020204" pitchFamily="34" charset="-122"/>
              </a:rPr>
              <a:t>银行资本就会从 </a:t>
            </a:r>
            <a:r>
              <a:rPr sz="2400">
                <a:solidFill>
                  <a:srgbClr val="002060"/>
                </a:solidFill>
                <a:latin typeface="微软雅黑" panose="020B0503020204020204" pitchFamily="34" charset="-122"/>
                <a:ea typeface="微软雅黑" panose="020B0503020204020204" pitchFamily="34" charset="-122"/>
              </a:rPr>
              <a:t>50 </a:t>
            </a:r>
            <a:r>
              <a:rPr sz="2400" smtClean="0">
                <a:solidFill>
                  <a:srgbClr val="002060"/>
                </a:solidFill>
                <a:latin typeface="微软雅黑" panose="020B0503020204020204" pitchFamily="34" charset="-122"/>
                <a:ea typeface="微软雅黑" panose="020B0503020204020204" pitchFamily="34" charset="-122"/>
              </a:rPr>
              <a:t>元降至 </a:t>
            </a:r>
            <a:r>
              <a:rPr sz="2400">
                <a:solidFill>
                  <a:srgbClr val="002060"/>
                </a:solidFill>
                <a:latin typeface="微软雅黑" panose="020B0503020204020204" pitchFamily="34" charset="-122"/>
                <a:ea typeface="微软雅黑" panose="020B0503020204020204" pitchFamily="34" charset="-122"/>
              </a:rPr>
              <a:t>0 </a:t>
            </a:r>
            <a:r>
              <a:rPr sz="2400" smtClean="0">
                <a:solidFill>
                  <a:srgbClr val="002060"/>
                </a:solidFill>
                <a:latin typeface="微软雅黑" panose="020B0503020204020204" pitchFamily="34" charset="-122"/>
                <a:ea typeface="微软雅黑" panose="020B0503020204020204" pitchFamily="34" charset="-122"/>
              </a:rPr>
              <a:t>元。</a:t>
            </a:r>
            <a:r>
              <a:rPr sz="2400" smtClean="0">
                <a:solidFill>
                  <a:srgbClr val="FF0000"/>
                </a:solidFill>
                <a:latin typeface="微软雅黑" panose="020B0503020204020204" pitchFamily="34" charset="-122"/>
                <a:ea typeface="微软雅黑" panose="020B0503020204020204" pitchFamily="34" charset="-122"/>
              </a:rPr>
              <a:t>如果银行资产</a:t>
            </a:r>
            <a:r>
              <a:rPr lang="zh-CN" altLang="en-US" sz="2400" smtClean="0">
                <a:solidFill>
                  <a:srgbClr val="FF0000"/>
                </a:solidFill>
                <a:latin typeface="微软雅黑" panose="020B0503020204020204" pitchFamily="34" charset="-122"/>
                <a:ea typeface="微软雅黑" panose="020B0503020204020204" pitchFamily="34" charset="-122"/>
              </a:rPr>
              <a:t>贬值</a:t>
            </a:r>
            <a:r>
              <a:rPr sz="2400" smtClean="0">
                <a:solidFill>
                  <a:srgbClr val="FF0000"/>
                </a:solidFill>
                <a:latin typeface="微软雅黑" panose="020B0503020204020204" pitchFamily="34" charset="-122"/>
                <a:ea typeface="微软雅黑" panose="020B0503020204020204" pitchFamily="34" charset="-122"/>
              </a:rPr>
              <a:t>5</a:t>
            </a:r>
            <a:r>
              <a:rPr sz="2400" dirty="0">
                <a:solidFill>
                  <a:srgbClr val="FF0000"/>
                </a:solidFill>
                <a:latin typeface="微软雅黑" panose="020B0503020204020204" pitchFamily="34" charset="-122"/>
                <a:ea typeface="微软雅黑" panose="020B0503020204020204" pitchFamily="34" charset="-122"/>
              </a:rPr>
              <a:t>%以上</a:t>
            </a:r>
            <a:r>
              <a:rPr sz="2400" dirty="0">
                <a:solidFill>
                  <a:srgbClr val="002060"/>
                </a:solidFill>
                <a:latin typeface="微软雅黑" panose="020B0503020204020204" pitchFamily="34" charset="-122"/>
                <a:ea typeface="微软雅黑" panose="020B0503020204020204" pitchFamily="34" charset="-122"/>
              </a:rPr>
              <a:t>，银行资本为负</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a:t>
            </a:r>
            <a:r>
              <a:rPr lang="zh-CN" altLang="en-US" sz="2400" smtClean="0">
                <a:solidFill>
                  <a:srgbClr val="002060"/>
                </a:solidFill>
                <a:latin typeface="微软雅黑" panose="020B0503020204020204" pitchFamily="34" charset="-122"/>
                <a:ea typeface="微软雅黑" panose="020B0503020204020204" pitchFamily="34" charset="-122"/>
              </a:rPr>
              <a:t>将</a:t>
            </a:r>
            <a:r>
              <a:rPr sz="2400" smtClean="0">
                <a:solidFill>
                  <a:srgbClr val="002060"/>
                </a:solidFill>
                <a:latin typeface="微软雅黑" panose="020B0503020204020204" pitchFamily="34" charset="-122"/>
                <a:ea typeface="微软雅黑" panose="020B0503020204020204" pitchFamily="34" charset="-122"/>
              </a:rPr>
              <a:t>资不抵债</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ts val="3600"/>
              </a:lnSpc>
              <a:buFont typeface="Wingdings" panose="05000000000000000000" pitchFamily="2" charset="2"/>
              <a:buChar char="Ø"/>
            </a:pPr>
            <a:r>
              <a:rPr sz="2400" smtClean="0">
                <a:solidFill>
                  <a:srgbClr val="FF0000"/>
                </a:solidFill>
                <a:latin typeface="微软雅黑" panose="020B0503020204020204" pitchFamily="34" charset="-122"/>
                <a:ea typeface="微软雅黑" panose="020B0503020204020204" pitchFamily="34" charset="-122"/>
              </a:rPr>
              <a:t>资本</a:t>
            </a:r>
            <a:r>
              <a:rPr lang="zh-CN" altLang="en-US" sz="2400" smtClean="0">
                <a:solidFill>
                  <a:srgbClr val="FF0000"/>
                </a:solidFill>
                <a:latin typeface="微软雅黑" panose="020B0503020204020204" pitchFamily="34" charset="-122"/>
                <a:ea typeface="微软雅黑" panose="020B0503020204020204" pitchFamily="34" charset="-122"/>
              </a:rPr>
              <a:t>金</a:t>
            </a:r>
            <a:r>
              <a:rPr sz="2400" smtClean="0">
                <a:solidFill>
                  <a:srgbClr val="FF0000"/>
                </a:solidFill>
                <a:latin typeface="微软雅黑" panose="020B0503020204020204" pitchFamily="34" charset="-122"/>
                <a:ea typeface="微软雅黑" panose="020B0503020204020204" pitchFamily="34" charset="-122"/>
              </a:rPr>
              <a:t>要求</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规定了最低资本</a:t>
            </a:r>
            <a:r>
              <a:rPr lang="zh-CN" altLang="en-US" sz="2400" smtClean="0">
                <a:solidFill>
                  <a:srgbClr val="002060"/>
                </a:solidFill>
                <a:latin typeface="微软雅黑" panose="020B0503020204020204" pitchFamily="34" charset="-122"/>
                <a:ea typeface="微软雅黑" panose="020B0503020204020204" pitchFamily="34" charset="-122"/>
              </a:rPr>
              <a:t>金</a:t>
            </a:r>
            <a:r>
              <a:rPr sz="2400" smtClean="0">
                <a:solidFill>
                  <a:srgbClr val="002060"/>
                </a:solidFill>
                <a:latin typeface="微软雅黑" panose="020B0503020204020204" pitchFamily="34" charset="-122"/>
                <a:ea typeface="微软雅黑" panose="020B0503020204020204" pitchFamily="34" charset="-122"/>
              </a:rPr>
              <a:t>额</a:t>
            </a:r>
            <a:r>
              <a:rPr sz="2400" dirty="0">
                <a:solidFill>
                  <a:srgbClr val="002060"/>
                </a:solidFill>
                <a:latin typeface="微软雅黑" panose="020B0503020204020204" pitchFamily="34" charset="-122"/>
                <a:ea typeface="微软雅黑" panose="020B0503020204020204" pitchFamily="34" charset="-122"/>
              </a:rPr>
              <a:t>（《巴赛尔协议</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的规定银行的资本</a:t>
            </a:r>
            <a:r>
              <a:rPr lang="zh-CN" altLang="en-US" sz="2400" smtClean="0">
                <a:solidFill>
                  <a:srgbClr val="002060"/>
                </a:solidFill>
                <a:latin typeface="微软雅黑" panose="020B0503020204020204" pitchFamily="34" charset="-122"/>
                <a:ea typeface="微软雅黑" panose="020B0503020204020204" pitchFamily="34" charset="-122"/>
              </a:rPr>
              <a:t>金</a:t>
            </a:r>
            <a:r>
              <a:rPr sz="2400" smtClean="0">
                <a:solidFill>
                  <a:srgbClr val="002060"/>
                </a:solidFill>
                <a:latin typeface="微软雅黑" panose="020B0503020204020204" pitchFamily="34" charset="-122"/>
                <a:ea typeface="微软雅黑" panose="020B0503020204020204" pitchFamily="34" charset="-122"/>
              </a:rPr>
              <a:t>充足率不</a:t>
            </a:r>
            <a:r>
              <a:rPr lang="zh-CN" sz="2400" dirty="0">
                <a:solidFill>
                  <a:srgbClr val="002060"/>
                </a:solidFill>
                <a:latin typeface="微软雅黑" panose="020B0503020204020204" pitchFamily="34" charset="-122"/>
                <a:ea typeface="微软雅黑" panose="020B0503020204020204" pitchFamily="34" charset="-122"/>
              </a:rPr>
              <a:t>应低于</a:t>
            </a:r>
            <a:r>
              <a:rPr sz="2400" dirty="0">
                <a:solidFill>
                  <a:srgbClr val="002060"/>
                </a:solidFill>
                <a:latin typeface="微软雅黑" panose="020B0503020204020204" pitchFamily="34" charset="-122"/>
                <a:ea typeface="微软雅黑" panose="020B0503020204020204" pitchFamily="34" charset="-122"/>
              </a:rPr>
              <a:t>8</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旨在确保银行能够清偿存款人和</a:t>
            </a:r>
            <a:r>
              <a:rPr lang="zh-CN" altLang="en-US" sz="2400" smtClean="0">
                <a:solidFill>
                  <a:srgbClr val="002060"/>
                </a:solidFill>
                <a:latin typeface="微软雅黑" panose="020B0503020204020204" pitchFamily="34" charset="-122"/>
                <a:ea typeface="微软雅黑" panose="020B0503020204020204" pitchFamily="34" charset="-122"/>
              </a:rPr>
              <a:t>其他</a:t>
            </a:r>
            <a:r>
              <a:rPr sz="2400" smtClean="0">
                <a:solidFill>
                  <a:srgbClr val="002060"/>
                </a:solidFill>
                <a:latin typeface="微软雅黑" panose="020B0503020204020204" pitchFamily="34" charset="-122"/>
                <a:ea typeface="微软雅黑" panose="020B0503020204020204" pitchFamily="34" charset="-122"/>
              </a:rPr>
              <a:t>债务</a:t>
            </a:r>
            <a:r>
              <a:rPr lang="zh-CN" altLang="en-US" sz="2400" smtClean="0">
                <a:solidFill>
                  <a:srgbClr val="002060"/>
                </a:solidFill>
                <a:latin typeface="微软雅黑" panose="020B0503020204020204" pitchFamily="34" charset="-122"/>
                <a:ea typeface="微软雅黑" panose="020B0503020204020204" pitchFamily="34" charset="-122"/>
              </a:rPr>
              <a:t>人</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041843" cy="4478149"/>
          </a:xfrm>
          <a:prstGeom prst="rect">
            <a:avLst/>
          </a:prstGeom>
          <a:noFill/>
        </p:spPr>
        <p:txBody>
          <a:bodyPr wrap="square" rtlCol="0">
            <a:spAutoFit/>
          </a:bodyPr>
          <a:lstStyle/>
          <a:p>
            <a:pPr marL="342900" indent="-342900" algn="l">
              <a:lnSpc>
                <a:spcPts val="3800"/>
              </a:lnSpc>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杠杆和金融危机</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2008-2009 </a:t>
            </a:r>
            <a:r>
              <a:rPr sz="2400" dirty="0">
                <a:solidFill>
                  <a:srgbClr val="002060"/>
                </a:solidFill>
                <a:latin typeface="微软雅黑" panose="020B0503020204020204" pitchFamily="34" charset="-122"/>
                <a:ea typeface="微软雅黑" panose="020B0503020204020204" pitchFamily="34" charset="-122"/>
              </a:rPr>
              <a:t>年的金融危机中</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由于</a:t>
            </a:r>
            <a:r>
              <a:rPr lang="zh-CN" altLang="en-US" sz="2400">
                <a:solidFill>
                  <a:srgbClr val="002060"/>
                </a:solidFill>
                <a:latin typeface="微软雅黑" panose="020B0503020204020204" pitchFamily="34" charset="-122"/>
                <a:ea typeface="微软雅黑" panose="020B0503020204020204" pitchFamily="34" charset="-122"/>
              </a:rPr>
              <a:t>次贷</a:t>
            </a:r>
            <a:r>
              <a:rPr sz="2400" smtClean="0">
                <a:solidFill>
                  <a:srgbClr val="002060"/>
                </a:solidFill>
                <a:latin typeface="微软雅黑" panose="020B0503020204020204" pitchFamily="34" charset="-122"/>
                <a:ea typeface="微软雅黑" panose="020B0503020204020204" pitchFamily="34" charset="-122"/>
              </a:rPr>
              <a:t>普遍违约</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银行在抵押贷款和抵押贷款支持证券方面遭受了损失</a:t>
            </a:r>
            <a:r>
              <a:rPr lang="zh-CN" altLang="en-US" sz="2400" smtClean="0">
                <a:solidFill>
                  <a:srgbClr val="002060"/>
                </a:solidFill>
                <a:latin typeface="微软雅黑" panose="020B0503020204020204" pitchFamily="34" charset="-122"/>
                <a:ea typeface="微软雅黑" panose="020B0503020204020204" pitchFamily="34" charset="-122"/>
              </a:rPr>
              <a:t>，资产大幅度缩水。</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ts val="3800"/>
              </a:lnSpc>
              <a:buFont typeface="Wingdings" panose="05000000000000000000" pitchFamily="2" charset="2"/>
              <a:buChar char="Ø"/>
            </a:pPr>
            <a:r>
              <a:rPr sz="2400" smtClean="0">
                <a:solidFill>
                  <a:srgbClr val="002060"/>
                </a:solidFill>
                <a:latin typeface="微软雅黑" panose="020B0503020204020204" pitchFamily="34" charset="-122"/>
                <a:ea typeface="微软雅黑" panose="020B0503020204020204" pitchFamily="34" charset="-122"/>
              </a:rPr>
              <a:t>许多银行</a:t>
            </a:r>
            <a:r>
              <a:rPr lang="zh-CN" altLang="en-US" sz="2400" smtClean="0">
                <a:solidFill>
                  <a:srgbClr val="002060"/>
                </a:solidFill>
                <a:latin typeface="微软雅黑" panose="020B0503020204020204" pitchFamily="34" charset="-122"/>
                <a:ea typeface="微软雅黑" panose="020B0503020204020204" pitchFamily="34" charset="-122"/>
              </a:rPr>
              <a:t>资不抵债，从而</a:t>
            </a:r>
            <a:r>
              <a:rPr sz="2400" smtClean="0">
                <a:solidFill>
                  <a:srgbClr val="002060"/>
                </a:solidFill>
                <a:latin typeface="微软雅黑" panose="020B0503020204020204" pitchFamily="34" charset="-122"/>
                <a:ea typeface="微软雅黑" panose="020B0503020204020204" pitchFamily="34" charset="-122"/>
              </a:rPr>
              <a:t>破产：</a:t>
            </a:r>
            <a:r>
              <a:rPr lang="zh-CN" altLang="en-US" sz="2400" smtClean="0">
                <a:solidFill>
                  <a:srgbClr val="002060"/>
                </a:solidFill>
                <a:latin typeface="微软雅黑" panose="020B0503020204020204" pitchFamily="34" charset="-122"/>
                <a:ea typeface="微软雅黑" panose="020B0503020204020204" pitchFamily="34" charset="-122"/>
              </a:rPr>
              <a:t>比如</a:t>
            </a:r>
            <a:r>
              <a:rPr sz="2400" smtClean="0">
                <a:solidFill>
                  <a:srgbClr val="002060"/>
                </a:solidFill>
                <a:latin typeface="微软雅黑" panose="020B0503020204020204" pitchFamily="34" charset="-122"/>
                <a:ea typeface="微软雅黑" panose="020B0503020204020204" pitchFamily="34" charset="-122"/>
              </a:rPr>
              <a:t>在美国，2000-2007 年有 </a:t>
            </a:r>
            <a:r>
              <a:rPr sz="2400" dirty="0">
                <a:solidFill>
                  <a:srgbClr val="002060"/>
                </a:solidFill>
                <a:latin typeface="微软雅黑" panose="020B0503020204020204" pitchFamily="34" charset="-122"/>
                <a:ea typeface="微软雅黑" panose="020B0503020204020204" pitchFamily="34" charset="-122"/>
              </a:rPr>
              <a:t>27 家银行破产，2008-2009 年有 166 家银行破产。</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ts val="3800"/>
              </a:lnSpc>
              <a:buFont typeface="Wingdings" panose="05000000000000000000" pitchFamily="2" charset="2"/>
              <a:buChar char="Ø"/>
            </a:pPr>
            <a:r>
              <a:rPr sz="2400" smtClean="0">
                <a:solidFill>
                  <a:srgbClr val="002060"/>
                </a:solidFill>
                <a:latin typeface="微软雅黑" panose="020B0503020204020204" pitchFamily="34" charset="-122"/>
                <a:ea typeface="微软雅黑" panose="020B0503020204020204" pitchFamily="34" charset="-122"/>
              </a:rPr>
              <a:t>许多其他银行发现自己的资本</a:t>
            </a:r>
            <a:r>
              <a:rPr lang="zh-CN" altLang="en-US" sz="2400">
                <a:solidFill>
                  <a:srgbClr val="002060"/>
                </a:solidFill>
                <a:latin typeface="微软雅黑" panose="020B0503020204020204" pitchFamily="34" charset="-122"/>
                <a:ea typeface="微软雅黑" panose="020B0503020204020204" pitchFamily="34" charset="-122"/>
              </a:rPr>
              <a:t>金</a:t>
            </a:r>
            <a:r>
              <a:rPr lang="zh-CN" altLang="en-US" sz="2400" smtClean="0">
                <a:solidFill>
                  <a:srgbClr val="002060"/>
                </a:solidFill>
                <a:latin typeface="微软雅黑" panose="020B0503020204020204" pitchFamily="34" charset="-122"/>
                <a:ea typeface="微软雅黑" panose="020B0503020204020204" pitchFamily="34" charset="-122"/>
              </a:rPr>
              <a:t>越来越少</a:t>
            </a:r>
            <a:r>
              <a:rPr sz="2400" smtClean="0">
                <a:solidFill>
                  <a:srgbClr val="002060"/>
                </a:solidFill>
                <a:latin typeface="微软雅黑" panose="020B0503020204020204" pitchFamily="34" charset="-122"/>
                <a:ea typeface="微软雅黑" panose="020B0503020204020204" pitchFamily="34" charset="-122"/>
              </a:rPr>
              <a:t>，</a:t>
            </a:r>
            <a:r>
              <a:rPr sz="2400" dirty="0">
                <a:solidFill>
                  <a:srgbClr val="002060"/>
                </a:solidFill>
                <a:latin typeface="微软雅黑" panose="020B0503020204020204" pitchFamily="34" charset="-122"/>
                <a:ea typeface="微软雅黑" panose="020B0503020204020204" pitchFamily="34" charset="-122"/>
              </a:rPr>
              <a:t>以减少贷款作为回应，</a:t>
            </a:r>
            <a:r>
              <a:rPr sz="2400">
                <a:solidFill>
                  <a:srgbClr val="002060"/>
                </a:solidFill>
                <a:latin typeface="微软雅黑" panose="020B0503020204020204" pitchFamily="34" charset="-122"/>
                <a:ea typeface="微软雅黑" panose="020B0503020204020204" pitchFamily="34" charset="-122"/>
              </a:rPr>
              <a:t>导致信贷紧缩</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342900" indent="-342900">
              <a:lnSpc>
                <a:spcPts val="3800"/>
              </a:lnSpc>
              <a:buFont typeface="Wingdings" panose="05000000000000000000" pitchFamily="2" charset="2"/>
              <a:buChar char="Ø"/>
            </a:pPr>
            <a:r>
              <a:rPr lang="zh-CN" altLang="en-US" sz="2400">
                <a:solidFill>
                  <a:srgbClr val="002060"/>
                </a:solidFill>
                <a:latin typeface="微软雅黑" panose="020B0503020204020204" pitchFamily="34" charset="-122"/>
                <a:ea typeface="微软雅黑" panose="020B0503020204020204" pitchFamily="34" charset="-122"/>
              </a:rPr>
              <a:t>为了缓解信贷紧缩</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中央银行</a:t>
            </a:r>
            <a:r>
              <a:rPr lang="zh-CN" altLang="en-US" sz="2400" smtClean="0">
                <a:solidFill>
                  <a:srgbClr val="002060"/>
                </a:solidFill>
                <a:latin typeface="微软雅黑" panose="020B0503020204020204" pitchFamily="34" charset="-122"/>
                <a:ea typeface="微软雅黑" panose="020B0503020204020204" pitchFamily="34" charset="-122"/>
              </a:rPr>
              <a:t>向银行</a:t>
            </a:r>
            <a:r>
              <a:rPr lang="zh-CN" altLang="en-US" sz="2400">
                <a:solidFill>
                  <a:srgbClr val="002060"/>
                </a:solidFill>
                <a:latin typeface="微软雅黑" panose="020B0503020204020204" pitchFamily="34" charset="-122"/>
                <a:ea typeface="微软雅黑" panose="020B0503020204020204" pitchFamily="34" charset="-122"/>
              </a:rPr>
              <a:t>系统注入</a:t>
            </a:r>
            <a:r>
              <a:rPr lang="zh-CN" altLang="en-US" sz="2400" smtClean="0">
                <a:solidFill>
                  <a:srgbClr val="002060"/>
                </a:solidFill>
                <a:latin typeface="微软雅黑" panose="020B0503020204020204" pitchFamily="34" charset="-122"/>
                <a:ea typeface="微软雅黑" panose="020B0503020204020204" pitchFamily="34" charset="-122"/>
              </a:rPr>
              <a:t>了资金。</a:t>
            </a: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标题 7"/>
          <p:cNvSpPr txBox="1"/>
          <p:nvPr/>
        </p:nvSpPr>
        <p:spPr>
          <a:xfrm>
            <a:off x="467544" y="332656"/>
            <a:ext cx="3466728" cy="584775"/>
          </a:xfrm>
          <a:prstGeom prst="rect">
            <a:avLst/>
          </a:prstGeom>
        </p:spPr>
        <p:txBody>
          <a:bodyPr wrap="square">
            <a:sp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a:solidFill>
                  <a:srgbClr val="002060"/>
                </a:solidFill>
                <a:latin typeface="华光中雅_CNKI" panose="02000500000000000000" pitchFamily="2" charset="-122"/>
                <a:ea typeface="华光中雅_CNKI" panose="02000500000000000000" pitchFamily="2" charset="-122"/>
                <a:cs typeface="+mj-cs"/>
              </a:rPr>
              <a:t>货币供应</a:t>
            </a:r>
            <a:endParaRPr lang="zh-CN" altLang="en-US" sz="3200" dirty="0">
              <a:solidFill>
                <a:srgbClr val="002060"/>
              </a:solidFill>
              <a:latin typeface="华光中雅_CNKI" panose="02000500000000000000" pitchFamily="2" charset="-122"/>
              <a:ea typeface="华光中雅_CNKI" panose="02000500000000000000" pitchFamily="2" charset="-122"/>
              <a:cs typeface="+mj-cs"/>
            </a:endParaRPr>
          </a:p>
        </p:txBody>
      </p:sp>
    </p:spTree>
  </p:cSld>
  <p:clrMapOvr>
    <a:masterClrMapping/>
  </p:clrMapOvr>
  <p:transition>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3" name="矩形 2"/>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611235" cy="3046988"/>
          </a:xfrm>
          <a:prstGeom prst="rect">
            <a:avLst/>
          </a:prstGeom>
          <a:noFill/>
        </p:spPr>
        <p:txBody>
          <a:bodyPr wrap="square" rtlCol="0">
            <a:spAutoFit/>
          </a:bodyPr>
          <a:lstStyle/>
          <a:p>
            <a:pPr marL="342900" indent="-342900" algn="l">
              <a:lnSpc>
                <a:spcPct val="160000"/>
              </a:lnSpc>
              <a:buFont typeface="Wingdings" panose="05000000000000000000" charset="0"/>
              <a:buChar char=""/>
            </a:pPr>
            <a:r>
              <a:rPr sz="2400" smtClean="0">
                <a:solidFill>
                  <a:srgbClr val="FF0000"/>
                </a:solidFill>
                <a:latin typeface="微软雅黑" panose="020B0503020204020204" pitchFamily="34" charset="-122"/>
                <a:ea typeface="微软雅黑" panose="020B0503020204020204" pitchFamily="34" charset="-122"/>
              </a:rPr>
              <a:t>货币供应量 </a:t>
            </a:r>
            <a:r>
              <a:rPr sz="2400" dirty="0">
                <a:solidFill>
                  <a:srgbClr val="FF0000"/>
                </a:solidFill>
                <a:latin typeface="微软雅黑" panose="020B0503020204020204" pitchFamily="34" charset="-122"/>
                <a:ea typeface="微软雅黑" panose="020B0503020204020204" pitchFamily="34" charset="-122"/>
              </a:rPr>
              <a:t>= 货币乘数 × 初始流动性</a:t>
            </a:r>
            <a:endParaRPr sz="2400" dirty="0">
              <a:solidFill>
                <a:srgbClr val="FF0000"/>
              </a:solidFill>
              <a:latin typeface="微软雅黑" panose="020B0503020204020204" pitchFamily="34" charset="-122"/>
              <a:ea typeface="微软雅黑" panose="020B0503020204020204" pitchFamily="34" charset="-122"/>
            </a:endParaRPr>
          </a:p>
          <a:p>
            <a:pPr marL="342900" indent="-342900" algn="l">
              <a:lnSpc>
                <a:spcPct val="160000"/>
              </a:lnSpc>
              <a:buFont typeface="Wingdings" panose="05000000000000000000" pitchFamily="2" charset="2"/>
              <a:buChar char="Ø"/>
            </a:pPr>
            <a:r>
              <a:rPr lang="zh-CN" sz="2400" dirty="0">
                <a:solidFill>
                  <a:srgbClr val="002060"/>
                </a:solidFill>
                <a:latin typeface="微软雅黑" panose="020B0503020204020204" pitchFamily="34" charset="-122"/>
                <a:ea typeface="微软雅黑" panose="020B0503020204020204" pitchFamily="34" charset="-122"/>
              </a:rPr>
              <a:t>中央银行</a:t>
            </a:r>
            <a:r>
              <a:rPr sz="2400" dirty="0">
                <a:solidFill>
                  <a:srgbClr val="002060"/>
                </a:solidFill>
                <a:latin typeface="微软雅黑" panose="020B0503020204020204" pitchFamily="34" charset="-122"/>
                <a:ea typeface="微软雅黑" panose="020B0503020204020204" pitchFamily="34" charset="-122"/>
              </a:rPr>
              <a:t>可以通过改变右侧两个</a:t>
            </a:r>
            <a:r>
              <a:rPr lang="zh-CN" sz="2400" dirty="0">
                <a:solidFill>
                  <a:srgbClr val="002060"/>
                </a:solidFill>
                <a:latin typeface="微软雅黑" panose="020B0503020204020204" pitchFamily="34" charset="-122"/>
                <a:ea typeface="微软雅黑" panose="020B0503020204020204" pitchFamily="34" charset="-122"/>
              </a:rPr>
              <a:t>工具</a:t>
            </a:r>
            <a:r>
              <a:rPr sz="2400" dirty="0">
                <a:solidFill>
                  <a:srgbClr val="002060"/>
                </a:solidFill>
                <a:latin typeface="微软雅黑" panose="020B0503020204020204" pitchFamily="34" charset="-122"/>
                <a:ea typeface="微软雅黑" panose="020B0503020204020204" pitchFamily="34" charset="-122"/>
              </a:rPr>
              <a:t>中的任何一个来改变货币供应量。</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sz="2400" smtClean="0">
                <a:solidFill>
                  <a:srgbClr val="002060"/>
                </a:solidFill>
                <a:latin typeface="微软雅黑" panose="020B0503020204020204" pitchFamily="34" charset="-122"/>
                <a:ea typeface="微软雅黑" panose="020B0503020204020204" pitchFamily="34" charset="-122"/>
              </a:rPr>
              <a:t>改变准备金率</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60000"/>
              </a:lnSpc>
              <a:buFont typeface="+mj-lt"/>
              <a:buAutoNum type="arabicPeriod"/>
            </a:pPr>
            <a:r>
              <a:rPr lang="zh-CN" sz="2400" dirty="0">
                <a:solidFill>
                  <a:srgbClr val="002060"/>
                </a:solidFill>
                <a:latin typeface="微软雅黑" panose="020B0503020204020204" pitchFamily="34" charset="-122"/>
                <a:ea typeface="微软雅黑" panose="020B0503020204020204" pitchFamily="34" charset="-122"/>
              </a:rPr>
              <a:t>改变</a:t>
            </a:r>
            <a:r>
              <a:rPr sz="2400">
                <a:solidFill>
                  <a:srgbClr val="002060"/>
                </a:solidFill>
                <a:latin typeface="微软雅黑" panose="020B0503020204020204" pitchFamily="34" charset="-122"/>
                <a:ea typeface="微软雅黑" panose="020B0503020204020204" pitchFamily="34" charset="-122"/>
              </a:rPr>
              <a:t>银行</a:t>
            </a:r>
            <a:r>
              <a:rPr lang="zh-CN" sz="2400" smtClean="0">
                <a:solidFill>
                  <a:srgbClr val="002060"/>
                </a:solidFill>
                <a:latin typeface="微软雅黑" panose="020B0503020204020204" pitchFamily="34" charset="-122"/>
                <a:ea typeface="微软雅黑" panose="020B0503020204020204" pitchFamily="34" charset="-122"/>
              </a:rPr>
              <a:t>的</a:t>
            </a:r>
            <a:r>
              <a:rPr lang="zh-CN" altLang="en-US" sz="2400" smtClean="0">
                <a:solidFill>
                  <a:srgbClr val="002060"/>
                </a:solidFill>
                <a:latin typeface="微软雅黑" panose="020B0503020204020204" pitchFamily="34" charset="-122"/>
                <a:ea typeface="微软雅黑" panose="020B0503020204020204" pitchFamily="34" charset="-122"/>
              </a:rPr>
              <a:t>初始</a:t>
            </a:r>
            <a:r>
              <a:rPr sz="2400" smtClean="0">
                <a:solidFill>
                  <a:srgbClr val="002060"/>
                </a:solidFill>
                <a:latin typeface="微软雅黑" panose="020B0503020204020204" pitchFamily="34" charset="-122"/>
                <a:ea typeface="微软雅黑" panose="020B0503020204020204" pitchFamily="34" charset="-122"/>
              </a:rPr>
              <a:t>贷款</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Tree>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761923" cy="3637919"/>
          </a:xfrm>
          <a:prstGeom prst="rect">
            <a:avLst/>
          </a:prstGeom>
          <a:noFill/>
        </p:spPr>
        <p:txBody>
          <a:bodyPr wrap="square" rtlCol="0">
            <a:spAutoFit/>
          </a:bodyPr>
          <a:lstStyle/>
          <a:p>
            <a:pPr marL="342900" indent="-342900" algn="l">
              <a:lnSpc>
                <a:spcPct val="160000"/>
              </a:lnSpc>
              <a:buFont typeface="Wingdings" panose="05000000000000000000" pitchFamily="2" charset="2"/>
              <a:buChar char="Ø"/>
            </a:pPr>
            <a:r>
              <a:rPr sz="2400" dirty="0">
                <a:solidFill>
                  <a:srgbClr val="FF0000"/>
                </a:solidFill>
                <a:latin typeface="微软雅黑" panose="020B0503020204020204" pitchFamily="34" charset="-122"/>
                <a:ea typeface="微软雅黑" panose="020B0503020204020204" pitchFamily="34" charset="-122"/>
              </a:rPr>
              <a:t>公开市场操作（OMO）</a:t>
            </a:r>
            <a:r>
              <a:rPr sz="2400" dirty="0">
                <a:solidFill>
                  <a:srgbClr val="002060"/>
                </a:solidFill>
                <a:latin typeface="微软雅黑" panose="020B0503020204020204" pitchFamily="34" charset="-122"/>
                <a:ea typeface="微软雅黑" panose="020B0503020204020204" pitchFamily="34" charset="-122"/>
              </a:rPr>
              <a:t>：中央银行买卖国债。</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如果中央银行从</a:t>
            </a:r>
            <a:r>
              <a:rPr lang="zh-CN" altLang="en-US" sz="2400" smtClean="0">
                <a:solidFill>
                  <a:srgbClr val="002060"/>
                </a:solidFill>
                <a:latin typeface="微软雅黑" panose="020B0503020204020204" pitchFamily="34" charset="-122"/>
                <a:ea typeface="微软雅黑" panose="020B0503020204020204" pitchFamily="34" charset="-122"/>
              </a:rPr>
              <a:t>商业</a:t>
            </a:r>
            <a:r>
              <a:rPr sz="2400" smtClean="0">
                <a:solidFill>
                  <a:srgbClr val="002060"/>
                </a:solidFill>
                <a:latin typeface="微软雅黑" panose="020B0503020204020204" pitchFamily="34" charset="-122"/>
                <a:ea typeface="微软雅黑" panose="020B0503020204020204" pitchFamily="34" charset="-122"/>
              </a:rPr>
              <a:t>银行购买</a:t>
            </a:r>
            <a:r>
              <a:rPr lang="zh-CN" sz="2400" smtClean="0">
                <a:solidFill>
                  <a:srgbClr val="002060"/>
                </a:solidFill>
                <a:latin typeface="微软雅黑" panose="020B0503020204020204" pitchFamily="34" charset="-122"/>
                <a:ea typeface="微软雅黑" panose="020B0503020204020204" pitchFamily="34" charset="-122"/>
              </a:rPr>
              <a:t>国债</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highlight>
                  <a:srgbClr val="FFFF00"/>
                </a:highlight>
                <a:latin typeface="微软雅黑" panose="020B0503020204020204" pitchFamily="34" charset="-122"/>
                <a:ea typeface="微软雅黑" panose="020B0503020204020204" pitchFamily="34" charset="-122"/>
              </a:rPr>
              <a:t>逆回购</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，它会在该银行的</a:t>
            </a:r>
            <a:r>
              <a:rPr lang="zh-CN" altLang="en-US" sz="2400" smtClean="0">
                <a:solidFill>
                  <a:srgbClr val="002060"/>
                </a:solidFill>
                <a:latin typeface="微软雅黑" panose="020B0503020204020204" pitchFamily="34" charset="-122"/>
                <a:ea typeface="微软雅黑" panose="020B0503020204020204" pitchFamily="34" charset="-122"/>
              </a:rPr>
              <a:t>准</a:t>
            </a:r>
            <a:r>
              <a:rPr sz="2400" smtClean="0">
                <a:solidFill>
                  <a:srgbClr val="002060"/>
                </a:solidFill>
                <a:latin typeface="微软雅黑" panose="020B0503020204020204" pitchFamily="34" charset="-122"/>
                <a:ea typeface="微软雅黑" panose="020B0503020204020204" pitchFamily="34" charset="-122"/>
              </a:rPr>
              <a:t>备金账户中存入</a:t>
            </a:r>
            <a:r>
              <a:rPr lang="zh-CN" altLang="en-US" sz="2400" smtClean="0">
                <a:solidFill>
                  <a:srgbClr val="002060"/>
                </a:solidFill>
                <a:latin typeface="微软雅黑" panose="020B0503020204020204" pitchFamily="34" charset="-122"/>
                <a:ea typeface="微软雅黑" panose="020B0503020204020204" pitchFamily="34" charset="-122"/>
              </a:rPr>
              <a:t>资金</a:t>
            </a:r>
            <a:r>
              <a:rPr sz="2400" smtClean="0">
                <a:solidFill>
                  <a:srgbClr val="002060"/>
                </a:solidFill>
                <a:latin typeface="微软雅黑" panose="020B0503020204020204" pitchFamily="34" charset="-122"/>
                <a:ea typeface="微软雅黑" panose="020B0503020204020204" pitchFamily="34" charset="-122"/>
              </a:rPr>
              <a:t>。有了更多的</a:t>
            </a:r>
            <a:r>
              <a:rPr lang="zh-CN" altLang="en-US" sz="2400" smtClean="0">
                <a:solidFill>
                  <a:srgbClr val="002060"/>
                </a:solidFill>
                <a:latin typeface="微软雅黑" panose="020B0503020204020204" pitchFamily="34" charset="-122"/>
                <a:ea typeface="微软雅黑" panose="020B0503020204020204" pitchFamily="34" charset="-122"/>
              </a:rPr>
              <a:t>资金</a:t>
            </a:r>
            <a:r>
              <a:rPr sz="2400" smtClean="0">
                <a:solidFill>
                  <a:srgbClr val="002060"/>
                </a:solidFill>
                <a:latin typeface="微软雅黑" panose="020B0503020204020204" pitchFamily="34" charset="-122"/>
                <a:ea typeface="微软雅黑" panose="020B0503020204020204" pitchFamily="34" charset="-122"/>
              </a:rPr>
              <a:t>，</a:t>
            </a:r>
            <a:r>
              <a:rPr sz="2400" dirty="0">
                <a:solidFill>
                  <a:srgbClr val="002060"/>
                </a:solidFill>
                <a:latin typeface="微软雅黑" panose="020B0503020204020204" pitchFamily="34" charset="-122"/>
                <a:ea typeface="微软雅黑" panose="020B0503020204020204" pitchFamily="34" charset="-122"/>
              </a:rPr>
              <a:t>银行就可以发放更多的贷款，从而增加货币供应量。</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为了减少货币供应量</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中央银行</a:t>
            </a:r>
            <a:r>
              <a:rPr lang="zh-CN" altLang="en-US" sz="2400" smtClean="0">
                <a:solidFill>
                  <a:srgbClr val="002060"/>
                </a:solidFill>
                <a:latin typeface="微软雅黑" panose="020B0503020204020204" pitchFamily="34" charset="-122"/>
                <a:ea typeface="微软雅黑" panose="020B0503020204020204" pitchFamily="34" charset="-122"/>
              </a:rPr>
              <a:t>只需要反向操作即可（</a:t>
            </a:r>
            <a:r>
              <a:rPr lang="zh-CN" altLang="en-US" sz="2400" smtClean="0">
                <a:solidFill>
                  <a:srgbClr val="002060"/>
                </a:solidFill>
                <a:highlight>
                  <a:srgbClr val="FFFF00"/>
                </a:highlight>
                <a:latin typeface="微软雅黑" panose="020B0503020204020204" pitchFamily="34" charset="-122"/>
                <a:ea typeface="微软雅黑" panose="020B0503020204020204" pitchFamily="34" charset="-122"/>
              </a:rPr>
              <a:t>正回购</a:t>
            </a:r>
            <a:r>
              <a:rPr lang="zh-CN" altLang="en-US" sz="2400" smtClean="0">
                <a:solidFill>
                  <a:srgbClr val="002060"/>
                </a:solidFill>
                <a:latin typeface="微软雅黑" panose="020B0503020204020204" pitchFamily="34" charset="-122"/>
                <a:ea typeface="微软雅黑" panose="020B0503020204020204" pitchFamily="34" charset="-122"/>
              </a:rPr>
              <a:t>），让商业银行赎回</a:t>
            </a:r>
            <a:r>
              <a:rPr lang="zh-CN" sz="2400" smtClean="0">
                <a:solidFill>
                  <a:srgbClr val="002060"/>
                </a:solidFill>
                <a:latin typeface="微软雅黑" panose="020B0503020204020204" pitchFamily="34" charset="-122"/>
                <a:ea typeface="微软雅黑" panose="020B0503020204020204" pitchFamily="34" charset="-122"/>
              </a:rPr>
              <a:t>国债</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689915" cy="4487382"/>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sz="2400" smtClean="0">
                <a:solidFill>
                  <a:srgbClr val="FF0000"/>
                </a:solidFill>
                <a:latin typeface="微软雅黑" panose="020B0503020204020204" pitchFamily="34" charset="-122"/>
                <a:ea typeface="微软雅黑" panose="020B0503020204020204" pitchFamily="34" charset="-122"/>
              </a:rPr>
              <a:t>中央银行向银行提供贷款</a:t>
            </a:r>
            <a:r>
              <a:rPr lang="zh-CN" altLang="en-US" sz="2400" smtClean="0">
                <a:solidFill>
                  <a:srgbClr val="FF000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传统方法</a:t>
            </a:r>
            <a:r>
              <a:rPr lang="en-US" altLang="zh-CN"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调整贴现率</a:t>
            </a:r>
            <a:r>
              <a:rPr lang="zh-CN" altLang="en-US" sz="2400" smtClean="0">
                <a:solidFill>
                  <a:srgbClr val="002060"/>
                </a:solidFill>
                <a:latin typeface="微软雅黑" panose="020B0503020204020204" pitchFamily="34" charset="-122"/>
                <a:ea typeface="微软雅黑" panose="020B0503020204020204" pitchFamily="34" charset="-122"/>
              </a:rPr>
              <a:t>：调整</a:t>
            </a:r>
            <a:r>
              <a:rPr lang="zh-CN" sz="2400" smtClean="0">
                <a:solidFill>
                  <a:srgbClr val="002060"/>
                </a:solidFill>
                <a:latin typeface="微软雅黑" panose="020B0503020204020204" pitchFamily="34" charset="-122"/>
                <a:ea typeface="微软雅黑" panose="020B0503020204020204" pitchFamily="34" charset="-122"/>
              </a:rPr>
              <a:t>中央银行</a:t>
            </a:r>
            <a:r>
              <a:rPr sz="2400" smtClean="0">
                <a:solidFill>
                  <a:srgbClr val="002060"/>
                </a:solidFill>
                <a:latin typeface="微软雅黑" panose="020B0503020204020204" pitchFamily="34" charset="-122"/>
                <a:ea typeface="微软雅黑" panose="020B0503020204020204" pitchFamily="34" charset="-122"/>
              </a:rPr>
              <a:t>向银行提供的贷款利率</a:t>
            </a:r>
            <a:r>
              <a:rPr lang="zh-CN" altLang="en-US" sz="2400" smtClean="0">
                <a:solidFill>
                  <a:srgbClr val="002060"/>
                </a:solidFill>
                <a:latin typeface="微软雅黑" panose="020B0503020204020204" pitchFamily="34" charset="-122"/>
                <a:ea typeface="微软雅黑" panose="020B0503020204020204" pitchFamily="34" charset="-122"/>
              </a:rPr>
              <a:t>，从而</a:t>
            </a:r>
            <a:r>
              <a:rPr sz="2400" smtClean="0">
                <a:solidFill>
                  <a:srgbClr val="002060"/>
                </a:solidFill>
                <a:latin typeface="微软雅黑" panose="020B0503020204020204" pitchFamily="34" charset="-122"/>
                <a:ea typeface="微软雅黑" panose="020B0503020204020204" pitchFamily="34" charset="-122"/>
              </a:rPr>
              <a:t>影响</a:t>
            </a:r>
            <a:r>
              <a:rPr lang="zh-CN" altLang="en-US" sz="2400" smtClean="0">
                <a:solidFill>
                  <a:srgbClr val="002060"/>
                </a:solidFill>
                <a:latin typeface="微软雅黑" panose="020B0503020204020204" pitchFamily="34" charset="-122"/>
                <a:ea typeface="微软雅黑" panose="020B0503020204020204" pitchFamily="34" charset="-122"/>
              </a:rPr>
              <a:t>商业</a:t>
            </a:r>
            <a:r>
              <a:rPr sz="2400" smtClean="0">
                <a:solidFill>
                  <a:srgbClr val="002060"/>
                </a:solidFill>
                <a:latin typeface="微软雅黑" panose="020B0503020204020204" pitchFamily="34" charset="-122"/>
                <a:ea typeface="微软雅黑" panose="020B0503020204020204" pitchFamily="34" charset="-122"/>
              </a:rPr>
              <a:t>银行</a:t>
            </a:r>
            <a:r>
              <a:rPr lang="zh-CN" altLang="en-US" sz="2400" smtClean="0">
                <a:solidFill>
                  <a:srgbClr val="002060"/>
                </a:solidFill>
                <a:latin typeface="微软雅黑" panose="020B0503020204020204" pitchFamily="34" charset="-122"/>
                <a:ea typeface="微软雅黑" panose="020B0503020204020204" pitchFamily="34" charset="-122"/>
              </a:rPr>
              <a:t>从中央银行</a:t>
            </a:r>
            <a:r>
              <a:rPr sz="2400" smtClean="0">
                <a:solidFill>
                  <a:srgbClr val="002060"/>
                </a:solidFill>
                <a:latin typeface="微软雅黑" panose="020B0503020204020204" pitchFamily="34" charset="-122"/>
                <a:ea typeface="微软雅黑" panose="020B0503020204020204" pitchFamily="34" charset="-122"/>
              </a:rPr>
              <a:t>借入准备金的数量</a:t>
            </a:r>
            <a:r>
              <a:rPr lang="zh-CN" altLang="en-US"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新方法</a:t>
            </a:r>
            <a:r>
              <a:rPr lang="en-US" altLang="zh-CN"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中</a:t>
            </a:r>
            <a:r>
              <a:rPr lang="zh-CN" sz="2400" smtClean="0">
                <a:solidFill>
                  <a:srgbClr val="002060"/>
                </a:solidFill>
                <a:latin typeface="微软雅黑" panose="020B0503020204020204" pitchFamily="34" charset="-122"/>
                <a:ea typeface="微软雅黑" panose="020B0503020204020204" pitchFamily="34" charset="-122"/>
              </a:rPr>
              <a:t>期</a:t>
            </a:r>
            <a:r>
              <a:rPr lang="zh-CN" altLang="en-US" sz="2400">
                <a:solidFill>
                  <a:srgbClr val="002060"/>
                </a:solidFill>
                <a:latin typeface="微软雅黑" panose="020B0503020204020204" pitchFamily="34" charset="-122"/>
                <a:ea typeface="微软雅黑" panose="020B0503020204020204" pitchFamily="34" charset="-122"/>
              </a:rPr>
              <a:t>借贷</a:t>
            </a:r>
            <a:r>
              <a:rPr lang="zh-CN" sz="2400" smtClean="0">
                <a:solidFill>
                  <a:srgbClr val="002060"/>
                </a:solidFill>
                <a:latin typeface="微软雅黑" panose="020B0503020204020204" pitchFamily="34" charset="-122"/>
                <a:ea typeface="微软雅黑" panose="020B0503020204020204" pitchFamily="34" charset="-122"/>
              </a:rPr>
              <a:t>便利</a:t>
            </a:r>
            <a:r>
              <a:rPr sz="2400" dirty="0">
                <a:solidFill>
                  <a:srgbClr val="002060"/>
                </a:solidFill>
                <a:latin typeface="微软雅黑" panose="020B0503020204020204" pitchFamily="34" charset="-122"/>
                <a:ea typeface="微软雅黑" panose="020B0503020204020204" pitchFamily="34" charset="-122"/>
              </a:rPr>
              <a:t>（在中国称为 </a:t>
            </a:r>
            <a:r>
              <a:rPr sz="2400">
                <a:solidFill>
                  <a:srgbClr val="002060"/>
                </a:solidFill>
                <a:latin typeface="微软雅黑" panose="020B0503020204020204" pitchFamily="34" charset="-122"/>
                <a:ea typeface="微软雅黑" panose="020B0503020204020204" pitchFamily="34" charset="-122"/>
              </a:rPr>
              <a:t>MLF</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sz="2400" smtClean="0">
                <a:solidFill>
                  <a:srgbClr val="002060"/>
                </a:solidFill>
                <a:latin typeface="微软雅黑" panose="020B0503020204020204" pitchFamily="34" charset="-122"/>
                <a:ea typeface="微软雅黑" panose="020B0503020204020204" pitchFamily="34" charset="-122"/>
              </a:rPr>
              <a:t>中央银行</a:t>
            </a:r>
            <a:r>
              <a:rPr sz="2400" dirty="0">
                <a:solidFill>
                  <a:srgbClr val="002060"/>
                </a:solidFill>
                <a:latin typeface="微软雅黑" panose="020B0503020204020204" pitchFamily="34" charset="-122"/>
                <a:ea typeface="微软雅黑" panose="020B0503020204020204" pitchFamily="34" charset="-122"/>
              </a:rPr>
              <a:t>选择将</a:t>
            </a:r>
            <a:r>
              <a:rPr lang="zh-CN" sz="2400" dirty="0">
                <a:solidFill>
                  <a:srgbClr val="002060"/>
                </a:solidFill>
                <a:latin typeface="微软雅黑" panose="020B0503020204020204" pitchFamily="34" charset="-122"/>
                <a:ea typeface="微软雅黑" panose="020B0503020204020204" pitchFamily="34" charset="-122"/>
              </a:rPr>
              <a:t>要</a:t>
            </a:r>
            <a:r>
              <a:rPr sz="2400" dirty="0">
                <a:solidFill>
                  <a:srgbClr val="002060"/>
                </a:solidFill>
                <a:latin typeface="微软雅黑" panose="020B0503020204020204" pitchFamily="34" charset="-122"/>
                <a:ea typeface="微软雅黑" panose="020B0503020204020204" pitchFamily="34" charset="-122"/>
              </a:rPr>
              <a:t>贷款的准备金数量</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然后银行相互竞标。</a:t>
            </a:r>
            <a:endParaRPr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sz="2400">
                <a:solidFill>
                  <a:srgbClr val="002060"/>
                </a:solidFill>
                <a:latin typeface="微软雅黑" panose="020B0503020204020204" pitchFamily="34" charset="-122"/>
                <a:ea typeface="微软雅黑" panose="020B0503020204020204" pitchFamily="34" charset="-122"/>
              </a:rPr>
              <a:t>银行</a:t>
            </a:r>
            <a:r>
              <a:rPr lang="zh-CN" altLang="zh-CN" sz="2400">
                <a:solidFill>
                  <a:srgbClr val="002060"/>
                </a:solidFill>
                <a:latin typeface="微软雅黑" panose="020B0503020204020204" pitchFamily="34" charset="-122"/>
                <a:ea typeface="微软雅黑" panose="020B0503020204020204" pitchFamily="34" charset="-122"/>
              </a:rPr>
              <a:t>借入准备金的数量</a:t>
            </a:r>
            <a:r>
              <a:rPr sz="2400">
                <a:solidFill>
                  <a:srgbClr val="002060"/>
                </a:solidFill>
                <a:latin typeface="微软雅黑" panose="020B0503020204020204" pitchFamily="34" charset="-122"/>
                <a:ea typeface="微软雅黑" panose="020B0503020204020204" pitchFamily="34" charset="-122"/>
              </a:rPr>
              <a:t>越多，</a:t>
            </a:r>
            <a:r>
              <a:rPr lang="zh-CN" altLang="en-US" sz="2400">
                <a:solidFill>
                  <a:srgbClr val="002060"/>
                </a:solidFill>
                <a:latin typeface="微软雅黑" panose="020B0503020204020204" pitchFamily="34" charset="-122"/>
                <a:ea typeface="微软雅黑" panose="020B0503020204020204" pitchFamily="34" charset="-122"/>
              </a:rPr>
              <a:t>就可以</a:t>
            </a:r>
            <a:r>
              <a:rPr lang="zh-CN" sz="2400">
                <a:solidFill>
                  <a:srgbClr val="002060"/>
                </a:solidFill>
                <a:latin typeface="微软雅黑" panose="020B0503020204020204" pitchFamily="34" charset="-122"/>
                <a:ea typeface="微软雅黑" panose="020B0503020204020204" pitchFamily="34" charset="-122"/>
              </a:rPr>
              <a:t>发放</a:t>
            </a:r>
            <a:r>
              <a:rPr lang="zh-CN" altLang="en-US" sz="2400">
                <a:solidFill>
                  <a:srgbClr val="002060"/>
                </a:solidFill>
                <a:latin typeface="微软雅黑" panose="020B0503020204020204" pitchFamily="34" charset="-122"/>
                <a:ea typeface="微软雅黑" panose="020B0503020204020204" pitchFamily="34" charset="-122"/>
              </a:rPr>
              <a:t>更多</a:t>
            </a:r>
            <a:r>
              <a:rPr sz="2400">
                <a:solidFill>
                  <a:srgbClr val="002060"/>
                </a:solidFill>
                <a:latin typeface="微软雅黑" panose="020B0503020204020204" pitchFamily="34" charset="-122"/>
                <a:ea typeface="微软雅黑" panose="020B0503020204020204" pitchFamily="34" charset="-122"/>
              </a:rPr>
              <a:t>贷款</a:t>
            </a:r>
            <a:r>
              <a:rPr lang="zh-CN" altLang="en-US" sz="2400">
                <a:solidFill>
                  <a:srgbClr val="002060"/>
                </a:solidFill>
                <a:latin typeface="微软雅黑" panose="020B0503020204020204" pitchFamily="34" charset="-122"/>
                <a:ea typeface="微软雅黑" panose="020B0503020204020204" pitchFamily="34" charset="-122"/>
              </a:rPr>
              <a:t>，从而</a:t>
            </a:r>
            <a:r>
              <a:rPr sz="2400">
                <a:solidFill>
                  <a:srgbClr val="002060"/>
                </a:solidFill>
                <a:latin typeface="微软雅黑" panose="020B0503020204020204" pitchFamily="34" charset="-122"/>
                <a:ea typeface="微软雅黑" panose="020B0503020204020204" pitchFamily="34" charset="-122"/>
              </a:rPr>
              <a:t>增加货币供应</a:t>
            </a:r>
            <a:r>
              <a:rPr lang="zh-CN" altLang="en-US" sz="2400">
                <a:solidFill>
                  <a:srgbClr val="002060"/>
                </a:solidFill>
                <a:latin typeface="微软雅黑" panose="020B0503020204020204" pitchFamily="34" charset="-122"/>
                <a:ea typeface="微软雅黑" panose="020B0503020204020204" pitchFamily="34" charset="-122"/>
              </a:rPr>
              <a:t>量。</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40000"/>
              </a:lnSpc>
              <a:buFont typeface="Wingdings" panose="05000000000000000000" charset="0"/>
              <a:buChar char=""/>
            </a:pP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611235" cy="4745915"/>
          </a:xfrm>
          <a:prstGeom prst="rect">
            <a:avLst/>
          </a:prstGeom>
          <a:noFill/>
        </p:spPr>
        <p:txBody>
          <a:bodyPr wrap="square" rtlCol="0">
            <a:spAutoFit/>
          </a:bodyPr>
          <a:lstStyle/>
          <a:p>
            <a:pPr marL="342900" indent="-342900" algn="l">
              <a:lnSpc>
                <a:spcPct val="160000"/>
              </a:lnSpc>
              <a:buFont typeface="Wingdings" panose="05000000000000000000" pitchFamily="2" charset="2"/>
              <a:buChar char="Ø"/>
            </a:pPr>
            <a:r>
              <a:rPr sz="2400" dirty="0">
                <a:solidFill>
                  <a:srgbClr val="FF0000"/>
                </a:solidFill>
                <a:latin typeface="微软雅黑" panose="020B0503020204020204" pitchFamily="34" charset="-122"/>
                <a:ea typeface="微软雅黑" panose="020B0503020204020204" pitchFamily="34" charset="-122"/>
              </a:rPr>
              <a:t>中期借贷便利（Medium-term Lending </a:t>
            </a:r>
            <a:r>
              <a:rPr sz="2400">
                <a:solidFill>
                  <a:srgbClr val="FF0000"/>
                </a:solidFill>
                <a:latin typeface="微软雅黑" panose="020B0503020204020204" pitchFamily="34" charset="-122"/>
                <a:ea typeface="微软雅黑" panose="020B0503020204020204" pitchFamily="34" charset="-122"/>
              </a:rPr>
              <a:t>Facility，MLF</a:t>
            </a:r>
            <a:r>
              <a:rPr sz="2400" smtClean="0">
                <a:solidFill>
                  <a:srgbClr val="FF000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：中央银行提供中期基础货币的货币政策工具。</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2014</a:t>
            </a:r>
            <a:r>
              <a:rPr sz="2400" dirty="0">
                <a:solidFill>
                  <a:srgbClr val="002060"/>
                </a:solidFill>
                <a:latin typeface="微软雅黑" panose="020B0503020204020204" pitchFamily="34" charset="-122"/>
                <a:ea typeface="微软雅黑" panose="020B0503020204020204" pitchFamily="34" charset="-122"/>
              </a:rPr>
              <a:t>年9</a:t>
            </a:r>
            <a:r>
              <a:rPr sz="2400">
                <a:solidFill>
                  <a:srgbClr val="002060"/>
                </a:solidFill>
                <a:latin typeface="微软雅黑" panose="020B0503020204020204" pitchFamily="34" charset="-122"/>
                <a:ea typeface="微软雅黑" panose="020B0503020204020204" pitchFamily="34" charset="-122"/>
              </a:rPr>
              <a:t>月由中国人民银行创设</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对象为符合宏观审慎管理要求的商业银行</a:t>
            </a:r>
            <a:r>
              <a:rPr sz="2400" dirty="0">
                <a:solidFill>
                  <a:srgbClr val="002060"/>
                </a:solidFill>
                <a:latin typeface="微软雅黑" panose="020B0503020204020204" pitchFamily="34" charset="-122"/>
                <a:ea typeface="微软雅黑" panose="020B0503020204020204" pitchFamily="34" charset="-122"/>
              </a:rPr>
              <a:t>、政策性银行，</a:t>
            </a:r>
            <a:r>
              <a:rPr sz="2400">
                <a:solidFill>
                  <a:srgbClr val="002060"/>
                </a:solidFill>
                <a:latin typeface="微软雅黑" panose="020B0503020204020204" pitchFamily="34" charset="-122"/>
                <a:ea typeface="微软雅黑" panose="020B0503020204020204" pitchFamily="34" charset="-122"/>
              </a:rPr>
              <a:t>可通过招标方式开展</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发放方式为质押方式，需提供国债</a:t>
            </a:r>
            <a:r>
              <a:rPr sz="2400" dirty="0">
                <a:solidFill>
                  <a:srgbClr val="002060"/>
                </a:solidFill>
                <a:latin typeface="微软雅黑" panose="020B0503020204020204" pitchFamily="34" charset="-122"/>
                <a:ea typeface="微软雅黑" panose="020B0503020204020204" pitchFamily="34" charset="-122"/>
              </a:rPr>
              <a:t>、央行票据、政策性金融债、高等级信用债等优质债券作为合格质押品。</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40000"/>
              </a:lnSpc>
              <a:buFont typeface="Wingdings" panose="05000000000000000000" charset="0"/>
              <a:buChar char=""/>
            </a:pP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323528" y="1124744"/>
            <a:ext cx="8611235" cy="4745915"/>
          </a:xfrm>
          <a:prstGeom prst="rect">
            <a:avLst/>
          </a:prstGeom>
          <a:noFill/>
        </p:spPr>
        <p:txBody>
          <a:bodyPr wrap="square" rtlCol="0">
            <a:spAutoFit/>
          </a:bodyPr>
          <a:lstStyle/>
          <a:p>
            <a:pPr marL="342900" indent="-342900">
              <a:lnSpc>
                <a:spcPct val="160000"/>
              </a:lnSpc>
              <a:buFont typeface="Wingdings" panose="05000000000000000000" pitchFamily="2" charset="2"/>
              <a:buChar char="Ø"/>
            </a:pPr>
            <a:r>
              <a:rPr lang="zh-CN" altLang="zh-CN" sz="2400" smtClean="0">
                <a:solidFill>
                  <a:srgbClr val="FF0000"/>
                </a:solidFill>
                <a:latin typeface="微软雅黑" panose="020B0503020204020204" pitchFamily="34" charset="-122"/>
                <a:ea typeface="微软雅黑" panose="020B0503020204020204" pitchFamily="34" charset="-122"/>
              </a:rPr>
              <a:t>中央银行</a:t>
            </a:r>
            <a:r>
              <a:rPr lang="zh-CN" altLang="en-US" sz="2400" smtClean="0">
                <a:solidFill>
                  <a:srgbClr val="FF0000"/>
                </a:solidFill>
                <a:latin typeface="微软雅黑" panose="020B0503020204020204" pitchFamily="34" charset="-122"/>
                <a:ea typeface="微软雅黑" panose="020B0503020204020204" pitchFamily="34" charset="-122"/>
              </a:rPr>
              <a:t>调整</a:t>
            </a:r>
            <a:r>
              <a:rPr lang="zh-CN" altLang="zh-CN" sz="2400" smtClean="0">
                <a:solidFill>
                  <a:srgbClr val="FF0000"/>
                </a:solidFill>
                <a:latin typeface="微软雅黑" panose="020B0503020204020204" pitchFamily="34" charset="-122"/>
                <a:ea typeface="微软雅黑" panose="020B0503020204020204" pitchFamily="34" charset="-122"/>
              </a:rPr>
              <a:t>准备金</a:t>
            </a:r>
            <a:r>
              <a:rPr lang="zh-CN" altLang="zh-CN" sz="2400">
                <a:solidFill>
                  <a:srgbClr val="FF0000"/>
                </a:solidFill>
                <a:latin typeface="微软雅黑" panose="020B0503020204020204" pitchFamily="34" charset="-122"/>
                <a:ea typeface="微软雅黑" panose="020B0503020204020204" pitchFamily="34" charset="-122"/>
              </a:rPr>
              <a:t>率</a:t>
            </a:r>
            <a:r>
              <a:rPr lang="zh-CN" altLang="en-US" sz="2400">
                <a:solidFill>
                  <a:srgbClr val="FF0000"/>
                </a:solidFill>
                <a:latin typeface="微软雅黑" panose="020B0503020204020204" pitchFamily="34" charset="-122"/>
                <a:ea typeface="微软雅黑" panose="020B0503020204020204" pitchFamily="34" charset="-122"/>
              </a:rPr>
              <a:t>：</a:t>
            </a:r>
            <a:endParaRPr lang="zh-CN" altLang="zh-CN" sz="2400">
              <a:solidFill>
                <a:srgbClr val="FF000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中央银行规定</a:t>
            </a:r>
            <a:r>
              <a:rPr sz="2400" smtClean="0">
                <a:solidFill>
                  <a:srgbClr val="FF0000"/>
                </a:solidFill>
                <a:latin typeface="微软雅黑" panose="020B0503020204020204" pitchFamily="34" charset="-122"/>
                <a:ea typeface="微软雅黑" panose="020B0503020204020204" pitchFamily="34" charset="-122"/>
              </a:rPr>
              <a:t>准备金要求</a:t>
            </a:r>
            <a:r>
              <a:rPr sz="2400" smtClean="0">
                <a:solidFill>
                  <a:srgbClr val="002060"/>
                </a:solidFill>
                <a:latin typeface="微软雅黑" panose="020B0503020204020204" pitchFamily="34" charset="-122"/>
                <a:ea typeface="微软雅黑" panose="020B0503020204020204" pitchFamily="34" charset="-122"/>
              </a:rPr>
              <a:t>：银行必须针对存款持有的最低准备金数额。</a:t>
            </a:r>
            <a:r>
              <a:rPr sz="2400" smtClean="0">
                <a:solidFill>
                  <a:srgbClr val="FF0000"/>
                </a:solidFill>
                <a:latin typeface="微软雅黑" panose="020B0503020204020204" pitchFamily="34" charset="-122"/>
                <a:ea typeface="微软雅黑" panose="020B0503020204020204" pitchFamily="34" charset="-122"/>
              </a:rPr>
              <a:t>降低存款准备金</a:t>
            </a:r>
            <a:r>
              <a:rPr lang="zh-CN" sz="2400">
                <a:solidFill>
                  <a:srgbClr val="FF0000"/>
                </a:solidFill>
                <a:latin typeface="微软雅黑" panose="020B0503020204020204" pitchFamily="34" charset="-122"/>
                <a:ea typeface="微软雅黑" panose="020B0503020204020204" pitchFamily="34" charset="-122"/>
              </a:rPr>
              <a:t>要求</a:t>
            </a:r>
            <a:r>
              <a:rPr sz="2400" smtClean="0">
                <a:solidFill>
                  <a:srgbClr val="002060"/>
                </a:solidFill>
                <a:latin typeface="微软雅黑" panose="020B0503020204020204" pitchFamily="34" charset="-122"/>
                <a:ea typeface="微软雅黑" panose="020B0503020204020204" pitchFamily="34" charset="-122"/>
              </a:rPr>
              <a:t>会</a:t>
            </a:r>
            <a:r>
              <a:rPr sz="2400" smtClean="0">
                <a:solidFill>
                  <a:srgbClr val="FF0000"/>
                </a:solidFill>
                <a:latin typeface="微软雅黑" panose="020B0503020204020204" pitchFamily="34" charset="-122"/>
                <a:ea typeface="微软雅黑" panose="020B0503020204020204" pitchFamily="34" charset="-122"/>
              </a:rPr>
              <a:t>增加货币乘数</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342900" lvl="1" indent="-342900">
              <a:lnSpc>
                <a:spcPct val="160000"/>
              </a:lnSpc>
              <a:buFont typeface="Wingdings" panose="05000000000000000000" pitchFamily="2" charset="2"/>
              <a:buChar char="Ø"/>
            </a:pPr>
            <a:r>
              <a:rPr lang="zh-CN" altLang="zh-CN" sz="2400" smtClean="0">
                <a:solidFill>
                  <a:srgbClr val="FF0000"/>
                </a:solidFill>
                <a:latin typeface="微软雅黑" panose="020B0503020204020204" pitchFamily="34" charset="-122"/>
                <a:ea typeface="微软雅黑" panose="020B0503020204020204" pitchFamily="34" charset="-122"/>
              </a:rPr>
              <a:t>中央银行</a:t>
            </a:r>
            <a:r>
              <a:rPr lang="zh-CN" altLang="en-US" sz="2400">
                <a:solidFill>
                  <a:srgbClr val="FF0000"/>
                </a:solidFill>
                <a:latin typeface="微软雅黑" panose="020B0503020204020204" pitchFamily="34" charset="-122"/>
                <a:ea typeface="微软雅黑" panose="020B0503020204020204" pitchFamily="34" charset="-122"/>
              </a:rPr>
              <a:t>调整</a:t>
            </a:r>
            <a:r>
              <a:rPr lang="zh-CN" altLang="zh-CN" sz="2400" smtClean="0">
                <a:solidFill>
                  <a:srgbClr val="FF0000"/>
                </a:solidFill>
                <a:latin typeface="微软雅黑" panose="020B0503020204020204" pitchFamily="34" charset="-122"/>
                <a:ea typeface="微软雅黑" panose="020B0503020204020204" pitchFamily="34" charset="-122"/>
              </a:rPr>
              <a:t>准备金</a:t>
            </a:r>
            <a:r>
              <a:rPr lang="zh-CN" altLang="en-US" sz="2400" smtClean="0">
                <a:solidFill>
                  <a:srgbClr val="FF0000"/>
                </a:solidFill>
                <a:latin typeface="微软雅黑" panose="020B0503020204020204" pitchFamily="34" charset="-122"/>
                <a:ea typeface="微软雅黑" panose="020B0503020204020204" pitchFamily="34" charset="-122"/>
              </a:rPr>
              <a:t>利息</a:t>
            </a:r>
            <a:r>
              <a:rPr lang="zh-CN" altLang="zh-CN" sz="2400" smtClean="0">
                <a:solidFill>
                  <a:srgbClr val="FF0000"/>
                </a:solidFill>
                <a:latin typeface="微软雅黑" panose="020B0503020204020204" pitchFamily="34" charset="-122"/>
                <a:ea typeface="微软雅黑" panose="020B0503020204020204" pitchFamily="34" charset="-122"/>
              </a:rPr>
              <a:t>率</a:t>
            </a:r>
            <a:r>
              <a:rPr lang="zh-CN" altLang="en-US" sz="2400">
                <a:solidFill>
                  <a:srgbClr val="FF0000"/>
                </a:solidFill>
                <a:latin typeface="微软雅黑" panose="020B0503020204020204" pitchFamily="34" charset="-122"/>
                <a:ea typeface="微软雅黑" panose="020B0503020204020204" pitchFamily="34" charset="-122"/>
              </a:rPr>
              <a:t>：</a:t>
            </a:r>
            <a:endParaRPr lang="zh-CN" altLang="zh-CN" sz="2400">
              <a:solidFill>
                <a:srgbClr val="FF000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lang="zh-CN" altLang="en-US" sz="2400" smtClean="0">
                <a:solidFill>
                  <a:srgbClr val="FF0000"/>
                </a:solidFill>
                <a:latin typeface="微软雅黑" panose="020B0503020204020204" pitchFamily="34" charset="-122"/>
                <a:ea typeface="微软雅黑" panose="020B0503020204020204" pitchFamily="34" charset="-122"/>
              </a:rPr>
              <a:t>准备金利息</a:t>
            </a:r>
            <a:r>
              <a:rPr lang="zh-CN" altLang="en-US" sz="2400">
                <a:solidFill>
                  <a:srgbClr val="FF0000"/>
                </a:solidFill>
                <a:latin typeface="微软雅黑" panose="020B0503020204020204" pitchFamily="34" charset="-122"/>
                <a:ea typeface="微软雅黑" panose="020B0503020204020204" pitchFamily="34" charset="-122"/>
              </a:rPr>
              <a:t>率</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中央银行就</a:t>
            </a:r>
            <a:r>
              <a:rPr lang="zh-CN" altLang="en-US" sz="2400" smtClean="0">
                <a:solidFill>
                  <a:srgbClr val="002060"/>
                </a:solidFill>
                <a:latin typeface="微软雅黑" panose="020B0503020204020204" pitchFamily="34" charset="-122"/>
                <a:ea typeface="微软雅黑" panose="020B0503020204020204" pitchFamily="34" charset="-122"/>
              </a:rPr>
              <a:t>商业</a:t>
            </a:r>
            <a:r>
              <a:rPr sz="2400" smtClean="0">
                <a:solidFill>
                  <a:srgbClr val="002060"/>
                </a:solidFill>
                <a:latin typeface="微软雅黑" panose="020B0503020204020204" pitchFamily="34" charset="-122"/>
                <a:ea typeface="微软雅黑" panose="020B0503020204020204" pitchFamily="34" charset="-122"/>
              </a:rPr>
              <a:t>银行在中央银行的账户中的准备金支付利息</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FF0000"/>
                </a:solidFill>
                <a:latin typeface="微软雅黑" panose="020B0503020204020204" pitchFamily="34" charset="-122"/>
                <a:ea typeface="微软雅黑" panose="020B0503020204020204" pitchFamily="34" charset="-122"/>
              </a:rPr>
              <a:t>降低</a:t>
            </a:r>
            <a:r>
              <a:rPr sz="2400" smtClean="0">
                <a:solidFill>
                  <a:srgbClr val="FF0000"/>
                </a:solidFill>
                <a:latin typeface="微软雅黑" panose="020B0503020204020204" pitchFamily="34" charset="-122"/>
                <a:ea typeface="微软雅黑" panose="020B0503020204020204" pitchFamily="34" charset="-122"/>
              </a:rPr>
              <a:t>这一利率</a:t>
            </a:r>
            <a:r>
              <a:rPr sz="2400" smtClean="0">
                <a:solidFill>
                  <a:srgbClr val="002060"/>
                </a:solidFill>
                <a:latin typeface="微软雅黑" panose="020B0503020204020204" pitchFamily="34" charset="-122"/>
                <a:ea typeface="微软雅黑" panose="020B0503020204020204" pitchFamily="34" charset="-122"/>
              </a:rPr>
              <a:t>将</a:t>
            </a:r>
            <a:r>
              <a:rPr lang="zh-CN" altLang="en-US" sz="2400" smtClean="0">
                <a:solidFill>
                  <a:srgbClr val="002060"/>
                </a:solidFill>
                <a:latin typeface="微软雅黑" panose="020B0503020204020204" pitchFamily="34" charset="-122"/>
                <a:ea typeface="微软雅黑" panose="020B0503020204020204" pitchFamily="34" charset="-122"/>
              </a:rPr>
              <a:t>降低</a:t>
            </a:r>
            <a:r>
              <a:rPr sz="2400" smtClean="0">
                <a:solidFill>
                  <a:srgbClr val="002060"/>
                </a:solidFill>
                <a:latin typeface="微软雅黑" panose="020B0503020204020204" pitchFamily="34" charset="-122"/>
                <a:ea typeface="微软雅黑" panose="020B0503020204020204" pitchFamily="34" charset="-122"/>
              </a:rPr>
              <a:t>准备金率并</a:t>
            </a:r>
            <a:r>
              <a:rPr lang="zh-CN" altLang="en-US" sz="2400" smtClean="0">
                <a:solidFill>
                  <a:srgbClr val="FF0000"/>
                </a:solidFill>
                <a:latin typeface="微软雅黑" panose="020B0503020204020204" pitchFamily="34" charset="-122"/>
                <a:ea typeface="微软雅黑" panose="020B0503020204020204" pitchFamily="34" charset="-122"/>
              </a:rPr>
              <a:t>提高</a:t>
            </a:r>
            <a:r>
              <a:rPr sz="2400" smtClean="0">
                <a:solidFill>
                  <a:srgbClr val="FF0000"/>
                </a:solidFill>
                <a:latin typeface="微软雅黑" panose="020B0503020204020204" pitchFamily="34" charset="-122"/>
                <a:ea typeface="微软雅黑" panose="020B0503020204020204" pitchFamily="34" charset="-122"/>
              </a:rPr>
              <a:t>货币乘数</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40000"/>
              </a:lnSpc>
              <a:buFont typeface="Wingdings" panose="05000000000000000000" charset="0"/>
              <a:buChar char=""/>
            </a:pP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51520" y="1268760"/>
            <a:ext cx="8611235" cy="2456057"/>
          </a:xfrm>
          <a:prstGeom prst="rect">
            <a:avLst/>
          </a:prstGeom>
          <a:noFill/>
        </p:spPr>
        <p:txBody>
          <a:bodyPr wrap="square" rtlCol="0">
            <a:spAutoFit/>
          </a:bodyPr>
          <a:lstStyle/>
          <a:p>
            <a:pPr marL="342900" indent="-342900">
              <a:lnSpc>
                <a:spcPct val="160000"/>
              </a:lnSpc>
              <a:buFont typeface="Wingdings" panose="05000000000000000000" pitchFamily="2" charset="2"/>
              <a:buChar char="Ø"/>
            </a:pPr>
            <a:r>
              <a:rPr lang="zh-CN" altLang="zh-CN" sz="2400" smtClean="0">
                <a:solidFill>
                  <a:srgbClr val="FF0000"/>
                </a:solidFill>
                <a:latin typeface="微软雅黑" panose="020B0503020204020204" pitchFamily="34" charset="-122"/>
                <a:ea typeface="微软雅黑" panose="020B0503020204020204" pitchFamily="34" charset="-122"/>
              </a:rPr>
              <a:t>中央银行</a:t>
            </a:r>
            <a:r>
              <a:rPr lang="zh-CN" altLang="en-US" sz="2400" smtClean="0">
                <a:solidFill>
                  <a:srgbClr val="FF0000"/>
                </a:solidFill>
                <a:latin typeface="微软雅黑" panose="020B0503020204020204" pitchFamily="34" charset="-122"/>
                <a:ea typeface="微软雅黑" panose="020B0503020204020204" pitchFamily="34" charset="-122"/>
              </a:rPr>
              <a:t>调整基准利率水平：</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lang="zh-CN" altLang="en-US" sz="2400" smtClean="0">
                <a:solidFill>
                  <a:srgbClr val="FF0000"/>
                </a:solidFill>
                <a:latin typeface="微软雅黑" panose="020B0503020204020204" pitchFamily="34" charset="-122"/>
                <a:ea typeface="微软雅黑" panose="020B0503020204020204" pitchFamily="34" charset="-122"/>
              </a:rPr>
              <a:t>央行降息</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家庭持有更多货币</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a:t>
            </a:r>
            <a:r>
              <a:rPr lang="zh-CN" altLang="en-US" sz="2400" smtClean="0">
                <a:solidFill>
                  <a:srgbClr val="002060"/>
                </a:solidFill>
                <a:latin typeface="微软雅黑" panose="020B0503020204020204" pitchFamily="34" charset="-122"/>
                <a:ea typeface="微软雅黑" panose="020B0503020204020204" pitchFamily="34" charset="-122"/>
              </a:rPr>
              <a:t>吸收的存款</a:t>
            </a:r>
            <a:r>
              <a:rPr sz="2400" smtClean="0">
                <a:solidFill>
                  <a:srgbClr val="002060"/>
                </a:solidFill>
                <a:latin typeface="微软雅黑" panose="020B0503020204020204" pitchFamily="34" charset="-122"/>
                <a:ea typeface="微软雅黑" panose="020B0503020204020204" pitchFamily="34" charset="-122"/>
              </a:rPr>
              <a:t>会减少</a:t>
            </a:r>
            <a:r>
              <a:rPr sz="2400" dirty="0">
                <a:solidFill>
                  <a:srgbClr val="002060"/>
                </a:solidFill>
                <a:latin typeface="微软雅黑" panose="020B0503020204020204" pitchFamily="34" charset="-122"/>
                <a:ea typeface="微软雅黑" panose="020B0503020204020204" pitchFamily="34" charset="-122"/>
              </a:rPr>
              <a:t>，贷款就会减少，</a:t>
            </a:r>
            <a:r>
              <a:rPr sz="2400">
                <a:solidFill>
                  <a:srgbClr val="002060"/>
                </a:solidFill>
                <a:latin typeface="微软雅黑" panose="020B0503020204020204" pitchFamily="34" charset="-122"/>
                <a:ea typeface="微软雅黑" panose="020B0503020204020204" pitchFamily="34" charset="-122"/>
              </a:rPr>
              <a:t>货币供应量就会下降</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60000"/>
              </a:lnSpc>
              <a:buFont typeface="Wingdings" panose="05000000000000000000" pitchFamily="2" charset="2"/>
              <a:buChar char="ü"/>
            </a:pPr>
            <a:r>
              <a:rPr lang="zh-CN" altLang="en-US" sz="2400" smtClean="0">
                <a:solidFill>
                  <a:srgbClr val="002060"/>
                </a:solidFill>
                <a:latin typeface="微软雅黑" panose="020B0503020204020204" pitchFamily="34" charset="-122"/>
                <a:ea typeface="微软雅黑" panose="020B0503020204020204" pitchFamily="34" charset="-122"/>
              </a:rPr>
              <a:t>反之，如果</a:t>
            </a:r>
            <a:r>
              <a:rPr lang="zh-CN" altLang="en-US" sz="2400" smtClean="0">
                <a:solidFill>
                  <a:srgbClr val="FF0000"/>
                </a:solidFill>
                <a:latin typeface="微软雅黑" panose="020B0503020204020204" pitchFamily="34" charset="-122"/>
                <a:ea typeface="微软雅黑" panose="020B0503020204020204" pitchFamily="34" charset="-122"/>
              </a:rPr>
              <a:t>央行升息</a:t>
            </a:r>
            <a:r>
              <a:rPr lang="zh-CN" altLang="en-US" sz="2400" smtClean="0">
                <a:solidFill>
                  <a:srgbClr val="002060"/>
                </a:solidFill>
                <a:latin typeface="微软雅黑" panose="020B0503020204020204" pitchFamily="34" charset="-122"/>
                <a:ea typeface="微软雅黑" panose="020B0503020204020204" pitchFamily="34" charset="-122"/>
              </a:rPr>
              <a:t>，就会鼓励</a:t>
            </a:r>
            <a:r>
              <a:rPr lang="zh-CN" altLang="en-US" sz="2400">
                <a:solidFill>
                  <a:srgbClr val="002060"/>
                </a:solidFill>
                <a:latin typeface="微软雅黑" panose="020B0503020204020204" pitchFamily="34" charset="-122"/>
                <a:ea typeface="微软雅黑" panose="020B0503020204020204" pitchFamily="34" charset="-122"/>
              </a:rPr>
              <a:t>家庭存款</a:t>
            </a:r>
            <a:r>
              <a:rPr lang="zh-CN" altLang="en-US" sz="2400" smtClean="0">
                <a:solidFill>
                  <a:srgbClr val="002060"/>
                </a:solidFill>
                <a:latin typeface="微软雅黑" panose="020B0503020204020204" pitchFamily="34" charset="-122"/>
                <a:ea typeface="微软雅黑" panose="020B0503020204020204" pitchFamily="34" charset="-122"/>
              </a:rPr>
              <a:t>。</a:t>
            </a:r>
            <a:endParaRPr lang="zh-CN" altLang="en-US" sz="240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179512" y="1052736"/>
            <a:ext cx="8611235" cy="5078313"/>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sz="2400" smtClean="0">
                <a:solidFill>
                  <a:srgbClr val="FF0000"/>
                </a:solidFill>
                <a:latin typeface="微软雅黑" panose="020B0503020204020204" pitchFamily="34" charset="-122"/>
                <a:ea typeface="微软雅黑" panose="020B0503020204020204" pitchFamily="34" charset="-122"/>
              </a:rPr>
              <a:t>基准利率</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金融市场上具有普遍</a:t>
            </a:r>
            <a:r>
              <a:rPr sz="2400" smtClean="0">
                <a:solidFill>
                  <a:srgbClr val="FF0000"/>
                </a:solidFill>
                <a:latin typeface="微软雅黑" panose="020B0503020204020204" pitchFamily="34" charset="-122"/>
                <a:ea typeface="微软雅黑" panose="020B0503020204020204" pitchFamily="34" charset="-122"/>
              </a:rPr>
              <a:t>参照作用</a:t>
            </a:r>
            <a:r>
              <a:rPr sz="2400">
                <a:solidFill>
                  <a:srgbClr val="002060"/>
                </a:solidFill>
                <a:latin typeface="微软雅黑" panose="020B0503020204020204" pitchFamily="34" charset="-122"/>
                <a:ea typeface="微软雅黑" panose="020B0503020204020204" pitchFamily="34" charset="-122"/>
              </a:rPr>
              <a:t>的利率</a:t>
            </a:r>
            <a:r>
              <a:rPr sz="2400" dirty="0">
                <a:solidFill>
                  <a:srgbClr val="002060"/>
                </a:solidFill>
                <a:latin typeface="微软雅黑" panose="020B0503020204020204" pitchFamily="34" charset="-122"/>
                <a:ea typeface="微软雅黑" panose="020B0503020204020204" pitchFamily="34" charset="-122"/>
              </a:rPr>
              <a:t>，其他利率水平或金融资产价格均可根据这一基准利率水平来确定。</a:t>
            </a:r>
            <a:endParaRPr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sz="2400">
                <a:solidFill>
                  <a:srgbClr val="002060"/>
                </a:solidFill>
                <a:latin typeface="微软雅黑" panose="020B0503020204020204" pitchFamily="34" charset="-122"/>
                <a:ea typeface="微软雅黑" panose="020B0503020204020204" pitchFamily="34" charset="-122"/>
              </a:rPr>
              <a:t>以</a:t>
            </a:r>
            <a:r>
              <a:rPr sz="2400">
                <a:solidFill>
                  <a:srgbClr val="FF0000"/>
                </a:solidFill>
                <a:latin typeface="微软雅黑" panose="020B0503020204020204" pitchFamily="34" charset="-122"/>
                <a:ea typeface="微软雅黑" panose="020B0503020204020204" pitchFamily="34" charset="-122"/>
              </a:rPr>
              <a:t>同业拆借利率</a:t>
            </a:r>
            <a:r>
              <a:rPr lang="zh-CN" altLang="en-US" sz="2400" smtClean="0">
                <a:solidFill>
                  <a:srgbClr val="002060"/>
                </a:solidFill>
                <a:latin typeface="微软雅黑" panose="020B0503020204020204" pitchFamily="34" charset="-122"/>
                <a:ea typeface="微软雅黑" panose="020B0503020204020204" pitchFamily="34" charset="-122"/>
              </a:rPr>
              <a:t>（金融</a:t>
            </a:r>
            <a:r>
              <a:rPr lang="zh-CN" altLang="en-US" sz="2400">
                <a:solidFill>
                  <a:srgbClr val="002060"/>
                </a:solidFill>
                <a:latin typeface="微软雅黑" panose="020B0503020204020204" pitchFamily="34" charset="-122"/>
                <a:ea typeface="微软雅黑" panose="020B0503020204020204" pitchFamily="34" charset="-122"/>
              </a:rPr>
              <a:t>机构同业之间的短期资金借贷利率）</a:t>
            </a:r>
            <a:r>
              <a:rPr sz="2400">
                <a:solidFill>
                  <a:srgbClr val="002060"/>
                </a:solidFill>
                <a:latin typeface="微软雅黑" panose="020B0503020204020204" pitchFamily="34" charset="-122"/>
                <a:ea typeface="微软雅黑" panose="020B0503020204020204" pitchFamily="34" charset="-122"/>
              </a:rPr>
              <a:t>为基准利率的国家</a:t>
            </a:r>
            <a:r>
              <a:rPr lang="zh-CN" altLang="en-US" sz="2400">
                <a:solidFill>
                  <a:srgbClr val="002060"/>
                </a:solidFill>
                <a:latin typeface="微软雅黑" panose="020B0503020204020204" pitchFamily="34" charset="-122"/>
                <a:ea typeface="微软雅黑" panose="020B0503020204020204" pitchFamily="34" charset="-122"/>
              </a:rPr>
              <a:t>：</a:t>
            </a:r>
            <a:endParaRPr lang="en-US" altLang="zh-CN" sz="240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英国的伦敦同业拆放利率</a:t>
            </a:r>
            <a:r>
              <a:rPr sz="2400" dirty="0">
                <a:solidFill>
                  <a:srgbClr val="002060"/>
                </a:solidFill>
                <a:latin typeface="微软雅黑" panose="020B0503020204020204" pitchFamily="34" charset="-122"/>
                <a:ea typeface="微软雅黑" panose="020B0503020204020204" pitchFamily="34" charset="-122"/>
              </a:rPr>
              <a:t>(</a:t>
            </a:r>
            <a:r>
              <a:rPr sz="2400" dirty="0">
                <a:solidFill>
                  <a:srgbClr val="FF0000"/>
                </a:solidFill>
                <a:latin typeface="微软雅黑" panose="020B0503020204020204" pitchFamily="34" charset="-122"/>
                <a:ea typeface="微软雅黑" panose="020B0503020204020204" pitchFamily="34" charset="-122"/>
              </a:rPr>
              <a:t>Libor</a:t>
            </a:r>
            <a:r>
              <a:rPr sz="2400" dirty="0">
                <a:solidFill>
                  <a:srgbClr val="002060"/>
                </a:solidFill>
                <a:latin typeface="微软雅黑" panose="020B0503020204020204" pitchFamily="34" charset="-122"/>
                <a:ea typeface="微软雅黑" panose="020B0503020204020204" pitchFamily="34" charset="-122"/>
              </a:rPr>
              <a:t>：London Inter-Bank Offered </a:t>
            </a:r>
            <a:r>
              <a:rPr sz="2400">
                <a:solidFill>
                  <a:srgbClr val="002060"/>
                </a:solidFill>
                <a:latin typeface="微软雅黑" panose="020B0503020204020204" pitchFamily="34" charset="-122"/>
                <a:ea typeface="微软雅黑" panose="020B0503020204020204" pitchFamily="34" charset="-122"/>
              </a:rPr>
              <a:t>Rate</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美国的联邦基准利率</a:t>
            </a:r>
            <a:r>
              <a:rPr sz="2400" dirty="0">
                <a:solidFill>
                  <a:srgbClr val="002060"/>
                </a:solidFill>
                <a:latin typeface="微软雅黑" panose="020B0503020204020204" pitchFamily="34" charset="-122"/>
                <a:ea typeface="微软雅黑" panose="020B0503020204020204" pitchFamily="34" charset="-122"/>
              </a:rPr>
              <a:t>(</a:t>
            </a:r>
            <a:r>
              <a:rPr sz="2400" dirty="0">
                <a:solidFill>
                  <a:srgbClr val="FF0000"/>
                </a:solidFill>
                <a:latin typeface="微软雅黑" panose="020B0503020204020204" pitchFamily="34" charset="-122"/>
                <a:ea typeface="微软雅黑" panose="020B0503020204020204" pitchFamily="34" charset="-122"/>
              </a:rPr>
              <a:t>FFR</a:t>
            </a:r>
            <a:r>
              <a:rPr sz="2400" dirty="0">
                <a:solidFill>
                  <a:srgbClr val="002060"/>
                </a:solidFill>
                <a:latin typeface="微软雅黑" panose="020B0503020204020204" pitchFamily="34" charset="-122"/>
                <a:ea typeface="微软雅黑" panose="020B0503020204020204" pitchFamily="34" charset="-122"/>
              </a:rPr>
              <a:t>：Federal Funds </a:t>
            </a:r>
            <a:r>
              <a:rPr sz="2400">
                <a:solidFill>
                  <a:srgbClr val="002060"/>
                </a:solidFill>
                <a:latin typeface="微软雅黑" panose="020B0503020204020204" pitchFamily="34" charset="-122"/>
                <a:ea typeface="微软雅黑" panose="020B0503020204020204" pitchFamily="34" charset="-122"/>
              </a:rPr>
              <a:t>Rate </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日本的东京同业拆借利率</a:t>
            </a:r>
            <a:r>
              <a:rPr sz="2400" dirty="0">
                <a:solidFill>
                  <a:srgbClr val="002060"/>
                </a:solidFill>
                <a:latin typeface="微软雅黑" panose="020B0503020204020204" pitchFamily="34" charset="-122"/>
                <a:ea typeface="微软雅黑" panose="020B0503020204020204" pitchFamily="34" charset="-122"/>
              </a:rPr>
              <a:t>(</a:t>
            </a:r>
            <a:r>
              <a:rPr sz="2400">
                <a:solidFill>
                  <a:srgbClr val="FF0000"/>
                </a:solidFill>
                <a:latin typeface="微软雅黑" panose="020B0503020204020204" pitchFamily="34" charset="-122"/>
                <a:ea typeface="微软雅黑" panose="020B0503020204020204" pitchFamily="34" charset="-122"/>
              </a:rPr>
              <a:t>Tibor</a:t>
            </a:r>
            <a:r>
              <a:rPr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欧盟的欧元银行同业拆借利率</a:t>
            </a:r>
            <a:r>
              <a:rPr sz="2400" dirty="0">
                <a:solidFill>
                  <a:srgbClr val="002060"/>
                </a:solidFill>
                <a:latin typeface="微软雅黑" panose="020B0503020204020204" pitchFamily="34" charset="-122"/>
                <a:ea typeface="微软雅黑" panose="020B0503020204020204" pitchFamily="34" charset="-122"/>
              </a:rPr>
              <a:t>(</a:t>
            </a:r>
            <a:r>
              <a:rPr sz="2400">
                <a:solidFill>
                  <a:srgbClr val="FF0000"/>
                </a:solidFill>
                <a:latin typeface="微软雅黑" panose="020B0503020204020204" pitchFamily="34" charset="-122"/>
                <a:ea typeface="微软雅黑" panose="020B0503020204020204" pitchFamily="34" charset="-122"/>
              </a:rPr>
              <a:t>Euribor</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611235" cy="5078313"/>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以</a:t>
            </a:r>
            <a:r>
              <a:rPr sz="2400" smtClean="0">
                <a:solidFill>
                  <a:srgbClr val="FF0000"/>
                </a:solidFill>
                <a:latin typeface="微软雅黑" panose="020B0503020204020204" pitchFamily="34" charset="-122"/>
                <a:ea typeface="微软雅黑" panose="020B0503020204020204" pitchFamily="34" charset="-122"/>
              </a:rPr>
              <a:t>回购利率</a:t>
            </a:r>
            <a:r>
              <a:rPr sz="2400" smtClean="0">
                <a:solidFill>
                  <a:srgbClr val="002060"/>
                </a:solidFill>
                <a:latin typeface="微软雅黑" panose="020B0503020204020204" pitchFamily="34" charset="-122"/>
                <a:ea typeface="微软雅黑" panose="020B0503020204020204" pitchFamily="34" charset="-122"/>
              </a:rPr>
              <a:t>为基准利率的国家</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德国</a:t>
            </a:r>
            <a:r>
              <a:rPr sz="2400" dirty="0">
                <a:solidFill>
                  <a:srgbClr val="002060"/>
                </a:solidFill>
                <a:latin typeface="微软雅黑" panose="020B0503020204020204" pitchFamily="34" charset="-122"/>
                <a:ea typeface="微软雅黑" panose="020B0503020204020204" pitchFamily="34" charset="-122"/>
              </a:rPr>
              <a:t>(1W和2W回购利率)、法国(1W回购利率)、西班牙(10D</a:t>
            </a:r>
            <a:r>
              <a:rPr sz="2400">
                <a:solidFill>
                  <a:srgbClr val="002060"/>
                </a:solidFill>
                <a:latin typeface="微软雅黑" panose="020B0503020204020204" pitchFamily="34" charset="-122"/>
                <a:ea typeface="微软雅黑" panose="020B0503020204020204" pitchFamily="34" charset="-122"/>
              </a:rPr>
              <a:t>回购利率</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 </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dirty="0">
                <a:solidFill>
                  <a:srgbClr val="002060"/>
                </a:solidFill>
                <a:latin typeface="微软雅黑" panose="020B0503020204020204" pitchFamily="34" charset="-122"/>
                <a:ea typeface="微软雅黑" panose="020B0503020204020204" pitchFamily="34" charset="-122"/>
              </a:rPr>
              <a:t>回购利率（repurchase </a:t>
            </a:r>
            <a:r>
              <a:rPr sz="2400">
                <a:solidFill>
                  <a:srgbClr val="002060"/>
                </a:solidFill>
                <a:latin typeface="微软雅黑" panose="020B0503020204020204" pitchFamily="34" charset="-122"/>
                <a:ea typeface="微软雅黑" panose="020B0503020204020204" pitchFamily="34" charset="-122"/>
              </a:rPr>
              <a:t>rate</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一般是指国债回购利率</a:t>
            </a:r>
            <a:r>
              <a:rPr lang="zh-CN" altLang="en-US" sz="2400" smtClean="0">
                <a:solidFill>
                  <a:srgbClr val="002060"/>
                </a:solidFill>
                <a:latin typeface="微软雅黑" panose="020B0503020204020204" pitchFamily="34" charset="-122"/>
                <a:ea typeface="微软雅黑" panose="020B0503020204020204" pitchFamily="34" charset="-122"/>
              </a:rPr>
              <a:t>。</a:t>
            </a:r>
            <a:endParaRPr lang="en-US" altLang="zh-CN" sz="2400" smtClean="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回购利率</a:t>
            </a:r>
            <a:r>
              <a:rPr lang="zh-CN" altLang="en-US" sz="2400" smtClean="0">
                <a:solidFill>
                  <a:srgbClr val="002060"/>
                </a:solidFill>
                <a:latin typeface="微软雅黑" panose="020B0503020204020204" pitchFamily="34" charset="-122"/>
                <a:ea typeface="微软雅黑" panose="020B0503020204020204" pitchFamily="34" charset="-122"/>
              </a:rPr>
              <a:t>可以</a:t>
            </a:r>
            <a:r>
              <a:rPr sz="2400" smtClean="0">
                <a:solidFill>
                  <a:srgbClr val="002060"/>
                </a:solidFill>
                <a:latin typeface="微软雅黑" panose="020B0503020204020204" pitchFamily="34" charset="-122"/>
                <a:ea typeface="微软雅黑" panose="020B0503020204020204" pitchFamily="34" charset="-122"/>
              </a:rPr>
              <a:t>看作是使用国债借钱所需要偿还的利息。</a:t>
            </a:r>
            <a:r>
              <a:rPr lang="zh-CN" altLang="en-US" sz="2400">
                <a:solidFill>
                  <a:srgbClr val="002060"/>
                </a:solidFill>
                <a:latin typeface="微软雅黑" panose="020B0503020204020204" pitchFamily="34" charset="-122"/>
                <a:ea typeface="微软雅黑" panose="020B0503020204020204" pitchFamily="34" charset="-122"/>
              </a:rPr>
              <a:t>按照时间一般又被叫做</a:t>
            </a:r>
            <a:r>
              <a:rPr lang="en-US" altLang="zh-CN" sz="2400">
                <a:solidFill>
                  <a:srgbClr val="002060"/>
                </a:solidFill>
                <a:latin typeface="微软雅黑" panose="020B0503020204020204" pitchFamily="34" charset="-122"/>
                <a:ea typeface="微软雅黑" panose="020B0503020204020204" pitchFamily="34" charset="-122"/>
              </a:rPr>
              <a:t>7</a:t>
            </a:r>
            <a:r>
              <a:rPr lang="zh-CN" altLang="en-US" sz="2400">
                <a:solidFill>
                  <a:srgbClr val="002060"/>
                </a:solidFill>
                <a:latin typeface="微软雅黑" panose="020B0503020204020204" pitchFamily="34" charset="-122"/>
                <a:ea typeface="微软雅黑" panose="020B0503020204020204" pitchFamily="34" charset="-122"/>
              </a:rPr>
              <a:t>天回购利率、</a:t>
            </a:r>
            <a:r>
              <a:rPr lang="en-US" altLang="zh-CN" sz="2400">
                <a:solidFill>
                  <a:srgbClr val="002060"/>
                </a:solidFill>
                <a:latin typeface="微软雅黑" panose="020B0503020204020204" pitchFamily="34" charset="-122"/>
                <a:ea typeface="微软雅黑" panose="020B0503020204020204" pitchFamily="34" charset="-122"/>
              </a:rPr>
              <a:t>10</a:t>
            </a:r>
            <a:r>
              <a:rPr lang="zh-CN" altLang="en-US" sz="2400">
                <a:solidFill>
                  <a:srgbClr val="002060"/>
                </a:solidFill>
                <a:latin typeface="微软雅黑" panose="020B0503020204020204" pitchFamily="34" charset="-122"/>
                <a:ea typeface="微软雅黑" panose="020B0503020204020204" pitchFamily="34" charset="-122"/>
              </a:rPr>
              <a:t>天回购利率、 </a:t>
            </a:r>
            <a:r>
              <a:rPr lang="en-US" altLang="zh-CN" sz="2400">
                <a:solidFill>
                  <a:srgbClr val="002060"/>
                </a:solidFill>
                <a:latin typeface="微软雅黑" panose="020B0503020204020204" pitchFamily="34" charset="-122"/>
                <a:ea typeface="微软雅黑" panose="020B0503020204020204" pitchFamily="34" charset="-122"/>
              </a:rPr>
              <a:t>14</a:t>
            </a:r>
            <a:r>
              <a:rPr lang="zh-CN" altLang="en-US" sz="2400">
                <a:solidFill>
                  <a:srgbClr val="002060"/>
                </a:solidFill>
                <a:latin typeface="微软雅黑" panose="020B0503020204020204" pitchFamily="34" charset="-122"/>
                <a:ea typeface="微软雅黑" panose="020B0503020204020204" pitchFamily="34" charset="-122"/>
              </a:rPr>
              <a:t>天回购利率等。</a:t>
            </a:r>
            <a:endParaRPr lang="zh-CN" altLang="en-US" sz="240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W-</a:t>
            </a:r>
            <a:r>
              <a:rPr lang="en-US" sz="2400" smtClean="0">
                <a:solidFill>
                  <a:srgbClr val="002060"/>
                </a:solidFill>
                <a:latin typeface="微软雅黑" panose="020B0503020204020204" pitchFamily="34" charset="-122"/>
                <a:ea typeface="微软雅黑" panose="020B0503020204020204" pitchFamily="34" charset="-122"/>
              </a:rPr>
              <a:t>W</a:t>
            </a:r>
            <a:r>
              <a:rPr sz="2400" smtClean="0">
                <a:solidFill>
                  <a:srgbClr val="002060"/>
                </a:solidFill>
                <a:latin typeface="微软雅黑" panose="020B0503020204020204" pitchFamily="34" charset="-122"/>
                <a:ea typeface="微软雅黑" panose="020B0503020204020204" pitchFamily="34" charset="-122"/>
              </a:rPr>
              <a:t>eak</a:t>
            </a:r>
            <a:r>
              <a:rPr sz="2400">
                <a:solidFill>
                  <a:srgbClr val="002060"/>
                </a:solidFill>
                <a:latin typeface="微软雅黑" panose="020B0503020204020204" pitchFamily="34" charset="-122"/>
                <a:ea typeface="微软雅黑" panose="020B0503020204020204" pitchFamily="34" charset="-122"/>
              </a:rPr>
              <a:t>, </a:t>
            </a:r>
            <a:r>
              <a:rPr sz="2400" smtClean="0">
                <a:solidFill>
                  <a:srgbClr val="002060"/>
                </a:solidFill>
                <a:latin typeface="微软雅黑" panose="020B0503020204020204" pitchFamily="34" charset="-122"/>
                <a:ea typeface="微软雅黑" panose="020B0503020204020204" pitchFamily="34" charset="-122"/>
              </a:rPr>
              <a:t>D-</a:t>
            </a:r>
            <a:r>
              <a:rPr lang="en-US" sz="2400" smtClean="0">
                <a:solidFill>
                  <a:srgbClr val="002060"/>
                </a:solidFill>
                <a:latin typeface="微软雅黑" panose="020B0503020204020204" pitchFamily="34" charset="-122"/>
                <a:ea typeface="微软雅黑" panose="020B0503020204020204" pitchFamily="34" charset="-122"/>
              </a:rPr>
              <a:t>D</a:t>
            </a:r>
            <a:r>
              <a:rPr sz="2400" smtClean="0">
                <a:solidFill>
                  <a:srgbClr val="002060"/>
                </a:solidFill>
                <a:latin typeface="微软雅黑" panose="020B0503020204020204" pitchFamily="34" charset="-122"/>
                <a:ea typeface="微软雅黑" panose="020B0503020204020204" pitchFamily="34" charset="-122"/>
              </a:rPr>
              <a:t>ay</a:t>
            </a:r>
            <a:endParaRPr sz="2400" dirty="0">
              <a:solidFill>
                <a:srgbClr val="002060"/>
              </a:solidFill>
              <a:latin typeface="微软雅黑" panose="020B0503020204020204" pitchFamily="34" charset="-122"/>
              <a:ea typeface="微软雅黑" panose="020B0503020204020204" pitchFamily="34" charset="-122"/>
            </a:endParaRPr>
          </a:p>
          <a:p>
            <a:pPr indent="0" algn="l">
              <a:lnSpc>
                <a:spcPct val="150000"/>
              </a:lnSpc>
              <a:buFont typeface="Wingdings" panose="05000000000000000000" charset="0"/>
              <a:buNone/>
            </a:pP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611235" cy="2308324"/>
          </a:xfrm>
          <a:prstGeom prst="rect">
            <a:avLst/>
          </a:prstGeom>
          <a:noFill/>
        </p:spPr>
        <p:txBody>
          <a:bodyPr wrap="square" rtlCol="0">
            <a:spAutoFit/>
          </a:bodyPr>
          <a:lstStyle/>
          <a:p>
            <a:pPr marL="342900" indent="-342900" algn="l">
              <a:lnSpc>
                <a:spcPct val="150000"/>
              </a:lnSpc>
              <a:buFont typeface="Wingdings" panose="05000000000000000000" pitchFamily="2" charset="2"/>
              <a:buChar char="ü"/>
            </a:pPr>
            <a:r>
              <a:rPr sz="2400" dirty="0">
                <a:solidFill>
                  <a:srgbClr val="FF0000"/>
                </a:solidFill>
                <a:latin typeface="微软雅黑" panose="020B0503020204020204" pitchFamily="34" charset="-122"/>
                <a:ea typeface="微软雅黑" panose="020B0503020204020204" pitchFamily="34" charset="-122"/>
              </a:rPr>
              <a:t>中国: </a:t>
            </a:r>
            <a:r>
              <a:rPr sz="2400" dirty="0">
                <a:solidFill>
                  <a:srgbClr val="002060"/>
                </a:solidFill>
                <a:latin typeface="微软雅黑" panose="020B0503020204020204" pitchFamily="34" charset="-122"/>
                <a:ea typeface="微软雅黑" panose="020B0503020204020204" pitchFamily="34" charset="-122"/>
              </a:rPr>
              <a:t>以中国人民银行对国家专业银行和其他金融机构规定的存贷款利率为基准利率。</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民众把银行一年定期存款利率</a:t>
            </a:r>
            <a:r>
              <a:rPr lang="zh-CN" altLang="en-US" sz="2400" smtClean="0">
                <a:solidFill>
                  <a:srgbClr val="002060"/>
                </a:solidFill>
                <a:latin typeface="微软雅黑" panose="020B0503020204020204" pitchFamily="34" charset="-122"/>
                <a:ea typeface="微软雅黑" panose="020B0503020204020204" pitchFamily="34" charset="-122"/>
              </a:rPr>
              <a:t>看作</a:t>
            </a:r>
            <a:r>
              <a:rPr sz="2400" smtClean="0">
                <a:solidFill>
                  <a:srgbClr val="002060"/>
                </a:solidFill>
                <a:latin typeface="微软雅黑" panose="020B0503020204020204" pitchFamily="34" charset="-122"/>
                <a:ea typeface="微软雅黑" panose="020B0503020204020204" pitchFamily="34" charset="-122"/>
              </a:rPr>
              <a:t>市场基准利率指标</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sz="2400" smtClean="0">
                <a:solidFill>
                  <a:srgbClr val="002060"/>
                </a:solidFill>
                <a:latin typeface="微软雅黑" panose="020B0503020204020204" pitchFamily="34" charset="-122"/>
                <a:ea typeface="微软雅黑" panose="020B0503020204020204" pitchFamily="34" charset="-122"/>
              </a:rPr>
              <a:t>银行则是把隔夜拆借利率作为市场基准利率</a:t>
            </a:r>
            <a:r>
              <a:rPr lang="zh-CN" altLang="en-US" sz="2400" smtClean="0">
                <a:solidFill>
                  <a:srgbClr val="002060"/>
                </a:solidFill>
                <a:latin typeface="微软雅黑" panose="020B0503020204020204" pitchFamily="34" charset="-122"/>
                <a:ea typeface="微软雅黑" panose="020B0503020204020204" pitchFamily="34" charset="-122"/>
              </a:rPr>
              <a:t>指标</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思源黑体 CN Bold" panose="020B0800000000000000" pitchFamily="34" charset="-122"/>
              <a:ea typeface="思源黑体 CN Bold" panose="020B0800000000000000"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186933" y="1169670"/>
            <a:ext cx="8611235" cy="3989705"/>
          </a:xfrm>
          <a:prstGeom prst="rect">
            <a:avLst/>
          </a:prstGeom>
          <a:noFill/>
        </p:spPr>
        <p:txBody>
          <a:bodyPr wrap="square" rtlCol="0">
            <a:spAutoFit/>
          </a:bodyPr>
          <a:lstStyle/>
          <a:p>
            <a:pPr marL="342900" indent="-342900">
              <a:lnSpc>
                <a:spcPts val="3800"/>
              </a:lnSpc>
              <a:buFont typeface="Wingdings" panose="05000000000000000000" pitchFamily="2" charset="2"/>
              <a:buChar char="Ø"/>
            </a:pPr>
            <a:r>
              <a:rPr lang="zh-CN" altLang="en-US" sz="2400" smtClean="0">
                <a:solidFill>
                  <a:srgbClr val="FF0000"/>
                </a:solidFill>
                <a:latin typeface="微软雅黑" panose="020B0503020204020204" pitchFamily="34" charset="-122"/>
                <a:ea typeface="微软雅黑" panose="020B0503020204020204" pitchFamily="34" charset="-122"/>
              </a:rPr>
              <a:t>存款</a:t>
            </a:r>
            <a:r>
              <a:rPr lang="zh-CN" altLang="en-US" sz="2400">
                <a:solidFill>
                  <a:srgbClr val="FF0000"/>
                </a:solidFill>
                <a:latin typeface="微软雅黑" panose="020B0503020204020204" pitchFamily="34" charset="-122"/>
                <a:ea typeface="微软雅黑" panose="020B0503020204020204" pitchFamily="34" charset="-122"/>
              </a:rPr>
              <a:t>保险</a:t>
            </a:r>
            <a:r>
              <a:rPr lang="zh-CN" altLang="en-US" sz="2400" smtClean="0">
                <a:solidFill>
                  <a:srgbClr val="FF0000"/>
                </a:solidFill>
                <a:latin typeface="微软雅黑" panose="020B0503020204020204" pitchFamily="34" charset="-122"/>
                <a:ea typeface="微软雅黑" panose="020B0503020204020204" pitchFamily="34" charset="-122"/>
              </a:rPr>
              <a:t>制</a:t>
            </a:r>
            <a:r>
              <a:rPr lang="zh-CN" altLang="en-US" sz="2400">
                <a:solidFill>
                  <a:srgbClr val="FF0000"/>
                </a:solidFill>
                <a:latin typeface="微软雅黑" panose="020B0503020204020204" pitchFamily="34" charset="-122"/>
                <a:ea typeface="微软雅黑" panose="020B0503020204020204" pitchFamily="34" charset="-122"/>
              </a:rPr>
              <a:t>度</a:t>
            </a:r>
            <a:r>
              <a:rPr sz="2400">
                <a:solidFill>
                  <a:srgbClr val="FF0000"/>
                </a:solidFill>
                <a:latin typeface="微软雅黑" panose="020B0503020204020204" pitchFamily="34" charset="-122"/>
                <a:ea typeface="微软雅黑" panose="020B0503020204020204" pitchFamily="34" charset="-122"/>
              </a:rPr>
              <a:t>：</a:t>
            </a:r>
            <a:endParaRPr sz="2400" dirty="0">
              <a:solidFill>
                <a:srgbClr val="FF000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当人们怀疑他们的银行有问题时</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他们</a:t>
            </a:r>
            <a:r>
              <a:rPr lang="zh-CN" altLang="en-US" sz="2400">
                <a:solidFill>
                  <a:srgbClr val="002060"/>
                </a:solidFill>
                <a:latin typeface="微软雅黑" panose="020B0503020204020204" pitchFamily="34" charset="-122"/>
                <a:ea typeface="微软雅黑" panose="020B0503020204020204" pitchFamily="34" charset="-122"/>
              </a:rPr>
              <a:t>就</a:t>
            </a:r>
            <a:r>
              <a:rPr sz="2400" smtClean="0">
                <a:solidFill>
                  <a:srgbClr val="002060"/>
                </a:solidFill>
                <a:latin typeface="微软雅黑" panose="020B0503020204020204" pitchFamily="34" charset="-122"/>
                <a:ea typeface="微软雅黑" panose="020B0503020204020204" pitchFamily="34" charset="-122"/>
              </a:rPr>
              <a:t>会</a:t>
            </a:r>
            <a:r>
              <a:rPr sz="2400" dirty="0">
                <a:solidFill>
                  <a:srgbClr val="002060"/>
                </a:solidFill>
                <a:latin typeface="微软雅黑" panose="020B0503020204020204" pitchFamily="34" charset="-122"/>
                <a:ea typeface="微软雅黑" panose="020B0503020204020204" pitchFamily="34" charset="-122"/>
              </a:rPr>
              <a:t>“跑</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到银行提取</a:t>
            </a:r>
            <a:r>
              <a:rPr lang="zh-CN" altLang="en-US" sz="2400" smtClean="0">
                <a:solidFill>
                  <a:srgbClr val="002060"/>
                </a:solidFill>
                <a:latin typeface="微软雅黑" panose="020B0503020204020204" pitchFamily="34" charset="-122"/>
                <a:ea typeface="微软雅黑" panose="020B0503020204020204" pitchFamily="34" charset="-122"/>
              </a:rPr>
              <a:t>存款，这个现象叫做</a:t>
            </a:r>
            <a:r>
              <a:rPr lang="zh-CN" altLang="en-US" sz="2400" smtClean="0">
                <a:solidFill>
                  <a:srgbClr val="FF0000"/>
                </a:solidFill>
                <a:latin typeface="微软雅黑" panose="020B0503020204020204" pitchFamily="34" charset="-122"/>
                <a:ea typeface="微软雅黑" panose="020B0503020204020204" pitchFamily="34" charset="-122"/>
              </a:rPr>
              <a:t>“挤兑银行”</a:t>
            </a:r>
            <a:r>
              <a:rPr sz="2400" smtClean="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rPr>
              <a:t>在部分准备金</a:t>
            </a:r>
            <a:r>
              <a:rPr lang="zh-CN" sz="2400" dirty="0">
                <a:solidFill>
                  <a:srgbClr val="002060"/>
                </a:solidFill>
                <a:latin typeface="微软雅黑" panose="020B0503020204020204" pitchFamily="34" charset="-122"/>
                <a:ea typeface="微软雅黑" panose="020B0503020204020204" pitchFamily="34" charset="-122"/>
              </a:rPr>
              <a:t>制度</a:t>
            </a:r>
            <a:r>
              <a:rPr sz="2400" dirty="0">
                <a:solidFill>
                  <a:srgbClr val="002060"/>
                </a:solidFill>
                <a:latin typeface="微软雅黑" panose="020B0503020204020204" pitchFamily="34" charset="-122"/>
                <a:ea typeface="微软雅黑" panose="020B0503020204020204" pitchFamily="34" charset="-122"/>
              </a:rPr>
              <a:t>下</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银行没有足够的</a:t>
            </a:r>
            <a:r>
              <a:rPr lang="zh-CN" altLang="en-US" sz="2400" smtClean="0">
                <a:solidFill>
                  <a:srgbClr val="002060"/>
                </a:solidFill>
                <a:latin typeface="微软雅黑" panose="020B0503020204020204" pitchFamily="34" charset="-122"/>
                <a:ea typeface="微软雅黑" panose="020B0503020204020204" pitchFamily="34" charset="-122"/>
              </a:rPr>
              <a:t>资金</a:t>
            </a:r>
            <a:r>
              <a:rPr sz="2400" smtClean="0">
                <a:solidFill>
                  <a:srgbClr val="002060"/>
                </a:solidFill>
                <a:latin typeface="微软雅黑" panose="020B0503020204020204" pitchFamily="34" charset="-122"/>
                <a:ea typeface="微软雅黑" panose="020B0503020204020204" pitchFamily="34" charset="-122"/>
              </a:rPr>
              <a:t>来偿还所有储户</a:t>
            </a:r>
            <a:r>
              <a:rPr lang="zh-CN" altLang="en-US" sz="2400" smtClean="0">
                <a:solidFill>
                  <a:srgbClr val="002060"/>
                </a:solidFill>
                <a:latin typeface="微软雅黑" panose="020B0503020204020204" pitchFamily="34" charset="-122"/>
                <a:ea typeface="微软雅黑" panose="020B0503020204020204" pitchFamily="34" charset="-122"/>
              </a:rPr>
              <a:t>的存款债务</a:t>
            </a:r>
            <a:r>
              <a:rPr sz="2400" smtClean="0">
                <a:solidFill>
                  <a:srgbClr val="002060"/>
                </a:solidFill>
                <a:latin typeface="微软雅黑" panose="020B0503020204020204" pitchFamily="34" charset="-122"/>
                <a:ea typeface="微软雅黑" panose="020B0503020204020204" pitchFamily="34" charset="-122"/>
              </a:rPr>
              <a:t>，</a:t>
            </a:r>
            <a:r>
              <a:rPr sz="2400" dirty="0">
                <a:solidFill>
                  <a:srgbClr val="002060"/>
                </a:solidFill>
                <a:latin typeface="微软雅黑" panose="020B0503020204020204" pitchFamily="34" charset="-122"/>
                <a:ea typeface="微软雅黑" panose="020B0503020204020204" pitchFamily="34" charset="-122"/>
              </a:rPr>
              <a:t>因此银行可能不得不</a:t>
            </a:r>
            <a:r>
              <a:rPr lang="zh-CN" sz="2400" dirty="0">
                <a:solidFill>
                  <a:srgbClr val="002060"/>
                </a:solidFill>
                <a:latin typeface="微软雅黑" panose="020B0503020204020204" pitchFamily="34" charset="-122"/>
                <a:ea typeface="微软雅黑" panose="020B0503020204020204" pitchFamily="34" charset="-122"/>
              </a:rPr>
              <a:t>关门</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800100" lvl="1" indent="-342900">
              <a:lnSpc>
                <a:spcPts val="3800"/>
              </a:lnSpc>
              <a:buFont typeface="Wingdings" panose="05000000000000000000" pitchFamily="2" charset="2"/>
              <a:buChar char="ü"/>
            </a:pPr>
            <a:r>
              <a:rPr lang="zh-CN" altLang="en-US" sz="2400" smtClean="0">
                <a:solidFill>
                  <a:srgbClr val="002060"/>
                </a:solidFill>
                <a:latin typeface="微软雅黑" panose="020B0503020204020204" pitchFamily="34" charset="-122"/>
                <a:ea typeface="微软雅黑" panose="020B0503020204020204" pitchFamily="34" charset="-122"/>
              </a:rPr>
              <a:t>为了应对这种情况</a:t>
            </a:r>
            <a:r>
              <a:rPr sz="2400" smtClean="0">
                <a:solidFill>
                  <a:srgbClr val="002060"/>
                </a:solidFill>
                <a:latin typeface="微软雅黑" panose="020B0503020204020204" pitchFamily="34" charset="-122"/>
                <a:ea typeface="微软雅黑" panose="020B0503020204020204" pitchFamily="34" charset="-122"/>
              </a:rPr>
              <a:t>，银行可能会减少贷款并持有更多准备金以满足储户的</a:t>
            </a:r>
            <a:r>
              <a:rPr lang="zh-CN" altLang="en-US" sz="2400" smtClean="0">
                <a:solidFill>
                  <a:srgbClr val="002060"/>
                </a:solidFill>
                <a:latin typeface="微软雅黑" panose="020B0503020204020204" pitchFamily="34" charset="-122"/>
                <a:ea typeface="微软雅黑" panose="020B0503020204020204" pitchFamily="34" charset="-122"/>
              </a:rPr>
              <a:t>提取</a:t>
            </a:r>
            <a:r>
              <a:rPr sz="2400" smtClean="0">
                <a:solidFill>
                  <a:srgbClr val="002060"/>
                </a:solidFill>
                <a:latin typeface="微软雅黑" panose="020B0503020204020204" pitchFamily="34" charset="-122"/>
                <a:ea typeface="微软雅黑" panose="020B0503020204020204" pitchFamily="34" charset="-122"/>
              </a:rPr>
              <a:t>需求。</a:t>
            </a:r>
            <a:r>
              <a:rPr lang="zh-CN" altLang="en-US" sz="2400" smtClean="0">
                <a:solidFill>
                  <a:srgbClr val="002060"/>
                </a:solidFill>
                <a:latin typeface="微软雅黑" panose="020B0503020204020204" pitchFamily="34" charset="-122"/>
                <a:ea typeface="微软雅黑" panose="020B0503020204020204" pitchFamily="34" charset="-122"/>
              </a:rPr>
              <a:t>从而</a:t>
            </a:r>
            <a:r>
              <a:rPr sz="2400" smtClean="0">
                <a:solidFill>
                  <a:srgbClr val="002060"/>
                </a:solidFill>
                <a:latin typeface="微软雅黑" panose="020B0503020204020204" pitchFamily="34" charset="-122"/>
                <a:ea typeface="微软雅黑" panose="020B0503020204020204" pitchFamily="34" charset="-122"/>
              </a:rPr>
              <a:t>增加了 </a:t>
            </a:r>
            <a:r>
              <a:rPr sz="2400" dirty="0">
                <a:solidFill>
                  <a:srgbClr val="002060"/>
                </a:solidFill>
                <a:latin typeface="微软雅黑" panose="020B0503020204020204" pitchFamily="34" charset="-122"/>
                <a:ea typeface="微软雅黑" panose="020B0503020204020204" pitchFamily="34" charset="-122"/>
              </a:rPr>
              <a:t>R，逆转了货币创造的过程，导致货币供应量下降。 </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pic>
        <p:nvPicPr>
          <p:cNvPr id="2050" name="Picture 2" descr="I:\BOBO Z\哈工大\JPG\2020\7月\0707-ppt\素材01\logo-VI系统0630-PPT-24.jpg"/>
          <p:cNvPicPr>
            <a:picLocks noChangeArrowheads="1"/>
          </p:cNvPicPr>
          <p:nvPr/>
        </p:nvPicPr>
        <p:blipFill>
          <a:blip r:embed="rId2" cstate="print"/>
          <a:srcRect t="-37500" b="-37500"/>
          <a:stretch>
            <a:fillRect/>
          </a:stretch>
        </p:blipFill>
        <p:spPr bwMode="auto">
          <a:xfrm flipV="1">
            <a:off x="332711" y="994946"/>
            <a:ext cx="3960000" cy="36000"/>
          </a:xfrm>
          <a:prstGeom prst="rect">
            <a:avLst/>
          </a:prstGeom>
          <a:noFill/>
        </p:spPr>
      </p:pic>
      <p:sp>
        <p:nvSpPr>
          <p:cNvPr id="4" name="TextBox 16"/>
          <p:cNvSpPr txBox="1"/>
          <p:nvPr/>
        </p:nvSpPr>
        <p:spPr>
          <a:xfrm>
            <a:off x="202565" y="1171575"/>
            <a:ext cx="8611235" cy="4524315"/>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sz="2400" smtClean="0">
                <a:solidFill>
                  <a:srgbClr val="002060"/>
                </a:solidFill>
                <a:latin typeface="微软雅黑" panose="020B0503020204020204" pitchFamily="34" charset="-122"/>
                <a:ea typeface="微软雅黑" panose="020B0503020204020204" pitchFamily="34" charset="-122"/>
              </a:rPr>
              <a:t>1929 </a:t>
            </a:r>
            <a:r>
              <a:rPr sz="2400" dirty="0">
                <a:solidFill>
                  <a:srgbClr val="002060"/>
                </a:solidFill>
                <a:latin typeface="微软雅黑" panose="020B0503020204020204" pitchFamily="34" charset="-122"/>
                <a:ea typeface="微软雅黑" panose="020B0503020204020204" pitchFamily="34" charset="-122"/>
              </a:rPr>
              <a:t>年至 </a:t>
            </a:r>
            <a:r>
              <a:rPr sz="2400">
                <a:solidFill>
                  <a:srgbClr val="002060"/>
                </a:solidFill>
                <a:latin typeface="微软雅黑" panose="020B0503020204020204" pitchFamily="34" charset="-122"/>
                <a:ea typeface="微软雅黑" panose="020B0503020204020204" pitchFamily="34" charset="-122"/>
              </a:rPr>
              <a:t>1933 </a:t>
            </a:r>
            <a:r>
              <a:rPr sz="2400" smtClean="0">
                <a:solidFill>
                  <a:srgbClr val="002060"/>
                </a:solidFill>
                <a:latin typeface="微软雅黑" panose="020B0503020204020204" pitchFamily="34" charset="-122"/>
                <a:ea typeface="微软雅黑" panose="020B0503020204020204" pitchFamily="34" charset="-122"/>
              </a:rPr>
              <a:t>年</a:t>
            </a:r>
            <a:r>
              <a:rPr lang="zh-CN" altLang="en-US" sz="2400" smtClean="0">
                <a:solidFill>
                  <a:srgbClr val="002060"/>
                </a:solidFill>
                <a:latin typeface="微软雅黑" panose="020B0503020204020204" pitchFamily="34" charset="-122"/>
                <a:ea typeface="微软雅黑" panose="020B0503020204020204" pitchFamily="34" charset="-122"/>
              </a:rPr>
              <a:t>资本主义世界大萧条</a:t>
            </a:r>
            <a:r>
              <a:rPr sz="2400" smtClean="0">
                <a:solidFill>
                  <a:srgbClr val="002060"/>
                </a:solidFill>
                <a:latin typeface="微软雅黑" panose="020B0503020204020204" pitchFamily="34" charset="-122"/>
                <a:ea typeface="微软雅黑" panose="020B0503020204020204" pitchFamily="34" charset="-122"/>
              </a:rPr>
              <a:t>期间</a:t>
            </a:r>
            <a:r>
              <a:rPr sz="2400">
                <a:solidFill>
                  <a:srgbClr val="002060"/>
                </a:solidFill>
                <a:latin typeface="微软雅黑" panose="020B0503020204020204" pitchFamily="34" charset="-122"/>
                <a:ea typeface="微软雅黑" panose="020B0503020204020204" pitchFamily="34" charset="-122"/>
              </a:rPr>
              <a:t>，</a:t>
            </a:r>
            <a:r>
              <a:rPr sz="2400" smtClean="0">
                <a:solidFill>
                  <a:srgbClr val="002060"/>
                </a:solidFill>
                <a:latin typeface="微软雅黑" panose="020B0503020204020204" pitchFamily="34" charset="-122"/>
                <a:ea typeface="微软雅黑" panose="020B0503020204020204" pitchFamily="34" charset="-122"/>
              </a:rPr>
              <a:t>一波</a:t>
            </a:r>
            <a:r>
              <a:rPr lang="zh-CN" altLang="en-US" sz="2400" smtClean="0">
                <a:solidFill>
                  <a:srgbClr val="002060"/>
                </a:solidFill>
                <a:latin typeface="微软雅黑" panose="020B0503020204020204" pitchFamily="34" charset="-122"/>
                <a:ea typeface="微软雅黑" panose="020B0503020204020204" pitchFamily="34" charset="-122"/>
              </a:rPr>
              <a:t>波</a:t>
            </a:r>
            <a:r>
              <a:rPr sz="2400" smtClean="0">
                <a:solidFill>
                  <a:srgbClr val="002060"/>
                </a:solidFill>
                <a:latin typeface="微软雅黑" panose="020B0503020204020204" pitchFamily="34" charset="-122"/>
                <a:ea typeface="微软雅黑" panose="020B0503020204020204" pitchFamily="34" charset="-122"/>
              </a:rPr>
              <a:t>银行挤兑和银行</a:t>
            </a:r>
            <a:r>
              <a:rPr lang="zh-CN" sz="2400" dirty="0">
                <a:solidFill>
                  <a:srgbClr val="002060"/>
                </a:solidFill>
                <a:latin typeface="微软雅黑" panose="020B0503020204020204" pitchFamily="34" charset="-122"/>
                <a:ea typeface="微软雅黑" panose="020B0503020204020204" pitchFamily="34" charset="-122"/>
              </a:rPr>
              <a:t>倒闭</a:t>
            </a:r>
            <a:r>
              <a:rPr sz="2400">
                <a:solidFill>
                  <a:srgbClr val="002060"/>
                </a:solidFill>
                <a:latin typeface="微软雅黑" panose="020B0503020204020204" pitchFamily="34" charset="-122"/>
                <a:ea typeface="微软雅黑" panose="020B0503020204020204" pitchFamily="34" charset="-122"/>
              </a:rPr>
              <a:t>导致货币供应量下降</a:t>
            </a:r>
            <a:r>
              <a:rPr lang="zh-CN" sz="2400" smtClean="0">
                <a:solidFill>
                  <a:srgbClr val="002060"/>
                </a:solidFill>
                <a:latin typeface="微软雅黑" panose="020B0503020204020204" pitchFamily="34" charset="-122"/>
                <a:ea typeface="微软雅黑" panose="020B0503020204020204" pitchFamily="34" charset="-122"/>
              </a:rPr>
              <a:t>了</a:t>
            </a:r>
            <a:r>
              <a:rPr lang="zh-CN" altLang="en-US" sz="2400" smtClean="0">
                <a:solidFill>
                  <a:srgbClr val="002060"/>
                </a:solidFill>
                <a:latin typeface="微软雅黑" panose="020B0503020204020204" pitchFamily="34" charset="-122"/>
                <a:ea typeface="微软雅黑" panose="020B0503020204020204" pitchFamily="34" charset="-122"/>
              </a:rPr>
              <a:t>很多</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金融系统的崩溃进一步导致了</a:t>
            </a:r>
            <a:r>
              <a:rPr sz="2400" smtClean="0">
                <a:solidFill>
                  <a:srgbClr val="002060"/>
                </a:solidFill>
                <a:latin typeface="微软雅黑" panose="020B0503020204020204" pitchFamily="34" charset="-122"/>
                <a:ea typeface="微软雅黑" panose="020B0503020204020204" pitchFamily="34" charset="-122"/>
              </a:rPr>
              <a:t>大萧条的严重性</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sz="2400">
                <a:solidFill>
                  <a:srgbClr val="002060"/>
                </a:solidFill>
                <a:latin typeface="微软雅黑" panose="020B0503020204020204" pitchFamily="34" charset="-122"/>
                <a:ea typeface="微软雅黑" panose="020B0503020204020204" pitchFamily="34" charset="-122"/>
              </a:rPr>
              <a:t>从那以后</a:t>
            </a:r>
            <a:r>
              <a:rPr lang="zh-CN" altLang="en-US" sz="2400">
                <a:solidFill>
                  <a:srgbClr val="002060"/>
                </a:solidFill>
                <a:latin typeface="微软雅黑" panose="020B0503020204020204" pitchFamily="34" charset="-122"/>
                <a:ea typeface="微软雅黑" panose="020B0503020204020204" pitchFamily="34" charset="-122"/>
              </a:rPr>
              <a:t>（从</a:t>
            </a:r>
            <a:r>
              <a:rPr lang="en-US" altLang="zh-CN" sz="2400">
                <a:solidFill>
                  <a:srgbClr val="002060"/>
                </a:solidFill>
                <a:latin typeface="微软雅黑" panose="020B0503020204020204" pitchFamily="34" charset="-122"/>
                <a:ea typeface="微软雅黑" panose="020B0503020204020204" pitchFamily="34" charset="-122"/>
              </a:rPr>
              <a:t>1934</a:t>
            </a:r>
            <a:r>
              <a:rPr lang="zh-CN" altLang="en-US" sz="2400">
                <a:solidFill>
                  <a:srgbClr val="002060"/>
                </a:solidFill>
                <a:latin typeface="微软雅黑" panose="020B0503020204020204" pitchFamily="34" charset="-122"/>
                <a:ea typeface="微软雅黑" panose="020B0503020204020204" pitchFamily="34" charset="-122"/>
              </a:rPr>
              <a:t>年</a:t>
            </a:r>
            <a:r>
              <a:rPr lang="en-US" altLang="zh-CN" sz="2400">
                <a:solidFill>
                  <a:srgbClr val="002060"/>
                </a:solidFill>
                <a:latin typeface="微软雅黑" panose="020B0503020204020204" pitchFamily="34" charset="-122"/>
                <a:ea typeface="微软雅黑" panose="020B0503020204020204" pitchFamily="34" charset="-122"/>
              </a:rPr>
              <a:t>1</a:t>
            </a:r>
            <a:r>
              <a:rPr lang="zh-CN" altLang="en-US" sz="2400">
                <a:solidFill>
                  <a:srgbClr val="002060"/>
                </a:solidFill>
                <a:latin typeface="微软雅黑" panose="020B0503020204020204" pitchFamily="34" charset="-122"/>
                <a:ea typeface="微软雅黑" panose="020B0503020204020204" pitchFamily="34" charset="-122"/>
              </a:rPr>
              <a:t>月</a:t>
            </a:r>
            <a:r>
              <a:rPr lang="en-US" altLang="zh-CN" sz="2400">
                <a:solidFill>
                  <a:srgbClr val="002060"/>
                </a:solidFill>
                <a:latin typeface="微软雅黑" panose="020B0503020204020204" pitchFamily="34" charset="-122"/>
                <a:ea typeface="微软雅黑" panose="020B0503020204020204" pitchFamily="34" charset="-122"/>
              </a:rPr>
              <a:t>1</a:t>
            </a:r>
            <a:r>
              <a:rPr lang="zh-CN" altLang="en-US" sz="2400">
                <a:solidFill>
                  <a:srgbClr val="002060"/>
                </a:solidFill>
                <a:latin typeface="微软雅黑" panose="020B0503020204020204" pitchFamily="34" charset="-122"/>
                <a:ea typeface="微软雅黑" panose="020B0503020204020204" pitchFamily="34" charset="-122"/>
              </a:rPr>
              <a:t>日起）</a:t>
            </a:r>
            <a:r>
              <a:rPr sz="2400" smtClean="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美国的</a:t>
            </a:r>
            <a:r>
              <a:rPr sz="2400" smtClean="0">
                <a:solidFill>
                  <a:srgbClr val="FF0000"/>
                </a:solidFill>
                <a:latin typeface="微软雅黑" panose="020B0503020204020204" pitchFamily="34" charset="-122"/>
                <a:ea typeface="微软雅黑" panose="020B0503020204020204" pitchFamily="34" charset="-122"/>
              </a:rPr>
              <a:t>联邦存款保险</a:t>
            </a:r>
            <a:r>
              <a:rPr lang="zh-CN" altLang="en-US" sz="2400" smtClean="0">
                <a:solidFill>
                  <a:srgbClr val="FF0000"/>
                </a:solidFill>
                <a:latin typeface="微软雅黑" panose="020B0503020204020204" pitchFamily="34" charset="-122"/>
                <a:ea typeface="微软雅黑" panose="020B0503020204020204" pitchFamily="34" charset="-122"/>
              </a:rPr>
              <a:t>制度</a:t>
            </a:r>
            <a:r>
              <a:rPr lang="zh-CN" sz="2400" smtClean="0">
                <a:solidFill>
                  <a:srgbClr val="002060"/>
                </a:solidFill>
                <a:latin typeface="微软雅黑" panose="020B0503020204020204" pitchFamily="34" charset="-122"/>
                <a:ea typeface="微软雅黑" panose="020B0503020204020204" pitchFamily="34" charset="-122"/>
              </a:rPr>
              <a:t>有效</a:t>
            </a:r>
            <a:r>
              <a:rPr sz="2400" smtClean="0">
                <a:solidFill>
                  <a:srgbClr val="002060"/>
                </a:solidFill>
                <a:latin typeface="微软雅黑" panose="020B0503020204020204" pitchFamily="34" charset="-122"/>
                <a:ea typeface="微软雅黑" panose="020B0503020204020204" pitchFamily="34" charset="-122"/>
              </a:rPr>
              <a:t>防止了银行挤兑</a:t>
            </a:r>
            <a:r>
              <a:rPr sz="2400" dirty="0">
                <a:solidFill>
                  <a:srgbClr val="002060"/>
                </a:solidFill>
                <a:latin typeface="微软雅黑" panose="020B0503020204020204" pitchFamily="34" charset="-122"/>
                <a:ea typeface="微软雅黑" panose="020B0503020204020204" pitchFamily="34" charset="-122"/>
              </a:rPr>
              <a:t>。</a:t>
            </a:r>
            <a:endParaRPr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sz="2400" dirty="0">
                <a:solidFill>
                  <a:srgbClr val="002060"/>
                </a:solidFill>
                <a:latin typeface="微软雅黑" panose="020B0503020204020204" pitchFamily="34" charset="-122"/>
                <a:ea typeface="微软雅黑" panose="020B0503020204020204" pitchFamily="34" charset="-122"/>
                <a:sym typeface="+mn-ea"/>
              </a:rPr>
              <a:t>2015年5月1日起，存款保险制度在</a:t>
            </a:r>
            <a:r>
              <a:rPr sz="2400" dirty="0">
                <a:solidFill>
                  <a:srgbClr val="FF0000"/>
                </a:solidFill>
                <a:latin typeface="微软雅黑" panose="020B0503020204020204" pitchFamily="34" charset="-122"/>
                <a:ea typeface="微软雅黑" panose="020B0503020204020204" pitchFamily="34" charset="-122"/>
                <a:sym typeface="+mn-ea"/>
              </a:rPr>
              <a:t>中国</a:t>
            </a:r>
            <a:r>
              <a:rPr sz="2400" dirty="0">
                <a:solidFill>
                  <a:srgbClr val="002060"/>
                </a:solidFill>
                <a:latin typeface="微软雅黑" panose="020B0503020204020204" pitchFamily="34" charset="-122"/>
                <a:ea typeface="微软雅黑" panose="020B0503020204020204" pitchFamily="34" charset="-122"/>
                <a:sym typeface="+mn-ea"/>
              </a:rPr>
              <a:t>正式实施，各家银行向保险机构统一缴纳保险费，一旦银行出现危机，保险机构将对存款人提供最高50</a:t>
            </a:r>
            <a:r>
              <a:rPr sz="2400">
                <a:solidFill>
                  <a:srgbClr val="002060"/>
                </a:solidFill>
                <a:latin typeface="微软雅黑" panose="020B0503020204020204" pitchFamily="34" charset="-122"/>
                <a:ea typeface="微软雅黑" panose="020B0503020204020204" pitchFamily="34" charset="-122"/>
                <a:sym typeface="+mn-ea"/>
              </a:rPr>
              <a:t>万元的赔付额</a:t>
            </a:r>
            <a:r>
              <a:rPr sz="2400" smtClean="0">
                <a:solidFill>
                  <a:srgbClr val="002060"/>
                </a:solidFill>
                <a:latin typeface="微软雅黑" panose="020B0503020204020204" pitchFamily="34" charset="-122"/>
                <a:ea typeface="微软雅黑" panose="020B0503020204020204" pitchFamily="34" charset="-122"/>
                <a:sym typeface="+mn-ea"/>
              </a:rPr>
              <a:t>。</a:t>
            </a:r>
            <a:endParaRPr sz="2400" dirty="0">
              <a:solidFill>
                <a:srgbClr val="002060"/>
              </a:solidFill>
              <a:latin typeface="微软雅黑" panose="020B0503020204020204" pitchFamily="34" charset="-122"/>
              <a:ea typeface="微软雅黑" panose="020B0503020204020204" pitchFamily="34" charset="-122"/>
            </a:endParaRPr>
          </a:p>
        </p:txBody>
      </p:sp>
      <p:pic>
        <p:nvPicPr>
          <p:cNvPr id="6" name="图片 5" descr="logo-VI系统0630-PPT-12.png"/>
          <p:cNvPicPr>
            <a:picLocks noChangeAspect="1"/>
          </p:cNvPicPr>
          <p:nvPr/>
        </p:nvPicPr>
        <p:blipFill>
          <a:blip r:embed="rId3" cstate="print"/>
          <a:stretch>
            <a:fillRect/>
          </a:stretch>
        </p:blipFill>
        <p:spPr>
          <a:xfrm>
            <a:off x="433281" y="6286520"/>
            <a:ext cx="1495513" cy="288536"/>
          </a:xfrm>
          <a:prstGeom prst="rect">
            <a:avLst/>
          </a:prstGeom>
        </p:spPr>
      </p:pic>
      <p:sp>
        <p:nvSpPr>
          <p:cNvPr id="7" name="矩形 6"/>
          <p:cNvSpPr/>
          <p:nvPr/>
        </p:nvSpPr>
        <p:spPr>
          <a:xfrm>
            <a:off x="332740" y="299720"/>
            <a:ext cx="7133590" cy="583565"/>
          </a:xfrm>
          <a:prstGeom prst="rect">
            <a:avLst/>
          </a:prstGeom>
        </p:spPr>
        <p:txBody>
          <a:bodyPr wrap="square">
            <a:spAutoFit/>
          </a:bodyPr>
          <a:lstStyle/>
          <a:p>
            <a:r>
              <a:rPr lang="zh-CN" sz="3200" dirty="0">
                <a:solidFill>
                  <a:srgbClr val="002060"/>
                </a:solidFill>
                <a:latin typeface="华光中雅_CNKI" panose="02000500000000000000" pitchFamily="2" charset="-122"/>
                <a:ea typeface="华光中雅_CNKI" panose="02000500000000000000" pitchFamily="2" charset="-122"/>
              </a:rPr>
              <a:t>中央银行</a:t>
            </a:r>
            <a:r>
              <a:rPr lang="zh-CN" sz="320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货币工具</a:t>
            </a:r>
            <a:endParaRPr lang="zh-CN"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09272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r>
              <a:rPr lang="zh-CN" altLang="en-US" sz="2400" smtClean="0">
                <a:solidFill>
                  <a:schemeClr val="bg1"/>
                </a:solidFill>
                <a:latin typeface="华光中雅_CNKI" panose="02000500000000000000" pitchFamily="2" charset="-122"/>
                <a:ea typeface="华光中雅_CNKI" panose="02000500000000000000" pitchFamily="2" charset="-122"/>
              </a:rPr>
              <a:t>）</a:t>
            </a:r>
            <a:endParaRPr lang="en-US" altLang="zh-CN" sz="2400" smtClean="0">
              <a:solidFill>
                <a:schemeClr val="bg1"/>
              </a:solidFill>
              <a:latin typeface="华光中雅_CNKI" panose="02000500000000000000" pitchFamily="2" charset="-122"/>
              <a:ea typeface="华光中雅_CNKI" panose="02000500000000000000" pitchFamily="2" charset="-122"/>
            </a:endParaRPr>
          </a:p>
          <a:p>
            <a:r>
              <a:rPr lang="zh-CN" altLang="en-US" sz="2400" smtClean="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325666" y="2226922"/>
            <a:ext cx="4828566" cy="830997"/>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B》</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016926" y="3264142"/>
            <a:ext cx="7110260" cy="706755"/>
          </a:xfrm>
          <a:prstGeom prst="rect">
            <a:avLst/>
          </a:prstGeom>
          <a:noFill/>
        </p:spPr>
        <p:txBody>
          <a:bodyPr wrap="square" rtlCol="0">
            <a:spAutoFit/>
          </a:bodyPr>
          <a:lstStyle/>
          <a:p>
            <a:r>
              <a:rPr lang="zh-CN" altLang="en-US" sz="4000" b="1" smtClean="0">
                <a:solidFill>
                  <a:schemeClr val="bg1"/>
                </a:solidFill>
                <a:latin typeface="华光中雅_CNKI" panose="02000500000000000000" pitchFamily="2" charset="-122"/>
                <a:ea typeface="华光中雅_CNKI" panose="02000500000000000000" pitchFamily="2" charset="-122"/>
              </a:rPr>
              <a:t>下一章</a:t>
            </a:r>
            <a:r>
              <a:rPr lang="zh-CN" altLang="en-US" sz="4000" b="1" dirty="0">
                <a:solidFill>
                  <a:schemeClr val="bg1"/>
                </a:solidFill>
                <a:latin typeface="华光中雅_CNKI" panose="02000500000000000000" pitchFamily="2" charset="-122"/>
                <a:ea typeface="华光中雅_CNKI" panose="02000500000000000000" pitchFamily="2" charset="-122"/>
              </a:rPr>
              <a:t>：货币增长与通货膨胀</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tags/tag1.xml><?xml version="1.0" encoding="utf-8"?>
<p:tagLst xmlns:p="http://schemas.openxmlformats.org/presentationml/2006/main">
  <p:tag name="KSO_WM_UNIT_TABLE_BEAUTIFY" val="smartTable{bb60ea77-855c-45e7-921c-dae8b8539cea}"/>
</p:tagLst>
</file>

<file path=ppt/tags/tag2.xml><?xml version="1.0" encoding="utf-8"?>
<p:tagLst xmlns:p="http://schemas.openxmlformats.org/presentationml/2006/main">
  <p:tag name="KSO_WM_UNIT_TABLE_BEAUTIFY" val="smartTable{bb60ea77-855c-45e7-921c-dae8b8539cea}"/>
</p:tagLst>
</file>

<file path=ppt/tags/tag3.xml><?xml version="1.0" encoding="utf-8"?>
<p:tagLst xmlns:p="http://schemas.openxmlformats.org/presentationml/2006/main">
  <p:tag name="KSO_WM_UNIT_TABLE_BEAUTIFY" val="smartTable{bb60ea77-855c-45e7-921c-dae8b8539cea}"/>
</p:tagLst>
</file>

<file path=ppt/tags/tag4.xml><?xml version="1.0" encoding="utf-8"?>
<p:tagLst xmlns:p="http://schemas.openxmlformats.org/presentationml/2006/main">
  <p:tag name="KSO_WM_UNIT_TABLE_BEAUTIFY" val="smartTable{bb60ea77-855c-45e7-921c-dae8b8539cea}"/>
</p:tagLst>
</file>

<file path=ppt/tags/tag5.xml><?xml version="1.0" encoding="utf-8"?>
<p:tagLst xmlns:p="http://schemas.openxmlformats.org/presentationml/2006/main">
  <p:tag name="KSO_WM_UNIT_TABLE_BEAUTIFY" val="smartTable{bb60ea77-855c-45e7-921c-dae8b8539cea}"/>
</p:tagLst>
</file>

<file path=ppt/tags/tag6.xml><?xml version="1.0" encoding="utf-8"?>
<p:tagLst xmlns:p="http://schemas.openxmlformats.org/presentationml/2006/main">
  <p:tag name="KSO_WM_UNIT_TABLE_BEAUTIFY" val="smartTable{bcec0503-0722-4c64-a546-5631ebd805d3}"/>
</p:tagLst>
</file>

<file path=ppt/tags/tag7.xml><?xml version="1.0" encoding="utf-8"?>
<p:tagLst xmlns:p="http://schemas.openxmlformats.org/presentationml/2006/main">
  <p:tag name="KSO_WM_UNIT_TABLE_BEAUTIFY" val="smartTable{becd5d54-f0d2-42da-b190-584caea097e9}"/>
</p:tagLst>
</file>

<file path=ppt/tags/tag8.xml><?xml version="1.0" encoding="utf-8"?>
<p:tagLst xmlns:p="http://schemas.openxmlformats.org/presentationml/2006/main">
  <p:tag name="KSO_WM_UNIT_TABLE_BEAUTIFY" val="smartTable{becd5d54-f0d2-42da-b190-584caea097e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5992</Words>
  <Application>WPS 演示</Application>
  <PresentationFormat>全屏显示(4:3)</PresentationFormat>
  <Paragraphs>489</Paragraphs>
  <Slides>42</Slides>
  <Notes>37</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42</vt:i4>
      </vt:variant>
    </vt:vector>
  </HeadingPairs>
  <TitlesOfParts>
    <vt:vector size="62" baseType="lpstr">
      <vt:lpstr>Arial</vt:lpstr>
      <vt:lpstr>宋体</vt:lpstr>
      <vt:lpstr>Wingdings</vt:lpstr>
      <vt:lpstr>Times New Roman</vt:lpstr>
      <vt:lpstr>Verdana</vt:lpstr>
      <vt:lpstr>Arial</vt:lpstr>
      <vt:lpstr>Tahoma</vt:lpstr>
      <vt:lpstr>思源黑体 CN Bold</vt:lpstr>
      <vt:lpstr>黑体</vt:lpstr>
      <vt:lpstr>思源黑体 CN Regular</vt:lpstr>
      <vt:lpstr>思源黑体 CN Light</vt:lpstr>
      <vt:lpstr>华光中雅_CNKI</vt:lpstr>
      <vt:lpstr>微软雅黑</vt:lpstr>
      <vt:lpstr>思源黑体 CN Bold</vt:lpstr>
      <vt:lpstr>Arial Unicode MS</vt:lpstr>
      <vt:lpstr>Calibri</vt:lpstr>
      <vt:lpstr>Wingdings</vt:lpstr>
      <vt:lpstr>华光琥珀_CNKI</vt:lpstr>
      <vt:lpstr>Office Theme</vt:lpstr>
      <vt:lpstr>1_Office 主题</vt:lpstr>
      <vt:lpstr>PowerPoint 演示文稿</vt:lpstr>
      <vt:lpstr>本章回答如下问题</vt:lpstr>
      <vt:lpstr>货币的定义：</vt:lpstr>
      <vt:lpstr>PowerPoint 演示文稿</vt:lpstr>
      <vt:lpstr>PowerPoint 演示文稿</vt:lpstr>
      <vt:lpstr>PowerPoint 演示文稿</vt:lpstr>
      <vt:lpstr>PowerPoint 演示文稿</vt:lpstr>
      <vt:lpstr>PowerPoint 演示文稿</vt:lpstr>
      <vt:lpstr>PowerPoint 演示文稿</vt:lpstr>
      <vt:lpstr>中央银行</vt:lpstr>
      <vt:lpstr>PowerPoint 演示文稿</vt:lpstr>
      <vt:lpstr>PowerPoint 演示文稿</vt:lpstr>
      <vt:lpstr>PowerPoint 演示文稿</vt:lpstr>
      <vt:lpstr>货币供应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ASUS</dc:creator>
  <cp:lastModifiedBy>YZ</cp:lastModifiedBy>
  <cp:revision>311</cp:revision>
  <dcterms:created xsi:type="dcterms:W3CDTF">2021-08-07T09:21:00Z</dcterms:created>
  <dcterms:modified xsi:type="dcterms:W3CDTF">2025-12-13T12:52:24Z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512819F4FE8242C5B4CFC00136B8540A_12</vt:lpwstr>
  </property>
</Properties>
</file>