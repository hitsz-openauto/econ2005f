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drawings/drawing3.xml" ContentType="application/vnd.openxmlformats-officedocument.drawingml.chartshap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2"/>
  </p:handoutMasterIdLst>
  <p:sldIdLst>
    <p:sldId id="475" r:id="rId3"/>
    <p:sldId id="419" r:id="rId5"/>
    <p:sldId id="420" r:id="rId6"/>
    <p:sldId id="421" r:id="rId7"/>
    <p:sldId id="480" r:id="rId8"/>
    <p:sldId id="481" r:id="rId9"/>
    <p:sldId id="477" r:id="rId10"/>
    <p:sldId id="478" r:id="rId11"/>
    <p:sldId id="479" r:id="rId12"/>
    <p:sldId id="424" r:id="rId13"/>
    <p:sldId id="425" r:id="rId14"/>
    <p:sldId id="426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8" r:id="rId25"/>
    <p:sldId id="439" r:id="rId26"/>
    <p:sldId id="440" r:id="rId27"/>
    <p:sldId id="441" r:id="rId28"/>
    <p:sldId id="442" r:id="rId29"/>
    <p:sldId id="443" r:id="rId30"/>
    <p:sldId id="444" r:id="rId31"/>
    <p:sldId id="445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453" r:id="rId40"/>
    <p:sldId id="455" r:id="rId41"/>
    <p:sldId id="456" r:id="rId42"/>
    <p:sldId id="457" r:id="rId43"/>
    <p:sldId id="458" r:id="rId44"/>
    <p:sldId id="459" r:id="rId45"/>
    <p:sldId id="460" r:id="rId46"/>
    <p:sldId id="461" r:id="rId47"/>
    <p:sldId id="466" r:id="rId48"/>
    <p:sldId id="467" r:id="rId49"/>
    <p:sldId id="468" r:id="rId50"/>
    <p:sldId id="476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612"/>
    <a:srgbClr val="C99C00"/>
    <a:srgbClr val="006699"/>
    <a:srgbClr val="B3A2C7"/>
    <a:srgbClr val="CC9900"/>
    <a:srgbClr val="A3C167"/>
    <a:srgbClr val="800040"/>
    <a:srgbClr val="FFF5DB"/>
    <a:srgbClr val="E9DEA7"/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734" autoAdjust="0"/>
  </p:normalViewPr>
  <p:slideViewPr>
    <p:cSldViewPr snapToGrid="0" showGuides="1">
      <p:cViewPr varScale="1">
        <p:scale>
          <a:sx n="65" d="100"/>
          <a:sy n="65" d="100"/>
        </p:scale>
        <p:origin x="-1518" y="-114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8328"/>
    </p:cViewPr>
  </p:sorterViewPr>
  <p:notesViewPr>
    <p:cSldViewPr>
      <p:cViewPr>
        <p:scale>
          <a:sx n="143" d="100"/>
          <a:sy n="143" d="100"/>
        </p:scale>
        <p:origin x="-960" y="1056"/>
      </p:cViewPr>
      <p:guideLst>
        <p:guide orient="horz" pos="2804"/>
        <p:guide pos="217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2013PP\Fall%202013\Mankiw%20Principles\Excel%20work\Chapter%2033\Slide%206-7%20(Real%20GDP)%20with%20ressession%20bars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Sebastian\Desktop\2013PP\Fall%202013\Mankiw%20Principles\Excel%20work\Chapter%2033\Slide%208-9%20(Investment)%20with%20ressession%20bar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2013PP\Fall%202013\Mankiw%20Principles\Excel%20work\Chapter%2033\Slide%2010-11%20(Unemploment)%20with%20ressesion%20bars.xlsx" TargetMode="External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Administrator\Desktop\&#35838;&#31243;&#24314;&#35774;\&#23454;&#38469;GDP.xls" TargetMode="External"/></Relationships>
</file>

<file path=ppt/charts/_rels/chart5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Administrator\Desktop\&#35838;&#31243;&#24314;&#35774;\&#22266;&#25237;&#25237;&#36164;.xls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Administrator\Desktop\&#35838;&#31243;&#24314;&#35774;\&#22833;&#19994;&#29575;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398268660111"/>
          <c:y val="0.0391127153789268"/>
          <c:w val="0.832147200349956"/>
          <c:h val="0.856207325520576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Sheet1!$D$7</c:f>
              <c:strCache>
                <c:ptCount val="1"/>
                <c:pt idx="0">
                  <c:v>Recession</c:v>
                </c:pt>
              </c:strCache>
            </c:strRef>
          </c:tx>
          <c:spPr>
            <a:solidFill>
              <a:srgbClr val="FFCC99"/>
            </a:solidFill>
          </c:spPr>
          <c:invertIfNegative val="0"/>
          <c:dLbls>
            <c:delete val="1"/>
          </c:dLbls>
          <c:cat>
            <c:numRef>
              <c:f>Sheet1!$B$8:$B$202</c:f>
              <c:numCache>
                <c:formatCode>0.00</c:formatCode>
                <c:ptCount val="195"/>
                <c:pt idx="0" c:formatCode="0.00">
                  <c:v>1965</c:v>
                </c:pt>
                <c:pt idx="1" c:formatCode="0.00">
                  <c:v>1965.25</c:v>
                </c:pt>
                <c:pt idx="2" c:formatCode="0.00">
                  <c:v>1965.5</c:v>
                </c:pt>
                <c:pt idx="3" c:formatCode="0.00">
                  <c:v>1965.75</c:v>
                </c:pt>
                <c:pt idx="4" c:formatCode="0.00">
                  <c:v>1966</c:v>
                </c:pt>
                <c:pt idx="5" c:formatCode="0.00">
                  <c:v>1966.25</c:v>
                </c:pt>
                <c:pt idx="6" c:formatCode="0.00">
                  <c:v>1966.5</c:v>
                </c:pt>
                <c:pt idx="7" c:formatCode="0.00">
                  <c:v>1966.75</c:v>
                </c:pt>
                <c:pt idx="8" c:formatCode="0.00">
                  <c:v>1967</c:v>
                </c:pt>
                <c:pt idx="9" c:formatCode="0.00">
                  <c:v>1967.25</c:v>
                </c:pt>
                <c:pt idx="10" c:formatCode="0.00">
                  <c:v>1967.5</c:v>
                </c:pt>
                <c:pt idx="11" c:formatCode="0.00">
                  <c:v>1967.75</c:v>
                </c:pt>
                <c:pt idx="12" c:formatCode="0.00">
                  <c:v>1968</c:v>
                </c:pt>
                <c:pt idx="13" c:formatCode="0.00">
                  <c:v>1968.25</c:v>
                </c:pt>
                <c:pt idx="14" c:formatCode="0.00">
                  <c:v>1968.5</c:v>
                </c:pt>
                <c:pt idx="15" c:formatCode="0.00">
                  <c:v>1968.75</c:v>
                </c:pt>
                <c:pt idx="16" c:formatCode="0.00">
                  <c:v>1969</c:v>
                </c:pt>
                <c:pt idx="17" c:formatCode="0.00">
                  <c:v>1969.25</c:v>
                </c:pt>
                <c:pt idx="18" c:formatCode="0.00">
                  <c:v>1969.5</c:v>
                </c:pt>
                <c:pt idx="19" c:formatCode="0.00">
                  <c:v>1969.75</c:v>
                </c:pt>
                <c:pt idx="20" c:formatCode="0.00">
                  <c:v>1970</c:v>
                </c:pt>
                <c:pt idx="21" c:formatCode="0.00">
                  <c:v>1970.25</c:v>
                </c:pt>
                <c:pt idx="22" c:formatCode="0.00">
                  <c:v>1970.5</c:v>
                </c:pt>
                <c:pt idx="23" c:formatCode="0.00">
                  <c:v>1970.75</c:v>
                </c:pt>
                <c:pt idx="24" c:formatCode="0.00">
                  <c:v>1971</c:v>
                </c:pt>
                <c:pt idx="25" c:formatCode="0.00">
                  <c:v>1971.25</c:v>
                </c:pt>
                <c:pt idx="26" c:formatCode="0.00">
                  <c:v>1971.5</c:v>
                </c:pt>
                <c:pt idx="27" c:formatCode="0.00">
                  <c:v>1971.75</c:v>
                </c:pt>
                <c:pt idx="28" c:formatCode="0.00">
                  <c:v>1972</c:v>
                </c:pt>
                <c:pt idx="29" c:formatCode="0.00">
                  <c:v>1972.25</c:v>
                </c:pt>
                <c:pt idx="30" c:formatCode="0.00">
                  <c:v>1972.5</c:v>
                </c:pt>
                <c:pt idx="31" c:formatCode="0.00">
                  <c:v>1972.75</c:v>
                </c:pt>
                <c:pt idx="32" c:formatCode="0.00">
                  <c:v>1973</c:v>
                </c:pt>
                <c:pt idx="33" c:formatCode="0.00">
                  <c:v>1973.25</c:v>
                </c:pt>
                <c:pt idx="34" c:formatCode="0.00">
                  <c:v>1973.5</c:v>
                </c:pt>
                <c:pt idx="35" c:formatCode="0.00">
                  <c:v>1973.75</c:v>
                </c:pt>
                <c:pt idx="36" c:formatCode="0.00">
                  <c:v>1974</c:v>
                </c:pt>
                <c:pt idx="37" c:formatCode="0.00">
                  <c:v>1974.25</c:v>
                </c:pt>
                <c:pt idx="38" c:formatCode="0.00">
                  <c:v>1974.5</c:v>
                </c:pt>
                <c:pt idx="39" c:formatCode="0.00">
                  <c:v>1974.75</c:v>
                </c:pt>
                <c:pt idx="40" c:formatCode="0.00">
                  <c:v>1975</c:v>
                </c:pt>
                <c:pt idx="41" c:formatCode="0.00">
                  <c:v>1975.25</c:v>
                </c:pt>
                <c:pt idx="42" c:formatCode="0.00">
                  <c:v>1975.5</c:v>
                </c:pt>
                <c:pt idx="43" c:formatCode="0.00">
                  <c:v>1975.75</c:v>
                </c:pt>
                <c:pt idx="44" c:formatCode="0.00">
                  <c:v>1976</c:v>
                </c:pt>
                <c:pt idx="45" c:formatCode="0.00">
                  <c:v>1976.25</c:v>
                </c:pt>
                <c:pt idx="46" c:formatCode="0.00">
                  <c:v>1976.5</c:v>
                </c:pt>
                <c:pt idx="47" c:formatCode="0.00">
                  <c:v>1976.75</c:v>
                </c:pt>
                <c:pt idx="48" c:formatCode="0.00">
                  <c:v>1977</c:v>
                </c:pt>
                <c:pt idx="49" c:formatCode="0.00">
                  <c:v>1977.25</c:v>
                </c:pt>
                <c:pt idx="50" c:formatCode="0.00">
                  <c:v>1977.5</c:v>
                </c:pt>
                <c:pt idx="51" c:formatCode="0.00">
                  <c:v>1977.75</c:v>
                </c:pt>
                <c:pt idx="52" c:formatCode="0.00">
                  <c:v>1978</c:v>
                </c:pt>
                <c:pt idx="53" c:formatCode="0.00">
                  <c:v>1978.25</c:v>
                </c:pt>
                <c:pt idx="54" c:formatCode="0.00">
                  <c:v>1978.5</c:v>
                </c:pt>
                <c:pt idx="55" c:formatCode="0.00">
                  <c:v>1978.75</c:v>
                </c:pt>
                <c:pt idx="56" c:formatCode="0.00">
                  <c:v>1979</c:v>
                </c:pt>
                <c:pt idx="57" c:formatCode="0.00">
                  <c:v>1979.25</c:v>
                </c:pt>
                <c:pt idx="58" c:formatCode="0.00">
                  <c:v>1979.5</c:v>
                </c:pt>
                <c:pt idx="59" c:formatCode="0.00">
                  <c:v>1979.75</c:v>
                </c:pt>
                <c:pt idx="60" c:formatCode="0.00">
                  <c:v>1980</c:v>
                </c:pt>
                <c:pt idx="61" c:formatCode="0.00">
                  <c:v>1980.25</c:v>
                </c:pt>
                <c:pt idx="62" c:formatCode="0.00">
                  <c:v>1980.5</c:v>
                </c:pt>
                <c:pt idx="63" c:formatCode="0.00">
                  <c:v>1980.75</c:v>
                </c:pt>
                <c:pt idx="64" c:formatCode="0.00">
                  <c:v>1981</c:v>
                </c:pt>
                <c:pt idx="65" c:formatCode="0.00">
                  <c:v>1981.25</c:v>
                </c:pt>
                <c:pt idx="66" c:formatCode="0.00">
                  <c:v>1981.5</c:v>
                </c:pt>
                <c:pt idx="67" c:formatCode="0.00">
                  <c:v>1981.75</c:v>
                </c:pt>
                <c:pt idx="68" c:formatCode="0.00">
                  <c:v>1982</c:v>
                </c:pt>
                <c:pt idx="69" c:formatCode="0.00">
                  <c:v>1982.25</c:v>
                </c:pt>
                <c:pt idx="70" c:formatCode="0.00">
                  <c:v>1982.5</c:v>
                </c:pt>
                <c:pt idx="71" c:formatCode="0.00">
                  <c:v>1982.75</c:v>
                </c:pt>
                <c:pt idx="72" c:formatCode="0.00">
                  <c:v>1983</c:v>
                </c:pt>
                <c:pt idx="73" c:formatCode="0.00">
                  <c:v>1983.25</c:v>
                </c:pt>
                <c:pt idx="74" c:formatCode="0.00">
                  <c:v>1983.5</c:v>
                </c:pt>
                <c:pt idx="75" c:formatCode="0.00">
                  <c:v>1983.75</c:v>
                </c:pt>
                <c:pt idx="76" c:formatCode="0.00">
                  <c:v>1984</c:v>
                </c:pt>
                <c:pt idx="77" c:formatCode="0.00">
                  <c:v>1984.25</c:v>
                </c:pt>
                <c:pt idx="78" c:formatCode="0.00">
                  <c:v>1984.5</c:v>
                </c:pt>
                <c:pt idx="79" c:formatCode="0.00">
                  <c:v>1984.75</c:v>
                </c:pt>
                <c:pt idx="80" c:formatCode="0.00">
                  <c:v>1985</c:v>
                </c:pt>
                <c:pt idx="81" c:formatCode="0.00">
                  <c:v>1985.25</c:v>
                </c:pt>
                <c:pt idx="82" c:formatCode="0.00">
                  <c:v>1985.5</c:v>
                </c:pt>
                <c:pt idx="83" c:formatCode="0.00">
                  <c:v>1985.75</c:v>
                </c:pt>
                <c:pt idx="84" c:formatCode="0.00">
                  <c:v>1986</c:v>
                </c:pt>
                <c:pt idx="85" c:formatCode="0.00">
                  <c:v>1986.25</c:v>
                </c:pt>
                <c:pt idx="86" c:formatCode="0.00">
                  <c:v>1986.5</c:v>
                </c:pt>
                <c:pt idx="87" c:formatCode="0.00">
                  <c:v>1986.75</c:v>
                </c:pt>
                <c:pt idx="88" c:formatCode="0.00">
                  <c:v>1987</c:v>
                </c:pt>
                <c:pt idx="89" c:formatCode="0.00">
                  <c:v>1987.25</c:v>
                </c:pt>
                <c:pt idx="90" c:formatCode="0.00">
                  <c:v>1987.5</c:v>
                </c:pt>
                <c:pt idx="91" c:formatCode="0.00">
                  <c:v>1987.75</c:v>
                </c:pt>
                <c:pt idx="92" c:formatCode="0.00">
                  <c:v>1988</c:v>
                </c:pt>
                <c:pt idx="93" c:formatCode="0.00">
                  <c:v>1988.25</c:v>
                </c:pt>
                <c:pt idx="94" c:formatCode="0.00">
                  <c:v>1988.5</c:v>
                </c:pt>
                <c:pt idx="95" c:formatCode="0.00">
                  <c:v>1988.75</c:v>
                </c:pt>
                <c:pt idx="96" c:formatCode="0.00">
                  <c:v>1989</c:v>
                </c:pt>
                <c:pt idx="97" c:formatCode="0.00">
                  <c:v>1989.25</c:v>
                </c:pt>
                <c:pt idx="98" c:formatCode="0.00">
                  <c:v>1989.5</c:v>
                </c:pt>
                <c:pt idx="99" c:formatCode="0.00">
                  <c:v>1989.75</c:v>
                </c:pt>
                <c:pt idx="100" c:formatCode="0.00">
                  <c:v>1990</c:v>
                </c:pt>
                <c:pt idx="101" c:formatCode="0.00">
                  <c:v>1990.25</c:v>
                </c:pt>
                <c:pt idx="102" c:formatCode="0.00">
                  <c:v>1990.5</c:v>
                </c:pt>
                <c:pt idx="103" c:formatCode="0.00">
                  <c:v>1990.75</c:v>
                </c:pt>
                <c:pt idx="104" c:formatCode="0.00">
                  <c:v>1991</c:v>
                </c:pt>
                <c:pt idx="105" c:formatCode="0.00">
                  <c:v>1991.25</c:v>
                </c:pt>
                <c:pt idx="106" c:formatCode="0.00">
                  <c:v>1991.5</c:v>
                </c:pt>
                <c:pt idx="107" c:formatCode="0.00">
                  <c:v>1991.75</c:v>
                </c:pt>
                <c:pt idx="108" c:formatCode="0.00">
                  <c:v>1992</c:v>
                </c:pt>
                <c:pt idx="109" c:formatCode="0.00">
                  <c:v>1992.25</c:v>
                </c:pt>
                <c:pt idx="110" c:formatCode="0.00">
                  <c:v>1992.5</c:v>
                </c:pt>
                <c:pt idx="111" c:formatCode="0.00">
                  <c:v>1992.75</c:v>
                </c:pt>
                <c:pt idx="112" c:formatCode="0.00">
                  <c:v>1993</c:v>
                </c:pt>
                <c:pt idx="113" c:formatCode="0.00">
                  <c:v>1993.25</c:v>
                </c:pt>
                <c:pt idx="114" c:formatCode="0.00">
                  <c:v>1993.5</c:v>
                </c:pt>
                <c:pt idx="115" c:formatCode="0.00">
                  <c:v>1993.75</c:v>
                </c:pt>
                <c:pt idx="116" c:formatCode="0.00">
                  <c:v>1994</c:v>
                </c:pt>
                <c:pt idx="117" c:formatCode="0.00">
                  <c:v>1994.25</c:v>
                </c:pt>
                <c:pt idx="118" c:formatCode="0.00">
                  <c:v>1994.5</c:v>
                </c:pt>
                <c:pt idx="119" c:formatCode="0.00">
                  <c:v>1994.75</c:v>
                </c:pt>
                <c:pt idx="120" c:formatCode="0.00">
                  <c:v>1995</c:v>
                </c:pt>
                <c:pt idx="121" c:formatCode="0.00">
                  <c:v>1995.25</c:v>
                </c:pt>
                <c:pt idx="122" c:formatCode="0.00">
                  <c:v>1995.5</c:v>
                </c:pt>
                <c:pt idx="123" c:formatCode="0.00">
                  <c:v>1995.75</c:v>
                </c:pt>
                <c:pt idx="124" c:formatCode="0.00">
                  <c:v>1996</c:v>
                </c:pt>
                <c:pt idx="125" c:formatCode="0.00">
                  <c:v>1996.25</c:v>
                </c:pt>
                <c:pt idx="126" c:formatCode="0.00">
                  <c:v>1996.5</c:v>
                </c:pt>
                <c:pt idx="127" c:formatCode="0.00">
                  <c:v>1996.75</c:v>
                </c:pt>
                <c:pt idx="128" c:formatCode="0.00">
                  <c:v>1997</c:v>
                </c:pt>
                <c:pt idx="129" c:formatCode="0.00">
                  <c:v>1997.25</c:v>
                </c:pt>
                <c:pt idx="130" c:formatCode="0.00">
                  <c:v>1997.5</c:v>
                </c:pt>
                <c:pt idx="131" c:formatCode="0.00">
                  <c:v>1997.75</c:v>
                </c:pt>
                <c:pt idx="132" c:formatCode="0.00">
                  <c:v>1998</c:v>
                </c:pt>
                <c:pt idx="133" c:formatCode="0.00">
                  <c:v>1998.25</c:v>
                </c:pt>
                <c:pt idx="134" c:formatCode="0.00">
                  <c:v>1998.5</c:v>
                </c:pt>
                <c:pt idx="135" c:formatCode="0.00">
                  <c:v>1998.75</c:v>
                </c:pt>
                <c:pt idx="136" c:formatCode="0.00">
                  <c:v>1999</c:v>
                </c:pt>
                <c:pt idx="137" c:formatCode="0.00">
                  <c:v>1999.25</c:v>
                </c:pt>
                <c:pt idx="138" c:formatCode="0.00">
                  <c:v>1999.5</c:v>
                </c:pt>
                <c:pt idx="139" c:formatCode="0.00">
                  <c:v>1999.75</c:v>
                </c:pt>
                <c:pt idx="140" c:formatCode="0.00">
                  <c:v>2000</c:v>
                </c:pt>
                <c:pt idx="141" c:formatCode="0.00">
                  <c:v>2000.25</c:v>
                </c:pt>
                <c:pt idx="142" c:formatCode="0.00">
                  <c:v>2000.5</c:v>
                </c:pt>
                <c:pt idx="143" c:formatCode="0.00">
                  <c:v>2000.75</c:v>
                </c:pt>
                <c:pt idx="144" c:formatCode="0.00">
                  <c:v>2001</c:v>
                </c:pt>
                <c:pt idx="145" c:formatCode="0.00">
                  <c:v>2001.25</c:v>
                </c:pt>
                <c:pt idx="146" c:formatCode="0.00">
                  <c:v>2001.5</c:v>
                </c:pt>
                <c:pt idx="147" c:formatCode="0.00">
                  <c:v>2001.75</c:v>
                </c:pt>
                <c:pt idx="148" c:formatCode="0.00">
                  <c:v>2002</c:v>
                </c:pt>
                <c:pt idx="149" c:formatCode="0.00">
                  <c:v>2002.25</c:v>
                </c:pt>
                <c:pt idx="150" c:formatCode="0.00">
                  <c:v>2002.5</c:v>
                </c:pt>
                <c:pt idx="151" c:formatCode="0.00">
                  <c:v>2002.75</c:v>
                </c:pt>
                <c:pt idx="152" c:formatCode="0.00">
                  <c:v>2003</c:v>
                </c:pt>
                <c:pt idx="153" c:formatCode="0.00">
                  <c:v>2003.25</c:v>
                </c:pt>
                <c:pt idx="154" c:formatCode="0.00">
                  <c:v>2003.5</c:v>
                </c:pt>
                <c:pt idx="155" c:formatCode="0.00">
                  <c:v>2003.75</c:v>
                </c:pt>
                <c:pt idx="156" c:formatCode="0.00">
                  <c:v>2004</c:v>
                </c:pt>
                <c:pt idx="157" c:formatCode="0.00">
                  <c:v>2004.25</c:v>
                </c:pt>
                <c:pt idx="158" c:formatCode="0.00">
                  <c:v>2004.5</c:v>
                </c:pt>
                <c:pt idx="159" c:formatCode="0.00">
                  <c:v>2004.75</c:v>
                </c:pt>
                <c:pt idx="160" c:formatCode="0.00">
                  <c:v>2005</c:v>
                </c:pt>
                <c:pt idx="161" c:formatCode="0.00">
                  <c:v>2005.25</c:v>
                </c:pt>
                <c:pt idx="162" c:formatCode="0.00">
                  <c:v>2005.5</c:v>
                </c:pt>
                <c:pt idx="163" c:formatCode="0.00">
                  <c:v>2005.75</c:v>
                </c:pt>
                <c:pt idx="164" c:formatCode="0.00">
                  <c:v>2006</c:v>
                </c:pt>
                <c:pt idx="165" c:formatCode="0.00">
                  <c:v>2006.25</c:v>
                </c:pt>
                <c:pt idx="166" c:formatCode="0.00">
                  <c:v>2006.5</c:v>
                </c:pt>
                <c:pt idx="167" c:formatCode="0.00">
                  <c:v>2006.75</c:v>
                </c:pt>
                <c:pt idx="168" c:formatCode="0.00">
                  <c:v>2007</c:v>
                </c:pt>
                <c:pt idx="169" c:formatCode="0.00">
                  <c:v>2007.25</c:v>
                </c:pt>
                <c:pt idx="170" c:formatCode="0.00">
                  <c:v>2007.5</c:v>
                </c:pt>
                <c:pt idx="171" c:formatCode="0.00">
                  <c:v>2007.75</c:v>
                </c:pt>
                <c:pt idx="172" c:formatCode="0.00">
                  <c:v>2008</c:v>
                </c:pt>
                <c:pt idx="173" c:formatCode="0.00">
                  <c:v>2008.25</c:v>
                </c:pt>
                <c:pt idx="174" c:formatCode="0.00">
                  <c:v>2008.5</c:v>
                </c:pt>
                <c:pt idx="175" c:formatCode="0.00">
                  <c:v>2008.75</c:v>
                </c:pt>
                <c:pt idx="176" c:formatCode="0.00">
                  <c:v>2009</c:v>
                </c:pt>
                <c:pt idx="177" c:formatCode="0.00">
                  <c:v>2009.25</c:v>
                </c:pt>
                <c:pt idx="178" c:formatCode="0.00">
                  <c:v>2009.5</c:v>
                </c:pt>
                <c:pt idx="179" c:formatCode="0.00">
                  <c:v>2009.75</c:v>
                </c:pt>
                <c:pt idx="180" c:formatCode="0.00">
                  <c:v>2010</c:v>
                </c:pt>
                <c:pt idx="181" c:formatCode="0.00">
                  <c:v>2010.25</c:v>
                </c:pt>
                <c:pt idx="182" c:formatCode="0.00">
                  <c:v>2010.5</c:v>
                </c:pt>
                <c:pt idx="183" c:formatCode="0.00">
                  <c:v>2010.75</c:v>
                </c:pt>
                <c:pt idx="184" c:formatCode="0.00">
                  <c:v>2011</c:v>
                </c:pt>
                <c:pt idx="185" c:formatCode="0.00">
                  <c:v>2011.25</c:v>
                </c:pt>
                <c:pt idx="186" c:formatCode="0.00">
                  <c:v>2011.5</c:v>
                </c:pt>
                <c:pt idx="187" c:formatCode="0.00">
                  <c:v>2011.75</c:v>
                </c:pt>
                <c:pt idx="188" c:formatCode="0.00">
                  <c:v>2012</c:v>
                </c:pt>
                <c:pt idx="189" c:formatCode="0.00">
                  <c:v>2012.25</c:v>
                </c:pt>
                <c:pt idx="190" c:formatCode="0.00">
                  <c:v>2012.5</c:v>
                </c:pt>
                <c:pt idx="191" c:formatCode="0.00">
                  <c:v>2012.75</c:v>
                </c:pt>
                <c:pt idx="192" c:formatCode="0.00">
                  <c:v>2013</c:v>
                </c:pt>
                <c:pt idx="193" c:formatCode="0.00">
                  <c:v>2013.25</c:v>
                </c:pt>
                <c:pt idx="194" c:formatCode="0.00">
                  <c:v>2013.5</c:v>
                </c:pt>
              </c:numCache>
            </c:numRef>
          </c:cat>
          <c:val>
            <c:numRef>
              <c:f>Sheet1!$D$8:$D$197</c:f>
              <c:numCache>
                <c:formatCode>General</c:formatCode>
                <c:ptCount val="190"/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39"/>
        <c:axId val="476130304"/>
        <c:axId val="476173056"/>
      </c:barChart>
      <c:scatterChart>
        <c:scatterStyle val="lineMarker"/>
        <c:varyColors val="0"/>
        <c:ser>
          <c:idx val="0"/>
          <c:order val="0"/>
          <c:tx>
            <c:strRef>
              <c:f>Sheet1!$C$7</c:f>
              <c:strCache>
                <c:ptCount val="1"/>
                <c:pt idx="0">
                  <c:v>value</c:v>
                </c:pt>
              </c:strCache>
            </c:strRef>
          </c:tx>
          <c:spPr>
            <a:ln w="44450" cap="rnd" cmpd="sng" algn="ctr">
              <a:solidFill>
                <a:schemeClr val="accent5">
                  <a:lumMod val="50000"/>
                </a:schemeClr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Sheet1!$B$8:$B$202</c:f>
              <c:numCache>
                <c:formatCode>0.00</c:formatCode>
                <c:ptCount val="195"/>
                <c:pt idx="0">
                  <c:v>1965</c:v>
                </c:pt>
                <c:pt idx="1">
                  <c:v>1965.25</c:v>
                </c:pt>
                <c:pt idx="2">
                  <c:v>1965.5</c:v>
                </c:pt>
                <c:pt idx="3">
                  <c:v>1965.75</c:v>
                </c:pt>
                <c:pt idx="4">
                  <c:v>1966</c:v>
                </c:pt>
                <c:pt idx="5">
                  <c:v>1966.25</c:v>
                </c:pt>
                <c:pt idx="6">
                  <c:v>1966.5</c:v>
                </c:pt>
                <c:pt idx="7">
                  <c:v>1966.75</c:v>
                </c:pt>
                <c:pt idx="8">
                  <c:v>1967</c:v>
                </c:pt>
                <c:pt idx="9">
                  <c:v>1967.25</c:v>
                </c:pt>
                <c:pt idx="10">
                  <c:v>1967.5</c:v>
                </c:pt>
                <c:pt idx="11">
                  <c:v>1967.75</c:v>
                </c:pt>
                <c:pt idx="12">
                  <c:v>1968</c:v>
                </c:pt>
                <c:pt idx="13">
                  <c:v>1968.25</c:v>
                </c:pt>
                <c:pt idx="14">
                  <c:v>1968.5</c:v>
                </c:pt>
                <c:pt idx="15">
                  <c:v>1968.75</c:v>
                </c:pt>
                <c:pt idx="16">
                  <c:v>1969</c:v>
                </c:pt>
                <c:pt idx="17">
                  <c:v>1969.25</c:v>
                </c:pt>
                <c:pt idx="18">
                  <c:v>1969.5</c:v>
                </c:pt>
                <c:pt idx="19">
                  <c:v>1969.75</c:v>
                </c:pt>
                <c:pt idx="20">
                  <c:v>1970</c:v>
                </c:pt>
                <c:pt idx="21">
                  <c:v>1970.25</c:v>
                </c:pt>
                <c:pt idx="22">
                  <c:v>1970.5</c:v>
                </c:pt>
                <c:pt idx="23">
                  <c:v>1970.75</c:v>
                </c:pt>
                <c:pt idx="24">
                  <c:v>1971</c:v>
                </c:pt>
                <c:pt idx="25">
                  <c:v>1971.25</c:v>
                </c:pt>
                <c:pt idx="26">
                  <c:v>1971.5</c:v>
                </c:pt>
                <c:pt idx="27">
                  <c:v>1971.75</c:v>
                </c:pt>
                <c:pt idx="28">
                  <c:v>1972</c:v>
                </c:pt>
                <c:pt idx="29">
                  <c:v>1972.25</c:v>
                </c:pt>
                <c:pt idx="30">
                  <c:v>1972.5</c:v>
                </c:pt>
                <c:pt idx="31">
                  <c:v>1972.75</c:v>
                </c:pt>
                <c:pt idx="32">
                  <c:v>1973</c:v>
                </c:pt>
                <c:pt idx="33">
                  <c:v>1973.25</c:v>
                </c:pt>
                <c:pt idx="34">
                  <c:v>1973.5</c:v>
                </c:pt>
                <c:pt idx="35">
                  <c:v>1973.75</c:v>
                </c:pt>
                <c:pt idx="36">
                  <c:v>1974</c:v>
                </c:pt>
                <c:pt idx="37">
                  <c:v>1974.25</c:v>
                </c:pt>
                <c:pt idx="38">
                  <c:v>1974.5</c:v>
                </c:pt>
                <c:pt idx="39">
                  <c:v>1974.75</c:v>
                </c:pt>
                <c:pt idx="40">
                  <c:v>1975</c:v>
                </c:pt>
                <c:pt idx="41">
                  <c:v>1975.25</c:v>
                </c:pt>
                <c:pt idx="42">
                  <c:v>1975.5</c:v>
                </c:pt>
                <c:pt idx="43">
                  <c:v>1975.75</c:v>
                </c:pt>
                <c:pt idx="44">
                  <c:v>1976</c:v>
                </c:pt>
                <c:pt idx="45">
                  <c:v>1976.25</c:v>
                </c:pt>
                <c:pt idx="46">
                  <c:v>1976.5</c:v>
                </c:pt>
                <c:pt idx="47">
                  <c:v>1976.75</c:v>
                </c:pt>
                <c:pt idx="48">
                  <c:v>1977</c:v>
                </c:pt>
                <c:pt idx="49">
                  <c:v>1977.25</c:v>
                </c:pt>
                <c:pt idx="50">
                  <c:v>1977.5</c:v>
                </c:pt>
                <c:pt idx="51">
                  <c:v>1977.75</c:v>
                </c:pt>
                <c:pt idx="52">
                  <c:v>1978</c:v>
                </c:pt>
                <c:pt idx="53">
                  <c:v>1978.25</c:v>
                </c:pt>
                <c:pt idx="54">
                  <c:v>1978.5</c:v>
                </c:pt>
                <c:pt idx="55">
                  <c:v>1978.75</c:v>
                </c:pt>
                <c:pt idx="56">
                  <c:v>1979</c:v>
                </c:pt>
                <c:pt idx="57">
                  <c:v>1979.25</c:v>
                </c:pt>
                <c:pt idx="58">
                  <c:v>1979.5</c:v>
                </c:pt>
                <c:pt idx="59">
                  <c:v>1979.75</c:v>
                </c:pt>
                <c:pt idx="60">
                  <c:v>1980</c:v>
                </c:pt>
                <c:pt idx="61">
                  <c:v>1980.25</c:v>
                </c:pt>
                <c:pt idx="62">
                  <c:v>1980.5</c:v>
                </c:pt>
                <c:pt idx="63">
                  <c:v>1980.75</c:v>
                </c:pt>
                <c:pt idx="64">
                  <c:v>1981</c:v>
                </c:pt>
                <c:pt idx="65">
                  <c:v>1981.25</c:v>
                </c:pt>
                <c:pt idx="66">
                  <c:v>1981.5</c:v>
                </c:pt>
                <c:pt idx="67">
                  <c:v>1981.75</c:v>
                </c:pt>
                <c:pt idx="68">
                  <c:v>1982</c:v>
                </c:pt>
                <c:pt idx="69">
                  <c:v>1982.25</c:v>
                </c:pt>
                <c:pt idx="70">
                  <c:v>1982.5</c:v>
                </c:pt>
                <c:pt idx="71">
                  <c:v>1982.75</c:v>
                </c:pt>
                <c:pt idx="72">
                  <c:v>1983</c:v>
                </c:pt>
                <c:pt idx="73">
                  <c:v>1983.25</c:v>
                </c:pt>
                <c:pt idx="74">
                  <c:v>1983.5</c:v>
                </c:pt>
                <c:pt idx="75">
                  <c:v>1983.75</c:v>
                </c:pt>
                <c:pt idx="76">
                  <c:v>1984</c:v>
                </c:pt>
                <c:pt idx="77">
                  <c:v>1984.25</c:v>
                </c:pt>
                <c:pt idx="78">
                  <c:v>1984.5</c:v>
                </c:pt>
                <c:pt idx="79">
                  <c:v>1984.75</c:v>
                </c:pt>
                <c:pt idx="80">
                  <c:v>1985</c:v>
                </c:pt>
                <c:pt idx="81">
                  <c:v>1985.25</c:v>
                </c:pt>
                <c:pt idx="82">
                  <c:v>1985.5</c:v>
                </c:pt>
                <c:pt idx="83">
                  <c:v>1985.75</c:v>
                </c:pt>
                <c:pt idx="84">
                  <c:v>1986</c:v>
                </c:pt>
                <c:pt idx="85">
                  <c:v>1986.25</c:v>
                </c:pt>
                <c:pt idx="86">
                  <c:v>1986.5</c:v>
                </c:pt>
                <c:pt idx="87">
                  <c:v>1986.75</c:v>
                </c:pt>
                <c:pt idx="88">
                  <c:v>1987</c:v>
                </c:pt>
                <c:pt idx="89">
                  <c:v>1987.25</c:v>
                </c:pt>
                <c:pt idx="90">
                  <c:v>1987.5</c:v>
                </c:pt>
                <c:pt idx="91">
                  <c:v>1987.75</c:v>
                </c:pt>
                <c:pt idx="92">
                  <c:v>1988</c:v>
                </c:pt>
                <c:pt idx="93">
                  <c:v>1988.25</c:v>
                </c:pt>
                <c:pt idx="94">
                  <c:v>1988.5</c:v>
                </c:pt>
                <c:pt idx="95">
                  <c:v>1988.75</c:v>
                </c:pt>
                <c:pt idx="96">
                  <c:v>1989</c:v>
                </c:pt>
                <c:pt idx="97">
                  <c:v>1989.25</c:v>
                </c:pt>
                <c:pt idx="98">
                  <c:v>1989.5</c:v>
                </c:pt>
                <c:pt idx="99">
                  <c:v>1989.75</c:v>
                </c:pt>
                <c:pt idx="100">
                  <c:v>1990</c:v>
                </c:pt>
                <c:pt idx="101">
                  <c:v>1990.25</c:v>
                </c:pt>
                <c:pt idx="102">
                  <c:v>1990.5</c:v>
                </c:pt>
                <c:pt idx="103">
                  <c:v>1990.75</c:v>
                </c:pt>
                <c:pt idx="104">
                  <c:v>1991</c:v>
                </c:pt>
                <c:pt idx="105">
                  <c:v>1991.25</c:v>
                </c:pt>
                <c:pt idx="106">
                  <c:v>1991.5</c:v>
                </c:pt>
                <c:pt idx="107">
                  <c:v>1991.75</c:v>
                </c:pt>
                <c:pt idx="108">
                  <c:v>1992</c:v>
                </c:pt>
                <c:pt idx="109">
                  <c:v>1992.25</c:v>
                </c:pt>
                <c:pt idx="110">
                  <c:v>1992.5</c:v>
                </c:pt>
                <c:pt idx="111">
                  <c:v>1992.75</c:v>
                </c:pt>
                <c:pt idx="112">
                  <c:v>1993</c:v>
                </c:pt>
                <c:pt idx="113">
                  <c:v>1993.25</c:v>
                </c:pt>
                <c:pt idx="114">
                  <c:v>1993.5</c:v>
                </c:pt>
                <c:pt idx="115">
                  <c:v>1993.75</c:v>
                </c:pt>
                <c:pt idx="116">
                  <c:v>1994</c:v>
                </c:pt>
                <c:pt idx="117">
                  <c:v>1994.25</c:v>
                </c:pt>
                <c:pt idx="118">
                  <c:v>1994.5</c:v>
                </c:pt>
                <c:pt idx="119">
                  <c:v>1994.75</c:v>
                </c:pt>
                <c:pt idx="120">
                  <c:v>1995</c:v>
                </c:pt>
                <c:pt idx="121">
                  <c:v>1995.25</c:v>
                </c:pt>
                <c:pt idx="122">
                  <c:v>1995.5</c:v>
                </c:pt>
                <c:pt idx="123">
                  <c:v>1995.75</c:v>
                </c:pt>
                <c:pt idx="124">
                  <c:v>1996</c:v>
                </c:pt>
                <c:pt idx="125">
                  <c:v>1996.25</c:v>
                </c:pt>
                <c:pt idx="126">
                  <c:v>1996.5</c:v>
                </c:pt>
                <c:pt idx="127">
                  <c:v>1996.75</c:v>
                </c:pt>
                <c:pt idx="128">
                  <c:v>1997</c:v>
                </c:pt>
                <c:pt idx="129">
                  <c:v>1997.25</c:v>
                </c:pt>
                <c:pt idx="130">
                  <c:v>1997.5</c:v>
                </c:pt>
                <c:pt idx="131">
                  <c:v>1997.75</c:v>
                </c:pt>
                <c:pt idx="132">
                  <c:v>1998</c:v>
                </c:pt>
                <c:pt idx="133">
                  <c:v>1998.25</c:v>
                </c:pt>
                <c:pt idx="134">
                  <c:v>1998.5</c:v>
                </c:pt>
                <c:pt idx="135">
                  <c:v>1998.75</c:v>
                </c:pt>
                <c:pt idx="136">
                  <c:v>1999</c:v>
                </c:pt>
                <c:pt idx="137">
                  <c:v>1999.25</c:v>
                </c:pt>
                <c:pt idx="138">
                  <c:v>1999.5</c:v>
                </c:pt>
                <c:pt idx="139">
                  <c:v>1999.75</c:v>
                </c:pt>
                <c:pt idx="140">
                  <c:v>2000</c:v>
                </c:pt>
                <c:pt idx="141">
                  <c:v>2000.25</c:v>
                </c:pt>
                <c:pt idx="142">
                  <c:v>2000.5</c:v>
                </c:pt>
                <c:pt idx="143">
                  <c:v>2000.75</c:v>
                </c:pt>
                <c:pt idx="144">
                  <c:v>2001</c:v>
                </c:pt>
                <c:pt idx="145">
                  <c:v>2001.25</c:v>
                </c:pt>
                <c:pt idx="146">
                  <c:v>2001.5</c:v>
                </c:pt>
                <c:pt idx="147">
                  <c:v>2001.75</c:v>
                </c:pt>
                <c:pt idx="148">
                  <c:v>2002</c:v>
                </c:pt>
                <c:pt idx="149">
                  <c:v>2002.25</c:v>
                </c:pt>
                <c:pt idx="150">
                  <c:v>2002.5</c:v>
                </c:pt>
                <c:pt idx="151">
                  <c:v>2002.75</c:v>
                </c:pt>
                <c:pt idx="152">
                  <c:v>2003</c:v>
                </c:pt>
                <c:pt idx="153">
                  <c:v>2003.25</c:v>
                </c:pt>
                <c:pt idx="154">
                  <c:v>2003.5</c:v>
                </c:pt>
                <c:pt idx="155">
                  <c:v>2003.75</c:v>
                </c:pt>
                <c:pt idx="156">
                  <c:v>2004</c:v>
                </c:pt>
                <c:pt idx="157">
                  <c:v>2004.25</c:v>
                </c:pt>
                <c:pt idx="158">
                  <c:v>2004.5</c:v>
                </c:pt>
                <c:pt idx="159">
                  <c:v>2004.75</c:v>
                </c:pt>
                <c:pt idx="160">
                  <c:v>2005</c:v>
                </c:pt>
                <c:pt idx="161">
                  <c:v>2005.25</c:v>
                </c:pt>
                <c:pt idx="162">
                  <c:v>2005.5</c:v>
                </c:pt>
                <c:pt idx="163">
                  <c:v>2005.75</c:v>
                </c:pt>
                <c:pt idx="164">
                  <c:v>2006</c:v>
                </c:pt>
                <c:pt idx="165">
                  <c:v>2006.25</c:v>
                </c:pt>
                <c:pt idx="166">
                  <c:v>2006.5</c:v>
                </c:pt>
                <c:pt idx="167">
                  <c:v>2006.75</c:v>
                </c:pt>
                <c:pt idx="168">
                  <c:v>2007</c:v>
                </c:pt>
                <c:pt idx="169">
                  <c:v>2007.25</c:v>
                </c:pt>
                <c:pt idx="170">
                  <c:v>2007.5</c:v>
                </c:pt>
                <c:pt idx="171">
                  <c:v>2007.75</c:v>
                </c:pt>
                <c:pt idx="172">
                  <c:v>2008</c:v>
                </c:pt>
                <c:pt idx="173">
                  <c:v>2008.25</c:v>
                </c:pt>
                <c:pt idx="174">
                  <c:v>2008.5</c:v>
                </c:pt>
                <c:pt idx="175">
                  <c:v>2008.75</c:v>
                </c:pt>
                <c:pt idx="176">
                  <c:v>2009</c:v>
                </c:pt>
                <c:pt idx="177">
                  <c:v>2009.25</c:v>
                </c:pt>
                <c:pt idx="178">
                  <c:v>2009.5</c:v>
                </c:pt>
                <c:pt idx="179">
                  <c:v>2009.75</c:v>
                </c:pt>
                <c:pt idx="180">
                  <c:v>2010</c:v>
                </c:pt>
                <c:pt idx="181">
                  <c:v>2010.25</c:v>
                </c:pt>
                <c:pt idx="182">
                  <c:v>2010.5</c:v>
                </c:pt>
                <c:pt idx="183">
                  <c:v>2010.75</c:v>
                </c:pt>
                <c:pt idx="184">
                  <c:v>2011</c:v>
                </c:pt>
                <c:pt idx="185">
                  <c:v>2011.25</c:v>
                </c:pt>
                <c:pt idx="186">
                  <c:v>2011.5</c:v>
                </c:pt>
                <c:pt idx="187">
                  <c:v>2011.75</c:v>
                </c:pt>
                <c:pt idx="188">
                  <c:v>2012</c:v>
                </c:pt>
                <c:pt idx="189">
                  <c:v>2012.25</c:v>
                </c:pt>
                <c:pt idx="190">
                  <c:v>2012.5</c:v>
                </c:pt>
                <c:pt idx="191">
                  <c:v>2012.75</c:v>
                </c:pt>
                <c:pt idx="192">
                  <c:v>2013</c:v>
                </c:pt>
                <c:pt idx="193">
                  <c:v>2013.25</c:v>
                </c:pt>
                <c:pt idx="194">
                  <c:v>2013.5</c:v>
                </c:pt>
              </c:numCache>
            </c:numRef>
          </c:xVal>
          <c:yVal>
            <c:numRef>
              <c:f>Sheet1!$C$8:$C$202</c:f>
              <c:numCache>
                <c:formatCode>0.00</c:formatCode>
                <c:ptCount val="195"/>
                <c:pt idx="0">
                  <c:v>3869.8</c:v>
                </c:pt>
                <c:pt idx="1">
                  <c:v>3922.7</c:v>
                </c:pt>
                <c:pt idx="2">
                  <c:v>4002.4</c:v>
                </c:pt>
                <c:pt idx="3">
                  <c:v>4096.7</c:v>
                </c:pt>
                <c:pt idx="4">
                  <c:v>4197.9</c:v>
                </c:pt>
                <c:pt idx="5">
                  <c:v>4215.1</c:v>
                </c:pt>
                <c:pt idx="6">
                  <c:v>4245.2</c:v>
                </c:pt>
                <c:pt idx="7">
                  <c:v>4281.6</c:v>
                </c:pt>
                <c:pt idx="8">
                  <c:v>4320.9</c:v>
                </c:pt>
                <c:pt idx="9">
                  <c:v>4324.7</c:v>
                </c:pt>
                <c:pt idx="10">
                  <c:v>4362</c:v>
                </c:pt>
                <c:pt idx="11">
                  <c:v>4397.1</c:v>
                </c:pt>
                <c:pt idx="12">
                  <c:v>4486.4</c:v>
                </c:pt>
                <c:pt idx="13">
                  <c:v>4562.2</c:v>
                </c:pt>
                <c:pt idx="14">
                  <c:v>4595</c:v>
                </c:pt>
                <c:pt idx="15">
                  <c:v>4615.4</c:v>
                </c:pt>
                <c:pt idx="16">
                  <c:v>4687.1</c:v>
                </c:pt>
                <c:pt idx="17">
                  <c:v>4702.1</c:v>
                </c:pt>
                <c:pt idx="18">
                  <c:v>4731.5</c:v>
                </c:pt>
                <c:pt idx="19">
                  <c:v>4711</c:v>
                </c:pt>
                <c:pt idx="20">
                  <c:v>4702.8</c:v>
                </c:pt>
                <c:pt idx="21">
                  <c:v>4711.1</c:v>
                </c:pt>
                <c:pt idx="22">
                  <c:v>4752.8</c:v>
                </c:pt>
                <c:pt idx="23">
                  <c:v>4703.9</c:v>
                </c:pt>
                <c:pt idx="24">
                  <c:v>4829.9</c:v>
                </c:pt>
                <c:pt idx="25">
                  <c:v>4857.4</c:v>
                </c:pt>
                <c:pt idx="26">
                  <c:v>4895.3</c:v>
                </c:pt>
                <c:pt idx="27">
                  <c:v>4909.5</c:v>
                </c:pt>
                <c:pt idx="28">
                  <c:v>4997</c:v>
                </c:pt>
                <c:pt idx="29">
                  <c:v>5112.7</c:v>
                </c:pt>
                <c:pt idx="30">
                  <c:v>5159.8</c:v>
                </c:pt>
                <c:pt idx="31">
                  <c:v>5245.5</c:v>
                </c:pt>
                <c:pt idx="32">
                  <c:v>5374.7</c:v>
                </c:pt>
                <c:pt idx="33">
                  <c:v>5435.6</c:v>
                </c:pt>
                <c:pt idx="34">
                  <c:v>5406.1</c:v>
                </c:pt>
                <c:pt idx="35">
                  <c:v>5456.5</c:v>
                </c:pt>
                <c:pt idx="36">
                  <c:v>5411.2</c:v>
                </c:pt>
                <c:pt idx="37">
                  <c:v>5425.4</c:v>
                </c:pt>
                <c:pt idx="38">
                  <c:v>5372.8</c:v>
                </c:pt>
                <c:pt idx="39">
                  <c:v>5351.4</c:v>
                </c:pt>
                <c:pt idx="40">
                  <c:v>5286.7</c:v>
                </c:pt>
                <c:pt idx="41">
                  <c:v>5327.4</c:v>
                </c:pt>
                <c:pt idx="42">
                  <c:v>5415.5</c:v>
                </c:pt>
                <c:pt idx="43">
                  <c:v>5488.5</c:v>
                </c:pt>
                <c:pt idx="44">
                  <c:v>5612.4</c:v>
                </c:pt>
                <c:pt idx="45">
                  <c:v>5654.8</c:v>
                </c:pt>
                <c:pt idx="46">
                  <c:v>5683.6</c:v>
                </c:pt>
                <c:pt idx="47">
                  <c:v>5726.2</c:v>
                </c:pt>
                <c:pt idx="48">
                  <c:v>5792.9</c:v>
                </c:pt>
                <c:pt idx="49">
                  <c:v>5906.6</c:v>
                </c:pt>
                <c:pt idx="50">
                  <c:v>6011.1</c:v>
                </c:pt>
                <c:pt idx="51">
                  <c:v>6011.7</c:v>
                </c:pt>
                <c:pt idx="52">
                  <c:v>6032.6</c:v>
                </c:pt>
                <c:pt idx="53">
                  <c:v>6267.2</c:v>
                </c:pt>
                <c:pt idx="54">
                  <c:v>6328.5</c:v>
                </c:pt>
                <c:pt idx="55">
                  <c:v>6413.3</c:v>
                </c:pt>
                <c:pt idx="56">
                  <c:v>6426.1</c:v>
                </c:pt>
                <c:pt idx="57">
                  <c:v>6433.9</c:v>
                </c:pt>
                <c:pt idx="58">
                  <c:v>6480.1</c:v>
                </c:pt>
                <c:pt idx="59">
                  <c:v>6496.8</c:v>
                </c:pt>
                <c:pt idx="60">
                  <c:v>6517.9</c:v>
                </c:pt>
                <c:pt idx="61">
                  <c:v>6385.7</c:v>
                </c:pt>
                <c:pt idx="62">
                  <c:v>6376</c:v>
                </c:pt>
                <c:pt idx="63">
                  <c:v>6494.1</c:v>
                </c:pt>
                <c:pt idx="64">
                  <c:v>6628.6</c:v>
                </c:pt>
                <c:pt idx="65">
                  <c:v>6580.2</c:v>
                </c:pt>
                <c:pt idx="66">
                  <c:v>6655.7</c:v>
                </c:pt>
                <c:pt idx="67">
                  <c:v>6578</c:v>
                </c:pt>
                <c:pt idx="68">
                  <c:v>6468</c:v>
                </c:pt>
                <c:pt idx="69">
                  <c:v>6503.3</c:v>
                </c:pt>
                <c:pt idx="70">
                  <c:v>6479.8</c:v>
                </c:pt>
                <c:pt idx="71">
                  <c:v>6486.2</c:v>
                </c:pt>
                <c:pt idx="72">
                  <c:v>6571.1</c:v>
                </c:pt>
                <c:pt idx="73">
                  <c:v>6721.1</c:v>
                </c:pt>
                <c:pt idx="74">
                  <c:v>6852.7</c:v>
                </c:pt>
                <c:pt idx="75">
                  <c:v>6994</c:v>
                </c:pt>
                <c:pt idx="76">
                  <c:v>7132.9</c:v>
                </c:pt>
                <c:pt idx="77">
                  <c:v>7258.2</c:v>
                </c:pt>
                <c:pt idx="78">
                  <c:v>7329.6</c:v>
                </c:pt>
                <c:pt idx="79">
                  <c:v>7388.1</c:v>
                </c:pt>
                <c:pt idx="80">
                  <c:v>7461.5</c:v>
                </c:pt>
                <c:pt idx="81">
                  <c:v>7529.9</c:v>
                </c:pt>
                <c:pt idx="82">
                  <c:v>7647</c:v>
                </c:pt>
                <c:pt idx="83">
                  <c:v>7704.4</c:v>
                </c:pt>
                <c:pt idx="84">
                  <c:v>7775.8</c:v>
                </c:pt>
                <c:pt idx="85">
                  <c:v>7811.5</c:v>
                </c:pt>
                <c:pt idx="86">
                  <c:v>7890.1</c:v>
                </c:pt>
                <c:pt idx="87">
                  <c:v>7931</c:v>
                </c:pt>
                <c:pt idx="88">
                  <c:v>7986.4</c:v>
                </c:pt>
                <c:pt idx="89">
                  <c:v>8076.1</c:v>
                </c:pt>
                <c:pt idx="90">
                  <c:v>8149.4</c:v>
                </c:pt>
                <c:pt idx="91">
                  <c:v>8283.79999999999</c:v>
                </c:pt>
                <c:pt idx="92">
                  <c:v>8330.4</c:v>
                </c:pt>
                <c:pt idx="93">
                  <c:v>8440.5</c:v>
                </c:pt>
                <c:pt idx="94">
                  <c:v>8489.2</c:v>
                </c:pt>
                <c:pt idx="95">
                  <c:v>8601.6</c:v>
                </c:pt>
                <c:pt idx="96">
                  <c:v>8688.4</c:v>
                </c:pt>
                <c:pt idx="97">
                  <c:v>8756.7</c:v>
                </c:pt>
                <c:pt idx="98">
                  <c:v>8822.1</c:v>
                </c:pt>
                <c:pt idx="99">
                  <c:v>8840.7</c:v>
                </c:pt>
                <c:pt idx="100">
                  <c:v>8937.5</c:v>
                </c:pt>
                <c:pt idx="101">
                  <c:v>8972.1</c:v>
                </c:pt>
                <c:pt idx="102">
                  <c:v>8974.29999999999</c:v>
                </c:pt>
                <c:pt idx="103">
                  <c:v>8897.79999999999</c:v>
                </c:pt>
                <c:pt idx="104">
                  <c:v>8856.1</c:v>
                </c:pt>
                <c:pt idx="105">
                  <c:v>8924.9</c:v>
                </c:pt>
                <c:pt idx="106">
                  <c:v>8967.7</c:v>
                </c:pt>
                <c:pt idx="107">
                  <c:v>9006.79999999999</c:v>
                </c:pt>
                <c:pt idx="108">
                  <c:v>9113.2</c:v>
                </c:pt>
                <c:pt idx="109">
                  <c:v>9213.7</c:v>
                </c:pt>
                <c:pt idx="110">
                  <c:v>9303.29999999999</c:v>
                </c:pt>
                <c:pt idx="111">
                  <c:v>9396.5</c:v>
                </c:pt>
                <c:pt idx="112">
                  <c:v>9414</c:v>
                </c:pt>
                <c:pt idx="113">
                  <c:v>9469.9</c:v>
                </c:pt>
                <c:pt idx="114">
                  <c:v>9516.1</c:v>
                </c:pt>
                <c:pt idx="115">
                  <c:v>9643.1</c:v>
                </c:pt>
                <c:pt idx="116">
                  <c:v>9737.6</c:v>
                </c:pt>
                <c:pt idx="117">
                  <c:v>9870.7</c:v>
                </c:pt>
                <c:pt idx="118">
                  <c:v>9928.9</c:v>
                </c:pt>
                <c:pt idx="119">
                  <c:v>10041.6</c:v>
                </c:pt>
                <c:pt idx="120">
                  <c:v>10075.9</c:v>
                </c:pt>
                <c:pt idx="121">
                  <c:v>10111.1</c:v>
                </c:pt>
                <c:pt idx="122">
                  <c:v>10197.7</c:v>
                </c:pt>
                <c:pt idx="123">
                  <c:v>10270.1</c:v>
                </c:pt>
                <c:pt idx="124">
                  <c:v>10337.4</c:v>
                </c:pt>
                <c:pt idx="125">
                  <c:v>10517.9</c:v>
                </c:pt>
                <c:pt idx="126">
                  <c:v>10615.2</c:v>
                </c:pt>
                <c:pt idx="127">
                  <c:v>10727.4</c:v>
                </c:pt>
                <c:pt idx="128">
                  <c:v>10809.1</c:v>
                </c:pt>
                <c:pt idx="129">
                  <c:v>10972.2</c:v>
                </c:pt>
                <c:pt idx="130">
                  <c:v>11112</c:v>
                </c:pt>
                <c:pt idx="131">
                  <c:v>11198.2</c:v>
                </c:pt>
                <c:pt idx="132">
                  <c:v>11309</c:v>
                </c:pt>
                <c:pt idx="133">
                  <c:v>11418.7</c:v>
                </c:pt>
                <c:pt idx="134">
                  <c:v>11568.1</c:v>
                </c:pt>
                <c:pt idx="135">
                  <c:v>11757.9</c:v>
                </c:pt>
                <c:pt idx="136">
                  <c:v>11867.8</c:v>
                </c:pt>
                <c:pt idx="137">
                  <c:v>11967.7</c:v>
                </c:pt>
                <c:pt idx="138">
                  <c:v>12120.1</c:v>
                </c:pt>
                <c:pt idx="139">
                  <c:v>12329.8</c:v>
                </c:pt>
                <c:pt idx="140">
                  <c:v>12365.2</c:v>
                </c:pt>
                <c:pt idx="141">
                  <c:v>12598.7</c:v>
                </c:pt>
                <c:pt idx="142">
                  <c:v>12614.8</c:v>
                </c:pt>
                <c:pt idx="143">
                  <c:v>12682</c:v>
                </c:pt>
                <c:pt idx="144">
                  <c:v>12645.7</c:v>
                </c:pt>
                <c:pt idx="145">
                  <c:v>12712.8</c:v>
                </c:pt>
                <c:pt idx="146">
                  <c:v>12674.1</c:v>
                </c:pt>
                <c:pt idx="147">
                  <c:v>12705.2</c:v>
                </c:pt>
                <c:pt idx="148">
                  <c:v>12824.6</c:v>
                </c:pt>
                <c:pt idx="149">
                  <c:v>12894.7</c:v>
                </c:pt>
                <c:pt idx="150">
                  <c:v>12956.7</c:v>
                </c:pt>
                <c:pt idx="151">
                  <c:v>12962.9</c:v>
                </c:pt>
                <c:pt idx="152">
                  <c:v>13028.6</c:v>
                </c:pt>
                <c:pt idx="153">
                  <c:v>13151.8</c:v>
                </c:pt>
                <c:pt idx="154">
                  <c:v>13374</c:v>
                </c:pt>
                <c:pt idx="155">
                  <c:v>13525.7</c:v>
                </c:pt>
                <c:pt idx="156">
                  <c:v>13606.6</c:v>
                </c:pt>
                <c:pt idx="157">
                  <c:v>13710.7</c:v>
                </c:pt>
                <c:pt idx="158">
                  <c:v>13831</c:v>
                </c:pt>
                <c:pt idx="159">
                  <c:v>13947.7</c:v>
                </c:pt>
                <c:pt idx="160">
                  <c:v>14100.2</c:v>
                </c:pt>
                <c:pt idx="161">
                  <c:v>14177.2</c:v>
                </c:pt>
                <c:pt idx="162">
                  <c:v>14292.9</c:v>
                </c:pt>
                <c:pt idx="163">
                  <c:v>14372</c:v>
                </c:pt>
                <c:pt idx="164">
                  <c:v>14546.4</c:v>
                </c:pt>
                <c:pt idx="165">
                  <c:v>14591.6</c:v>
                </c:pt>
                <c:pt idx="166">
                  <c:v>14604.4</c:v>
                </c:pt>
                <c:pt idx="167">
                  <c:v>14718.4</c:v>
                </c:pt>
                <c:pt idx="168">
                  <c:v>14728.1</c:v>
                </c:pt>
                <c:pt idx="169">
                  <c:v>14841.5</c:v>
                </c:pt>
                <c:pt idx="170">
                  <c:v>14941.5</c:v>
                </c:pt>
                <c:pt idx="171">
                  <c:v>14996.1</c:v>
                </c:pt>
                <c:pt idx="172">
                  <c:v>14895.4</c:v>
                </c:pt>
                <c:pt idx="173">
                  <c:v>14969.2</c:v>
                </c:pt>
                <c:pt idx="174">
                  <c:v>14895.1</c:v>
                </c:pt>
                <c:pt idx="175">
                  <c:v>14574.6</c:v>
                </c:pt>
                <c:pt idx="176">
                  <c:v>14372.1</c:v>
                </c:pt>
                <c:pt idx="177">
                  <c:v>14356.9</c:v>
                </c:pt>
                <c:pt idx="178">
                  <c:v>14402.5</c:v>
                </c:pt>
                <c:pt idx="179">
                  <c:v>14540.2</c:v>
                </c:pt>
                <c:pt idx="180">
                  <c:v>14597.7</c:v>
                </c:pt>
                <c:pt idx="181">
                  <c:v>14738</c:v>
                </c:pt>
                <c:pt idx="182">
                  <c:v>14839.3</c:v>
                </c:pt>
                <c:pt idx="183">
                  <c:v>14942.4</c:v>
                </c:pt>
                <c:pt idx="184">
                  <c:v>14894</c:v>
                </c:pt>
                <c:pt idx="185">
                  <c:v>15011.3</c:v>
                </c:pt>
                <c:pt idx="186">
                  <c:v>15062.1</c:v>
                </c:pt>
                <c:pt idx="187">
                  <c:v>15242.1</c:v>
                </c:pt>
                <c:pt idx="188">
                  <c:v>15381.6</c:v>
                </c:pt>
                <c:pt idx="189">
                  <c:v>15427.7</c:v>
                </c:pt>
                <c:pt idx="190">
                  <c:v>15534</c:v>
                </c:pt>
                <c:pt idx="191">
                  <c:v>15539.6</c:v>
                </c:pt>
                <c:pt idx="192">
                  <c:v>15583.9</c:v>
                </c:pt>
                <c:pt idx="193">
                  <c:v>15679.7</c:v>
                </c:pt>
                <c:pt idx="194">
                  <c:v>15790.1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6127232"/>
        <c:axId val="476128768"/>
      </c:scatterChart>
      <c:valAx>
        <c:axId val="476127232"/>
        <c:scaling>
          <c:orientation val="minMax"/>
          <c:max val="2014"/>
          <c:min val="1965"/>
        </c:scaling>
        <c:delete val="0"/>
        <c:axPos val="b"/>
        <c:numFmt formatCode="0" sourceLinked="0"/>
        <c:majorTickMark val="cross"/>
        <c:minorTickMark val="in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</a:p>
        </c:txPr>
        <c:crossAx val="476128768"/>
        <c:crosses val="autoZero"/>
        <c:crossBetween val="midCat"/>
        <c:majorUnit val="5"/>
        <c:minorUnit val="1"/>
      </c:valAx>
      <c:valAx>
        <c:axId val="476128768"/>
        <c:scaling>
          <c:orientation val="minMax"/>
          <c:max val="180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</a:p>
        </c:txPr>
        <c:crossAx val="476127232"/>
        <c:crosses val="autoZero"/>
        <c:crossBetween val="midCat"/>
        <c:majorUnit val="2000"/>
        <c:minorUnit val="400"/>
      </c:valAx>
      <c:catAx>
        <c:axId val="476130304"/>
        <c:scaling>
          <c:orientation val="minMax"/>
        </c:scaling>
        <c:delete val="1"/>
        <c:axPos val="b"/>
        <c:numFmt formatCode="0.0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76173056"/>
        <c:crosses val="autoZero"/>
        <c:auto val="1"/>
        <c:lblAlgn val="ctr"/>
        <c:lblOffset val="100"/>
        <c:noMultiLvlLbl val="0"/>
      </c:catAx>
      <c:valAx>
        <c:axId val="476173056"/>
        <c:scaling>
          <c:orientation val="minMax"/>
          <c:max val="100"/>
          <c:min val="0"/>
        </c:scaling>
        <c:delete val="0"/>
        <c:axPos val="r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76130304"/>
        <c:crosses val="max"/>
        <c:crossBetween val="between"/>
        <c:majorUnit val="10"/>
        <c:minorUnit val="2"/>
      </c:valAx>
      <c:spPr>
        <a:solidFill>
          <a:schemeClr val="bg1"/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d9a3e8b9-0e86-4a39-a7a4-941d07e8ad5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0683617672791"/>
          <c:y val="0.0408936764412527"/>
          <c:w val="0.83293449256343"/>
          <c:h val="0.856207325520576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Data!$D$7</c:f>
              <c:strCache>
                <c:ptCount val="1"/>
                <c:pt idx="0">
                  <c:v>Recession</c:v>
                </c:pt>
              </c:strCache>
            </c:strRef>
          </c:tx>
          <c:spPr>
            <a:solidFill>
              <a:srgbClr val="FFCC99"/>
            </a:solidFill>
          </c:spPr>
          <c:invertIfNegative val="0"/>
          <c:dLbls>
            <c:delete val="1"/>
          </c:dLbls>
          <c:cat>
            <c:numRef>
              <c:f>Data!$B$8:$B$197</c:f>
              <c:numCache>
                <c:formatCode>0.00</c:formatCode>
                <c:ptCount val="190"/>
                <c:pt idx="0" c:formatCode="0.00">
                  <c:v>1965</c:v>
                </c:pt>
                <c:pt idx="1" c:formatCode="0.00">
                  <c:v>1965.25</c:v>
                </c:pt>
                <c:pt idx="2" c:formatCode="0.00">
                  <c:v>1965.5</c:v>
                </c:pt>
                <c:pt idx="3" c:formatCode="0.00">
                  <c:v>1965.75</c:v>
                </c:pt>
                <c:pt idx="4" c:formatCode="0.00">
                  <c:v>1966</c:v>
                </c:pt>
                <c:pt idx="5" c:formatCode="0.00">
                  <c:v>1966.25</c:v>
                </c:pt>
                <c:pt idx="6" c:formatCode="0.00">
                  <c:v>1966.5</c:v>
                </c:pt>
                <c:pt idx="7" c:formatCode="0.00">
                  <c:v>1966.75</c:v>
                </c:pt>
                <c:pt idx="8" c:formatCode="0.00">
                  <c:v>1967</c:v>
                </c:pt>
                <c:pt idx="9" c:formatCode="0.00">
                  <c:v>1967.25</c:v>
                </c:pt>
                <c:pt idx="10" c:formatCode="0.00">
                  <c:v>1967.5</c:v>
                </c:pt>
                <c:pt idx="11" c:formatCode="0.00">
                  <c:v>1967.75</c:v>
                </c:pt>
                <c:pt idx="12" c:formatCode="0.00">
                  <c:v>1968</c:v>
                </c:pt>
                <c:pt idx="13" c:formatCode="0.00">
                  <c:v>1968.25</c:v>
                </c:pt>
                <c:pt idx="14" c:formatCode="0.00">
                  <c:v>1968.5</c:v>
                </c:pt>
                <c:pt idx="15" c:formatCode="0.00">
                  <c:v>1968.75</c:v>
                </c:pt>
                <c:pt idx="16" c:formatCode="0.00">
                  <c:v>1969</c:v>
                </c:pt>
                <c:pt idx="17" c:formatCode="0.00">
                  <c:v>1969.25</c:v>
                </c:pt>
                <c:pt idx="18" c:formatCode="0.00">
                  <c:v>1969.5</c:v>
                </c:pt>
                <c:pt idx="19" c:formatCode="0.00">
                  <c:v>1969.75</c:v>
                </c:pt>
                <c:pt idx="20" c:formatCode="0.00">
                  <c:v>1970</c:v>
                </c:pt>
                <c:pt idx="21" c:formatCode="0.00">
                  <c:v>1970.25</c:v>
                </c:pt>
                <c:pt idx="22" c:formatCode="0.00">
                  <c:v>1970.5</c:v>
                </c:pt>
                <c:pt idx="23" c:formatCode="0.00">
                  <c:v>1970.75</c:v>
                </c:pt>
                <c:pt idx="24" c:formatCode="0.00">
                  <c:v>1971</c:v>
                </c:pt>
                <c:pt idx="25" c:formatCode="0.00">
                  <c:v>1971.25</c:v>
                </c:pt>
                <c:pt idx="26" c:formatCode="0.00">
                  <c:v>1971.5</c:v>
                </c:pt>
                <c:pt idx="27" c:formatCode="0.00">
                  <c:v>1971.75</c:v>
                </c:pt>
                <c:pt idx="28" c:formatCode="0.00">
                  <c:v>1972</c:v>
                </c:pt>
                <c:pt idx="29" c:formatCode="0.00">
                  <c:v>1972.25</c:v>
                </c:pt>
                <c:pt idx="30" c:formatCode="0.00">
                  <c:v>1972.5</c:v>
                </c:pt>
                <c:pt idx="31" c:formatCode="0.00">
                  <c:v>1972.75</c:v>
                </c:pt>
                <c:pt idx="32" c:formatCode="0.00">
                  <c:v>1973</c:v>
                </c:pt>
                <c:pt idx="33" c:formatCode="0.00">
                  <c:v>1973.25</c:v>
                </c:pt>
                <c:pt idx="34" c:formatCode="0.00">
                  <c:v>1973.5</c:v>
                </c:pt>
                <c:pt idx="35" c:formatCode="0.00">
                  <c:v>1973.75</c:v>
                </c:pt>
                <c:pt idx="36" c:formatCode="0.00">
                  <c:v>1974</c:v>
                </c:pt>
                <c:pt idx="37" c:formatCode="0.00">
                  <c:v>1974.25</c:v>
                </c:pt>
                <c:pt idx="38" c:formatCode="0.00">
                  <c:v>1974.5</c:v>
                </c:pt>
                <c:pt idx="39" c:formatCode="0.00">
                  <c:v>1974.75</c:v>
                </c:pt>
                <c:pt idx="40" c:formatCode="0.00">
                  <c:v>1975</c:v>
                </c:pt>
                <c:pt idx="41" c:formatCode="0.00">
                  <c:v>1975.25</c:v>
                </c:pt>
                <c:pt idx="42" c:formatCode="0.00">
                  <c:v>1975.5</c:v>
                </c:pt>
                <c:pt idx="43" c:formatCode="0.00">
                  <c:v>1975.75</c:v>
                </c:pt>
                <c:pt idx="44" c:formatCode="0.00">
                  <c:v>1976</c:v>
                </c:pt>
                <c:pt idx="45" c:formatCode="0.00">
                  <c:v>1976.25</c:v>
                </c:pt>
                <c:pt idx="46" c:formatCode="0.00">
                  <c:v>1976.5</c:v>
                </c:pt>
                <c:pt idx="47" c:formatCode="0.00">
                  <c:v>1976.75</c:v>
                </c:pt>
                <c:pt idx="48" c:formatCode="0.00">
                  <c:v>1977</c:v>
                </c:pt>
                <c:pt idx="49" c:formatCode="0.00">
                  <c:v>1977.25</c:v>
                </c:pt>
                <c:pt idx="50" c:formatCode="0.00">
                  <c:v>1977.5</c:v>
                </c:pt>
                <c:pt idx="51" c:formatCode="0.00">
                  <c:v>1977.75</c:v>
                </c:pt>
                <c:pt idx="52" c:formatCode="0.00">
                  <c:v>1978</c:v>
                </c:pt>
                <c:pt idx="53" c:formatCode="0.00">
                  <c:v>1978.25</c:v>
                </c:pt>
                <c:pt idx="54" c:formatCode="0.00">
                  <c:v>1978.5</c:v>
                </c:pt>
                <c:pt idx="55" c:formatCode="0.00">
                  <c:v>1978.75</c:v>
                </c:pt>
                <c:pt idx="56" c:formatCode="0.00">
                  <c:v>1979</c:v>
                </c:pt>
                <c:pt idx="57" c:formatCode="0.00">
                  <c:v>1979.25</c:v>
                </c:pt>
                <c:pt idx="58" c:formatCode="0.00">
                  <c:v>1979.5</c:v>
                </c:pt>
                <c:pt idx="59" c:formatCode="0.00">
                  <c:v>1979.75</c:v>
                </c:pt>
                <c:pt idx="60" c:formatCode="0.00">
                  <c:v>1980</c:v>
                </c:pt>
                <c:pt idx="61" c:formatCode="0.00">
                  <c:v>1980.25</c:v>
                </c:pt>
                <c:pt idx="62" c:formatCode="0.00">
                  <c:v>1980.5</c:v>
                </c:pt>
                <c:pt idx="63" c:formatCode="0.00">
                  <c:v>1980.75</c:v>
                </c:pt>
                <c:pt idx="64" c:formatCode="0.00">
                  <c:v>1981</c:v>
                </c:pt>
                <c:pt idx="65" c:formatCode="0.00">
                  <c:v>1981.25</c:v>
                </c:pt>
                <c:pt idx="66" c:formatCode="0.00">
                  <c:v>1981.5</c:v>
                </c:pt>
                <c:pt idx="67" c:formatCode="0.00">
                  <c:v>1981.75</c:v>
                </c:pt>
                <c:pt idx="68" c:formatCode="0.00">
                  <c:v>1982</c:v>
                </c:pt>
                <c:pt idx="69" c:formatCode="0.00">
                  <c:v>1982.25</c:v>
                </c:pt>
                <c:pt idx="70" c:formatCode="0.00">
                  <c:v>1982.5</c:v>
                </c:pt>
                <c:pt idx="71" c:formatCode="0.00">
                  <c:v>1982.75</c:v>
                </c:pt>
                <c:pt idx="72" c:formatCode="0.00">
                  <c:v>1983</c:v>
                </c:pt>
                <c:pt idx="73" c:formatCode="0.00">
                  <c:v>1983.25</c:v>
                </c:pt>
                <c:pt idx="74" c:formatCode="0.00">
                  <c:v>1983.5</c:v>
                </c:pt>
                <c:pt idx="75" c:formatCode="0.00">
                  <c:v>1983.75</c:v>
                </c:pt>
                <c:pt idx="76" c:formatCode="0.00">
                  <c:v>1984</c:v>
                </c:pt>
                <c:pt idx="77" c:formatCode="0.00">
                  <c:v>1984.25</c:v>
                </c:pt>
                <c:pt idx="78" c:formatCode="0.00">
                  <c:v>1984.5</c:v>
                </c:pt>
                <c:pt idx="79" c:formatCode="0.00">
                  <c:v>1984.75</c:v>
                </c:pt>
                <c:pt idx="80" c:formatCode="0.00">
                  <c:v>1985</c:v>
                </c:pt>
                <c:pt idx="81" c:formatCode="0.00">
                  <c:v>1985.25</c:v>
                </c:pt>
                <c:pt idx="82" c:formatCode="0.00">
                  <c:v>1985.5</c:v>
                </c:pt>
                <c:pt idx="83" c:formatCode="0.00">
                  <c:v>1985.75</c:v>
                </c:pt>
                <c:pt idx="84" c:formatCode="0.00">
                  <c:v>1986</c:v>
                </c:pt>
                <c:pt idx="85" c:formatCode="0.00">
                  <c:v>1986.25</c:v>
                </c:pt>
                <c:pt idx="86" c:formatCode="0.00">
                  <c:v>1986.5</c:v>
                </c:pt>
                <c:pt idx="87" c:formatCode="0.00">
                  <c:v>1986.75</c:v>
                </c:pt>
                <c:pt idx="88" c:formatCode="0.00">
                  <c:v>1987</c:v>
                </c:pt>
                <c:pt idx="89" c:formatCode="0.00">
                  <c:v>1987.25</c:v>
                </c:pt>
                <c:pt idx="90" c:formatCode="0.00">
                  <c:v>1987.5</c:v>
                </c:pt>
                <c:pt idx="91" c:formatCode="0.00">
                  <c:v>1987.75</c:v>
                </c:pt>
                <c:pt idx="92" c:formatCode="0.00">
                  <c:v>1988</c:v>
                </c:pt>
                <c:pt idx="93" c:formatCode="0.00">
                  <c:v>1988.25</c:v>
                </c:pt>
                <c:pt idx="94" c:formatCode="0.00">
                  <c:v>1988.5</c:v>
                </c:pt>
                <c:pt idx="95" c:formatCode="0.00">
                  <c:v>1988.75</c:v>
                </c:pt>
                <c:pt idx="96" c:formatCode="0.00">
                  <c:v>1989</c:v>
                </c:pt>
                <c:pt idx="97" c:formatCode="0.00">
                  <c:v>1989.25</c:v>
                </c:pt>
                <c:pt idx="98" c:formatCode="0.00">
                  <c:v>1989.5</c:v>
                </c:pt>
                <c:pt idx="99" c:formatCode="0.00">
                  <c:v>1989.75</c:v>
                </c:pt>
                <c:pt idx="100" c:formatCode="0.00">
                  <c:v>1990</c:v>
                </c:pt>
                <c:pt idx="101" c:formatCode="0.00">
                  <c:v>1990.25</c:v>
                </c:pt>
                <c:pt idx="102" c:formatCode="0.00">
                  <c:v>1990.5</c:v>
                </c:pt>
                <c:pt idx="103" c:formatCode="0.00">
                  <c:v>1990.75</c:v>
                </c:pt>
                <c:pt idx="104" c:formatCode="0.00">
                  <c:v>1991</c:v>
                </c:pt>
                <c:pt idx="105" c:formatCode="0.00">
                  <c:v>1991.25</c:v>
                </c:pt>
                <c:pt idx="106" c:formatCode="0.00">
                  <c:v>1991.5</c:v>
                </c:pt>
                <c:pt idx="107" c:formatCode="0.00">
                  <c:v>1991.75</c:v>
                </c:pt>
                <c:pt idx="108" c:formatCode="0.00">
                  <c:v>1992</c:v>
                </c:pt>
                <c:pt idx="109" c:formatCode="0.00">
                  <c:v>1992.25</c:v>
                </c:pt>
                <c:pt idx="110" c:formatCode="0.00">
                  <c:v>1992.5</c:v>
                </c:pt>
                <c:pt idx="111" c:formatCode="0.00">
                  <c:v>1992.75</c:v>
                </c:pt>
                <c:pt idx="112" c:formatCode="0.00">
                  <c:v>1993</c:v>
                </c:pt>
                <c:pt idx="113" c:formatCode="0.00">
                  <c:v>1993.25</c:v>
                </c:pt>
                <c:pt idx="114" c:formatCode="0.00">
                  <c:v>1993.5</c:v>
                </c:pt>
                <c:pt idx="115" c:formatCode="0.00">
                  <c:v>1993.75</c:v>
                </c:pt>
                <c:pt idx="116" c:formatCode="0.00">
                  <c:v>1994</c:v>
                </c:pt>
                <c:pt idx="117" c:formatCode="0.00">
                  <c:v>1994.25</c:v>
                </c:pt>
                <c:pt idx="118" c:formatCode="0.00">
                  <c:v>1994.5</c:v>
                </c:pt>
                <c:pt idx="119" c:formatCode="0.00">
                  <c:v>1994.75</c:v>
                </c:pt>
                <c:pt idx="120" c:formatCode="0.00">
                  <c:v>1995</c:v>
                </c:pt>
                <c:pt idx="121" c:formatCode="0.00">
                  <c:v>1995.25</c:v>
                </c:pt>
                <c:pt idx="122" c:formatCode="0.00">
                  <c:v>1995.5</c:v>
                </c:pt>
                <c:pt idx="123" c:formatCode="0.00">
                  <c:v>1995.75</c:v>
                </c:pt>
                <c:pt idx="124" c:formatCode="0.00">
                  <c:v>1996</c:v>
                </c:pt>
                <c:pt idx="125" c:formatCode="0.00">
                  <c:v>1996.25</c:v>
                </c:pt>
                <c:pt idx="126" c:formatCode="0.00">
                  <c:v>1996.5</c:v>
                </c:pt>
                <c:pt idx="127" c:formatCode="0.00">
                  <c:v>1996.75</c:v>
                </c:pt>
                <c:pt idx="128" c:formatCode="0.00">
                  <c:v>1997</c:v>
                </c:pt>
                <c:pt idx="129" c:formatCode="0.00">
                  <c:v>1997.25</c:v>
                </c:pt>
                <c:pt idx="130" c:formatCode="0.00">
                  <c:v>1997.5</c:v>
                </c:pt>
                <c:pt idx="131" c:formatCode="0.00">
                  <c:v>1997.75</c:v>
                </c:pt>
                <c:pt idx="132" c:formatCode="0.00">
                  <c:v>1998</c:v>
                </c:pt>
                <c:pt idx="133" c:formatCode="0.00">
                  <c:v>1998.25</c:v>
                </c:pt>
                <c:pt idx="134" c:formatCode="0.00">
                  <c:v>1998.5</c:v>
                </c:pt>
                <c:pt idx="135" c:formatCode="0.00">
                  <c:v>1998.75</c:v>
                </c:pt>
                <c:pt idx="136" c:formatCode="0.00">
                  <c:v>1999</c:v>
                </c:pt>
                <c:pt idx="137" c:formatCode="0.00">
                  <c:v>1999.25</c:v>
                </c:pt>
                <c:pt idx="138" c:formatCode="0.00">
                  <c:v>1999.5</c:v>
                </c:pt>
                <c:pt idx="139" c:formatCode="0.00">
                  <c:v>1999.75</c:v>
                </c:pt>
                <c:pt idx="140" c:formatCode="0.00">
                  <c:v>2000</c:v>
                </c:pt>
                <c:pt idx="141" c:formatCode="0.00">
                  <c:v>2000.25</c:v>
                </c:pt>
                <c:pt idx="142" c:formatCode="0.00">
                  <c:v>2000.5</c:v>
                </c:pt>
                <c:pt idx="143" c:formatCode="0.00">
                  <c:v>2000.75</c:v>
                </c:pt>
                <c:pt idx="144" c:formatCode="0.00">
                  <c:v>2001</c:v>
                </c:pt>
                <c:pt idx="145" c:formatCode="0.00">
                  <c:v>2001.25</c:v>
                </c:pt>
                <c:pt idx="146" c:formatCode="0.00">
                  <c:v>2001.5</c:v>
                </c:pt>
                <c:pt idx="147" c:formatCode="0.00">
                  <c:v>2001.75</c:v>
                </c:pt>
                <c:pt idx="148" c:formatCode="0.00">
                  <c:v>2002</c:v>
                </c:pt>
                <c:pt idx="149" c:formatCode="0.00">
                  <c:v>2002.25</c:v>
                </c:pt>
                <c:pt idx="150" c:formatCode="0.00">
                  <c:v>2002.5</c:v>
                </c:pt>
                <c:pt idx="151" c:formatCode="0.00">
                  <c:v>2002.75</c:v>
                </c:pt>
                <c:pt idx="152" c:formatCode="0.00">
                  <c:v>2003</c:v>
                </c:pt>
                <c:pt idx="153" c:formatCode="0.00">
                  <c:v>2003.25</c:v>
                </c:pt>
                <c:pt idx="154" c:formatCode="0.00">
                  <c:v>2003.5</c:v>
                </c:pt>
                <c:pt idx="155" c:formatCode="0.00">
                  <c:v>2003.75</c:v>
                </c:pt>
                <c:pt idx="156" c:formatCode="0.00">
                  <c:v>2004</c:v>
                </c:pt>
                <c:pt idx="157" c:formatCode="0.00">
                  <c:v>2004.25</c:v>
                </c:pt>
                <c:pt idx="158" c:formatCode="0.00">
                  <c:v>2004.5</c:v>
                </c:pt>
                <c:pt idx="159" c:formatCode="0.00">
                  <c:v>2004.75</c:v>
                </c:pt>
                <c:pt idx="160" c:formatCode="0.00">
                  <c:v>2005</c:v>
                </c:pt>
                <c:pt idx="161" c:formatCode="0.00">
                  <c:v>2005.25</c:v>
                </c:pt>
                <c:pt idx="162" c:formatCode="0.00">
                  <c:v>2005.5</c:v>
                </c:pt>
                <c:pt idx="163" c:formatCode="0.00">
                  <c:v>2005.75</c:v>
                </c:pt>
                <c:pt idx="164" c:formatCode="0.00">
                  <c:v>2006</c:v>
                </c:pt>
                <c:pt idx="165" c:formatCode="0.00">
                  <c:v>2006.25</c:v>
                </c:pt>
                <c:pt idx="166" c:formatCode="0.00">
                  <c:v>2006.5</c:v>
                </c:pt>
                <c:pt idx="167" c:formatCode="0.00">
                  <c:v>2006.75</c:v>
                </c:pt>
                <c:pt idx="168" c:formatCode="0.00">
                  <c:v>2007</c:v>
                </c:pt>
                <c:pt idx="169" c:formatCode="0.00">
                  <c:v>2007.25</c:v>
                </c:pt>
                <c:pt idx="170" c:formatCode="0.00">
                  <c:v>2007.5</c:v>
                </c:pt>
                <c:pt idx="171" c:formatCode="0.00">
                  <c:v>2007.75</c:v>
                </c:pt>
                <c:pt idx="172" c:formatCode="0.00">
                  <c:v>2008</c:v>
                </c:pt>
                <c:pt idx="173" c:formatCode="0.00">
                  <c:v>2008.25</c:v>
                </c:pt>
                <c:pt idx="174" c:formatCode="0.00">
                  <c:v>2008.5</c:v>
                </c:pt>
                <c:pt idx="175" c:formatCode="0.00">
                  <c:v>2008.75</c:v>
                </c:pt>
                <c:pt idx="176" c:formatCode="0.00">
                  <c:v>2009</c:v>
                </c:pt>
                <c:pt idx="177" c:formatCode="0.00">
                  <c:v>2009.25</c:v>
                </c:pt>
                <c:pt idx="178" c:formatCode="0.00">
                  <c:v>2009.5</c:v>
                </c:pt>
                <c:pt idx="179" c:formatCode="0.00">
                  <c:v>2009.75</c:v>
                </c:pt>
                <c:pt idx="180" c:formatCode="0.00">
                  <c:v>2010</c:v>
                </c:pt>
                <c:pt idx="181" c:formatCode="0.00">
                  <c:v>2010.25</c:v>
                </c:pt>
                <c:pt idx="182" c:formatCode="0.00">
                  <c:v>2010.5</c:v>
                </c:pt>
                <c:pt idx="183" c:formatCode="0.00">
                  <c:v>2010.75</c:v>
                </c:pt>
                <c:pt idx="184" c:formatCode="0.00">
                  <c:v>2011</c:v>
                </c:pt>
                <c:pt idx="185" c:formatCode="0.00">
                  <c:v>2011.25</c:v>
                </c:pt>
                <c:pt idx="186" c:formatCode="0.00">
                  <c:v>2011.5</c:v>
                </c:pt>
                <c:pt idx="187" c:formatCode="0.00">
                  <c:v>2011.75</c:v>
                </c:pt>
                <c:pt idx="188" c:formatCode="0.00">
                  <c:v>2012</c:v>
                </c:pt>
                <c:pt idx="189" c:formatCode="0.00">
                  <c:v>2012.25</c:v>
                </c:pt>
              </c:numCache>
            </c:numRef>
          </c:cat>
          <c:val>
            <c:numRef>
              <c:f>Data!$D$8:$D$202</c:f>
              <c:numCache>
                <c:formatCode>General</c:formatCode>
                <c:ptCount val="195"/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39"/>
        <c:axId val="476090368"/>
        <c:axId val="476091904"/>
      </c:barChart>
      <c:scatterChart>
        <c:scatterStyle val="lineMarker"/>
        <c:varyColors val="0"/>
        <c:ser>
          <c:idx val="0"/>
          <c:order val="0"/>
          <c:tx>
            <c:strRef>
              <c:f>Data!$C$7</c:f>
              <c:strCache>
                <c:ptCount val="1"/>
                <c:pt idx="0">
                  <c:v>Investment</c:v>
                </c:pt>
              </c:strCache>
            </c:strRef>
          </c:tx>
          <c:spPr>
            <a:ln w="44450" cap="rnd" cmpd="sng" algn="ctr">
              <a:solidFill>
                <a:schemeClr val="accent5">
                  <a:lumMod val="50000"/>
                </a:schemeClr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Data!$B$8:$B$202</c:f>
              <c:numCache>
                <c:formatCode>0.00</c:formatCode>
                <c:ptCount val="195"/>
                <c:pt idx="0">
                  <c:v>1965</c:v>
                </c:pt>
                <c:pt idx="1">
                  <c:v>1965.25</c:v>
                </c:pt>
                <c:pt idx="2">
                  <c:v>1965.5</c:v>
                </c:pt>
                <c:pt idx="3">
                  <c:v>1965.75</c:v>
                </c:pt>
                <c:pt idx="4">
                  <c:v>1966</c:v>
                </c:pt>
                <c:pt idx="5">
                  <c:v>1966.25</c:v>
                </c:pt>
                <c:pt idx="6">
                  <c:v>1966.5</c:v>
                </c:pt>
                <c:pt idx="7">
                  <c:v>1966.75</c:v>
                </c:pt>
                <c:pt idx="8">
                  <c:v>1967</c:v>
                </c:pt>
                <c:pt idx="9">
                  <c:v>1967.25</c:v>
                </c:pt>
                <c:pt idx="10">
                  <c:v>1967.5</c:v>
                </c:pt>
                <c:pt idx="11">
                  <c:v>1967.75</c:v>
                </c:pt>
                <c:pt idx="12">
                  <c:v>1968</c:v>
                </c:pt>
                <c:pt idx="13">
                  <c:v>1968.25</c:v>
                </c:pt>
                <c:pt idx="14">
                  <c:v>1968.5</c:v>
                </c:pt>
                <c:pt idx="15">
                  <c:v>1968.75</c:v>
                </c:pt>
                <c:pt idx="16">
                  <c:v>1969</c:v>
                </c:pt>
                <c:pt idx="17">
                  <c:v>1969.25</c:v>
                </c:pt>
                <c:pt idx="18">
                  <c:v>1969.5</c:v>
                </c:pt>
                <c:pt idx="19">
                  <c:v>1969.75</c:v>
                </c:pt>
                <c:pt idx="20">
                  <c:v>1970</c:v>
                </c:pt>
                <c:pt idx="21">
                  <c:v>1970.25</c:v>
                </c:pt>
                <c:pt idx="22">
                  <c:v>1970.5</c:v>
                </c:pt>
                <c:pt idx="23">
                  <c:v>1970.75</c:v>
                </c:pt>
                <c:pt idx="24">
                  <c:v>1971</c:v>
                </c:pt>
                <c:pt idx="25">
                  <c:v>1971.25</c:v>
                </c:pt>
                <c:pt idx="26">
                  <c:v>1971.5</c:v>
                </c:pt>
                <c:pt idx="27">
                  <c:v>1971.75</c:v>
                </c:pt>
                <c:pt idx="28">
                  <c:v>1972</c:v>
                </c:pt>
                <c:pt idx="29">
                  <c:v>1972.25</c:v>
                </c:pt>
                <c:pt idx="30">
                  <c:v>1972.5</c:v>
                </c:pt>
                <c:pt idx="31">
                  <c:v>1972.75</c:v>
                </c:pt>
                <c:pt idx="32">
                  <c:v>1973</c:v>
                </c:pt>
                <c:pt idx="33">
                  <c:v>1973.25</c:v>
                </c:pt>
                <c:pt idx="34">
                  <c:v>1973.5</c:v>
                </c:pt>
                <c:pt idx="35">
                  <c:v>1973.75</c:v>
                </c:pt>
                <c:pt idx="36">
                  <c:v>1974</c:v>
                </c:pt>
                <c:pt idx="37">
                  <c:v>1974.25</c:v>
                </c:pt>
                <c:pt idx="38">
                  <c:v>1974.5</c:v>
                </c:pt>
                <c:pt idx="39">
                  <c:v>1974.75</c:v>
                </c:pt>
                <c:pt idx="40">
                  <c:v>1975</c:v>
                </c:pt>
                <c:pt idx="41">
                  <c:v>1975.25</c:v>
                </c:pt>
                <c:pt idx="42">
                  <c:v>1975.5</c:v>
                </c:pt>
                <c:pt idx="43">
                  <c:v>1975.75</c:v>
                </c:pt>
                <c:pt idx="44">
                  <c:v>1976</c:v>
                </c:pt>
                <c:pt idx="45">
                  <c:v>1976.25</c:v>
                </c:pt>
                <c:pt idx="46">
                  <c:v>1976.5</c:v>
                </c:pt>
                <c:pt idx="47">
                  <c:v>1976.75</c:v>
                </c:pt>
                <c:pt idx="48">
                  <c:v>1977</c:v>
                </c:pt>
                <c:pt idx="49">
                  <c:v>1977.25</c:v>
                </c:pt>
                <c:pt idx="50">
                  <c:v>1977.5</c:v>
                </c:pt>
                <c:pt idx="51">
                  <c:v>1977.75</c:v>
                </c:pt>
                <c:pt idx="52">
                  <c:v>1978</c:v>
                </c:pt>
                <c:pt idx="53">
                  <c:v>1978.25</c:v>
                </c:pt>
                <c:pt idx="54">
                  <c:v>1978.5</c:v>
                </c:pt>
                <c:pt idx="55">
                  <c:v>1978.75</c:v>
                </c:pt>
                <c:pt idx="56">
                  <c:v>1979</c:v>
                </c:pt>
                <c:pt idx="57">
                  <c:v>1979.25</c:v>
                </c:pt>
                <c:pt idx="58">
                  <c:v>1979.5</c:v>
                </c:pt>
                <c:pt idx="59">
                  <c:v>1979.75</c:v>
                </c:pt>
                <c:pt idx="60">
                  <c:v>1980</c:v>
                </c:pt>
                <c:pt idx="61">
                  <c:v>1980.25</c:v>
                </c:pt>
                <c:pt idx="62">
                  <c:v>1980.5</c:v>
                </c:pt>
                <c:pt idx="63">
                  <c:v>1980.75</c:v>
                </c:pt>
                <c:pt idx="64">
                  <c:v>1981</c:v>
                </c:pt>
                <c:pt idx="65">
                  <c:v>1981.25</c:v>
                </c:pt>
                <c:pt idx="66">
                  <c:v>1981.5</c:v>
                </c:pt>
                <c:pt idx="67">
                  <c:v>1981.75</c:v>
                </c:pt>
                <c:pt idx="68">
                  <c:v>1982</c:v>
                </c:pt>
                <c:pt idx="69">
                  <c:v>1982.25</c:v>
                </c:pt>
                <c:pt idx="70">
                  <c:v>1982.5</c:v>
                </c:pt>
                <c:pt idx="71">
                  <c:v>1982.75</c:v>
                </c:pt>
                <c:pt idx="72">
                  <c:v>1983</c:v>
                </c:pt>
                <c:pt idx="73">
                  <c:v>1983.25</c:v>
                </c:pt>
                <c:pt idx="74">
                  <c:v>1983.5</c:v>
                </c:pt>
                <c:pt idx="75">
                  <c:v>1983.75</c:v>
                </c:pt>
                <c:pt idx="76">
                  <c:v>1984</c:v>
                </c:pt>
                <c:pt idx="77">
                  <c:v>1984.25</c:v>
                </c:pt>
                <c:pt idx="78">
                  <c:v>1984.5</c:v>
                </c:pt>
                <c:pt idx="79">
                  <c:v>1984.75</c:v>
                </c:pt>
                <c:pt idx="80">
                  <c:v>1985</c:v>
                </c:pt>
                <c:pt idx="81">
                  <c:v>1985.25</c:v>
                </c:pt>
                <c:pt idx="82">
                  <c:v>1985.5</c:v>
                </c:pt>
                <c:pt idx="83">
                  <c:v>1985.75</c:v>
                </c:pt>
                <c:pt idx="84">
                  <c:v>1986</c:v>
                </c:pt>
                <c:pt idx="85">
                  <c:v>1986.25</c:v>
                </c:pt>
                <c:pt idx="86">
                  <c:v>1986.5</c:v>
                </c:pt>
                <c:pt idx="87">
                  <c:v>1986.75</c:v>
                </c:pt>
                <c:pt idx="88">
                  <c:v>1987</c:v>
                </c:pt>
                <c:pt idx="89">
                  <c:v>1987.25</c:v>
                </c:pt>
                <c:pt idx="90">
                  <c:v>1987.5</c:v>
                </c:pt>
                <c:pt idx="91">
                  <c:v>1987.75</c:v>
                </c:pt>
                <c:pt idx="92">
                  <c:v>1988</c:v>
                </c:pt>
                <c:pt idx="93">
                  <c:v>1988.25</c:v>
                </c:pt>
                <c:pt idx="94">
                  <c:v>1988.5</c:v>
                </c:pt>
                <c:pt idx="95">
                  <c:v>1988.75</c:v>
                </c:pt>
                <c:pt idx="96">
                  <c:v>1989</c:v>
                </c:pt>
                <c:pt idx="97">
                  <c:v>1989.25</c:v>
                </c:pt>
                <c:pt idx="98">
                  <c:v>1989.5</c:v>
                </c:pt>
                <c:pt idx="99">
                  <c:v>1989.75</c:v>
                </c:pt>
                <c:pt idx="100">
                  <c:v>1990</c:v>
                </c:pt>
                <c:pt idx="101">
                  <c:v>1990.25</c:v>
                </c:pt>
                <c:pt idx="102">
                  <c:v>1990.5</c:v>
                </c:pt>
                <c:pt idx="103">
                  <c:v>1990.75</c:v>
                </c:pt>
                <c:pt idx="104">
                  <c:v>1991</c:v>
                </c:pt>
                <c:pt idx="105">
                  <c:v>1991.25</c:v>
                </c:pt>
                <c:pt idx="106">
                  <c:v>1991.5</c:v>
                </c:pt>
                <c:pt idx="107">
                  <c:v>1991.75</c:v>
                </c:pt>
                <c:pt idx="108">
                  <c:v>1992</c:v>
                </c:pt>
                <c:pt idx="109">
                  <c:v>1992.25</c:v>
                </c:pt>
                <c:pt idx="110">
                  <c:v>1992.5</c:v>
                </c:pt>
                <c:pt idx="111">
                  <c:v>1992.75</c:v>
                </c:pt>
                <c:pt idx="112">
                  <c:v>1993</c:v>
                </c:pt>
                <c:pt idx="113">
                  <c:v>1993.25</c:v>
                </c:pt>
                <c:pt idx="114">
                  <c:v>1993.5</c:v>
                </c:pt>
                <c:pt idx="115">
                  <c:v>1993.75</c:v>
                </c:pt>
                <c:pt idx="116">
                  <c:v>1994</c:v>
                </c:pt>
                <c:pt idx="117">
                  <c:v>1994.25</c:v>
                </c:pt>
                <c:pt idx="118">
                  <c:v>1994.5</c:v>
                </c:pt>
                <c:pt idx="119">
                  <c:v>1994.75</c:v>
                </c:pt>
                <c:pt idx="120">
                  <c:v>1995</c:v>
                </c:pt>
                <c:pt idx="121">
                  <c:v>1995.25</c:v>
                </c:pt>
                <c:pt idx="122">
                  <c:v>1995.5</c:v>
                </c:pt>
                <c:pt idx="123">
                  <c:v>1995.75</c:v>
                </c:pt>
                <c:pt idx="124">
                  <c:v>1996</c:v>
                </c:pt>
                <c:pt idx="125">
                  <c:v>1996.25</c:v>
                </c:pt>
                <c:pt idx="126">
                  <c:v>1996.5</c:v>
                </c:pt>
                <c:pt idx="127">
                  <c:v>1996.75</c:v>
                </c:pt>
                <c:pt idx="128">
                  <c:v>1997</c:v>
                </c:pt>
                <c:pt idx="129">
                  <c:v>1997.25</c:v>
                </c:pt>
                <c:pt idx="130">
                  <c:v>1997.5</c:v>
                </c:pt>
                <c:pt idx="131">
                  <c:v>1997.75</c:v>
                </c:pt>
                <c:pt idx="132">
                  <c:v>1998</c:v>
                </c:pt>
                <c:pt idx="133">
                  <c:v>1998.25</c:v>
                </c:pt>
                <c:pt idx="134">
                  <c:v>1998.5</c:v>
                </c:pt>
                <c:pt idx="135">
                  <c:v>1998.75</c:v>
                </c:pt>
                <c:pt idx="136">
                  <c:v>1999</c:v>
                </c:pt>
                <c:pt idx="137">
                  <c:v>1999.25</c:v>
                </c:pt>
                <c:pt idx="138">
                  <c:v>1999.5</c:v>
                </c:pt>
                <c:pt idx="139">
                  <c:v>1999.75</c:v>
                </c:pt>
                <c:pt idx="140">
                  <c:v>2000</c:v>
                </c:pt>
                <c:pt idx="141">
                  <c:v>2000.25</c:v>
                </c:pt>
                <c:pt idx="142">
                  <c:v>2000.5</c:v>
                </c:pt>
                <c:pt idx="143">
                  <c:v>2000.75</c:v>
                </c:pt>
                <c:pt idx="144">
                  <c:v>2001</c:v>
                </c:pt>
                <c:pt idx="145">
                  <c:v>2001.25</c:v>
                </c:pt>
                <c:pt idx="146">
                  <c:v>2001.5</c:v>
                </c:pt>
                <c:pt idx="147">
                  <c:v>2001.75</c:v>
                </c:pt>
                <c:pt idx="148">
                  <c:v>2002</c:v>
                </c:pt>
                <c:pt idx="149">
                  <c:v>2002.25</c:v>
                </c:pt>
                <c:pt idx="150">
                  <c:v>2002.5</c:v>
                </c:pt>
                <c:pt idx="151">
                  <c:v>2002.75</c:v>
                </c:pt>
                <c:pt idx="152">
                  <c:v>2003</c:v>
                </c:pt>
                <c:pt idx="153">
                  <c:v>2003.25</c:v>
                </c:pt>
                <c:pt idx="154">
                  <c:v>2003.5</c:v>
                </c:pt>
                <c:pt idx="155">
                  <c:v>2003.75</c:v>
                </c:pt>
                <c:pt idx="156">
                  <c:v>2004</c:v>
                </c:pt>
                <c:pt idx="157">
                  <c:v>2004.25</c:v>
                </c:pt>
                <c:pt idx="158">
                  <c:v>2004.5</c:v>
                </c:pt>
                <c:pt idx="159">
                  <c:v>2004.75</c:v>
                </c:pt>
                <c:pt idx="160">
                  <c:v>2005</c:v>
                </c:pt>
                <c:pt idx="161">
                  <c:v>2005.25</c:v>
                </c:pt>
                <c:pt idx="162">
                  <c:v>2005.5</c:v>
                </c:pt>
                <c:pt idx="163">
                  <c:v>2005.75</c:v>
                </c:pt>
                <c:pt idx="164">
                  <c:v>2006</c:v>
                </c:pt>
                <c:pt idx="165">
                  <c:v>2006.25</c:v>
                </c:pt>
                <c:pt idx="166">
                  <c:v>2006.5</c:v>
                </c:pt>
                <c:pt idx="167">
                  <c:v>2006.75</c:v>
                </c:pt>
                <c:pt idx="168">
                  <c:v>2007</c:v>
                </c:pt>
                <c:pt idx="169">
                  <c:v>2007.25</c:v>
                </c:pt>
                <c:pt idx="170">
                  <c:v>2007.5</c:v>
                </c:pt>
                <c:pt idx="171">
                  <c:v>2007.75</c:v>
                </c:pt>
                <c:pt idx="172">
                  <c:v>2008</c:v>
                </c:pt>
                <c:pt idx="173">
                  <c:v>2008.25</c:v>
                </c:pt>
                <c:pt idx="174">
                  <c:v>2008.5</c:v>
                </c:pt>
                <c:pt idx="175">
                  <c:v>2008.75</c:v>
                </c:pt>
                <c:pt idx="176">
                  <c:v>2009</c:v>
                </c:pt>
                <c:pt idx="177">
                  <c:v>2009.25</c:v>
                </c:pt>
                <c:pt idx="178">
                  <c:v>2009.5</c:v>
                </c:pt>
                <c:pt idx="179">
                  <c:v>2009.75</c:v>
                </c:pt>
                <c:pt idx="180">
                  <c:v>2010</c:v>
                </c:pt>
                <c:pt idx="181">
                  <c:v>2010.25</c:v>
                </c:pt>
                <c:pt idx="182">
                  <c:v>2010.5</c:v>
                </c:pt>
                <c:pt idx="183">
                  <c:v>2010.75</c:v>
                </c:pt>
                <c:pt idx="184">
                  <c:v>2011</c:v>
                </c:pt>
                <c:pt idx="185">
                  <c:v>2011.25</c:v>
                </c:pt>
                <c:pt idx="186">
                  <c:v>2011.5</c:v>
                </c:pt>
                <c:pt idx="187">
                  <c:v>2011.75</c:v>
                </c:pt>
                <c:pt idx="188">
                  <c:v>2012</c:v>
                </c:pt>
                <c:pt idx="189">
                  <c:v>2012.25</c:v>
                </c:pt>
                <c:pt idx="190">
                  <c:v>2012.5</c:v>
                </c:pt>
                <c:pt idx="191">
                  <c:v>2012.75</c:v>
                </c:pt>
                <c:pt idx="192">
                  <c:v>2013</c:v>
                </c:pt>
                <c:pt idx="193">
                  <c:v>2013.25</c:v>
                </c:pt>
                <c:pt idx="194">
                  <c:v>2013.5</c:v>
                </c:pt>
              </c:numCache>
            </c:numRef>
          </c:xVal>
          <c:yVal>
            <c:numRef>
              <c:f>Data!$C$8:$C$202</c:f>
              <c:numCache>
                <c:formatCode>0.0</c:formatCode>
                <c:ptCount val="195"/>
                <c:pt idx="0">
                  <c:v>518.6</c:v>
                </c:pt>
                <c:pt idx="1">
                  <c:v>520</c:v>
                </c:pt>
                <c:pt idx="2">
                  <c:v>538.1</c:v>
                </c:pt>
                <c:pt idx="3">
                  <c:v>541.6</c:v>
                </c:pt>
                <c:pt idx="4">
                  <c:v>584.9</c:v>
                </c:pt>
                <c:pt idx="5">
                  <c:v>576.2</c:v>
                </c:pt>
                <c:pt idx="6">
                  <c:v>572</c:v>
                </c:pt>
                <c:pt idx="7">
                  <c:v>575.3</c:v>
                </c:pt>
                <c:pt idx="8">
                  <c:v>561.2</c:v>
                </c:pt>
                <c:pt idx="9">
                  <c:v>540.9</c:v>
                </c:pt>
                <c:pt idx="10">
                  <c:v>556.8</c:v>
                </c:pt>
                <c:pt idx="11">
                  <c:v>568.8</c:v>
                </c:pt>
                <c:pt idx="12">
                  <c:v>580.2</c:v>
                </c:pt>
                <c:pt idx="13">
                  <c:v>602.4</c:v>
                </c:pt>
                <c:pt idx="14">
                  <c:v>586</c:v>
                </c:pt>
                <c:pt idx="15">
                  <c:v>592.3</c:v>
                </c:pt>
                <c:pt idx="16">
                  <c:v>627.2</c:v>
                </c:pt>
                <c:pt idx="17">
                  <c:v>623.5</c:v>
                </c:pt>
                <c:pt idx="18">
                  <c:v>636.2</c:v>
                </c:pt>
                <c:pt idx="19">
                  <c:v>605.5</c:v>
                </c:pt>
                <c:pt idx="20">
                  <c:v>587.4</c:v>
                </c:pt>
                <c:pt idx="21">
                  <c:v>588.7</c:v>
                </c:pt>
                <c:pt idx="22">
                  <c:v>598.3</c:v>
                </c:pt>
                <c:pt idx="23">
                  <c:v>566.5</c:v>
                </c:pt>
                <c:pt idx="24">
                  <c:v>632.5</c:v>
                </c:pt>
                <c:pt idx="25">
                  <c:v>650.5</c:v>
                </c:pt>
                <c:pt idx="26">
                  <c:v>658.4</c:v>
                </c:pt>
                <c:pt idx="27">
                  <c:v>640.6</c:v>
                </c:pt>
                <c:pt idx="28">
                  <c:v>682.9</c:v>
                </c:pt>
                <c:pt idx="29">
                  <c:v>721.6</c:v>
                </c:pt>
                <c:pt idx="30">
                  <c:v>731.9</c:v>
                </c:pt>
                <c:pt idx="31">
                  <c:v>736.5</c:v>
                </c:pt>
                <c:pt idx="32">
                  <c:v>779.6</c:v>
                </c:pt>
                <c:pt idx="33">
                  <c:v>812.9</c:v>
                </c:pt>
                <c:pt idx="34">
                  <c:v>783.4</c:v>
                </c:pt>
                <c:pt idx="35">
                  <c:v>811.3</c:v>
                </c:pt>
                <c:pt idx="36">
                  <c:v>765</c:v>
                </c:pt>
                <c:pt idx="37">
                  <c:v>761.9</c:v>
                </c:pt>
                <c:pt idx="38">
                  <c:v>722.4</c:v>
                </c:pt>
                <c:pt idx="39">
                  <c:v>726.8</c:v>
                </c:pt>
                <c:pt idx="40">
                  <c:v>609.7</c:v>
                </c:pt>
                <c:pt idx="41">
                  <c:v>591.6</c:v>
                </c:pt>
                <c:pt idx="42">
                  <c:v>637.5</c:v>
                </c:pt>
                <c:pt idx="43">
                  <c:v>655.2</c:v>
                </c:pt>
                <c:pt idx="44">
                  <c:v>718.5</c:v>
                </c:pt>
                <c:pt idx="45">
                  <c:v>746.9</c:v>
                </c:pt>
                <c:pt idx="46">
                  <c:v>749.5</c:v>
                </c:pt>
                <c:pt idx="47">
                  <c:v>755.1</c:v>
                </c:pt>
                <c:pt idx="48">
                  <c:v>790.1</c:v>
                </c:pt>
                <c:pt idx="49">
                  <c:v>846.8</c:v>
                </c:pt>
                <c:pt idx="50">
                  <c:v>889.6</c:v>
                </c:pt>
                <c:pt idx="51">
                  <c:v>867.3</c:v>
                </c:pt>
                <c:pt idx="52">
                  <c:v>884.2</c:v>
                </c:pt>
                <c:pt idx="53">
                  <c:v>941.6</c:v>
                </c:pt>
                <c:pt idx="54">
                  <c:v>969.1</c:v>
                </c:pt>
                <c:pt idx="55">
                  <c:v>991.5</c:v>
                </c:pt>
                <c:pt idx="56">
                  <c:v>993.1</c:v>
                </c:pt>
                <c:pt idx="57">
                  <c:v>992.2</c:v>
                </c:pt>
                <c:pt idx="58">
                  <c:v>975.5</c:v>
                </c:pt>
                <c:pt idx="59">
                  <c:v>958.2</c:v>
                </c:pt>
                <c:pt idx="60">
                  <c:v>951.6</c:v>
                </c:pt>
                <c:pt idx="61">
                  <c:v>870.7</c:v>
                </c:pt>
                <c:pt idx="62">
                  <c:v>813.3</c:v>
                </c:pt>
                <c:pt idx="63">
                  <c:v>889.2</c:v>
                </c:pt>
                <c:pt idx="64">
                  <c:v>971.7</c:v>
                </c:pt>
                <c:pt idx="65">
                  <c:v>931.3</c:v>
                </c:pt>
                <c:pt idx="66">
                  <c:v>983.5</c:v>
                </c:pt>
                <c:pt idx="67">
                  <c:v>948.4</c:v>
                </c:pt>
                <c:pt idx="68">
                  <c:v>854.9</c:v>
                </c:pt>
                <c:pt idx="69">
                  <c:v>853.8</c:v>
                </c:pt>
                <c:pt idx="70">
                  <c:v>845.7</c:v>
                </c:pt>
                <c:pt idx="71">
                  <c:v>780.3</c:v>
                </c:pt>
                <c:pt idx="72">
                  <c:v>807.5</c:v>
                </c:pt>
                <c:pt idx="73">
                  <c:v>879.1</c:v>
                </c:pt>
                <c:pt idx="74">
                  <c:v>934.2</c:v>
                </c:pt>
                <c:pt idx="75">
                  <c:v>1025.1</c:v>
                </c:pt>
                <c:pt idx="76">
                  <c:v>1124.2</c:v>
                </c:pt>
                <c:pt idx="77">
                  <c:v>1160.7</c:v>
                </c:pt>
                <c:pt idx="78">
                  <c:v>1185.8</c:v>
                </c:pt>
                <c:pt idx="79">
                  <c:v>1170.4</c:v>
                </c:pt>
                <c:pt idx="80">
                  <c:v>1138.3</c:v>
                </c:pt>
                <c:pt idx="81">
                  <c:v>1157.7</c:v>
                </c:pt>
                <c:pt idx="82">
                  <c:v>1149.8</c:v>
                </c:pt>
                <c:pt idx="83">
                  <c:v>1192.2</c:v>
                </c:pt>
                <c:pt idx="84">
                  <c:v>1191.9</c:v>
                </c:pt>
                <c:pt idx="85">
                  <c:v>1171</c:v>
                </c:pt>
                <c:pt idx="86">
                  <c:v>1139.5</c:v>
                </c:pt>
                <c:pt idx="87">
                  <c:v>1143</c:v>
                </c:pt>
                <c:pt idx="88">
                  <c:v>1173.8</c:v>
                </c:pt>
                <c:pt idx="89">
                  <c:v>1174.4</c:v>
                </c:pt>
                <c:pt idx="90">
                  <c:v>1174.6</c:v>
                </c:pt>
                <c:pt idx="91">
                  <c:v>1254.6</c:v>
                </c:pt>
                <c:pt idx="92">
                  <c:v>1194.4</c:v>
                </c:pt>
                <c:pt idx="93">
                  <c:v>1222.9</c:v>
                </c:pt>
                <c:pt idx="94">
                  <c:v>1229.7</c:v>
                </c:pt>
                <c:pt idx="95">
                  <c:v>1248.4</c:v>
                </c:pt>
                <c:pt idx="96">
                  <c:v>1290.7</c:v>
                </c:pt>
                <c:pt idx="97">
                  <c:v>1278.3</c:v>
                </c:pt>
                <c:pt idx="98">
                  <c:v>1266.9</c:v>
                </c:pt>
                <c:pt idx="99">
                  <c:v>1257.7</c:v>
                </c:pt>
                <c:pt idx="100">
                  <c:v>1270</c:v>
                </c:pt>
                <c:pt idx="101">
                  <c:v>1270.4</c:v>
                </c:pt>
                <c:pt idx="102">
                  <c:v>1245.6</c:v>
                </c:pt>
                <c:pt idx="103">
                  <c:v>1176.3</c:v>
                </c:pt>
                <c:pt idx="104">
                  <c:v>1137.1</c:v>
                </c:pt>
                <c:pt idx="105">
                  <c:v>1137.2</c:v>
                </c:pt>
                <c:pt idx="106">
                  <c:v>1159.8</c:v>
                </c:pt>
                <c:pt idx="107">
                  <c:v>1201</c:v>
                </c:pt>
                <c:pt idx="108">
                  <c:v>1178.9</c:v>
                </c:pt>
                <c:pt idx="109">
                  <c:v>1245.7</c:v>
                </c:pt>
                <c:pt idx="110">
                  <c:v>1255.8</c:v>
                </c:pt>
                <c:pt idx="111">
                  <c:v>1294.2</c:v>
                </c:pt>
                <c:pt idx="112">
                  <c:v>1324.6</c:v>
                </c:pt>
                <c:pt idx="113">
                  <c:v>1332.1</c:v>
                </c:pt>
                <c:pt idx="114">
                  <c:v>1323.1</c:v>
                </c:pt>
                <c:pt idx="115">
                  <c:v>1392.5</c:v>
                </c:pt>
                <c:pt idx="116">
                  <c:v>1446.2</c:v>
                </c:pt>
                <c:pt idx="117">
                  <c:v>1517.1</c:v>
                </c:pt>
                <c:pt idx="118">
                  <c:v>1492.2</c:v>
                </c:pt>
                <c:pt idx="119">
                  <c:v>1553.5</c:v>
                </c:pt>
                <c:pt idx="120">
                  <c:v>1570.3</c:v>
                </c:pt>
                <c:pt idx="121">
                  <c:v>1537.7</c:v>
                </c:pt>
                <c:pt idx="122">
                  <c:v>1528.6</c:v>
                </c:pt>
                <c:pt idx="123">
                  <c:v>1566.7</c:v>
                </c:pt>
                <c:pt idx="124">
                  <c:v>1590.6</c:v>
                </c:pt>
                <c:pt idx="125">
                  <c:v>1667.7</c:v>
                </c:pt>
                <c:pt idx="126">
                  <c:v>1744.5</c:v>
                </c:pt>
                <c:pt idx="127">
                  <c:v>1743.9</c:v>
                </c:pt>
                <c:pt idx="128">
                  <c:v>1781.6</c:v>
                </c:pt>
                <c:pt idx="129">
                  <c:v>1880</c:v>
                </c:pt>
                <c:pt idx="130">
                  <c:v>1913.6</c:v>
                </c:pt>
                <c:pt idx="131">
                  <c:v>1940.7</c:v>
                </c:pt>
                <c:pt idx="132">
                  <c:v>2027.1</c:v>
                </c:pt>
                <c:pt idx="133">
                  <c:v>2013.4</c:v>
                </c:pt>
                <c:pt idx="134">
                  <c:v>2067.2</c:v>
                </c:pt>
                <c:pt idx="135">
                  <c:v>2125.5</c:v>
                </c:pt>
                <c:pt idx="136">
                  <c:v>2186.1</c:v>
                </c:pt>
                <c:pt idx="137">
                  <c:v>2188</c:v>
                </c:pt>
                <c:pt idx="138">
                  <c:v>2242.8</c:v>
                </c:pt>
                <c:pt idx="139">
                  <c:v>2308.6</c:v>
                </c:pt>
                <c:pt idx="140">
                  <c:v>2287.8</c:v>
                </c:pt>
                <c:pt idx="141">
                  <c:v>2424.5</c:v>
                </c:pt>
                <c:pt idx="142">
                  <c:v>2394.1</c:v>
                </c:pt>
                <c:pt idx="143">
                  <c:v>2395.6</c:v>
                </c:pt>
                <c:pt idx="144">
                  <c:v>2285.3</c:v>
                </c:pt>
                <c:pt idx="145">
                  <c:v>2277.1</c:v>
                </c:pt>
                <c:pt idx="146">
                  <c:v>2236.6</c:v>
                </c:pt>
                <c:pt idx="147">
                  <c:v>2126.9</c:v>
                </c:pt>
                <c:pt idx="148">
                  <c:v>2202.8</c:v>
                </c:pt>
                <c:pt idx="149">
                  <c:v>2224.9</c:v>
                </c:pt>
                <c:pt idx="150">
                  <c:v>2224.6</c:v>
                </c:pt>
                <c:pt idx="151">
                  <c:v>2220.7</c:v>
                </c:pt>
                <c:pt idx="152">
                  <c:v>2239.5</c:v>
                </c:pt>
                <c:pt idx="153">
                  <c:v>2251.3</c:v>
                </c:pt>
                <c:pt idx="154">
                  <c:v>2330.9</c:v>
                </c:pt>
                <c:pt idx="155">
                  <c:v>2413.1</c:v>
                </c:pt>
                <c:pt idx="156">
                  <c:v>2414.5</c:v>
                </c:pt>
                <c:pt idx="157">
                  <c:v>2500.9</c:v>
                </c:pt>
                <c:pt idx="158">
                  <c:v>2539.4</c:v>
                </c:pt>
                <c:pt idx="159">
                  <c:v>2590.6</c:v>
                </c:pt>
                <c:pt idx="160">
                  <c:v>2664.4</c:v>
                </c:pt>
                <c:pt idx="161">
                  <c:v>2630.5</c:v>
                </c:pt>
                <c:pt idx="162">
                  <c:v>2657.9</c:v>
                </c:pt>
                <c:pt idx="163">
                  <c:v>2737.6</c:v>
                </c:pt>
                <c:pt idx="164">
                  <c:v>2773.8</c:v>
                </c:pt>
                <c:pt idx="165">
                  <c:v>2755.7</c:v>
                </c:pt>
                <c:pt idx="166">
                  <c:v>2727.6</c:v>
                </c:pt>
                <c:pt idx="167">
                  <c:v>2663</c:v>
                </c:pt>
                <c:pt idx="168">
                  <c:v>2638.5</c:v>
                </c:pt>
                <c:pt idx="169">
                  <c:v>2674.7</c:v>
                </c:pt>
                <c:pt idx="170">
                  <c:v>2658.1</c:v>
                </c:pt>
                <c:pt idx="171">
                  <c:v>2605.2</c:v>
                </c:pt>
                <c:pt idx="172">
                  <c:v>2517.5</c:v>
                </c:pt>
                <c:pt idx="173">
                  <c:v>2472.6</c:v>
                </c:pt>
                <c:pt idx="174">
                  <c:v>2403.8</c:v>
                </c:pt>
                <c:pt idx="175">
                  <c:v>2190</c:v>
                </c:pt>
                <c:pt idx="176">
                  <c:v>1937.7</c:v>
                </c:pt>
                <c:pt idx="177">
                  <c:v>1820.5</c:v>
                </c:pt>
                <c:pt idx="178">
                  <c:v>1804.7</c:v>
                </c:pt>
                <c:pt idx="179">
                  <c:v>1949.6</c:v>
                </c:pt>
                <c:pt idx="180">
                  <c:v>2012.9</c:v>
                </c:pt>
                <c:pt idx="181">
                  <c:v>2116.9</c:v>
                </c:pt>
                <c:pt idx="182">
                  <c:v>2185.7</c:v>
                </c:pt>
                <c:pt idx="183">
                  <c:v>2166.1</c:v>
                </c:pt>
                <c:pt idx="184">
                  <c:v>2124.3</c:v>
                </c:pt>
                <c:pt idx="185">
                  <c:v>2196.1</c:v>
                </c:pt>
                <c:pt idx="186">
                  <c:v>2209.9</c:v>
                </c:pt>
                <c:pt idx="187">
                  <c:v>2368.2</c:v>
                </c:pt>
                <c:pt idx="188">
                  <c:v>2427.8</c:v>
                </c:pt>
                <c:pt idx="189">
                  <c:v>2418</c:v>
                </c:pt>
                <c:pt idx="190">
                  <c:v>2456.5</c:v>
                </c:pt>
                <c:pt idx="191">
                  <c:v>2441.8</c:v>
                </c:pt>
                <c:pt idx="192">
                  <c:v>2470.1</c:v>
                </c:pt>
                <c:pt idx="193">
                  <c:v>2524.9</c:v>
                </c:pt>
                <c:pt idx="194">
                  <c:v>2583.1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36768"/>
        <c:axId val="14338304"/>
      </c:scatterChart>
      <c:valAx>
        <c:axId val="14336768"/>
        <c:scaling>
          <c:orientation val="minMax"/>
          <c:max val="2014"/>
          <c:min val="1965"/>
        </c:scaling>
        <c:delete val="0"/>
        <c:axPos val="b"/>
        <c:numFmt formatCode="0" sourceLinked="0"/>
        <c:majorTickMark val="cross"/>
        <c:minorTickMark val="in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14338304"/>
        <c:crosses val="autoZero"/>
        <c:crossBetween val="midCat"/>
        <c:majorUnit val="5"/>
        <c:minorUnit val="1"/>
      </c:valAx>
      <c:valAx>
        <c:axId val="1433830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</a:p>
        </c:txPr>
        <c:crossAx val="14336768"/>
        <c:crosses val="autoZero"/>
        <c:crossBetween val="midCat"/>
      </c:valAx>
      <c:catAx>
        <c:axId val="476090368"/>
        <c:scaling>
          <c:orientation val="minMax"/>
        </c:scaling>
        <c:delete val="1"/>
        <c:axPos val="b"/>
        <c:numFmt formatCode="0.0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76091904"/>
        <c:crosses val="autoZero"/>
        <c:auto val="1"/>
        <c:lblAlgn val="ctr"/>
        <c:lblOffset val="100"/>
        <c:noMultiLvlLbl val="0"/>
      </c:catAx>
      <c:valAx>
        <c:axId val="476091904"/>
        <c:scaling>
          <c:orientation val="minMax"/>
          <c:max val="100"/>
        </c:scaling>
        <c:delete val="0"/>
        <c:axPos val="r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76090368"/>
        <c:crosses val="max"/>
        <c:crossBetween val="between"/>
      </c:valAx>
      <c:spPr>
        <a:solidFill>
          <a:schemeClr val="bg1"/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536adb18-908f-4f37-ae8d-74c7c2006270}"/>
      </c:ext>
    </c:extLst>
  </c:chart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0140966754156"/>
          <c:y val="0.0393975663275484"/>
          <c:w val="0.834966644794401"/>
          <c:h val="0.862208258527828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Data!$D$7</c:f>
              <c:strCache>
                <c:ptCount val="1"/>
                <c:pt idx="0">
                  <c:v>Recession</c:v>
                </c:pt>
              </c:strCache>
            </c:strRef>
          </c:tx>
          <c:spPr>
            <a:solidFill>
              <a:srgbClr val="FFCC99"/>
            </a:solidFill>
          </c:spPr>
          <c:invertIfNegative val="0"/>
          <c:dLbls>
            <c:delete val="1"/>
          </c:dLbls>
          <c:cat>
            <c:numRef>
              <c:f>Data!$B$8:$B$197</c:f>
              <c:numCache>
                <c:formatCode>0.00</c:formatCode>
                <c:ptCount val="190"/>
                <c:pt idx="0" c:formatCode="0.00">
                  <c:v>1965</c:v>
                </c:pt>
                <c:pt idx="1" c:formatCode="0.00">
                  <c:v>1965.25</c:v>
                </c:pt>
                <c:pt idx="2" c:formatCode="0.00">
                  <c:v>1965.5</c:v>
                </c:pt>
                <c:pt idx="3" c:formatCode="0.00">
                  <c:v>1965.75</c:v>
                </c:pt>
                <c:pt idx="4" c:formatCode="0.00">
                  <c:v>1966</c:v>
                </c:pt>
                <c:pt idx="5" c:formatCode="0.00">
                  <c:v>1966.25</c:v>
                </c:pt>
                <c:pt idx="6" c:formatCode="0.00">
                  <c:v>1966.5</c:v>
                </c:pt>
                <c:pt idx="7" c:formatCode="0.00">
                  <c:v>1966.75</c:v>
                </c:pt>
                <c:pt idx="8" c:formatCode="0.00">
                  <c:v>1967</c:v>
                </c:pt>
                <c:pt idx="9" c:formatCode="0.00">
                  <c:v>1967.25</c:v>
                </c:pt>
                <c:pt idx="10" c:formatCode="0.00">
                  <c:v>1967.5</c:v>
                </c:pt>
                <c:pt idx="11" c:formatCode="0.00">
                  <c:v>1967.75</c:v>
                </c:pt>
                <c:pt idx="12" c:formatCode="0.00">
                  <c:v>1968</c:v>
                </c:pt>
                <c:pt idx="13" c:formatCode="0.00">
                  <c:v>1968.25</c:v>
                </c:pt>
                <c:pt idx="14" c:formatCode="0.00">
                  <c:v>1968.5</c:v>
                </c:pt>
                <c:pt idx="15" c:formatCode="0.00">
                  <c:v>1968.75</c:v>
                </c:pt>
                <c:pt idx="16" c:formatCode="0.00">
                  <c:v>1969</c:v>
                </c:pt>
                <c:pt idx="17" c:formatCode="0.00">
                  <c:v>1969.25</c:v>
                </c:pt>
                <c:pt idx="18" c:formatCode="0.00">
                  <c:v>1969.5</c:v>
                </c:pt>
                <c:pt idx="19" c:formatCode="0.00">
                  <c:v>1969.75</c:v>
                </c:pt>
                <c:pt idx="20" c:formatCode="0.00">
                  <c:v>1970</c:v>
                </c:pt>
                <c:pt idx="21" c:formatCode="0.00">
                  <c:v>1970.25</c:v>
                </c:pt>
                <c:pt idx="22" c:formatCode="0.00">
                  <c:v>1970.5</c:v>
                </c:pt>
                <c:pt idx="23" c:formatCode="0.00">
                  <c:v>1970.75</c:v>
                </c:pt>
                <c:pt idx="24" c:formatCode="0.00">
                  <c:v>1971</c:v>
                </c:pt>
                <c:pt idx="25" c:formatCode="0.00">
                  <c:v>1971.25</c:v>
                </c:pt>
                <c:pt idx="26" c:formatCode="0.00">
                  <c:v>1971.5</c:v>
                </c:pt>
                <c:pt idx="27" c:formatCode="0.00">
                  <c:v>1971.75</c:v>
                </c:pt>
                <c:pt idx="28" c:formatCode="0.00">
                  <c:v>1972</c:v>
                </c:pt>
                <c:pt idx="29" c:formatCode="0.00">
                  <c:v>1972.25</c:v>
                </c:pt>
                <c:pt idx="30" c:formatCode="0.00">
                  <c:v>1972.5</c:v>
                </c:pt>
                <c:pt idx="31" c:formatCode="0.00">
                  <c:v>1972.75</c:v>
                </c:pt>
                <c:pt idx="32" c:formatCode="0.00">
                  <c:v>1973</c:v>
                </c:pt>
                <c:pt idx="33" c:formatCode="0.00">
                  <c:v>1973.25</c:v>
                </c:pt>
                <c:pt idx="34" c:formatCode="0.00">
                  <c:v>1973.5</c:v>
                </c:pt>
                <c:pt idx="35" c:formatCode="0.00">
                  <c:v>1973.75</c:v>
                </c:pt>
                <c:pt idx="36" c:formatCode="0.00">
                  <c:v>1974</c:v>
                </c:pt>
                <c:pt idx="37" c:formatCode="0.00">
                  <c:v>1974.25</c:v>
                </c:pt>
                <c:pt idx="38" c:formatCode="0.00">
                  <c:v>1974.5</c:v>
                </c:pt>
                <c:pt idx="39" c:formatCode="0.00">
                  <c:v>1974.75</c:v>
                </c:pt>
                <c:pt idx="40" c:formatCode="0.00">
                  <c:v>1975</c:v>
                </c:pt>
                <c:pt idx="41" c:formatCode="0.00">
                  <c:v>1975.25</c:v>
                </c:pt>
                <c:pt idx="42" c:formatCode="0.00">
                  <c:v>1975.5</c:v>
                </c:pt>
                <c:pt idx="43" c:formatCode="0.00">
                  <c:v>1975.75</c:v>
                </c:pt>
                <c:pt idx="44" c:formatCode="0.00">
                  <c:v>1976</c:v>
                </c:pt>
                <c:pt idx="45" c:formatCode="0.00">
                  <c:v>1976.25</c:v>
                </c:pt>
                <c:pt idx="46" c:formatCode="0.00">
                  <c:v>1976.5</c:v>
                </c:pt>
                <c:pt idx="47" c:formatCode="0.00">
                  <c:v>1976.75</c:v>
                </c:pt>
                <c:pt idx="48" c:formatCode="0.00">
                  <c:v>1977</c:v>
                </c:pt>
                <c:pt idx="49" c:formatCode="0.00">
                  <c:v>1977.25</c:v>
                </c:pt>
                <c:pt idx="50" c:formatCode="0.00">
                  <c:v>1977.5</c:v>
                </c:pt>
                <c:pt idx="51" c:formatCode="0.00">
                  <c:v>1977.75</c:v>
                </c:pt>
                <c:pt idx="52" c:formatCode="0.00">
                  <c:v>1978</c:v>
                </c:pt>
                <c:pt idx="53" c:formatCode="0.00">
                  <c:v>1978.25</c:v>
                </c:pt>
                <c:pt idx="54" c:formatCode="0.00">
                  <c:v>1978.5</c:v>
                </c:pt>
                <c:pt idx="55" c:formatCode="0.00">
                  <c:v>1978.75</c:v>
                </c:pt>
                <c:pt idx="56" c:formatCode="0.00">
                  <c:v>1979</c:v>
                </c:pt>
                <c:pt idx="57" c:formatCode="0.00">
                  <c:v>1979.25</c:v>
                </c:pt>
                <c:pt idx="58" c:formatCode="0.00">
                  <c:v>1979.5</c:v>
                </c:pt>
                <c:pt idx="59" c:formatCode="0.00">
                  <c:v>1979.75</c:v>
                </c:pt>
                <c:pt idx="60" c:formatCode="0.00">
                  <c:v>1980</c:v>
                </c:pt>
                <c:pt idx="61" c:formatCode="0.00">
                  <c:v>1980.25</c:v>
                </c:pt>
                <c:pt idx="62" c:formatCode="0.00">
                  <c:v>1980.5</c:v>
                </c:pt>
                <c:pt idx="63" c:formatCode="0.00">
                  <c:v>1980.75</c:v>
                </c:pt>
                <c:pt idx="64" c:formatCode="0.00">
                  <c:v>1981</c:v>
                </c:pt>
                <c:pt idx="65" c:formatCode="0.00">
                  <c:v>1981.25</c:v>
                </c:pt>
                <c:pt idx="66" c:formatCode="0.00">
                  <c:v>1981.5</c:v>
                </c:pt>
                <c:pt idx="67" c:formatCode="0.00">
                  <c:v>1981.75</c:v>
                </c:pt>
                <c:pt idx="68" c:formatCode="0.00">
                  <c:v>1982</c:v>
                </c:pt>
                <c:pt idx="69" c:formatCode="0.00">
                  <c:v>1982.25</c:v>
                </c:pt>
                <c:pt idx="70" c:formatCode="0.00">
                  <c:v>1982.5</c:v>
                </c:pt>
                <c:pt idx="71" c:formatCode="0.00">
                  <c:v>1982.75</c:v>
                </c:pt>
                <c:pt idx="72" c:formatCode="0.00">
                  <c:v>1983</c:v>
                </c:pt>
                <c:pt idx="73" c:formatCode="0.00">
                  <c:v>1983.25</c:v>
                </c:pt>
                <c:pt idx="74" c:formatCode="0.00">
                  <c:v>1983.5</c:v>
                </c:pt>
                <c:pt idx="75" c:formatCode="0.00">
                  <c:v>1983.75</c:v>
                </c:pt>
                <c:pt idx="76" c:formatCode="0.00">
                  <c:v>1984</c:v>
                </c:pt>
                <c:pt idx="77" c:formatCode="0.00">
                  <c:v>1984.25</c:v>
                </c:pt>
                <c:pt idx="78" c:formatCode="0.00">
                  <c:v>1984.5</c:v>
                </c:pt>
                <c:pt idx="79" c:formatCode="0.00">
                  <c:v>1984.75</c:v>
                </c:pt>
                <c:pt idx="80" c:formatCode="0.00">
                  <c:v>1985</c:v>
                </c:pt>
                <c:pt idx="81" c:formatCode="0.00">
                  <c:v>1985.25</c:v>
                </c:pt>
                <c:pt idx="82" c:formatCode="0.00">
                  <c:v>1985.5</c:v>
                </c:pt>
                <c:pt idx="83" c:formatCode="0.00">
                  <c:v>1985.75</c:v>
                </c:pt>
                <c:pt idx="84" c:formatCode="0.00">
                  <c:v>1986</c:v>
                </c:pt>
                <c:pt idx="85" c:formatCode="0.00">
                  <c:v>1986.25</c:v>
                </c:pt>
                <c:pt idx="86" c:formatCode="0.00">
                  <c:v>1986.5</c:v>
                </c:pt>
                <c:pt idx="87" c:formatCode="0.00">
                  <c:v>1986.75</c:v>
                </c:pt>
                <c:pt idx="88" c:formatCode="0.00">
                  <c:v>1987</c:v>
                </c:pt>
                <c:pt idx="89" c:formatCode="0.00">
                  <c:v>1987.25</c:v>
                </c:pt>
                <c:pt idx="90" c:formatCode="0.00">
                  <c:v>1987.5</c:v>
                </c:pt>
                <c:pt idx="91" c:formatCode="0.00">
                  <c:v>1987.75</c:v>
                </c:pt>
                <c:pt idx="92" c:formatCode="0.00">
                  <c:v>1988</c:v>
                </c:pt>
                <c:pt idx="93" c:formatCode="0.00">
                  <c:v>1988.25</c:v>
                </c:pt>
                <c:pt idx="94" c:formatCode="0.00">
                  <c:v>1988.5</c:v>
                </c:pt>
                <c:pt idx="95" c:formatCode="0.00">
                  <c:v>1988.75</c:v>
                </c:pt>
                <c:pt idx="96" c:formatCode="0.00">
                  <c:v>1989</c:v>
                </c:pt>
                <c:pt idx="97" c:formatCode="0.00">
                  <c:v>1989.25</c:v>
                </c:pt>
                <c:pt idx="98" c:formatCode="0.00">
                  <c:v>1989.5</c:v>
                </c:pt>
                <c:pt idx="99" c:formatCode="0.00">
                  <c:v>1989.75</c:v>
                </c:pt>
                <c:pt idx="100" c:formatCode="0.00">
                  <c:v>1990</c:v>
                </c:pt>
                <c:pt idx="101" c:formatCode="0.00">
                  <c:v>1990.25</c:v>
                </c:pt>
                <c:pt idx="102" c:formatCode="0.00">
                  <c:v>1990.5</c:v>
                </c:pt>
                <c:pt idx="103" c:formatCode="0.00">
                  <c:v>1990.75</c:v>
                </c:pt>
                <c:pt idx="104" c:formatCode="0.00">
                  <c:v>1991</c:v>
                </c:pt>
                <c:pt idx="105" c:formatCode="0.00">
                  <c:v>1991.25</c:v>
                </c:pt>
                <c:pt idx="106" c:formatCode="0.00">
                  <c:v>1991.5</c:v>
                </c:pt>
                <c:pt idx="107" c:formatCode="0.00">
                  <c:v>1991.75</c:v>
                </c:pt>
                <c:pt idx="108" c:formatCode="0.00">
                  <c:v>1992</c:v>
                </c:pt>
                <c:pt idx="109" c:formatCode="0.00">
                  <c:v>1992.25</c:v>
                </c:pt>
                <c:pt idx="110" c:formatCode="0.00">
                  <c:v>1992.5</c:v>
                </c:pt>
                <c:pt idx="111" c:formatCode="0.00">
                  <c:v>1992.75</c:v>
                </c:pt>
                <c:pt idx="112" c:formatCode="0.00">
                  <c:v>1993</c:v>
                </c:pt>
                <c:pt idx="113" c:formatCode="0.00">
                  <c:v>1993.25</c:v>
                </c:pt>
                <c:pt idx="114" c:formatCode="0.00">
                  <c:v>1993.5</c:v>
                </c:pt>
                <c:pt idx="115" c:formatCode="0.00">
                  <c:v>1993.75</c:v>
                </c:pt>
                <c:pt idx="116" c:formatCode="0.00">
                  <c:v>1994</c:v>
                </c:pt>
                <c:pt idx="117" c:formatCode="0.00">
                  <c:v>1994.25</c:v>
                </c:pt>
                <c:pt idx="118" c:formatCode="0.00">
                  <c:v>1994.5</c:v>
                </c:pt>
                <c:pt idx="119" c:formatCode="0.00">
                  <c:v>1994.75</c:v>
                </c:pt>
                <c:pt idx="120" c:formatCode="0.00">
                  <c:v>1995</c:v>
                </c:pt>
                <c:pt idx="121" c:formatCode="0.00">
                  <c:v>1995.25</c:v>
                </c:pt>
                <c:pt idx="122" c:formatCode="0.00">
                  <c:v>1995.5</c:v>
                </c:pt>
                <c:pt idx="123" c:formatCode="0.00">
                  <c:v>1995.75</c:v>
                </c:pt>
                <c:pt idx="124" c:formatCode="0.00">
                  <c:v>1996</c:v>
                </c:pt>
                <c:pt idx="125" c:formatCode="0.00">
                  <c:v>1996.25</c:v>
                </c:pt>
                <c:pt idx="126" c:formatCode="0.00">
                  <c:v>1996.5</c:v>
                </c:pt>
                <c:pt idx="127" c:formatCode="0.00">
                  <c:v>1996.75</c:v>
                </c:pt>
                <c:pt idx="128" c:formatCode="0.00">
                  <c:v>1997</c:v>
                </c:pt>
                <c:pt idx="129" c:formatCode="0.00">
                  <c:v>1997.25</c:v>
                </c:pt>
                <c:pt idx="130" c:formatCode="0.00">
                  <c:v>1997.5</c:v>
                </c:pt>
                <c:pt idx="131" c:formatCode="0.00">
                  <c:v>1997.75</c:v>
                </c:pt>
                <c:pt idx="132" c:formatCode="0.00">
                  <c:v>1998</c:v>
                </c:pt>
                <c:pt idx="133" c:formatCode="0.00">
                  <c:v>1998.25</c:v>
                </c:pt>
                <c:pt idx="134" c:formatCode="0.00">
                  <c:v>1998.5</c:v>
                </c:pt>
                <c:pt idx="135" c:formatCode="0.00">
                  <c:v>1998.75</c:v>
                </c:pt>
                <c:pt idx="136" c:formatCode="0.00">
                  <c:v>1999</c:v>
                </c:pt>
                <c:pt idx="137" c:formatCode="0.00">
                  <c:v>1999.25</c:v>
                </c:pt>
                <c:pt idx="138" c:formatCode="0.00">
                  <c:v>1999.5</c:v>
                </c:pt>
                <c:pt idx="139" c:formatCode="0.00">
                  <c:v>1999.75</c:v>
                </c:pt>
                <c:pt idx="140" c:formatCode="0.00">
                  <c:v>2000</c:v>
                </c:pt>
                <c:pt idx="141" c:formatCode="0.00">
                  <c:v>2000.25</c:v>
                </c:pt>
                <c:pt idx="142" c:formatCode="0.00">
                  <c:v>2000.5</c:v>
                </c:pt>
                <c:pt idx="143" c:formatCode="0.00">
                  <c:v>2000.75</c:v>
                </c:pt>
                <c:pt idx="144" c:formatCode="0.00">
                  <c:v>2001</c:v>
                </c:pt>
                <c:pt idx="145" c:formatCode="0.00">
                  <c:v>2001.25</c:v>
                </c:pt>
                <c:pt idx="146" c:formatCode="0.00">
                  <c:v>2001.5</c:v>
                </c:pt>
                <c:pt idx="147" c:formatCode="0.00">
                  <c:v>2001.75</c:v>
                </c:pt>
                <c:pt idx="148" c:formatCode="0.00">
                  <c:v>2002</c:v>
                </c:pt>
                <c:pt idx="149" c:formatCode="0.00">
                  <c:v>2002.25</c:v>
                </c:pt>
                <c:pt idx="150" c:formatCode="0.00">
                  <c:v>2002.5</c:v>
                </c:pt>
                <c:pt idx="151" c:formatCode="0.00">
                  <c:v>2002.75</c:v>
                </c:pt>
                <c:pt idx="152" c:formatCode="0.00">
                  <c:v>2003</c:v>
                </c:pt>
                <c:pt idx="153" c:formatCode="0.00">
                  <c:v>2003.25</c:v>
                </c:pt>
                <c:pt idx="154" c:formatCode="0.00">
                  <c:v>2003.5</c:v>
                </c:pt>
                <c:pt idx="155" c:formatCode="0.00">
                  <c:v>2003.75</c:v>
                </c:pt>
                <c:pt idx="156" c:formatCode="0.00">
                  <c:v>2004</c:v>
                </c:pt>
                <c:pt idx="157" c:formatCode="0.00">
                  <c:v>2004.25</c:v>
                </c:pt>
                <c:pt idx="158" c:formatCode="0.00">
                  <c:v>2004.5</c:v>
                </c:pt>
                <c:pt idx="159" c:formatCode="0.00">
                  <c:v>2004.75</c:v>
                </c:pt>
                <c:pt idx="160" c:formatCode="0.00">
                  <c:v>2005</c:v>
                </c:pt>
                <c:pt idx="161" c:formatCode="0.00">
                  <c:v>2005.25</c:v>
                </c:pt>
                <c:pt idx="162" c:formatCode="0.00">
                  <c:v>2005.5</c:v>
                </c:pt>
                <c:pt idx="163" c:formatCode="0.00">
                  <c:v>2005.75</c:v>
                </c:pt>
                <c:pt idx="164" c:formatCode="0.00">
                  <c:v>2006</c:v>
                </c:pt>
                <c:pt idx="165" c:formatCode="0.00">
                  <c:v>2006.25</c:v>
                </c:pt>
                <c:pt idx="166" c:formatCode="0.00">
                  <c:v>2006.5</c:v>
                </c:pt>
                <c:pt idx="167" c:formatCode="0.00">
                  <c:v>2006.75</c:v>
                </c:pt>
                <c:pt idx="168" c:formatCode="0.00">
                  <c:v>2007</c:v>
                </c:pt>
                <c:pt idx="169" c:formatCode="0.00">
                  <c:v>2007.25</c:v>
                </c:pt>
                <c:pt idx="170" c:formatCode="0.00">
                  <c:v>2007.5</c:v>
                </c:pt>
                <c:pt idx="171" c:formatCode="0.00">
                  <c:v>2007.75</c:v>
                </c:pt>
                <c:pt idx="172" c:formatCode="0.00">
                  <c:v>2008</c:v>
                </c:pt>
                <c:pt idx="173" c:formatCode="0.00">
                  <c:v>2008.25</c:v>
                </c:pt>
                <c:pt idx="174" c:formatCode="0.00">
                  <c:v>2008.5</c:v>
                </c:pt>
                <c:pt idx="175" c:formatCode="0.00">
                  <c:v>2008.75</c:v>
                </c:pt>
                <c:pt idx="176" c:formatCode="0.00">
                  <c:v>2009</c:v>
                </c:pt>
                <c:pt idx="177" c:formatCode="0.00">
                  <c:v>2009.25</c:v>
                </c:pt>
                <c:pt idx="178" c:formatCode="0.00">
                  <c:v>2009.5</c:v>
                </c:pt>
                <c:pt idx="179" c:formatCode="0.00">
                  <c:v>2009.75</c:v>
                </c:pt>
                <c:pt idx="180" c:formatCode="0.00">
                  <c:v>2010</c:v>
                </c:pt>
                <c:pt idx="181" c:formatCode="0.00">
                  <c:v>2010.25</c:v>
                </c:pt>
                <c:pt idx="182" c:formatCode="0.00">
                  <c:v>2010.5</c:v>
                </c:pt>
                <c:pt idx="183" c:formatCode="0.00">
                  <c:v>2010.75</c:v>
                </c:pt>
                <c:pt idx="184" c:formatCode="0.00">
                  <c:v>2011</c:v>
                </c:pt>
                <c:pt idx="185" c:formatCode="0.00">
                  <c:v>2011.25</c:v>
                </c:pt>
                <c:pt idx="186" c:formatCode="0.00">
                  <c:v>2011.5</c:v>
                </c:pt>
                <c:pt idx="187" c:formatCode="0.00">
                  <c:v>2011.75</c:v>
                </c:pt>
                <c:pt idx="188" c:formatCode="0.00">
                  <c:v>2012</c:v>
                </c:pt>
                <c:pt idx="189" c:formatCode="0.00">
                  <c:v>2012.25</c:v>
                </c:pt>
              </c:numCache>
            </c:numRef>
          </c:cat>
          <c:val>
            <c:numRef>
              <c:f>Data!$D$8:$D$202</c:f>
              <c:numCache>
                <c:formatCode>General</c:formatCode>
                <c:ptCount val="195"/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33"/>
        <c:axId val="476266880"/>
        <c:axId val="476268416"/>
      </c:barChart>
      <c:scatterChart>
        <c:scatterStyle val="lineMarker"/>
        <c:varyColors val="0"/>
        <c:ser>
          <c:idx val="0"/>
          <c:order val="0"/>
          <c:tx>
            <c:strRef>
              <c:f>Data!$C$7</c:f>
              <c:strCache>
                <c:ptCount val="1"/>
                <c:pt idx="0">
                  <c:v>Unemployment Rate</c:v>
                </c:pt>
              </c:strCache>
            </c:strRef>
          </c:tx>
          <c:spPr>
            <a:ln w="44450" cap="rnd" cmpd="sng" algn="ctr">
              <a:solidFill>
                <a:schemeClr val="accent5">
                  <a:lumMod val="50000"/>
                </a:schemeClr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Data!$B$8:$B$202</c:f>
              <c:numCache>
                <c:formatCode>0.00</c:formatCode>
                <c:ptCount val="195"/>
                <c:pt idx="0">
                  <c:v>1965</c:v>
                </c:pt>
                <c:pt idx="1">
                  <c:v>1965.25</c:v>
                </c:pt>
                <c:pt idx="2">
                  <c:v>1965.5</c:v>
                </c:pt>
                <c:pt idx="3">
                  <c:v>1965.75</c:v>
                </c:pt>
                <c:pt idx="4">
                  <c:v>1966</c:v>
                </c:pt>
                <c:pt idx="5">
                  <c:v>1966.25</c:v>
                </c:pt>
                <c:pt idx="6">
                  <c:v>1966.5</c:v>
                </c:pt>
                <c:pt idx="7">
                  <c:v>1966.75</c:v>
                </c:pt>
                <c:pt idx="8">
                  <c:v>1967</c:v>
                </c:pt>
                <c:pt idx="9">
                  <c:v>1967.25</c:v>
                </c:pt>
                <c:pt idx="10">
                  <c:v>1967.5</c:v>
                </c:pt>
                <c:pt idx="11">
                  <c:v>1967.75</c:v>
                </c:pt>
                <c:pt idx="12">
                  <c:v>1968</c:v>
                </c:pt>
                <c:pt idx="13">
                  <c:v>1968.25</c:v>
                </c:pt>
                <c:pt idx="14">
                  <c:v>1968.5</c:v>
                </c:pt>
                <c:pt idx="15">
                  <c:v>1968.75</c:v>
                </c:pt>
                <c:pt idx="16">
                  <c:v>1969</c:v>
                </c:pt>
                <c:pt idx="17">
                  <c:v>1969.25</c:v>
                </c:pt>
                <c:pt idx="18">
                  <c:v>1969.5</c:v>
                </c:pt>
                <c:pt idx="19">
                  <c:v>1969.75</c:v>
                </c:pt>
                <c:pt idx="20">
                  <c:v>1970</c:v>
                </c:pt>
                <c:pt idx="21">
                  <c:v>1970.25</c:v>
                </c:pt>
                <c:pt idx="22">
                  <c:v>1970.5</c:v>
                </c:pt>
                <c:pt idx="23">
                  <c:v>1970.75</c:v>
                </c:pt>
                <c:pt idx="24">
                  <c:v>1971</c:v>
                </c:pt>
                <c:pt idx="25">
                  <c:v>1971.25</c:v>
                </c:pt>
                <c:pt idx="26">
                  <c:v>1971.5</c:v>
                </c:pt>
                <c:pt idx="27">
                  <c:v>1971.75</c:v>
                </c:pt>
                <c:pt idx="28">
                  <c:v>1972</c:v>
                </c:pt>
                <c:pt idx="29">
                  <c:v>1972.25</c:v>
                </c:pt>
                <c:pt idx="30">
                  <c:v>1972.5</c:v>
                </c:pt>
                <c:pt idx="31">
                  <c:v>1972.75</c:v>
                </c:pt>
                <c:pt idx="32">
                  <c:v>1973</c:v>
                </c:pt>
                <c:pt idx="33">
                  <c:v>1973.25</c:v>
                </c:pt>
                <c:pt idx="34">
                  <c:v>1973.5</c:v>
                </c:pt>
                <c:pt idx="35">
                  <c:v>1973.75</c:v>
                </c:pt>
                <c:pt idx="36">
                  <c:v>1974</c:v>
                </c:pt>
                <c:pt idx="37">
                  <c:v>1974.25</c:v>
                </c:pt>
                <c:pt idx="38">
                  <c:v>1974.5</c:v>
                </c:pt>
                <c:pt idx="39">
                  <c:v>1974.75</c:v>
                </c:pt>
                <c:pt idx="40">
                  <c:v>1975</c:v>
                </c:pt>
                <c:pt idx="41">
                  <c:v>1975.25</c:v>
                </c:pt>
                <c:pt idx="42">
                  <c:v>1975.5</c:v>
                </c:pt>
                <c:pt idx="43">
                  <c:v>1975.75</c:v>
                </c:pt>
                <c:pt idx="44">
                  <c:v>1976</c:v>
                </c:pt>
                <c:pt idx="45">
                  <c:v>1976.25</c:v>
                </c:pt>
                <c:pt idx="46">
                  <c:v>1976.5</c:v>
                </c:pt>
                <c:pt idx="47">
                  <c:v>1976.75</c:v>
                </c:pt>
                <c:pt idx="48">
                  <c:v>1977</c:v>
                </c:pt>
                <c:pt idx="49">
                  <c:v>1977.25</c:v>
                </c:pt>
                <c:pt idx="50">
                  <c:v>1977.5</c:v>
                </c:pt>
                <c:pt idx="51">
                  <c:v>1977.75</c:v>
                </c:pt>
                <c:pt idx="52">
                  <c:v>1978</c:v>
                </c:pt>
                <c:pt idx="53">
                  <c:v>1978.25</c:v>
                </c:pt>
                <c:pt idx="54">
                  <c:v>1978.5</c:v>
                </c:pt>
                <c:pt idx="55">
                  <c:v>1978.75</c:v>
                </c:pt>
                <c:pt idx="56">
                  <c:v>1979</c:v>
                </c:pt>
                <c:pt idx="57">
                  <c:v>1979.25</c:v>
                </c:pt>
                <c:pt idx="58">
                  <c:v>1979.5</c:v>
                </c:pt>
                <c:pt idx="59">
                  <c:v>1979.75</c:v>
                </c:pt>
                <c:pt idx="60">
                  <c:v>1980</c:v>
                </c:pt>
                <c:pt idx="61">
                  <c:v>1980.25</c:v>
                </c:pt>
                <c:pt idx="62">
                  <c:v>1980.5</c:v>
                </c:pt>
                <c:pt idx="63">
                  <c:v>1980.75</c:v>
                </c:pt>
                <c:pt idx="64">
                  <c:v>1981</c:v>
                </c:pt>
                <c:pt idx="65">
                  <c:v>1981.25</c:v>
                </c:pt>
                <c:pt idx="66">
                  <c:v>1981.5</c:v>
                </c:pt>
                <c:pt idx="67">
                  <c:v>1981.75</c:v>
                </c:pt>
                <c:pt idx="68">
                  <c:v>1982</c:v>
                </c:pt>
                <c:pt idx="69">
                  <c:v>1982.25</c:v>
                </c:pt>
                <c:pt idx="70">
                  <c:v>1982.5</c:v>
                </c:pt>
                <c:pt idx="71">
                  <c:v>1982.75</c:v>
                </c:pt>
                <c:pt idx="72">
                  <c:v>1983</c:v>
                </c:pt>
                <c:pt idx="73">
                  <c:v>1983.25</c:v>
                </c:pt>
                <c:pt idx="74">
                  <c:v>1983.5</c:v>
                </c:pt>
                <c:pt idx="75">
                  <c:v>1983.75</c:v>
                </c:pt>
                <c:pt idx="76">
                  <c:v>1984</c:v>
                </c:pt>
                <c:pt idx="77">
                  <c:v>1984.25</c:v>
                </c:pt>
                <c:pt idx="78">
                  <c:v>1984.5</c:v>
                </c:pt>
                <c:pt idx="79">
                  <c:v>1984.75</c:v>
                </c:pt>
                <c:pt idx="80">
                  <c:v>1985</c:v>
                </c:pt>
                <c:pt idx="81">
                  <c:v>1985.25</c:v>
                </c:pt>
                <c:pt idx="82">
                  <c:v>1985.5</c:v>
                </c:pt>
                <c:pt idx="83">
                  <c:v>1985.75</c:v>
                </c:pt>
                <c:pt idx="84">
                  <c:v>1986</c:v>
                </c:pt>
                <c:pt idx="85">
                  <c:v>1986.25</c:v>
                </c:pt>
                <c:pt idx="86">
                  <c:v>1986.5</c:v>
                </c:pt>
                <c:pt idx="87">
                  <c:v>1986.75</c:v>
                </c:pt>
                <c:pt idx="88">
                  <c:v>1987</c:v>
                </c:pt>
                <c:pt idx="89">
                  <c:v>1987.25</c:v>
                </c:pt>
                <c:pt idx="90">
                  <c:v>1987.5</c:v>
                </c:pt>
                <c:pt idx="91">
                  <c:v>1987.75</c:v>
                </c:pt>
                <c:pt idx="92">
                  <c:v>1988</c:v>
                </c:pt>
                <c:pt idx="93">
                  <c:v>1988.25</c:v>
                </c:pt>
                <c:pt idx="94">
                  <c:v>1988.5</c:v>
                </c:pt>
                <c:pt idx="95">
                  <c:v>1988.75</c:v>
                </c:pt>
                <c:pt idx="96">
                  <c:v>1989</c:v>
                </c:pt>
                <c:pt idx="97">
                  <c:v>1989.25</c:v>
                </c:pt>
                <c:pt idx="98">
                  <c:v>1989.5</c:v>
                </c:pt>
                <c:pt idx="99">
                  <c:v>1989.75</c:v>
                </c:pt>
                <c:pt idx="100">
                  <c:v>1990</c:v>
                </c:pt>
                <c:pt idx="101">
                  <c:v>1990.25</c:v>
                </c:pt>
                <c:pt idx="102">
                  <c:v>1990.5</c:v>
                </c:pt>
                <c:pt idx="103">
                  <c:v>1990.75</c:v>
                </c:pt>
                <c:pt idx="104">
                  <c:v>1991</c:v>
                </c:pt>
                <c:pt idx="105">
                  <c:v>1991.25</c:v>
                </c:pt>
                <c:pt idx="106">
                  <c:v>1991.5</c:v>
                </c:pt>
                <c:pt idx="107">
                  <c:v>1991.75</c:v>
                </c:pt>
                <c:pt idx="108">
                  <c:v>1992</c:v>
                </c:pt>
                <c:pt idx="109">
                  <c:v>1992.25</c:v>
                </c:pt>
                <c:pt idx="110">
                  <c:v>1992.5</c:v>
                </c:pt>
                <c:pt idx="111">
                  <c:v>1992.75</c:v>
                </c:pt>
                <c:pt idx="112">
                  <c:v>1993</c:v>
                </c:pt>
                <c:pt idx="113">
                  <c:v>1993.25</c:v>
                </c:pt>
                <c:pt idx="114">
                  <c:v>1993.5</c:v>
                </c:pt>
                <c:pt idx="115">
                  <c:v>1993.75</c:v>
                </c:pt>
                <c:pt idx="116">
                  <c:v>1994</c:v>
                </c:pt>
                <c:pt idx="117">
                  <c:v>1994.25</c:v>
                </c:pt>
                <c:pt idx="118">
                  <c:v>1994.5</c:v>
                </c:pt>
                <c:pt idx="119">
                  <c:v>1994.75</c:v>
                </c:pt>
                <c:pt idx="120">
                  <c:v>1995</c:v>
                </c:pt>
                <c:pt idx="121">
                  <c:v>1995.25</c:v>
                </c:pt>
                <c:pt idx="122">
                  <c:v>1995.5</c:v>
                </c:pt>
                <c:pt idx="123">
                  <c:v>1995.75</c:v>
                </c:pt>
                <c:pt idx="124">
                  <c:v>1996</c:v>
                </c:pt>
                <c:pt idx="125">
                  <c:v>1996.25</c:v>
                </c:pt>
                <c:pt idx="126">
                  <c:v>1996.5</c:v>
                </c:pt>
                <c:pt idx="127">
                  <c:v>1996.75</c:v>
                </c:pt>
                <c:pt idx="128">
                  <c:v>1997</c:v>
                </c:pt>
                <c:pt idx="129">
                  <c:v>1997.25</c:v>
                </c:pt>
                <c:pt idx="130">
                  <c:v>1997.5</c:v>
                </c:pt>
                <c:pt idx="131">
                  <c:v>1997.75</c:v>
                </c:pt>
                <c:pt idx="132">
                  <c:v>1998</c:v>
                </c:pt>
                <c:pt idx="133">
                  <c:v>1998.25</c:v>
                </c:pt>
                <c:pt idx="134">
                  <c:v>1998.5</c:v>
                </c:pt>
                <c:pt idx="135">
                  <c:v>1998.75</c:v>
                </c:pt>
                <c:pt idx="136">
                  <c:v>1999</c:v>
                </c:pt>
                <c:pt idx="137">
                  <c:v>1999.25</c:v>
                </c:pt>
                <c:pt idx="138">
                  <c:v>1999.5</c:v>
                </c:pt>
                <c:pt idx="139">
                  <c:v>1999.75</c:v>
                </c:pt>
                <c:pt idx="140">
                  <c:v>2000</c:v>
                </c:pt>
                <c:pt idx="141">
                  <c:v>2000.25</c:v>
                </c:pt>
                <c:pt idx="142">
                  <c:v>2000.5</c:v>
                </c:pt>
                <c:pt idx="143">
                  <c:v>2000.75</c:v>
                </c:pt>
                <c:pt idx="144">
                  <c:v>2001</c:v>
                </c:pt>
                <c:pt idx="145">
                  <c:v>2001.25</c:v>
                </c:pt>
                <c:pt idx="146">
                  <c:v>2001.5</c:v>
                </c:pt>
                <c:pt idx="147">
                  <c:v>2001.75</c:v>
                </c:pt>
                <c:pt idx="148">
                  <c:v>2002</c:v>
                </c:pt>
                <c:pt idx="149">
                  <c:v>2002.25</c:v>
                </c:pt>
                <c:pt idx="150">
                  <c:v>2002.5</c:v>
                </c:pt>
                <c:pt idx="151">
                  <c:v>2002.75</c:v>
                </c:pt>
                <c:pt idx="152">
                  <c:v>2003</c:v>
                </c:pt>
                <c:pt idx="153">
                  <c:v>2003.25</c:v>
                </c:pt>
                <c:pt idx="154">
                  <c:v>2003.5</c:v>
                </c:pt>
                <c:pt idx="155">
                  <c:v>2003.75</c:v>
                </c:pt>
                <c:pt idx="156">
                  <c:v>2004</c:v>
                </c:pt>
                <c:pt idx="157">
                  <c:v>2004.25</c:v>
                </c:pt>
                <c:pt idx="158">
                  <c:v>2004.5</c:v>
                </c:pt>
                <c:pt idx="159">
                  <c:v>2004.75</c:v>
                </c:pt>
                <c:pt idx="160">
                  <c:v>2005</c:v>
                </c:pt>
                <c:pt idx="161">
                  <c:v>2005.25</c:v>
                </c:pt>
                <c:pt idx="162">
                  <c:v>2005.5</c:v>
                </c:pt>
                <c:pt idx="163">
                  <c:v>2005.75</c:v>
                </c:pt>
                <c:pt idx="164">
                  <c:v>2006</c:v>
                </c:pt>
                <c:pt idx="165">
                  <c:v>2006.25</c:v>
                </c:pt>
                <c:pt idx="166">
                  <c:v>2006.5</c:v>
                </c:pt>
                <c:pt idx="167">
                  <c:v>2006.75</c:v>
                </c:pt>
                <c:pt idx="168">
                  <c:v>2007</c:v>
                </c:pt>
                <c:pt idx="169">
                  <c:v>2007.25</c:v>
                </c:pt>
                <c:pt idx="170">
                  <c:v>2007.5</c:v>
                </c:pt>
                <c:pt idx="171">
                  <c:v>2007.75</c:v>
                </c:pt>
                <c:pt idx="172">
                  <c:v>2008</c:v>
                </c:pt>
                <c:pt idx="173">
                  <c:v>2008.25</c:v>
                </c:pt>
                <c:pt idx="174">
                  <c:v>2008.5</c:v>
                </c:pt>
                <c:pt idx="175">
                  <c:v>2008.75</c:v>
                </c:pt>
                <c:pt idx="176">
                  <c:v>2009</c:v>
                </c:pt>
                <c:pt idx="177">
                  <c:v>2009.25</c:v>
                </c:pt>
                <c:pt idx="178">
                  <c:v>2009.5</c:v>
                </c:pt>
                <c:pt idx="179">
                  <c:v>2009.75</c:v>
                </c:pt>
                <c:pt idx="180">
                  <c:v>2010</c:v>
                </c:pt>
                <c:pt idx="181">
                  <c:v>2010.25</c:v>
                </c:pt>
                <c:pt idx="182">
                  <c:v>2010.5</c:v>
                </c:pt>
                <c:pt idx="183">
                  <c:v>2010.75</c:v>
                </c:pt>
                <c:pt idx="184">
                  <c:v>2011</c:v>
                </c:pt>
                <c:pt idx="185">
                  <c:v>2011.25</c:v>
                </c:pt>
                <c:pt idx="186">
                  <c:v>2011.5</c:v>
                </c:pt>
                <c:pt idx="187">
                  <c:v>2011.75</c:v>
                </c:pt>
                <c:pt idx="188">
                  <c:v>2012</c:v>
                </c:pt>
                <c:pt idx="189">
                  <c:v>2012.25</c:v>
                </c:pt>
                <c:pt idx="190">
                  <c:v>2012.5</c:v>
                </c:pt>
                <c:pt idx="191">
                  <c:v>2012.75</c:v>
                </c:pt>
                <c:pt idx="192">
                  <c:v>2013</c:v>
                </c:pt>
                <c:pt idx="193">
                  <c:v>2013.25</c:v>
                </c:pt>
                <c:pt idx="194">
                  <c:v>2013.5</c:v>
                </c:pt>
              </c:numCache>
            </c:numRef>
          </c:xVal>
          <c:yVal>
            <c:numRef>
              <c:f>Data!$C$8:$C$202</c:f>
              <c:numCache>
                <c:formatCode>0.0</c:formatCode>
                <c:ptCount val="195"/>
                <c:pt idx="0">
                  <c:v>4.9</c:v>
                </c:pt>
                <c:pt idx="1">
                  <c:v>4.7</c:v>
                </c:pt>
                <c:pt idx="2">
                  <c:v>4.4</c:v>
                </c:pt>
                <c:pt idx="3">
                  <c:v>4.1</c:v>
                </c:pt>
                <c:pt idx="4">
                  <c:v>3.9</c:v>
                </c:pt>
                <c:pt idx="5">
                  <c:v>3.8</c:v>
                </c:pt>
                <c:pt idx="6">
                  <c:v>3.8</c:v>
                </c:pt>
                <c:pt idx="7">
                  <c:v>3.7</c:v>
                </c:pt>
                <c:pt idx="8">
                  <c:v>3.8</c:v>
                </c:pt>
                <c:pt idx="9">
                  <c:v>3.8</c:v>
                </c:pt>
                <c:pt idx="10">
                  <c:v>3.8</c:v>
                </c:pt>
                <c:pt idx="11">
                  <c:v>3.9</c:v>
                </c:pt>
                <c:pt idx="12">
                  <c:v>3.7</c:v>
                </c:pt>
                <c:pt idx="13">
                  <c:v>3.6</c:v>
                </c:pt>
                <c:pt idx="14">
                  <c:v>3.5</c:v>
                </c:pt>
                <c:pt idx="15">
                  <c:v>3.4</c:v>
                </c:pt>
                <c:pt idx="16">
                  <c:v>3.4</c:v>
                </c:pt>
                <c:pt idx="17">
                  <c:v>3.4</c:v>
                </c:pt>
                <c:pt idx="18">
                  <c:v>3.6</c:v>
                </c:pt>
                <c:pt idx="19">
                  <c:v>3.6</c:v>
                </c:pt>
                <c:pt idx="20">
                  <c:v>4.2</c:v>
                </c:pt>
                <c:pt idx="21">
                  <c:v>4.8</c:v>
                </c:pt>
                <c:pt idx="22">
                  <c:v>5.2</c:v>
                </c:pt>
                <c:pt idx="23">
                  <c:v>5.8</c:v>
                </c:pt>
                <c:pt idx="24">
                  <c:v>5.9</c:v>
                </c:pt>
                <c:pt idx="25">
                  <c:v>5.9</c:v>
                </c:pt>
                <c:pt idx="26">
                  <c:v>6</c:v>
                </c:pt>
                <c:pt idx="27">
                  <c:v>5.9</c:v>
                </c:pt>
                <c:pt idx="28">
                  <c:v>5.8</c:v>
                </c:pt>
                <c:pt idx="29">
                  <c:v>5.7</c:v>
                </c:pt>
                <c:pt idx="30">
                  <c:v>5.6</c:v>
                </c:pt>
                <c:pt idx="31">
                  <c:v>5.4</c:v>
                </c:pt>
                <c:pt idx="32">
                  <c:v>4.9</c:v>
                </c:pt>
                <c:pt idx="33">
                  <c:v>4.9</c:v>
                </c:pt>
                <c:pt idx="34">
                  <c:v>4.8</c:v>
                </c:pt>
                <c:pt idx="35">
                  <c:v>4.8</c:v>
                </c:pt>
                <c:pt idx="36">
                  <c:v>5.1</c:v>
                </c:pt>
                <c:pt idx="37">
                  <c:v>5.2</c:v>
                </c:pt>
                <c:pt idx="38">
                  <c:v>5.6</c:v>
                </c:pt>
                <c:pt idx="39">
                  <c:v>6.6</c:v>
                </c:pt>
                <c:pt idx="40">
                  <c:v>8.3</c:v>
                </c:pt>
                <c:pt idx="41">
                  <c:v>8.9</c:v>
                </c:pt>
                <c:pt idx="42">
                  <c:v>8.5</c:v>
                </c:pt>
                <c:pt idx="43">
                  <c:v>8.3</c:v>
                </c:pt>
                <c:pt idx="44">
                  <c:v>7.7</c:v>
                </c:pt>
                <c:pt idx="45">
                  <c:v>7.6</c:v>
                </c:pt>
                <c:pt idx="46">
                  <c:v>7.7</c:v>
                </c:pt>
                <c:pt idx="47">
                  <c:v>7.8</c:v>
                </c:pt>
                <c:pt idx="48">
                  <c:v>7.5</c:v>
                </c:pt>
                <c:pt idx="49">
                  <c:v>7.1</c:v>
                </c:pt>
                <c:pt idx="50">
                  <c:v>6.9</c:v>
                </c:pt>
                <c:pt idx="51">
                  <c:v>6.7</c:v>
                </c:pt>
                <c:pt idx="52">
                  <c:v>6.3</c:v>
                </c:pt>
                <c:pt idx="53">
                  <c:v>6</c:v>
                </c:pt>
                <c:pt idx="54">
                  <c:v>6</c:v>
                </c:pt>
                <c:pt idx="55">
                  <c:v>5.9</c:v>
                </c:pt>
                <c:pt idx="56">
                  <c:v>5.9</c:v>
                </c:pt>
                <c:pt idx="57">
                  <c:v>5.7</c:v>
                </c:pt>
                <c:pt idx="58">
                  <c:v>5.9</c:v>
                </c:pt>
                <c:pt idx="59">
                  <c:v>6</c:v>
                </c:pt>
                <c:pt idx="60">
                  <c:v>6.3</c:v>
                </c:pt>
                <c:pt idx="61">
                  <c:v>7.3</c:v>
                </c:pt>
                <c:pt idx="62">
                  <c:v>7.7</c:v>
                </c:pt>
                <c:pt idx="63">
                  <c:v>7.4</c:v>
                </c:pt>
                <c:pt idx="64">
                  <c:v>7.4</c:v>
                </c:pt>
                <c:pt idx="65">
                  <c:v>7.4</c:v>
                </c:pt>
                <c:pt idx="66">
                  <c:v>7.4</c:v>
                </c:pt>
                <c:pt idx="67">
                  <c:v>8.2</c:v>
                </c:pt>
                <c:pt idx="68">
                  <c:v>8.8</c:v>
                </c:pt>
                <c:pt idx="69">
                  <c:v>9.4</c:v>
                </c:pt>
                <c:pt idx="70">
                  <c:v>9.9</c:v>
                </c:pt>
                <c:pt idx="71">
                  <c:v>10.7</c:v>
                </c:pt>
                <c:pt idx="72">
                  <c:v>10.4</c:v>
                </c:pt>
                <c:pt idx="73">
                  <c:v>10.1</c:v>
                </c:pt>
                <c:pt idx="74">
                  <c:v>9.4</c:v>
                </c:pt>
                <c:pt idx="75">
                  <c:v>8.5</c:v>
                </c:pt>
                <c:pt idx="76">
                  <c:v>7.9</c:v>
                </c:pt>
                <c:pt idx="77">
                  <c:v>7.4</c:v>
                </c:pt>
                <c:pt idx="78">
                  <c:v>7.4</c:v>
                </c:pt>
                <c:pt idx="79">
                  <c:v>7.3</c:v>
                </c:pt>
                <c:pt idx="80">
                  <c:v>7.2</c:v>
                </c:pt>
                <c:pt idx="81">
                  <c:v>7.3</c:v>
                </c:pt>
                <c:pt idx="82">
                  <c:v>7.2</c:v>
                </c:pt>
                <c:pt idx="83">
                  <c:v>7</c:v>
                </c:pt>
                <c:pt idx="84">
                  <c:v>7</c:v>
                </c:pt>
                <c:pt idx="85">
                  <c:v>7.2</c:v>
                </c:pt>
                <c:pt idx="86">
                  <c:v>7</c:v>
                </c:pt>
                <c:pt idx="87">
                  <c:v>6.8</c:v>
                </c:pt>
                <c:pt idx="88">
                  <c:v>6.6</c:v>
                </c:pt>
                <c:pt idx="89">
                  <c:v>6.3</c:v>
                </c:pt>
                <c:pt idx="90">
                  <c:v>6</c:v>
                </c:pt>
                <c:pt idx="91">
                  <c:v>5.8</c:v>
                </c:pt>
                <c:pt idx="92">
                  <c:v>5.7</c:v>
                </c:pt>
                <c:pt idx="93">
                  <c:v>5.5</c:v>
                </c:pt>
                <c:pt idx="94">
                  <c:v>5.5</c:v>
                </c:pt>
                <c:pt idx="95">
                  <c:v>5.3</c:v>
                </c:pt>
                <c:pt idx="96">
                  <c:v>5.2</c:v>
                </c:pt>
                <c:pt idx="97">
                  <c:v>5.2</c:v>
                </c:pt>
                <c:pt idx="98">
                  <c:v>5.2</c:v>
                </c:pt>
                <c:pt idx="99">
                  <c:v>5.4</c:v>
                </c:pt>
                <c:pt idx="100">
                  <c:v>5.3</c:v>
                </c:pt>
                <c:pt idx="101">
                  <c:v>5.3</c:v>
                </c:pt>
                <c:pt idx="102">
                  <c:v>5.7</c:v>
                </c:pt>
                <c:pt idx="103">
                  <c:v>6.1</c:v>
                </c:pt>
                <c:pt idx="104">
                  <c:v>6.6</c:v>
                </c:pt>
                <c:pt idx="105">
                  <c:v>6.8</c:v>
                </c:pt>
                <c:pt idx="106">
                  <c:v>6.9</c:v>
                </c:pt>
                <c:pt idx="107">
                  <c:v>7.1</c:v>
                </c:pt>
                <c:pt idx="108">
                  <c:v>7.4</c:v>
                </c:pt>
                <c:pt idx="109">
                  <c:v>7.6</c:v>
                </c:pt>
                <c:pt idx="110">
                  <c:v>7.6</c:v>
                </c:pt>
                <c:pt idx="111">
                  <c:v>7.4</c:v>
                </c:pt>
                <c:pt idx="112">
                  <c:v>7.1</c:v>
                </c:pt>
                <c:pt idx="113">
                  <c:v>7.1</c:v>
                </c:pt>
                <c:pt idx="114">
                  <c:v>6.8</c:v>
                </c:pt>
                <c:pt idx="115">
                  <c:v>6.6</c:v>
                </c:pt>
                <c:pt idx="116">
                  <c:v>6.6</c:v>
                </c:pt>
                <c:pt idx="117">
                  <c:v>6.2</c:v>
                </c:pt>
                <c:pt idx="118">
                  <c:v>6</c:v>
                </c:pt>
                <c:pt idx="119">
                  <c:v>5.6</c:v>
                </c:pt>
                <c:pt idx="120">
                  <c:v>5.5</c:v>
                </c:pt>
                <c:pt idx="121">
                  <c:v>5.7</c:v>
                </c:pt>
                <c:pt idx="122">
                  <c:v>5.7</c:v>
                </c:pt>
                <c:pt idx="123">
                  <c:v>5.6</c:v>
                </c:pt>
                <c:pt idx="124">
                  <c:v>5.5</c:v>
                </c:pt>
                <c:pt idx="125">
                  <c:v>5.5</c:v>
                </c:pt>
                <c:pt idx="126">
                  <c:v>5.3</c:v>
                </c:pt>
                <c:pt idx="127">
                  <c:v>5.3</c:v>
                </c:pt>
                <c:pt idx="128">
                  <c:v>5.2</c:v>
                </c:pt>
                <c:pt idx="129">
                  <c:v>5</c:v>
                </c:pt>
                <c:pt idx="130">
                  <c:v>4.9</c:v>
                </c:pt>
                <c:pt idx="131">
                  <c:v>4.7</c:v>
                </c:pt>
                <c:pt idx="132">
                  <c:v>4.6</c:v>
                </c:pt>
                <c:pt idx="133">
                  <c:v>4.4</c:v>
                </c:pt>
                <c:pt idx="134">
                  <c:v>4.5</c:v>
                </c:pt>
                <c:pt idx="135">
                  <c:v>4.4</c:v>
                </c:pt>
                <c:pt idx="136">
                  <c:v>4.3</c:v>
                </c:pt>
                <c:pt idx="137">
                  <c:v>4.3</c:v>
                </c:pt>
                <c:pt idx="138">
                  <c:v>4.2</c:v>
                </c:pt>
                <c:pt idx="139">
                  <c:v>4.1</c:v>
                </c:pt>
                <c:pt idx="140">
                  <c:v>4</c:v>
                </c:pt>
                <c:pt idx="141">
                  <c:v>3.9</c:v>
                </c:pt>
                <c:pt idx="142">
                  <c:v>4</c:v>
                </c:pt>
                <c:pt idx="143">
                  <c:v>3.9</c:v>
                </c:pt>
                <c:pt idx="144">
                  <c:v>4.2</c:v>
                </c:pt>
                <c:pt idx="145">
                  <c:v>4.4</c:v>
                </c:pt>
                <c:pt idx="146">
                  <c:v>4.8</c:v>
                </c:pt>
                <c:pt idx="147">
                  <c:v>5.5</c:v>
                </c:pt>
                <c:pt idx="148">
                  <c:v>5.7</c:v>
                </c:pt>
                <c:pt idx="149">
                  <c:v>5.8</c:v>
                </c:pt>
                <c:pt idx="150">
                  <c:v>5.7</c:v>
                </c:pt>
                <c:pt idx="151">
                  <c:v>5.9</c:v>
                </c:pt>
                <c:pt idx="152">
                  <c:v>5.9</c:v>
                </c:pt>
                <c:pt idx="153">
                  <c:v>6.1</c:v>
                </c:pt>
                <c:pt idx="154">
                  <c:v>6.1</c:v>
                </c:pt>
                <c:pt idx="155">
                  <c:v>5.8</c:v>
                </c:pt>
                <c:pt idx="156">
                  <c:v>5.7</c:v>
                </c:pt>
                <c:pt idx="157">
                  <c:v>5.6</c:v>
                </c:pt>
                <c:pt idx="158">
                  <c:v>5.4</c:v>
                </c:pt>
                <c:pt idx="159">
                  <c:v>5.4</c:v>
                </c:pt>
                <c:pt idx="160">
                  <c:v>5.3</c:v>
                </c:pt>
                <c:pt idx="161">
                  <c:v>5.1</c:v>
                </c:pt>
                <c:pt idx="162">
                  <c:v>5</c:v>
                </c:pt>
                <c:pt idx="163">
                  <c:v>5</c:v>
                </c:pt>
                <c:pt idx="164">
                  <c:v>4.7</c:v>
                </c:pt>
                <c:pt idx="165">
                  <c:v>4.6</c:v>
                </c:pt>
                <c:pt idx="166">
                  <c:v>4.6</c:v>
                </c:pt>
                <c:pt idx="167">
                  <c:v>4.4</c:v>
                </c:pt>
                <c:pt idx="168">
                  <c:v>4.5</c:v>
                </c:pt>
                <c:pt idx="169">
                  <c:v>4.5</c:v>
                </c:pt>
                <c:pt idx="170">
                  <c:v>4.7</c:v>
                </c:pt>
                <c:pt idx="171">
                  <c:v>4.8</c:v>
                </c:pt>
                <c:pt idx="172">
                  <c:v>5</c:v>
                </c:pt>
                <c:pt idx="173">
                  <c:v>5.3</c:v>
                </c:pt>
                <c:pt idx="174">
                  <c:v>6</c:v>
                </c:pt>
                <c:pt idx="175">
                  <c:v>6.9</c:v>
                </c:pt>
                <c:pt idx="176">
                  <c:v>8.3</c:v>
                </c:pt>
                <c:pt idx="177">
                  <c:v>9.3</c:v>
                </c:pt>
                <c:pt idx="178">
                  <c:v>9.6</c:v>
                </c:pt>
                <c:pt idx="179">
                  <c:v>9.9</c:v>
                </c:pt>
                <c:pt idx="180">
                  <c:v>9.8</c:v>
                </c:pt>
                <c:pt idx="181">
                  <c:v>9.6</c:v>
                </c:pt>
                <c:pt idx="182">
                  <c:v>9.5</c:v>
                </c:pt>
                <c:pt idx="183">
                  <c:v>9.5</c:v>
                </c:pt>
                <c:pt idx="184">
                  <c:v>9</c:v>
                </c:pt>
                <c:pt idx="185">
                  <c:v>9</c:v>
                </c:pt>
                <c:pt idx="186">
                  <c:v>9</c:v>
                </c:pt>
                <c:pt idx="187">
                  <c:v>8.7</c:v>
                </c:pt>
                <c:pt idx="188">
                  <c:v>8.3</c:v>
                </c:pt>
                <c:pt idx="189">
                  <c:v>8.2</c:v>
                </c:pt>
                <c:pt idx="190">
                  <c:v>8</c:v>
                </c:pt>
                <c:pt idx="191">
                  <c:v>7.8</c:v>
                </c:pt>
                <c:pt idx="192">
                  <c:v>7.7</c:v>
                </c:pt>
                <c:pt idx="193">
                  <c:v>7.6</c:v>
                </c:pt>
                <c:pt idx="194">
                  <c:v>7.3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76251264"/>
        <c:axId val="476252800"/>
      </c:scatterChart>
      <c:valAx>
        <c:axId val="476251264"/>
        <c:scaling>
          <c:orientation val="minMax"/>
          <c:max val="2014"/>
          <c:min val="1965"/>
        </c:scaling>
        <c:delete val="0"/>
        <c:axPos val="b"/>
        <c:numFmt formatCode="0" sourceLinked="0"/>
        <c:majorTickMark val="cross"/>
        <c:minorTickMark val="in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</a:p>
        </c:txPr>
        <c:crossAx val="476252800"/>
        <c:crosses val="autoZero"/>
        <c:crossBetween val="midCat"/>
        <c:majorUnit val="5"/>
        <c:minorUnit val="1"/>
      </c:valAx>
      <c:valAx>
        <c:axId val="476252800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</a:p>
        </c:txPr>
        <c:crossAx val="476251264"/>
        <c:crosses val="autoZero"/>
        <c:crossBetween val="midCat"/>
      </c:valAx>
      <c:catAx>
        <c:axId val="476266880"/>
        <c:scaling>
          <c:orientation val="minMax"/>
        </c:scaling>
        <c:delete val="1"/>
        <c:axPos val="b"/>
        <c:numFmt formatCode="0.00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76268416"/>
        <c:crosses val="autoZero"/>
        <c:auto val="1"/>
        <c:lblAlgn val="ctr"/>
        <c:lblOffset val="100"/>
        <c:noMultiLvlLbl val="0"/>
      </c:catAx>
      <c:valAx>
        <c:axId val="476268416"/>
        <c:scaling>
          <c:orientation val="minMax"/>
          <c:max val="100"/>
        </c:scaling>
        <c:delete val="0"/>
        <c:axPos val="r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76266880"/>
        <c:crosses val="max"/>
        <c:crossBetween val="between"/>
      </c:valAx>
      <c:spPr>
        <a:solidFill>
          <a:schemeClr val="bg1"/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c9f6490-ab62-4d0b-ad36-8dadaccb9a4f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实际GDP!$A$3</c:f>
              <c:strCache>
                <c:ptCount val="1"/>
                <c:pt idx="0">
                  <c:v>China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实际GDP!$B$1:$AP$1</c:f>
              <c:numCache>
                <c:formatCode>General</c:formatCode>
                <c:ptCount val="4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  <c:pt idx="37">
                  <c:v>2017</c:v>
                </c:pt>
                <c:pt idx="38">
                  <c:v>2018</c:v>
                </c:pt>
                <c:pt idx="39">
                  <c:v>2019</c:v>
                </c:pt>
                <c:pt idx="40">
                  <c:v>2020</c:v>
                </c:pt>
              </c:numCache>
            </c:numRef>
          </c:cat>
          <c:val>
            <c:numRef>
              <c:f>实际GDP!$B$3:$AP$3</c:f>
              <c:numCache>
                <c:formatCode>General</c:formatCode>
                <c:ptCount val="41"/>
                <c:pt idx="0">
                  <c:v>7.91</c:v>
                </c:pt>
                <c:pt idx="1">
                  <c:v>5.1</c:v>
                </c:pt>
                <c:pt idx="2">
                  <c:v>9</c:v>
                </c:pt>
                <c:pt idx="3">
                  <c:v>10.8</c:v>
                </c:pt>
                <c:pt idx="4">
                  <c:v>15.2</c:v>
                </c:pt>
                <c:pt idx="5">
                  <c:v>13.501</c:v>
                </c:pt>
                <c:pt idx="6">
                  <c:v>8.9</c:v>
                </c:pt>
                <c:pt idx="7">
                  <c:v>11.7</c:v>
                </c:pt>
                <c:pt idx="8">
                  <c:v>11.2</c:v>
                </c:pt>
                <c:pt idx="9">
                  <c:v>4.2</c:v>
                </c:pt>
                <c:pt idx="10">
                  <c:v>3.888</c:v>
                </c:pt>
                <c:pt idx="11">
                  <c:v>8.401</c:v>
                </c:pt>
                <c:pt idx="12">
                  <c:v>14.234</c:v>
                </c:pt>
                <c:pt idx="13">
                  <c:v>14.023</c:v>
                </c:pt>
                <c:pt idx="14">
                  <c:v>13.031</c:v>
                </c:pt>
                <c:pt idx="15">
                  <c:v>11.012</c:v>
                </c:pt>
                <c:pt idx="16">
                  <c:v>9.982</c:v>
                </c:pt>
                <c:pt idx="17">
                  <c:v>9.163</c:v>
                </c:pt>
                <c:pt idx="18">
                  <c:v>7.885</c:v>
                </c:pt>
                <c:pt idx="19">
                  <c:v>7.948</c:v>
                </c:pt>
                <c:pt idx="20">
                  <c:v>8.497</c:v>
                </c:pt>
                <c:pt idx="21">
                  <c:v>8.376</c:v>
                </c:pt>
                <c:pt idx="22">
                  <c:v>9.05</c:v>
                </c:pt>
                <c:pt idx="23">
                  <c:v>10.135</c:v>
                </c:pt>
                <c:pt idx="24">
                  <c:v>10.155</c:v>
                </c:pt>
                <c:pt idx="25">
                  <c:v>11.33</c:v>
                </c:pt>
                <c:pt idx="26">
                  <c:v>12.732</c:v>
                </c:pt>
                <c:pt idx="27">
                  <c:v>14.088</c:v>
                </c:pt>
                <c:pt idx="28">
                  <c:v>9.651</c:v>
                </c:pt>
                <c:pt idx="29">
                  <c:v>9.336</c:v>
                </c:pt>
                <c:pt idx="30">
                  <c:v>10.823</c:v>
                </c:pt>
                <c:pt idx="31">
                  <c:v>9.467</c:v>
                </c:pt>
                <c:pt idx="32">
                  <c:v>7.872</c:v>
                </c:pt>
                <c:pt idx="33">
                  <c:v>7.772</c:v>
                </c:pt>
                <c:pt idx="34">
                  <c:v>7.408</c:v>
                </c:pt>
                <c:pt idx="35">
                  <c:v>7.031</c:v>
                </c:pt>
                <c:pt idx="36">
                  <c:v>6.871</c:v>
                </c:pt>
                <c:pt idx="37">
                  <c:v>6.946</c:v>
                </c:pt>
                <c:pt idx="38">
                  <c:v>6.725</c:v>
                </c:pt>
                <c:pt idx="39">
                  <c:v>5.822</c:v>
                </c:pt>
                <c:pt idx="40">
                  <c:v>2.27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76290432"/>
        <c:axId val="476320896"/>
      </c:lineChart>
      <c:catAx>
        <c:axId val="47629043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6320896"/>
        <c:crosses val="autoZero"/>
        <c:auto val="1"/>
        <c:lblAlgn val="ctr"/>
        <c:lblOffset val="100"/>
        <c:noMultiLvlLbl val="0"/>
      </c:catAx>
      <c:valAx>
        <c:axId val="47632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7629043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d3a5963-cb22-4df1-9a29-026dfd9cd77e}"/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05418518518519"/>
          <c:y val="0.03175"/>
          <c:w val="0.90593962962963"/>
          <c:h val="0.922388888888889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年度数据!$D$3:$AP$3</c:f>
              <c:strCache>
                <c:ptCount val="39"/>
                <c:pt idx="0">
                  <c:v>1982年</c:v>
                </c:pt>
                <c:pt idx="1">
                  <c:v>1983年</c:v>
                </c:pt>
                <c:pt idx="2">
                  <c:v>1984年</c:v>
                </c:pt>
                <c:pt idx="3">
                  <c:v>1985年</c:v>
                </c:pt>
                <c:pt idx="4">
                  <c:v>1986年</c:v>
                </c:pt>
                <c:pt idx="5">
                  <c:v>1987年</c:v>
                </c:pt>
                <c:pt idx="6">
                  <c:v>1988年</c:v>
                </c:pt>
                <c:pt idx="7">
                  <c:v>1989年</c:v>
                </c:pt>
                <c:pt idx="8">
                  <c:v>1990年</c:v>
                </c:pt>
                <c:pt idx="9">
                  <c:v>1991年</c:v>
                </c:pt>
                <c:pt idx="10">
                  <c:v>1992年</c:v>
                </c:pt>
                <c:pt idx="11">
                  <c:v>1993年</c:v>
                </c:pt>
                <c:pt idx="12">
                  <c:v>1994年</c:v>
                </c:pt>
                <c:pt idx="13">
                  <c:v>1995年</c:v>
                </c:pt>
                <c:pt idx="14">
                  <c:v>1996年</c:v>
                </c:pt>
                <c:pt idx="15">
                  <c:v>1997年</c:v>
                </c:pt>
                <c:pt idx="16">
                  <c:v>1998年</c:v>
                </c:pt>
                <c:pt idx="17">
                  <c:v>1999年</c:v>
                </c:pt>
                <c:pt idx="18">
                  <c:v>2000年</c:v>
                </c:pt>
                <c:pt idx="19">
                  <c:v>2001年</c:v>
                </c:pt>
                <c:pt idx="20">
                  <c:v>2002年</c:v>
                </c:pt>
                <c:pt idx="21">
                  <c:v>2003年</c:v>
                </c:pt>
                <c:pt idx="22">
                  <c:v>2004年</c:v>
                </c:pt>
                <c:pt idx="23">
                  <c:v>2005年</c:v>
                </c:pt>
                <c:pt idx="24">
                  <c:v>2006年</c:v>
                </c:pt>
                <c:pt idx="25">
                  <c:v>2007年</c:v>
                </c:pt>
                <c:pt idx="26">
                  <c:v>2008年</c:v>
                </c:pt>
                <c:pt idx="27">
                  <c:v>2009年</c:v>
                </c:pt>
                <c:pt idx="28">
                  <c:v>2010年</c:v>
                </c:pt>
                <c:pt idx="29">
                  <c:v>2011年</c:v>
                </c:pt>
                <c:pt idx="30">
                  <c:v>2012年</c:v>
                </c:pt>
                <c:pt idx="31">
                  <c:v>2013年</c:v>
                </c:pt>
                <c:pt idx="32">
                  <c:v>2014年</c:v>
                </c:pt>
                <c:pt idx="33">
                  <c:v>2015年</c:v>
                </c:pt>
                <c:pt idx="34">
                  <c:v>2016年</c:v>
                </c:pt>
                <c:pt idx="35">
                  <c:v>2017年</c:v>
                </c:pt>
                <c:pt idx="36">
                  <c:v>2018年</c:v>
                </c:pt>
                <c:pt idx="37">
                  <c:v>2019年</c:v>
                </c:pt>
                <c:pt idx="38">
                  <c:v>2020年</c:v>
                </c:pt>
              </c:strCache>
            </c:strRef>
          </c:cat>
          <c:val>
            <c:numRef>
              <c:f>年度数据!$D$5:$AP$5</c:f>
              <c:numCache>
                <c:formatCode>General</c:formatCode>
                <c:ptCount val="39"/>
                <c:pt idx="0">
                  <c:v>0.26634791168612</c:v>
                </c:pt>
                <c:pt idx="1">
                  <c:v>0.126485285952249</c:v>
                </c:pt>
                <c:pt idx="2">
                  <c:v>0.260843848580442</c:v>
                </c:pt>
                <c:pt idx="3">
                  <c:v>0.458561376075059</c:v>
                </c:pt>
                <c:pt idx="4">
                  <c:v>0.233127847761994</c:v>
                </c:pt>
                <c:pt idx="5">
                  <c:v>0.187010954616588</c:v>
                </c:pt>
                <c:pt idx="6">
                  <c:v>0.25683000073244</c:v>
                </c:pt>
                <c:pt idx="7">
                  <c:v>-0.0868032285322999</c:v>
                </c:pt>
                <c:pt idx="8">
                  <c:v>0.044798978940651</c:v>
                </c:pt>
                <c:pt idx="9">
                  <c:v>0.239280478866357</c:v>
                </c:pt>
                <c:pt idx="10">
                  <c:v>0.498238004879371</c:v>
                </c:pt>
                <c:pt idx="11">
                  <c:v>0.69472177903515</c:v>
                </c:pt>
                <c:pt idx="12">
                  <c:v>0.313576101092843</c:v>
                </c:pt>
                <c:pt idx="13">
                  <c:v>0.155855862512284</c:v>
                </c:pt>
                <c:pt idx="14">
                  <c:v>0.122956845247608</c:v>
                </c:pt>
                <c:pt idx="15">
                  <c:v>0.0926157839610183</c:v>
                </c:pt>
                <c:pt idx="16">
                  <c:v>0.171781058861531</c:v>
                </c:pt>
                <c:pt idx="17">
                  <c:v>0.0551588607200974</c:v>
                </c:pt>
                <c:pt idx="18">
                  <c:v>0.104913197370639</c:v>
                </c:pt>
                <c:pt idx="19">
                  <c:v>0.144133507234439</c:v>
                </c:pt>
                <c:pt idx="20">
                  <c:v>0.182909773062713</c:v>
                </c:pt>
                <c:pt idx="21">
                  <c:v>0.290879140324993</c:v>
                </c:pt>
                <c:pt idx="22">
                  <c:v>0.288495951907482</c:v>
                </c:pt>
                <c:pt idx="23">
                  <c:v>0.272190456796998</c:v>
                </c:pt>
                <c:pt idx="24">
                  <c:v>0.243339179254039</c:v>
                </c:pt>
                <c:pt idx="25">
                  <c:v>0.258071443229143</c:v>
                </c:pt>
                <c:pt idx="26">
                  <c:v>0.266240761993818</c:v>
                </c:pt>
                <c:pt idx="27">
                  <c:v>0.303769035951063</c:v>
                </c:pt>
                <c:pt idx="28">
                  <c:v>0.245000022947561</c:v>
                </c:pt>
                <c:pt idx="29">
                  <c:v>0.252516030570902</c:v>
                </c:pt>
                <c:pt idx="30">
                  <c:v>0.206543993992514</c:v>
                </c:pt>
                <c:pt idx="31">
                  <c:v>0.194305806854602</c:v>
                </c:pt>
                <c:pt idx="32">
                  <c:v>0.150356457638775</c:v>
                </c:pt>
                <c:pt idx="33">
                  <c:v>0.100396363303896</c:v>
                </c:pt>
                <c:pt idx="34">
                  <c:v>0.0814204513192442</c:v>
                </c:pt>
                <c:pt idx="35">
                  <c:v>0.0589826752103832</c:v>
                </c:pt>
                <c:pt idx="36">
                  <c:v>0.00625635642228439</c:v>
                </c:pt>
                <c:pt idx="37">
                  <c:v>-0.132399203317622</c:v>
                </c:pt>
                <c:pt idx="38">
                  <c:v>-0.0590617980798157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76729728"/>
        <c:axId val="476731264"/>
      </c:lineChart>
      <c:catAx>
        <c:axId val="47672972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b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6731264"/>
        <c:crosses val="autoZero"/>
        <c:auto val="1"/>
        <c:lblAlgn val="ctr"/>
        <c:lblOffset val="100"/>
        <c:noMultiLvlLbl val="0"/>
      </c:catAx>
      <c:valAx>
        <c:axId val="47673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672972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9f5c57d-314c-428b-b7ea-843b7dd5419a}"/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00064897138036"/>
          <c:y val="0.0335268521970584"/>
          <c:w val="0.883501851851852"/>
          <c:h val="0.8209725"/>
        </c:manualLayout>
      </c:layout>
      <c:lineChart>
        <c:grouping val="standard"/>
        <c:varyColors val="0"/>
        <c:ser>
          <c:idx val="0"/>
          <c:order val="0"/>
          <c:tx>
            <c:strRef>
              <c:f>年度数据!$A$4</c:f>
              <c:strCache>
                <c:ptCount val="1"/>
                <c:pt idx="0">
                  <c:v>城镇登记失业率(%)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年度数据!$B$3:$AP$3</c:f>
              <c:strCache>
                <c:ptCount val="41"/>
                <c:pt idx="0">
                  <c:v>1980年</c:v>
                </c:pt>
                <c:pt idx="1">
                  <c:v>1981年</c:v>
                </c:pt>
                <c:pt idx="2">
                  <c:v>1982年</c:v>
                </c:pt>
                <c:pt idx="3">
                  <c:v>1983年</c:v>
                </c:pt>
                <c:pt idx="4">
                  <c:v>1984年</c:v>
                </c:pt>
                <c:pt idx="5">
                  <c:v>1985年</c:v>
                </c:pt>
                <c:pt idx="6">
                  <c:v>1986年</c:v>
                </c:pt>
                <c:pt idx="7">
                  <c:v>1987年</c:v>
                </c:pt>
                <c:pt idx="8">
                  <c:v>1988年</c:v>
                </c:pt>
                <c:pt idx="9">
                  <c:v>1989年</c:v>
                </c:pt>
                <c:pt idx="10">
                  <c:v>1990年</c:v>
                </c:pt>
                <c:pt idx="11">
                  <c:v>1991年</c:v>
                </c:pt>
                <c:pt idx="12">
                  <c:v>1992年</c:v>
                </c:pt>
                <c:pt idx="13">
                  <c:v>1993年</c:v>
                </c:pt>
                <c:pt idx="14">
                  <c:v>1994年</c:v>
                </c:pt>
                <c:pt idx="15">
                  <c:v>1995年</c:v>
                </c:pt>
                <c:pt idx="16">
                  <c:v>1996年</c:v>
                </c:pt>
                <c:pt idx="17">
                  <c:v>1997年</c:v>
                </c:pt>
                <c:pt idx="18">
                  <c:v>1998年</c:v>
                </c:pt>
                <c:pt idx="19">
                  <c:v>1999年</c:v>
                </c:pt>
                <c:pt idx="20">
                  <c:v>2000年</c:v>
                </c:pt>
                <c:pt idx="21">
                  <c:v>2001年</c:v>
                </c:pt>
                <c:pt idx="22">
                  <c:v>2002年</c:v>
                </c:pt>
                <c:pt idx="23">
                  <c:v>2003年</c:v>
                </c:pt>
                <c:pt idx="24">
                  <c:v>2004年</c:v>
                </c:pt>
                <c:pt idx="25">
                  <c:v>2005年</c:v>
                </c:pt>
                <c:pt idx="26">
                  <c:v>2006年</c:v>
                </c:pt>
                <c:pt idx="27">
                  <c:v>2007年</c:v>
                </c:pt>
                <c:pt idx="28">
                  <c:v>2008年</c:v>
                </c:pt>
                <c:pt idx="29">
                  <c:v>2009年</c:v>
                </c:pt>
                <c:pt idx="30">
                  <c:v>2010年</c:v>
                </c:pt>
                <c:pt idx="31">
                  <c:v>2011年</c:v>
                </c:pt>
                <c:pt idx="32">
                  <c:v>2012年</c:v>
                </c:pt>
                <c:pt idx="33">
                  <c:v>2013年</c:v>
                </c:pt>
                <c:pt idx="34">
                  <c:v>2014年</c:v>
                </c:pt>
                <c:pt idx="35">
                  <c:v>2015年</c:v>
                </c:pt>
                <c:pt idx="36">
                  <c:v>2016年</c:v>
                </c:pt>
                <c:pt idx="37">
                  <c:v>2017年</c:v>
                </c:pt>
                <c:pt idx="38">
                  <c:v>2018年</c:v>
                </c:pt>
                <c:pt idx="39">
                  <c:v>2019年</c:v>
                </c:pt>
                <c:pt idx="40">
                  <c:v>2020年</c:v>
                </c:pt>
              </c:strCache>
            </c:strRef>
          </c:cat>
          <c:val>
            <c:numRef>
              <c:f>年度数据!$B$4:$AP$4</c:f>
              <c:numCache>
                <c:formatCode>General</c:formatCode>
                <c:ptCount val="41"/>
                <c:pt idx="0">
                  <c:v>4.9</c:v>
                </c:pt>
                <c:pt idx="1">
                  <c:v>3.8</c:v>
                </c:pt>
                <c:pt idx="2">
                  <c:v>3.2</c:v>
                </c:pt>
                <c:pt idx="3">
                  <c:v>2.3</c:v>
                </c:pt>
                <c:pt idx="4">
                  <c:v>1.9</c:v>
                </c:pt>
                <c:pt idx="5">
                  <c:v>1.8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2.6</c:v>
                </c:pt>
                <c:pt idx="10">
                  <c:v>2.5</c:v>
                </c:pt>
                <c:pt idx="11">
                  <c:v>2.3</c:v>
                </c:pt>
                <c:pt idx="12">
                  <c:v>2.3</c:v>
                </c:pt>
                <c:pt idx="13">
                  <c:v>2.6</c:v>
                </c:pt>
                <c:pt idx="14">
                  <c:v>2.8</c:v>
                </c:pt>
                <c:pt idx="15">
                  <c:v>2.9</c:v>
                </c:pt>
                <c:pt idx="16">
                  <c:v>3</c:v>
                </c:pt>
                <c:pt idx="17">
                  <c:v>3.1</c:v>
                </c:pt>
                <c:pt idx="18">
                  <c:v>3.1</c:v>
                </c:pt>
                <c:pt idx="19">
                  <c:v>3.1</c:v>
                </c:pt>
                <c:pt idx="20">
                  <c:v>3.1</c:v>
                </c:pt>
                <c:pt idx="21">
                  <c:v>3.6</c:v>
                </c:pt>
                <c:pt idx="22">
                  <c:v>4</c:v>
                </c:pt>
                <c:pt idx="23">
                  <c:v>4.3</c:v>
                </c:pt>
                <c:pt idx="24">
                  <c:v>4.2</c:v>
                </c:pt>
                <c:pt idx="25">
                  <c:v>4.2</c:v>
                </c:pt>
                <c:pt idx="26">
                  <c:v>4.1</c:v>
                </c:pt>
                <c:pt idx="27">
                  <c:v>4</c:v>
                </c:pt>
                <c:pt idx="28">
                  <c:v>4.2</c:v>
                </c:pt>
                <c:pt idx="29">
                  <c:v>4.3</c:v>
                </c:pt>
                <c:pt idx="30">
                  <c:v>4.1</c:v>
                </c:pt>
                <c:pt idx="31">
                  <c:v>4.1</c:v>
                </c:pt>
                <c:pt idx="32">
                  <c:v>4.1</c:v>
                </c:pt>
                <c:pt idx="33">
                  <c:v>4</c:v>
                </c:pt>
                <c:pt idx="34">
                  <c:v>4.1</c:v>
                </c:pt>
                <c:pt idx="35">
                  <c:v>4</c:v>
                </c:pt>
                <c:pt idx="36">
                  <c:v>4</c:v>
                </c:pt>
                <c:pt idx="37">
                  <c:v>3.9</c:v>
                </c:pt>
                <c:pt idx="38">
                  <c:v>3.8</c:v>
                </c:pt>
                <c:pt idx="39">
                  <c:v>3.6</c:v>
                </c:pt>
                <c:pt idx="40">
                  <c:v>4.2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76537984"/>
        <c:axId val="476539520"/>
      </c:lineChart>
      <c:catAx>
        <c:axId val="47653798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76539520"/>
        <c:crosses val="autoZero"/>
        <c:auto val="1"/>
        <c:lblAlgn val="ctr"/>
        <c:lblOffset val="100"/>
        <c:noMultiLvlLbl val="0"/>
      </c:catAx>
      <c:valAx>
        <c:axId val="47653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76537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c7e21-31f4-431b-94ac-7aedeb5a2553}"/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0.54756</cdr:x>
      <cdr:y>0.56148</cdr:y>
    </cdr:from>
    <cdr:to>
      <cdr:x>0.91713</cdr:x>
      <cdr:y>0.7621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4340546" y="2325707"/>
          <a:ext cx="2929630" cy="830997"/>
        </a:xfrm>
        <a:prstGeom xmlns:a="http://schemas.openxmlformats.org/drawingml/2006/main" prst="rect">
          <a:avLst/>
        </a:prstGeom>
        <a:ln>
          <a:solidFill>
            <a:schemeClr val="tx1"/>
          </a:solidFill>
        </a:ln>
      </cdr:spPr>
      <cdr:txBody xmlns:a="http://schemas.openxmlformats.org/drawingml/2006/main">
        <a:bodyPr wrap="square">
          <a:spAutoFit/>
        </a:bodyPr>
        <a:lstStyle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>
          <a:pPr algn="just">
            <a:spcBef>
              <a:spcPct val="50000"/>
            </a:spcBef>
            <a:defRPr/>
          </a:pPr>
          <a:r>
            <a:rPr lang="zh-CN" altLang="en-US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事实</a:t>
          </a:r>
          <a:r>
            <a: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：大多数宏观经济变量同时波动</a:t>
          </a:r>
          <a:endParaRPr lang="zh-CN" altLang="en-US" sz="240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0.35181</cdr:x>
      <cdr:y>0</cdr:y>
    </cdr:from>
    <cdr:to>
      <cdr:x>0.41244</cdr:x>
      <cdr:y>0.85098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2503017" y="0"/>
          <a:ext cx="431366" cy="3852908"/>
        </a:xfrm>
        <a:prstGeom xmlns:a="http://schemas.openxmlformats.org/drawingml/2006/main" prst="rect">
          <a:avLst/>
        </a:prstGeom>
        <a:solidFill>
          <a:srgbClr val="EE7612">
            <a:alpha val="40000"/>
          </a:srgbClr>
        </a:solidFill>
        <a:ln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/>
        <a:lstStyle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>
          <a:endParaRPr lang="zh-CN"/>
        </a:p>
      </cdr:txBody>
    </cdr:sp>
  </cdr:relSizeAnchor>
  <cdr:relSizeAnchor xmlns:cdr="http://schemas.openxmlformats.org/drawingml/2006/chartDrawing">
    <cdr:from>
      <cdr:x>0.23885</cdr:x>
      <cdr:y>0</cdr:y>
    </cdr:from>
    <cdr:to>
      <cdr:x>0.25798</cdr:x>
      <cdr:y>0.83953</cdr:y>
    </cdr:to>
    <cdr:sp>
      <cdr:nvSpPr>
        <cdr:cNvPr id="3" name="矩形 2"/>
        <cdr:cNvSpPr/>
      </cdr:nvSpPr>
      <cdr:spPr xmlns:a="http://schemas.openxmlformats.org/drawingml/2006/main">
        <a:xfrm xmlns:a="http://schemas.openxmlformats.org/drawingml/2006/main">
          <a:off x="1557306" y="0"/>
          <a:ext cx="124704" cy="3888419"/>
        </a:xfrm>
        <a:prstGeom xmlns:a="http://schemas.openxmlformats.org/drawingml/2006/main" prst="rect">
          <a:avLst/>
        </a:prstGeom>
        <a:solidFill>
          <a:srgbClr val="EE7612">
            <a:alpha val="40000"/>
          </a:srgbClr>
        </a:solidFill>
        <a:ln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/>
        <a:lstStyle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>
          <a:endParaRPr lang="zh-CN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0.91745</cdr:x>
      <cdr:y>2.0949e-7</cdr:y>
    </cdr:from>
    <cdr:to>
      <cdr:x>0.96703</cdr:x>
      <cdr:y>0.76939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5995736" y="1"/>
          <a:ext cx="323991" cy="3672674"/>
        </a:xfrm>
        <a:prstGeom xmlns:a="http://schemas.openxmlformats.org/drawingml/2006/main" prst="rect">
          <a:avLst/>
        </a:prstGeom>
        <a:solidFill>
          <a:srgbClr val="EE7612">
            <a:alpha val="40000"/>
          </a:srgbClr>
        </a:solidFill>
        <a:ln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 xmlns:a="http://schemas.openxmlformats.org/drawingml/2006/main">
        <a:bodyPr/>
        <a:lstStyle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>
          <a:endParaRPr lang="zh-CN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F15FA-6B4E-4FED-9D12-E83FDD54722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A24F5-E131-4EBA-BC25-A81BE41A185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23495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45720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69215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91440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3152" y="1897388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60565" y="3106465"/>
            <a:ext cx="63049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11</a:t>
            </a:r>
            <a:r>
              <a:rPr lang="zh-CN" altLang="en-US" sz="40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章：总需求和总供给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4137" y="641967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9280" y="1337494"/>
            <a:ext cx="82440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什么是经济波动？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的特点是什么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为什么总需求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 : Aggregate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Demand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曲线向下倾斜？什么使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总需求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曲线移动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为什么长期总供给（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LRAS: Long Run Aggregate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Supply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曲线是垂直的？为什么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短期总供给曲线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SRAS: Short Run Aggregate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Supply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向上倾斜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？什么使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总供给（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AS: Aggregate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Supply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移动？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总需求和总供给模型如何解释经济波动？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421765"/>
            <a:ext cx="8289660" cy="406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长期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来看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GDP的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年均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增长率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通常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为正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我们通常将此视为一个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长期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趋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势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 algn="l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GDP会围绕其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长期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趋势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上下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波动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4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繁荣：失业率下降、实际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上升的时期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4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衰退：失业率上升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、实际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下降的时期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萧条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严重衰退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的时期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非常罕见）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-342900" algn="l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短期经济波动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通常被称为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商业周期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Business Cycle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588011" y="600075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93484" y="1441281"/>
          <a:ext cx="8266430" cy="4604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2396971" y="2133650"/>
            <a:ext cx="2440260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美国的实际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b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期：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2408985" y="3068660"/>
            <a:ext cx="2429345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阴影部分是衰退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588011" y="600075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64928" y="4229756"/>
            <a:ext cx="3089464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：经济波动是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不规则、不可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预测的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2" name="Chart 5"/>
          <p:cNvGraphicFramePr>
            <a:graphicFrameLocks noGrp="1"/>
          </p:cNvGraphicFramePr>
          <p:nvPr/>
        </p:nvGraphicFramePr>
        <p:xfrm>
          <a:off x="497785" y="1478570"/>
          <a:ext cx="7927124" cy="414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88011" y="600075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1793289" y="1885075"/>
            <a:ext cx="1740024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的固定资产投资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aphicFrame>
        <p:nvGraphicFramePr>
          <p:cNvPr id="2" name="Chart 5"/>
          <p:cNvGraphicFramePr>
            <a:graphicFrameLocks noGrp="1"/>
          </p:cNvGraphicFramePr>
          <p:nvPr/>
        </p:nvGraphicFramePr>
        <p:xfrm>
          <a:off x="447250" y="1487078"/>
          <a:ext cx="8129905" cy="4528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4287693" y="1923359"/>
            <a:ext cx="2743422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美国：随着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下降，失业率上升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588011" y="600075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279038" y="4451683"/>
            <a:ext cx="292963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：大多数宏观经济变量同时波动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425591" y="1544715"/>
            <a:ext cx="7114727" cy="4527611"/>
            <a:chOff x="2007381" y="2101558"/>
            <a:chExt cx="5400000" cy="3600000"/>
          </a:xfrm>
        </p:grpSpPr>
        <p:graphicFrame>
          <p:nvGraphicFramePr>
            <p:cNvPr id="7" name="图表 6"/>
            <p:cNvGraphicFramePr/>
            <p:nvPr/>
          </p:nvGraphicFramePr>
          <p:xfrm>
            <a:off x="2007381" y="2101558"/>
            <a:ext cx="5400000" cy="36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5" name="矩形 4"/>
            <p:cNvSpPr/>
            <p:nvPr/>
          </p:nvSpPr>
          <p:spPr>
            <a:xfrm>
              <a:off x="7020397" y="2101559"/>
              <a:ext cx="276293" cy="3063529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  <p:sp>
          <p:nvSpPr>
            <p:cNvPr id="8" name="矩形 7"/>
            <p:cNvSpPr/>
            <p:nvPr/>
          </p:nvSpPr>
          <p:spPr>
            <a:xfrm>
              <a:off x="2944256" y="2122259"/>
              <a:ext cx="112907" cy="3008515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563124" y="1534171"/>
            <a:ext cx="3293615" cy="683264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中国的实际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GDP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增长率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588011" y="600075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1885203" y="4657762"/>
            <a:ext cx="2429345" cy="46166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阴影部分是衰退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65433" y="3785871"/>
            <a:ext cx="3089464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：经济波动是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不规则、不可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预测的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958788" y="1565153"/>
            <a:ext cx="7042419" cy="4187577"/>
            <a:chOff x="1812794" y="2270015"/>
            <a:chExt cx="5400000" cy="3607647"/>
          </a:xfrm>
        </p:grpSpPr>
        <p:graphicFrame>
          <p:nvGraphicFramePr>
            <p:cNvPr id="9" name="图表 8"/>
            <p:cNvGraphicFramePr/>
            <p:nvPr/>
          </p:nvGraphicFramePr>
          <p:xfrm>
            <a:off x="1812794" y="2277662"/>
            <a:ext cx="5400000" cy="36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10" name="矩形 9"/>
            <p:cNvSpPr/>
            <p:nvPr/>
          </p:nvSpPr>
          <p:spPr>
            <a:xfrm>
              <a:off x="3677319" y="2277662"/>
              <a:ext cx="204126" cy="2765837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  <p:sp>
          <p:nvSpPr>
            <p:cNvPr id="11" name="矩形 10"/>
            <p:cNvSpPr/>
            <p:nvPr/>
          </p:nvSpPr>
          <p:spPr>
            <a:xfrm>
              <a:off x="3033475" y="2270015"/>
              <a:ext cx="102914" cy="2780104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  <p:sp>
          <p:nvSpPr>
            <p:cNvPr id="12" name="矩形 11"/>
            <p:cNvSpPr/>
            <p:nvPr/>
          </p:nvSpPr>
          <p:spPr>
            <a:xfrm>
              <a:off x="2650885" y="2277662"/>
              <a:ext cx="146483" cy="2780105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</p:grpSp>
      <p:sp>
        <p:nvSpPr>
          <p:cNvPr id="14" name="TextBox 5"/>
          <p:cNvSpPr txBox="1"/>
          <p:nvPr/>
        </p:nvSpPr>
        <p:spPr>
          <a:xfrm>
            <a:off x="588011" y="600075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24761" y="2764926"/>
            <a:ext cx="292963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：大多数宏观经济变量同时波动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773008" y="1734154"/>
            <a:ext cx="2130643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国的固定资产投资增长率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084393" y="1384680"/>
            <a:ext cx="7704500" cy="4820812"/>
            <a:chOff x="1974555" y="2083908"/>
            <a:chExt cx="5400000" cy="3606642"/>
          </a:xfrm>
        </p:grpSpPr>
        <p:graphicFrame>
          <p:nvGraphicFramePr>
            <p:cNvPr id="8" name="图表 7"/>
            <p:cNvGraphicFramePr/>
            <p:nvPr/>
          </p:nvGraphicFramePr>
          <p:xfrm>
            <a:off x="1974555" y="2090550"/>
            <a:ext cx="5400000" cy="36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  <p:sp>
          <p:nvSpPr>
            <p:cNvPr id="9" name="矩形 8"/>
            <p:cNvSpPr/>
            <p:nvPr/>
          </p:nvSpPr>
          <p:spPr>
            <a:xfrm>
              <a:off x="3300546" y="2090551"/>
              <a:ext cx="158429" cy="3094381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  <p:sp>
          <p:nvSpPr>
            <p:cNvPr id="10" name="矩形 9"/>
            <p:cNvSpPr/>
            <p:nvPr/>
          </p:nvSpPr>
          <p:spPr>
            <a:xfrm>
              <a:off x="3885728" y="2090550"/>
              <a:ext cx="265678" cy="3094381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  <p:sp>
          <p:nvSpPr>
            <p:cNvPr id="11" name="矩形 10"/>
            <p:cNvSpPr/>
            <p:nvPr/>
          </p:nvSpPr>
          <p:spPr>
            <a:xfrm>
              <a:off x="2951407" y="2083908"/>
              <a:ext cx="158429" cy="3094381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  <p:sp>
          <p:nvSpPr>
            <p:cNvPr id="12" name="矩形 11"/>
            <p:cNvSpPr/>
            <p:nvPr/>
          </p:nvSpPr>
          <p:spPr>
            <a:xfrm>
              <a:off x="6917732" y="2090550"/>
              <a:ext cx="223468" cy="3094381"/>
            </a:xfrm>
            <a:prstGeom prst="rect">
              <a:avLst/>
            </a:prstGeom>
            <a:solidFill>
              <a:srgbClr val="EE7612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/>
            </a:p>
          </p:txBody>
        </p:sp>
      </p:grpSp>
      <p:sp>
        <p:nvSpPr>
          <p:cNvPr id="14" name="TextBox 5"/>
          <p:cNvSpPr txBox="1"/>
          <p:nvPr/>
        </p:nvSpPr>
        <p:spPr>
          <a:xfrm>
            <a:off x="588011" y="546809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802820" y="4416172"/>
            <a:ext cx="292963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：大多数宏观经济变量同时波动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4678310" y="1719173"/>
            <a:ext cx="2743422" cy="83099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：随着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下降，失业率上升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071" y="1570990"/>
            <a:ext cx="85600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经济波动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有很多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大多数经济学家使用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“总需求和总供给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解释短期经济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波动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该模型不同于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用来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长期经济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古典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588011" y="546809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421765"/>
            <a:ext cx="7967980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前几章基于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古典经济学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的思想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古典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二分法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将变量分为两组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实际变量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：以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产品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相对价格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来计量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257300" lvl="2" indent="-34290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名义变量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计量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货币中性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：货币供应量的变化影响名义变量，但不影响实际变量。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588011" y="546809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070" y="1570990"/>
            <a:ext cx="871156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大多数经济学家认为，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古典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理论研究的是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长期经济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，而不是短期经济。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名义变量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（如货币供应量或价格）的变化会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影响实际变量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（如国民收入或失业率）。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对短期经济进行研究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我们使用一个新模型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供给模型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588011" y="546809"/>
            <a:ext cx="241264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35172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985423" y="2515517"/>
            <a:ext cx="2352582" cy="1970577"/>
          </a:xfrm>
          <a:solidFill>
            <a:schemeClr val="accent3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曲线给出了在一系列价格水平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需求量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8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grpSp>
        <p:nvGrpSpPr>
          <p:cNvPr id="18438" name="Group 5"/>
          <p:cNvGrpSpPr/>
          <p:nvPr/>
        </p:nvGrpSpPr>
        <p:grpSpPr bwMode="auto">
          <a:xfrm>
            <a:off x="3981768" y="1559878"/>
            <a:ext cx="4422775" cy="4106862"/>
            <a:chOff x="2579" y="785"/>
            <a:chExt cx="2786" cy="2420"/>
          </a:xfrm>
        </p:grpSpPr>
        <p:grpSp>
          <p:nvGrpSpPr>
            <p:cNvPr id="18457" name="Group 6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18460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1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58" name="Text Box 9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18459" name="Text Box 10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18439" name="Group 72"/>
          <p:cNvGrpSpPr/>
          <p:nvPr/>
        </p:nvGrpSpPr>
        <p:grpSpPr bwMode="auto">
          <a:xfrm>
            <a:off x="4712018" y="2304415"/>
            <a:ext cx="2982912" cy="2667000"/>
            <a:chOff x="3039" y="1212"/>
            <a:chExt cx="1879" cy="1680"/>
          </a:xfrm>
        </p:grpSpPr>
        <p:sp>
          <p:nvSpPr>
            <p:cNvPr id="18455" name="Line 11"/>
            <p:cNvSpPr>
              <a:spLocks noChangeShapeType="1"/>
            </p:cNvSpPr>
            <p:nvPr/>
          </p:nvSpPr>
          <p:spPr bwMode="auto">
            <a:xfrm>
              <a:off x="3039" y="1212"/>
              <a:ext cx="1460" cy="143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Text Box 12"/>
            <p:cNvSpPr txBox="1">
              <a:spLocks noChangeArrowheads="1"/>
            </p:cNvSpPr>
            <p:nvPr/>
          </p:nvSpPr>
          <p:spPr bwMode="auto">
            <a:xfrm>
              <a:off x="4415" y="2604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70"/>
          <p:cNvGrpSpPr/>
          <p:nvPr/>
        </p:nvGrpSpPr>
        <p:grpSpPr bwMode="auto">
          <a:xfrm>
            <a:off x="3667443" y="4026853"/>
            <a:ext cx="3230562" cy="1844675"/>
            <a:chOff x="2381" y="2297"/>
            <a:chExt cx="2035" cy="1162"/>
          </a:xfrm>
        </p:grpSpPr>
        <p:sp>
          <p:nvSpPr>
            <p:cNvPr id="18449" name="Text Box 51"/>
            <p:cNvSpPr txBox="1">
              <a:spLocks noChangeArrowheads="1"/>
            </p:cNvSpPr>
            <p:nvPr/>
          </p:nvSpPr>
          <p:spPr bwMode="auto">
            <a:xfrm>
              <a:off x="2381" y="2297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18450" name="Text Box 52"/>
            <p:cNvSpPr txBox="1">
              <a:spLocks noChangeArrowheads="1"/>
            </p:cNvSpPr>
            <p:nvPr/>
          </p:nvSpPr>
          <p:spPr bwMode="auto">
            <a:xfrm>
              <a:off x="4108" y="3229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grpSp>
          <p:nvGrpSpPr>
            <p:cNvPr id="18451" name="Group 56"/>
            <p:cNvGrpSpPr/>
            <p:nvPr/>
          </p:nvGrpSpPr>
          <p:grpSpPr bwMode="auto">
            <a:xfrm>
              <a:off x="2699" y="2419"/>
              <a:ext cx="1571" cy="774"/>
              <a:chOff x="357" y="2450"/>
              <a:chExt cx="795" cy="646"/>
            </a:xfrm>
          </p:grpSpPr>
          <p:sp>
            <p:nvSpPr>
              <p:cNvPr id="18453" name="Line 5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54" name="Line 5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52" name="Oval 67"/>
            <p:cNvSpPr>
              <a:spLocks noChangeArrowheads="1"/>
            </p:cNvSpPr>
            <p:nvPr/>
          </p:nvSpPr>
          <p:spPr bwMode="auto">
            <a:xfrm>
              <a:off x="4223" y="2376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71"/>
          <p:cNvGrpSpPr/>
          <p:nvPr/>
        </p:nvGrpSpPr>
        <p:grpSpPr bwMode="auto">
          <a:xfrm>
            <a:off x="3662680" y="2525078"/>
            <a:ext cx="1709738" cy="3343275"/>
            <a:chOff x="2378" y="1351"/>
            <a:chExt cx="1077" cy="2106"/>
          </a:xfrm>
        </p:grpSpPr>
        <p:sp>
          <p:nvSpPr>
            <p:cNvPr id="18443" name="Text Box 55"/>
            <p:cNvSpPr txBox="1">
              <a:spLocks noChangeArrowheads="1"/>
            </p:cNvSpPr>
            <p:nvPr/>
          </p:nvSpPr>
          <p:spPr bwMode="auto">
            <a:xfrm>
              <a:off x="2378" y="1351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18444" name="Oval 60"/>
            <p:cNvSpPr>
              <a:spLocks noChangeArrowheads="1"/>
            </p:cNvSpPr>
            <p:nvPr/>
          </p:nvSpPr>
          <p:spPr bwMode="auto">
            <a:xfrm>
              <a:off x="3260" y="1428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18445" name="Group 64"/>
            <p:cNvGrpSpPr/>
            <p:nvPr/>
          </p:nvGrpSpPr>
          <p:grpSpPr bwMode="auto">
            <a:xfrm>
              <a:off x="2700" y="1471"/>
              <a:ext cx="605" cy="1731"/>
              <a:chOff x="357" y="2450"/>
              <a:chExt cx="795" cy="646"/>
            </a:xfrm>
          </p:grpSpPr>
          <p:sp>
            <p:nvSpPr>
              <p:cNvPr id="18447" name="Line 65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8" name="Line 66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46" name="Text Box 69"/>
            <p:cNvSpPr txBox="1">
              <a:spLocks noChangeArrowheads="1"/>
            </p:cNvSpPr>
            <p:nvPr/>
          </p:nvSpPr>
          <p:spPr bwMode="auto">
            <a:xfrm>
              <a:off x="3147" y="3227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6785738" y="4029688"/>
            <a:ext cx="1917700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总需求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2" grpId="0" bldLvl="0" animBg="1"/>
      <p:bldP spid="29" grpId="0"/>
      <p:bldP spid="2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18438" name="Group 5"/>
          <p:cNvGrpSpPr/>
          <p:nvPr/>
        </p:nvGrpSpPr>
        <p:grpSpPr bwMode="auto">
          <a:xfrm>
            <a:off x="3981768" y="1559878"/>
            <a:ext cx="4422775" cy="4106862"/>
            <a:chOff x="2579" y="785"/>
            <a:chExt cx="2786" cy="2420"/>
          </a:xfrm>
        </p:grpSpPr>
        <p:grpSp>
          <p:nvGrpSpPr>
            <p:cNvPr id="18457" name="Group 6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18460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1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58" name="Text Box 9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18459" name="Text Box 10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18439" name="Group 72"/>
          <p:cNvGrpSpPr/>
          <p:nvPr/>
        </p:nvGrpSpPr>
        <p:grpSpPr bwMode="auto">
          <a:xfrm>
            <a:off x="4712018" y="2304415"/>
            <a:ext cx="2982912" cy="2667000"/>
            <a:chOff x="3039" y="1212"/>
            <a:chExt cx="1879" cy="1680"/>
          </a:xfrm>
        </p:grpSpPr>
        <p:sp>
          <p:nvSpPr>
            <p:cNvPr id="18455" name="Line 11"/>
            <p:cNvSpPr>
              <a:spLocks noChangeShapeType="1"/>
            </p:cNvSpPr>
            <p:nvPr/>
          </p:nvSpPr>
          <p:spPr bwMode="auto">
            <a:xfrm>
              <a:off x="3039" y="1212"/>
              <a:ext cx="1460" cy="143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Text Box 12"/>
            <p:cNvSpPr txBox="1">
              <a:spLocks noChangeArrowheads="1"/>
            </p:cNvSpPr>
            <p:nvPr/>
          </p:nvSpPr>
          <p:spPr bwMode="auto">
            <a:xfrm>
              <a:off x="4415" y="2604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70"/>
          <p:cNvGrpSpPr/>
          <p:nvPr/>
        </p:nvGrpSpPr>
        <p:grpSpPr bwMode="auto">
          <a:xfrm>
            <a:off x="3667443" y="4026853"/>
            <a:ext cx="3230562" cy="1844675"/>
            <a:chOff x="2381" y="2297"/>
            <a:chExt cx="2035" cy="1162"/>
          </a:xfrm>
        </p:grpSpPr>
        <p:sp>
          <p:nvSpPr>
            <p:cNvPr id="18449" name="Text Box 51"/>
            <p:cNvSpPr txBox="1">
              <a:spLocks noChangeArrowheads="1"/>
            </p:cNvSpPr>
            <p:nvPr/>
          </p:nvSpPr>
          <p:spPr bwMode="auto">
            <a:xfrm>
              <a:off x="2381" y="2297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18450" name="Text Box 52"/>
            <p:cNvSpPr txBox="1">
              <a:spLocks noChangeArrowheads="1"/>
            </p:cNvSpPr>
            <p:nvPr/>
          </p:nvSpPr>
          <p:spPr bwMode="auto">
            <a:xfrm>
              <a:off x="4108" y="3229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grpSp>
          <p:nvGrpSpPr>
            <p:cNvPr id="18451" name="Group 56"/>
            <p:cNvGrpSpPr/>
            <p:nvPr/>
          </p:nvGrpSpPr>
          <p:grpSpPr bwMode="auto">
            <a:xfrm>
              <a:off x="2699" y="2419"/>
              <a:ext cx="1571" cy="774"/>
              <a:chOff x="357" y="2450"/>
              <a:chExt cx="795" cy="646"/>
            </a:xfrm>
          </p:grpSpPr>
          <p:sp>
            <p:nvSpPr>
              <p:cNvPr id="18453" name="Line 5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54" name="Line 5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52" name="Oval 67"/>
            <p:cNvSpPr>
              <a:spLocks noChangeArrowheads="1"/>
            </p:cNvSpPr>
            <p:nvPr/>
          </p:nvSpPr>
          <p:spPr bwMode="auto">
            <a:xfrm>
              <a:off x="4223" y="2376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71"/>
          <p:cNvGrpSpPr/>
          <p:nvPr/>
        </p:nvGrpSpPr>
        <p:grpSpPr bwMode="auto">
          <a:xfrm>
            <a:off x="3662680" y="2525078"/>
            <a:ext cx="1709738" cy="3343275"/>
            <a:chOff x="2378" y="1351"/>
            <a:chExt cx="1077" cy="2106"/>
          </a:xfrm>
        </p:grpSpPr>
        <p:sp>
          <p:nvSpPr>
            <p:cNvPr id="18443" name="Text Box 55"/>
            <p:cNvSpPr txBox="1">
              <a:spLocks noChangeArrowheads="1"/>
            </p:cNvSpPr>
            <p:nvPr/>
          </p:nvSpPr>
          <p:spPr bwMode="auto">
            <a:xfrm>
              <a:off x="2378" y="1351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18444" name="Oval 60"/>
            <p:cNvSpPr>
              <a:spLocks noChangeArrowheads="1"/>
            </p:cNvSpPr>
            <p:nvPr/>
          </p:nvSpPr>
          <p:spPr bwMode="auto">
            <a:xfrm>
              <a:off x="3260" y="1428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18445" name="Group 64"/>
            <p:cNvGrpSpPr/>
            <p:nvPr/>
          </p:nvGrpSpPr>
          <p:grpSpPr bwMode="auto">
            <a:xfrm>
              <a:off x="2700" y="1471"/>
              <a:ext cx="605" cy="1731"/>
              <a:chOff x="357" y="2450"/>
              <a:chExt cx="795" cy="646"/>
            </a:xfrm>
          </p:grpSpPr>
          <p:sp>
            <p:nvSpPr>
              <p:cNvPr id="18447" name="Line 65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48" name="Line 66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46" name="Text Box 69"/>
            <p:cNvSpPr txBox="1">
              <a:spLocks noChangeArrowheads="1"/>
            </p:cNvSpPr>
            <p:nvPr/>
          </p:nvSpPr>
          <p:spPr bwMode="auto">
            <a:xfrm>
              <a:off x="3147" y="3227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143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5505" y="1406281"/>
            <a:ext cx="3218728" cy="4479614"/>
          </a:xfrm>
          <a:noFill/>
        </p:spPr>
        <p:txBody>
          <a:bodyPr>
            <a:noAutofit/>
          </a:bodyPr>
          <a:lstStyle/>
          <a:p>
            <a:pPr marL="0" indent="0" eaLnBrk="1" hangingPunct="1">
              <a:lnSpc>
                <a:spcPts val="3300"/>
              </a:lnSpc>
              <a:buFont typeface="Wingdings" panose="05000000000000000000" pitchFamily="2" charset="2"/>
              <a:buNone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C + I + G + NX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消费需求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投资需求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公共需求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外国需求组成。</a:t>
            </a:r>
            <a:endParaRPr lang="en-US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</a:rPr>
              <a:t>是由政府决定的一个常数。</a:t>
            </a: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ts val="3300"/>
              </a:lnSpc>
              <a:buFont typeface="Wingdings" panose="05000000000000000000" pitchFamily="2" charset="2"/>
              <a:buChar char="Ø"/>
            </a:pPr>
            <a:r>
              <a:rPr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要理解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需求曲线斜率为何是负，就须明白P是如何影响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C、I</a:t>
            </a:r>
            <a:r>
              <a:rPr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sz="240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9" name="Text Box 65"/>
          <p:cNvSpPr txBox="1">
            <a:spLocks noChangeArrowheads="1"/>
          </p:cNvSpPr>
          <p:nvPr/>
        </p:nvSpPr>
        <p:spPr bwMode="auto">
          <a:xfrm>
            <a:off x="6306343" y="2591505"/>
            <a:ext cx="2651226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总需求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曲线是右下方倾斜的？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ldLvl="3" build="p"/>
      <p:bldP spid="29" grpId="0"/>
      <p:bldP spid="2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421765"/>
            <a:ext cx="7967980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财富效应</a:t>
            </a:r>
            <a:endParaRPr lang="en-US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假设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：人们持有同样的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能购买到的商品更少，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因此实际财富更低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人们感到更穷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因此：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是负相关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09" y="1351915"/>
            <a:ext cx="8156495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利率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效应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假设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：购买同样的商品需要更多的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为了得到这些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人们会出售债券或其他资产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，这将导致资产价格下降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利率上升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投资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投资和利率是反向变动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是负相关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351915"/>
            <a:ext cx="7967980" cy="3965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如何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汇率效应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假设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：国内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利率上升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利率效应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，导致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NCO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因此人民币汇率升值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。中国向海外出口的商品价格更高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，而进口商品对于中国居民来说将更便宜。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结果：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净出口NX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因此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NX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是负相关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3436" y="1595927"/>
            <a:ext cx="4184723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减少了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，因为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财富效应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(消费</a:t>
            </a:r>
            <a:r>
              <a:rPr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下降)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利率效应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(投资</a:t>
            </a:r>
            <a:r>
              <a:rPr lang="en-US" sz="240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C99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汇率效应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(净出口</a:t>
            </a:r>
            <a:r>
              <a:rPr lang="en-US" sz="2400">
                <a:solidFill>
                  <a:srgbClr val="C99C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NX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3558" name="Group 4"/>
          <p:cNvGrpSpPr/>
          <p:nvPr/>
        </p:nvGrpSpPr>
        <p:grpSpPr bwMode="auto">
          <a:xfrm>
            <a:off x="4847273" y="1700848"/>
            <a:ext cx="4011613" cy="4359723"/>
            <a:chOff x="2579" y="785"/>
            <a:chExt cx="2527" cy="2569"/>
          </a:xfrm>
        </p:grpSpPr>
        <p:grpSp>
          <p:nvGrpSpPr>
            <p:cNvPr id="2358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23586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7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84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23585" name="Text Box 9"/>
            <p:cNvSpPr txBox="1">
              <a:spLocks noChangeArrowheads="1"/>
            </p:cNvSpPr>
            <p:nvPr/>
          </p:nvSpPr>
          <p:spPr bwMode="auto">
            <a:xfrm>
              <a:off x="4816" y="3085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sp>
        <p:nvSpPr>
          <p:cNvPr id="23559" name="Line 10"/>
          <p:cNvSpPr>
            <a:spLocks noChangeShapeType="1"/>
          </p:cNvSpPr>
          <p:nvPr/>
        </p:nvSpPr>
        <p:spPr bwMode="auto">
          <a:xfrm>
            <a:off x="5534978" y="2445385"/>
            <a:ext cx="2317750" cy="2284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Text Box 11"/>
          <p:cNvSpPr txBox="1">
            <a:spLocks noChangeArrowheads="1"/>
          </p:cNvSpPr>
          <p:nvPr/>
        </p:nvSpPr>
        <p:spPr bwMode="auto">
          <a:xfrm>
            <a:off x="7719378" y="4655185"/>
            <a:ext cx="798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i="1">
                <a:cs typeface="Arial" panose="020B0604020202020204" pitchFamily="34" charset="0"/>
              </a:rPr>
              <a:t>AD</a:t>
            </a:r>
            <a:endParaRPr lang="en-US" sz="2400" i="1" baseline="-25000">
              <a:cs typeface="Arial" panose="020B0604020202020204" pitchFamily="34" charset="0"/>
            </a:endParaRPr>
          </a:p>
        </p:txBody>
      </p:sp>
      <p:sp>
        <p:nvSpPr>
          <p:cNvPr id="23561" name="Oval 12"/>
          <p:cNvSpPr>
            <a:spLocks noChangeArrowheads="1"/>
          </p:cNvSpPr>
          <p:nvPr/>
        </p:nvSpPr>
        <p:spPr bwMode="auto">
          <a:xfrm>
            <a:off x="7411403" y="4290060"/>
            <a:ext cx="139700" cy="1381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3562" name="Text Box 13"/>
          <p:cNvSpPr txBox="1">
            <a:spLocks noChangeArrowheads="1"/>
          </p:cNvSpPr>
          <p:nvPr/>
        </p:nvSpPr>
        <p:spPr bwMode="auto">
          <a:xfrm>
            <a:off x="4490403" y="4167823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P</a:t>
            </a:r>
            <a:r>
              <a:rPr lang="en-US" sz="2400" b="1" baseline="-25000">
                <a:cs typeface="Arial" panose="020B0604020202020204" pitchFamily="34" charset="0"/>
              </a:rPr>
              <a:t>1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sp>
        <p:nvSpPr>
          <p:cNvPr id="23563" name="Text Box 14"/>
          <p:cNvSpPr txBox="1">
            <a:spLocks noChangeArrowheads="1"/>
          </p:cNvSpPr>
          <p:nvPr/>
        </p:nvSpPr>
        <p:spPr bwMode="auto">
          <a:xfrm>
            <a:off x="7232015" y="5647373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1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grpSp>
        <p:nvGrpSpPr>
          <p:cNvPr id="4" name="Group 33"/>
          <p:cNvGrpSpPr/>
          <p:nvPr/>
        </p:nvGrpSpPr>
        <p:grpSpPr bwMode="auto">
          <a:xfrm>
            <a:off x="4485640" y="2664460"/>
            <a:ext cx="2989263" cy="365125"/>
            <a:chOff x="2378" y="1175"/>
            <a:chExt cx="1883" cy="230"/>
          </a:xfrm>
        </p:grpSpPr>
        <p:sp>
          <p:nvSpPr>
            <p:cNvPr id="23581" name="Line 17"/>
            <p:cNvSpPr>
              <a:spLocks noChangeShapeType="1"/>
            </p:cNvSpPr>
            <p:nvPr/>
          </p:nvSpPr>
          <p:spPr bwMode="auto">
            <a:xfrm>
              <a:off x="2699" y="1299"/>
              <a:ext cx="15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Text Box 18"/>
            <p:cNvSpPr txBox="1">
              <a:spLocks noChangeArrowheads="1"/>
            </p:cNvSpPr>
            <p:nvPr/>
          </p:nvSpPr>
          <p:spPr bwMode="auto">
            <a:xfrm>
              <a:off x="2378" y="1175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23566" name="Group 19"/>
          <p:cNvGrpSpPr/>
          <p:nvPr/>
        </p:nvGrpSpPr>
        <p:grpSpPr bwMode="auto">
          <a:xfrm>
            <a:off x="4995228" y="4361498"/>
            <a:ext cx="2493962" cy="1228725"/>
            <a:chOff x="357" y="2450"/>
            <a:chExt cx="795" cy="646"/>
          </a:xfrm>
        </p:grpSpPr>
        <p:sp>
          <p:nvSpPr>
            <p:cNvPr id="23579" name="Line 20"/>
            <p:cNvSpPr>
              <a:spLocks noChangeShapeType="1"/>
            </p:cNvSpPr>
            <p:nvPr/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Line 21"/>
            <p:cNvSpPr>
              <a:spLocks noChangeShapeType="1"/>
            </p:cNvSpPr>
            <p:nvPr/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22"/>
          <p:cNvGrpSpPr/>
          <p:nvPr/>
        </p:nvGrpSpPr>
        <p:grpSpPr bwMode="auto">
          <a:xfrm>
            <a:off x="5709603" y="2788285"/>
            <a:ext cx="488950" cy="3222625"/>
            <a:chOff x="3149" y="1428"/>
            <a:chExt cx="308" cy="2030"/>
          </a:xfrm>
        </p:grpSpPr>
        <p:sp>
          <p:nvSpPr>
            <p:cNvPr id="23575" name="Oval 23"/>
            <p:cNvSpPr>
              <a:spLocks noChangeArrowheads="1"/>
            </p:cNvSpPr>
            <p:nvPr/>
          </p:nvSpPr>
          <p:spPr bwMode="auto">
            <a:xfrm>
              <a:off x="3260" y="1428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23576" name="Group 24"/>
            <p:cNvGrpSpPr/>
            <p:nvPr/>
          </p:nvGrpSpPr>
          <p:grpSpPr bwMode="auto">
            <a:xfrm>
              <a:off x="3149" y="1478"/>
              <a:ext cx="308" cy="1980"/>
              <a:chOff x="3149" y="1478"/>
              <a:chExt cx="308" cy="1980"/>
            </a:xfrm>
          </p:grpSpPr>
          <p:sp>
            <p:nvSpPr>
              <p:cNvPr id="23577" name="Line 25"/>
              <p:cNvSpPr>
                <a:spLocks noChangeShapeType="1"/>
              </p:cNvSpPr>
              <p:nvPr/>
            </p:nvSpPr>
            <p:spPr bwMode="auto">
              <a:xfrm>
                <a:off x="3306" y="1478"/>
                <a:ext cx="0" cy="17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8" name="Text Box 26"/>
              <p:cNvSpPr txBox="1">
                <a:spLocks noChangeArrowheads="1"/>
              </p:cNvSpPr>
              <p:nvPr/>
            </p:nvSpPr>
            <p:spPr bwMode="auto">
              <a:xfrm>
                <a:off x="3149" y="3228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Y</a:t>
                </a:r>
                <a:r>
                  <a:rPr lang="en-US" sz="2400" b="1" baseline="-25000"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39291" name="Line 27"/>
          <p:cNvSpPr>
            <a:spLocks noChangeShapeType="1"/>
          </p:cNvSpPr>
          <p:nvPr/>
        </p:nvSpPr>
        <p:spPr bwMode="auto">
          <a:xfrm flipV="1">
            <a:off x="7482840" y="2845435"/>
            <a:ext cx="0" cy="14859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92" name="Line 28"/>
          <p:cNvSpPr>
            <a:spLocks noChangeShapeType="1"/>
          </p:cNvSpPr>
          <p:nvPr/>
        </p:nvSpPr>
        <p:spPr bwMode="auto">
          <a:xfrm rot="16200000" flipV="1">
            <a:off x="7261384" y="2638267"/>
            <a:ext cx="0" cy="44291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93" name="Line 29"/>
          <p:cNvSpPr>
            <a:spLocks noChangeShapeType="1"/>
          </p:cNvSpPr>
          <p:nvPr/>
        </p:nvSpPr>
        <p:spPr bwMode="auto">
          <a:xfrm rot="16200000" flipV="1">
            <a:off x="6216809" y="2638267"/>
            <a:ext cx="0" cy="442912"/>
          </a:xfrm>
          <a:prstGeom prst="line">
            <a:avLst/>
          </a:prstGeom>
          <a:noFill/>
          <a:ln w="38100">
            <a:solidFill>
              <a:srgbClr val="996633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294" name="Line 30"/>
          <p:cNvSpPr>
            <a:spLocks noChangeShapeType="1"/>
          </p:cNvSpPr>
          <p:nvPr/>
        </p:nvSpPr>
        <p:spPr bwMode="auto">
          <a:xfrm rot="5400000">
            <a:off x="6738303" y="2540635"/>
            <a:ext cx="0" cy="638175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矩形 30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3" name="Text Box 65"/>
          <p:cNvSpPr txBox="1">
            <a:spLocks noChangeArrowheads="1"/>
          </p:cNvSpPr>
          <p:nvPr/>
        </p:nvSpPr>
        <p:spPr bwMode="auto">
          <a:xfrm>
            <a:off x="5897970" y="1570573"/>
            <a:ext cx="2189587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右下方倾斜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9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9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9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91" grpId="0" bldLvl="0" animBg="1"/>
      <p:bldP spid="139292" grpId="0" bldLvl="0" animBg="1"/>
      <p:bldP spid="139293" grpId="0" bldLvl="0" animBg="1"/>
      <p:bldP spid="139294" grpId="0" bldLvl="0" animBg="1"/>
      <p:bldP spid="33" grpId="0"/>
      <p:bldP spid="3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83991" y="1697891"/>
            <a:ext cx="3384328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spcBef>
                <a:spcPts val="1200"/>
              </a:spcBef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任何改变C、I、G或NX的事件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P除外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）都会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平移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AD曲线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82" name="Group 5"/>
          <p:cNvGrpSpPr/>
          <p:nvPr/>
        </p:nvGrpSpPr>
        <p:grpSpPr bwMode="auto">
          <a:xfrm>
            <a:off x="4549775" y="1432560"/>
            <a:ext cx="4154488" cy="4106863"/>
            <a:chOff x="2579" y="785"/>
            <a:chExt cx="2786" cy="2420"/>
          </a:xfrm>
        </p:grpSpPr>
        <p:grpSp>
          <p:nvGrpSpPr>
            <p:cNvPr id="24603" name="Group 6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24606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07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604" name="Text Box 9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24605" name="Text Box 10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24583" name="Group 11"/>
          <p:cNvGrpSpPr/>
          <p:nvPr/>
        </p:nvGrpSpPr>
        <p:grpSpPr bwMode="auto">
          <a:xfrm>
            <a:off x="4924425" y="2388235"/>
            <a:ext cx="2982913" cy="2667000"/>
            <a:chOff x="3039" y="1212"/>
            <a:chExt cx="1879" cy="1680"/>
          </a:xfrm>
        </p:grpSpPr>
        <p:sp>
          <p:nvSpPr>
            <p:cNvPr id="24601" name="Line 12"/>
            <p:cNvSpPr>
              <a:spLocks noChangeShapeType="1"/>
            </p:cNvSpPr>
            <p:nvPr/>
          </p:nvSpPr>
          <p:spPr bwMode="auto">
            <a:xfrm>
              <a:off x="3039" y="1212"/>
              <a:ext cx="1460" cy="143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Text Box 13"/>
            <p:cNvSpPr txBox="1">
              <a:spLocks noChangeArrowheads="1"/>
            </p:cNvSpPr>
            <p:nvPr/>
          </p:nvSpPr>
          <p:spPr bwMode="auto">
            <a:xfrm>
              <a:off x="4415" y="2604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14"/>
          <p:cNvGrpSpPr/>
          <p:nvPr/>
        </p:nvGrpSpPr>
        <p:grpSpPr bwMode="auto">
          <a:xfrm>
            <a:off x="5722938" y="2086610"/>
            <a:ext cx="2960687" cy="2603500"/>
            <a:chOff x="3542" y="1099"/>
            <a:chExt cx="1865" cy="1640"/>
          </a:xfrm>
        </p:grpSpPr>
        <p:sp>
          <p:nvSpPr>
            <p:cNvPr id="24599" name="Line 15"/>
            <p:cNvSpPr>
              <a:spLocks noChangeShapeType="1"/>
            </p:cNvSpPr>
            <p:nvPr/>
          </p:nvSpPr>
          <p:spPr bwMode="auto">
            <a:xfrm>
              <a:off x="3542" y="1099"/>
              <a:ext cx="1437" cy="142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Text Box 16"/>
            <p:cNvSpPr txBox="1">
              <a:spLocks noChangeArrowheads="1"/>
            </p:cNvSpPr>
            <p:nvPr/>
          </p:nvSpPr>
          <p:spPr bwMode="auto">
            <a:xfrm>
              <a:off x="4904" y="2451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2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18"/>
          <p:cNvGrpSpPr/>
          <p:nvPr/>
        </p:nvGrpSpPr>
        <p:grpSpPr bwMode="auto">
          <a:xfrm>
            <a:off x="6726238" y="3318510"/>
            <a:ext cx="488950" cy="2425700"/>
            <a:chOff x="3950" y="1931"/>
            <a:chExt cx="308" cy="1528"/>
          </a:xfrm>
        </p:grpSpPr>
        <p:sp>
          <p:nvSpPr>
            <p:cNvPr id="24597" name="Text Box 19"/>
            <p:cNvSpPr txBox="1">
              <a:spLocks noChangeArrowheads="1"/>
            </p:cNvSpPr>
            <p:nvPr/>
          </p:nvSpPr>
          <p:spPr bwMode="auto">
            <a:xfrm>
              <a:off x="3950" y="3229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24598" name="Line 20"/>
            <p:cNvSpPr>
              <a:spLocks noChangeShapeType="1"/>
            </p:cNvSpPr>
            <p:nvPr/>
          </p:nvSpPr>
          <p:spPr bwMode="auto">
            <a:xfrm>
              <a:off x="4103" y="1931"/>
              <a:ext cx="0" cy="12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86" name="Group 21"/>
          <p:cNvGrpSpPr/>
          <p:nvPr/>
        </p:nvGrpSpPr>
        <p:grpSpPr bwMode="auto">
          <a:xfrm>
            <a:off x="4229100" y="3128010"/>
            <a:ext cx="1868488" cy="2613025"/>
            <a:chOff x="2377" y="1811"/>
            <a:chExt cx="1177" cy="1646"/>
          </a:xfrm>
        </p:grpSpPr>
        <p:sp>
          <p:nvSpPr>
            <p:cNvPr id="24591" name="Text Box 22"/>
            <p:cNvSpPr txBox="1">
              <a:spLocks noChangeArrowheads="1"/>
            </p:cNvSpPr>
            <p:nvPr/>
          </p:nvSpPr>
          <p:spPr bwMode="auto">
            <a:xfrm>
              <a:off x="2377" y="1811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24592" name="Oval 23"/>
            <p:cNvSpPr>
              <a:spLocks noChangeArrowheads="1"/>
            </p:cNvSpPr>
            <p:nvPr/>
          </p:nvSpPr>
          <p:spPr bwMode="auto">
            <a:xfrm>
              <a:off x="3364" y="1883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4593" name="Text Box 24"/>
            <p:cNvSpPr txBox="1">
              <a:spLocks noChangeArrowheads="1"/>
            </p:cNvSpPr>
            <p:nvPr/>
          </p:nvSpPr>
          <p:spPr bwMode="auto">
            <a:xfrm>
              <a:off x="3246" y="3227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grpSp>
          <p:nvGrpSpPr>
            <p:cNvPr id="24594" name="Group 25"/>
            <p:cNvGrpSpPr/>
            <p:nvPr/>
          </p:nvGrpSpPr>
          <p:grpSpPr bwMode="auto">
            <a:xfrm>
              <a:off x="2703" y="1929"/>
              <a:ext cx="704" cy="1276"/>
              <a:chOff x="357" y="2450"/>
              <a:chExt cx="795" cy="646"/>
            </a:xfrm>
          </p:grpSpPr>
          <p:sp>
            <p:nvSpPr>
              <p:cNvPr id="24595" name="Line 26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96" name="Line 27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" name="Group 28"/>
          <p:cNvGrpSpPr/>
          <p:nvPr/>
        </p:nvGrpSpPr>
        <p:grpSpPr bwMode="auto">
          <a:xfrm>
            <a:off x="5975350" y="3248660"/>
            <a:ext cx="1062038" cy="138113"/>
            <a:chOff x="3477" y="1887"/>
            <a:chExt cx="669" cy="87"/>
          </a:xfrm>
        </p:grpSpPr>
        <p:sp>
          <p:nvSpPr>
            <p:cNvPr id="24589" name="Oval 29"/>
            <p:cNvSpPr>
              <a:spLocks noChangeArrowheads="1"/>
            </p:cNvSpPr>
            <p:nvPr/>
          </p:nvSpPr>
          <p:spPr bwMode="auto">
            <a:xfrm>
              <a:off x="4058" y="1887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4590" name="Line 30"/>
            <p:cNvSpPr>
              <a:spLocks noChangeShapeType="1"/>
            </p:cNvSpPr>
            <p:nvPr/>
          </p:nvSpPr>
          <p:spPr bwMode="auto">
            <a:xfrm>
              <a:off x="3477" y="1930"/>
              <a:ext cx="557" cy="0"/>
            </a:xfrm>
            <a:prstGeom prst="line">
              <a:avLst/>
            </a:prstGeom>
            <a:noFill/>
            <a:ln w="38100">
              <a:solidFill>
                <a:srgbClr val="800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矩形 29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1" name="Text Box 65"/>
          <p:cNvSpPr txBox="1">
            <a:spLocks noChangeArrowheads="1"/>
          </p:cNvSpPr>
          <p:nvPr/>
        </p:nvSpPr>
        <p:spPr bwMode="auto">
          <a:xfrm>
            <a:off x="6475019" y="1490674"/>
            <a:ext cx="2189587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5000"/>
              </a:lnSpc>
              <a:spcBef>
                <a:spcPct val="50000"/>
              </a:spcBef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8792" y="1338365"/>
            <a:ext cx="7967980" cy="4477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居民的消费倾向（在消费和储蓄之间的选择性）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6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股市、房地产市场繁荣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崩溃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个人所得税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率的改变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货币供应量的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增减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-342900" algn="l" fontAlgn="auto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6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投资者对于经济的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预期（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乐观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悲观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6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利率水平（借款的成本，取决于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货币政策）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36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投资税收优惠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310005"/>
            <a:ext cx="7967980" cy="416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中央政府支出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，如国防支出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、国家高速等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地方政府支出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修建当地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道路、学校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、医院等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公共消费支出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-342900" algn="l" fontAlgn="auto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NX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40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的繁荣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/衰退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40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外汇市场中货币的升值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/贬值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0475" y="1369486"/>
            <a:ext cx="8267700" cy="44295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3800"/>
              </a:lnSpc>
            </a:pPr>
            <a:r>
              <a:rPr lang="zh-CN" altLang="en-US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  <a:sym typeface="+mn-ea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  <a:sym typeface="+mn-ea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  <a:sym typeface="+mn-ea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以下情况，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曲线会发生什么变化？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 fontAlgn="auto">
              <a:lnSpc>
                <a:spcPts val="38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10年的投资税收抵免到期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l" fontAlgn="auto">
              <a:lnSpc>
                <a:spcPts val="3800"/>
              </a:lnSpc>
              <a:buFont typeface="+mj-lt"/>
              <a:buNone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投资I减少，AD曲线向左平移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 fontAlgn="auto">
              <a:lnSpc>
                <a:spcPts val="3800"/>
              </a:lnSpc>
              <a:buFont typeface="+mj-lt"/>
              <a:buAutoNum type="alphaUcPeriod" startAt="2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贬值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ts val="3800"/>
              </a:lnSpc>
              <a:buClrTx/>
              <a:buSzTx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净出口NX增加，AD曲线向右平移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 fontAlgn="auto">
              <a:lnSpc>
                <a:spcPts val="3800"/>
              </a:lnSpc>
              <a:buFont typeface="+mj-lt"/>
              <a:buAutoNum type="alphaUcPeriod" startAt="3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物价水平下降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fontAlgn="auto">
              <a:lnSpc>
                <a:spcPts val="3800"/>
              </a:lnSpc>
              <a:buFont typeface="+mj-lt"/>
              <a:buNone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沿着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AD曲线向下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滑动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财富效应）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algn="l" fontAlgn="auto">
              <a:lnSpc>
                <a:spcPts val="3800"/>
              </a:lnSpc>
              <a:buFont typeface="+mj-lt"/>
              <a:buAutoNum type="alphaUcPeriod" startAt="4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地方政府以资本利得税取代销售税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ts val="3800"/>
              </a:lnSpc>
              <a:buClrTx/>
              <a:buSzTx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消费C增加，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AD曲线向右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平移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2023" y="607666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总需求（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AD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306728" y="1413969"/>
            <a:ext cx="3998941" cy="4542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总供给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AS曲线给出了在每个价格水平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整个社会的厂商所愿意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的产品总量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总供给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曲线的形状：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向上倾斜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LRAS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垂直于横坐标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702" name="Group 5"/>
          <p:cNvGrpSpPr/>
          <p:nvPr/>
        </p:nvGrpSpPr>
        <p:grpSpPr bwMode="auto">
          <a:xfrm>
            <a:off x="4298633" y="1582103"/>
            <a:ext cx="4422775" cy="4106862"/>
            <a:chOff x="2579" y="785"/>
            <a:chExt cx="2786" cy="2420"/>
          </a:xfrm>
        </p:grpSpPr>
        <p:grpSp>
          <p:nvGrpSpPr>
            <p:cNvPr id="29712" name="Group 6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29715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16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13" name="Text Box 9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29714" name="Text Box 10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51"/>
          <p:cNvGrpSpPr/>
          <p:nvPr/>
        </p:nvGrpSpPr>
        <p:grpSpPr bwMode="auto">
          <a:xfrm>
            <a:off x="5073333" y="2361565"/>
            <a:ext cx="3379787" cy="2568575"/>
            <a:chOff x="3067" y="1234"/>
            <a:chExt cx="2129" cy="1618"/>
          </a:xfrm>
        </p:grpSpPr>
        <p:sp>
          <p:nvSpPr>
            <p:cNvPr id="29710" name="Line 13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Text Box 14"/>
            <p:cNvSpPr txBox="1">
              <a:spLocks noChangeArrowheads="1"/>
            </p:cNvSpPr>
            <p:nvPr/>
          </p:nvSpPr>
          <p:spPr bwMode="auto">
            <a:xfrm>
              <a:off x="4454" y="1234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>
                  <a:cs typeface="Arial" panose="020B0604020202020204" pitchFamily="34" charset="0"/>
                </a:rPr>
                <a:t>SRAS</a:t>
              </a:r>
              <a:endParaRPr lang="en-US" sz="2400" i="1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52"/>
          <p:cNvGrpSpPr/>
          <p:nvPr/>
        </p:nvGrpSpPr>
        <p:grpSpPr bwMode="auto">
          <a:xfrm>
            <a:off x="5817870" y="1637665"/>
            <a:ext cx="1177925" cy="3844925"/>
            <a:chOff x="3536" y="778"/>
            <a:chExt cx="742" cy="2422"/>
          </a:xfrm>
        </p:grpSpPr>
        <p:sp>
          <p:nvSpPr>
            <p:cNvPr id="29708" name="Line 17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38100">
              <a:solidFill>
                <a:srgbClr val="DE84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9" name="Text Box 19"/>
            <p:cNvSpPr txBox="1">
              <a:spLocks noChangeArrowheads="1"/>
            </p:cNvSpPr>
            <p:nvPr/>
          </p:nvSpPr>
          <p:spPr bwMode="auto">
            <a:xfrm>
              <a:off x="3536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532023" y="60766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总供给（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433281" y="1566545"/>
            <a:ext cx="4058820" cy="350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长期总供给曲线（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LRAS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自然产出率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sz="240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en-US" sz="2400" baseline="-2500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经济在充分就业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（自然失业率）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情况下的产出水平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被称为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潜在产出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充分就业产出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726" name="Group 4"/>
          <p:cNvGrpSpPr/>
          <p:nvPr/>
        </p:nvGrpSpPr>
        <p:grpSpPr bwMode="auto">
          <a:xfrm>
            <a:off x="4475163" y="1663383"/>
            <a:ext cx="4422775" cy="4106862"/>
            <a:chOff x="2579" y="785"/>
            <a:chExt cx="2786" cy="2420"/>
          </a:xfrm>
        </p:grpSpPr>
        <p:grpSp>
          <p:nvGrpSpPr>
            <p:cNvPr id="30732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30735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6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33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30734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30727" name="Group 10"/>
          <p:cNvGrpSpPr/>
          <p:nvPr/>
        </p:nvGrpSpPr>
        <p:grpSpPr bwMode="auto">
          <a:xfrm>
            <a:off x="5994400" y="1718945"/>
            <a:ext cx="1177925" cy="3844925"/>
            <a:chOff x="3536" y="778"/>
            <a:chExt cx="742" cy="2422"/>
          </a:xfrm>
        </p:grpSpPr>
        <p:sp>
          <p:nvSpPr>
            <p:cNvPr id="30730" name="Line 11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38100">
              <a:solidFill>
                <a:srgbClr val="DE84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Text Box 12"/>
            <p:cNvSpPr txBox="1">
              <a:spLocks noChangeArrowheads="1"/>
            </p:cNvSpPr>
            <p:nvPr/>
          </p:nvSpPr>
          <p:spPr bwMode="auto">
            <a:xfrm>
              <a:off x="3536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6350000" y="5611495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N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2023" y="60766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97390" y="1355398"/>
            <a:ext cx="384873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为什么长期总供给曲线是垂直的？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en-US" sz="2400" baseline="-25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取决于经济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、土地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和自然资源的存量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以及技术水平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的增加不会影响这些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资源的存量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，所以它不会影响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en-US" altLang="zh-CN" sz="2400" baseline="-25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 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古典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二分法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、货币中性论的观点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4"/>
          <p:cNvGrpSpPr/>
          <p:nvPr/>
        </p:nvGrpSpPr>
        <p:grpSpPr bwMode="auto">
          <a:xfrm>
            <a:off x="4186238" y="1814513"/>
            <a:ext cx="4422775" cy="4106862"/>
            <a:chOff x="2579" y="785"/>
            <a:chExt cx="2786" cy="2420"/>
          </a:xfrm>
        </p:grpSpPr>
        <p:grpSp>
          <p:nvGrpSpPr>
            <p:cNvPr id="4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 bwMode="auto">
          <a:xfrm>
            <a:off x="5705475" y="1870075"/>
            <a:ext cx="1177925" cy="3844925"/>
            <a:chOff x="3536" y="778"/>
            <a:chExt cx="742" cy="2422"/>
          </a:xfrm>
        </p:grpSpPr>
        <p:sp>
          <p:nvSpPr>
            <p:cNvPr id="12" name="Line 11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38100">
              <a:solidFill>
                <a:srgbClr val="DE84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536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1752" name="Group 13"/>
          <p:cNvGrpSpPr/>
          <p:nvPr/>
        </p:nvGrpSpPr>
        <p:grpSpPr bwMode="auto">
          <a:xfrm>
            <a:off x="3865563" y="4083050"/>
            <a:ext cx="2503487" cy="365125"/>
            <a:chOff x="2377" y="1955"/>
            <a:chExt cx="1577" cy="230"/>
          </a:xfrm>
        </p:grpSpPr>
        <p:sp>
          <p:nvSpPr>
            <p:cNvPr id="31761" name="Line 14"/>
            <p:cNvSpPr>
              <a:spLocks noChangeShapeType="1"/>
            </p:cNvSpPr>
            <p:nvPr/>
          </p:nvSpPr>
          <p:spPr bwMode="auto">
            <a:xfrm>
              <a:off x="2704" y="2070"/>
              <a:ext cx="12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62" name="Text Box 15"/>
            <p:cNvSpPr txBox="1">
              <a:spLocks noChangeArrowheads="1"/>
            </p:cNvSpPr>
            <p:nvPr/>
          </p:nvSpPr>
          <p:spPr bwMode="auto">
            <a:xfrm>
              <a:off x="2377" y="1955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31763" name="Oval 16"/>
            <p:cNvSpPr>
              <a:spLocks noChangeArrowheads="1"/>
            </p:cNvSpPr>
            <p:nvPr/>
          </p:nvSpPr>
          <p:spPr bwMode="auto">
            <a:xfrm>
              <a:off x="3866" y="2024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8"/>
          <p:cNvGrpSpPr/>
          <p:nvPr/>
        </p:nvGrpSpPr>
        <p:grpSpPr bwMode="auto">
          <a:xfrm>
            <a:off x="3862388" y="3324225"/>
            <a:ext cx="2503487" cy="365125"/>
            <a:chOff x="2377" y="1955"/>
            <a:chExt cx="1577" cy="230"/>
          </a:xfrm>
        </p:grpSpPr>
        <p:sp>
          <p:nvSpPr>
            <p:cNvPr id="31758" name="Line 19"/>
            <p:cNvSpPr>
              <a:spLocks noChangeShapeType="1"/>
            </p:cNvSpPr>
            <p:nvPr/>
          </p:nvSpPr>
          <p:spPr bwMode="auto">
            <a:xfrm>
              <a:off x="2704" y="2070"/>
              <a:ext cx="12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59" name="Text Box 20"/>
            <p:cNvSpPr txBox="1">
              <a:spLocks noChangeArrowheads="1"/>
            </p:cNvSpPr>
            <p:nvPr/>
          </p:nvSpPr>
          <p:spPr bwMode="auto">
            <a:xfrm>
              <a:off x="2377" y="1955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31760" name="Oval 21"/>
            <p:cNvSpPr>
              <a:spLocks noChangeArrowheads="1"/>
            </p:cNvSpPr>
            <p:nvPr/>
          </p:nvSpPr>
          <p:spPr bwMode="auto">
            <a:xfrm>
              <a:off x="3866" y="2024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15" name="Line 22"/>
          <p:cNvSpPr>
            <a:spLocks noChangeShapeType="1"/>
          </p:cNvSpPr>
          <p:nvPr/>
        </p:nvSpPr>
        <p:spPr bwMode="auto">
          <a:xfrm flipV="1">
            <a:off x="4537075" y="3544888"/>
            <a:ext cx="0" cy="676275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6061075" y="5762625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N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2023" y="60766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58727" y="1618162"/>
            <a:ext cx="32708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但是，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任何改变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劳动力、资本、土地和自然资源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存量，以及技术水平的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事情，都会改变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lang="en-US" sz="2400" baseline="-250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都将使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LRAS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774" name="Group 4"/>
          <p:cNvGrpSpPr/>
          <p:nvPr/>
        </p:nvGrpSpPr>
        <p:grpSpPr bwMode="auto">
          <a:xfrm>
            <a:off x="4108133" y="1723708"/>
            <a:ext cx="4422775" cy="4106862"/>
            <a:chOff x="2579" y="785"/>
            <a:chExt cx="2786" cy="2420"/>
          </a:xfrm>
        </p:grpSpPr>
        <p:grpSp>
          <p:nvGrpSpPr>
            <p:cNvPr id="32788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32791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92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789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32790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32775" name="Group 10"/>
          <p:cNvGrpSpPr/>
          <p:nvPr/>
        </p:nvGrpSpPr>
        <p:grpSpPr bwMode="auto">
          <a:xfrm>
            <a:off x="5627370" y="1779270"/>
            <a:ext cx="1177925" cy="3844925"/>
            <a:chOff x="3536" y="778"/>
            <a:chExt cx="742" cy="2422"/>
          </a:xfrm>
        </p:grpSpPr>
        <p:sp>
          <p:nvSpPr>
            <p:cNvPr id="32786" name="Line 11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38100">
              <a:solidFill>
                <a:srgbClr val="DE84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7" name="Text Box 12"/>
            <p:cNvSpPr txBox="1">
              <a:spLocks noChangeArrowheads="1"/>
            </p:cNvSpPr>
            <p:nvPr/>
          </p:nvSpPr>
          <p:spPr bwMode="auto">
            <a:xfrm>
              <a:off x="3536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32776" name="Text Box 23"/>
          <p:cNvSpPr txBox="1">
            <a:spLocks noChangeArrowheads="1"/>
          </p:cNvSpPr>
          <p:nvPr/>
        </p:nvSpPr>
        <p:spPr bwMode="auto">
          <a:xfrm>
            <a:off x="5982970" y="5671820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N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grpSp>
        <p:nvGrpSpPr>
          <p:cNvPr id="17" name="Group 36"/>
          <p:cNvGrpSpPr/>
          <p:nvPr/>
        </p:nvGrpSpPr>
        <p:grpSpPr bwMode="auto">
          <a:xfrm>
            <a:off x="6294120" y="3228658"/>
            <a:ext cx="914400" cy="2587625"/>
            <a:chOff x="3956" y="1691"/>
            <a:chExt cx="576" cy="1630"/>
          </a:xfrm>
        </p:grpSpPr>
        <p:sp>
          <p:nvSpPr>
            <p:cNvPr id="32784" name="Line 34"/>
            <p:cNvSpPr>
              <a:spLocks noChangeShapeType="1"/>
            </p:cNvSpPr>
            <p:nvPr/>
          </p:nvSpPr>
          <p:spPr bwMode="auto">
            <a:xfrm>
              <a:off x="4039" y="3321"/>
              <a:ext cx="419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Line 35"/>
            <p:cNvSpPr>
              <a:spLocks noChangeShapeType="1"/>
            </p:cNvSpPr>
            <p:nvPr/>
          </p:nvSpPr>
          <p:spPr bwMode="auto">
            <a:xfrm>
              <a:off x="3956" y="1691"/>
              <a:ext cx="576" cy="0"/>
            </a:xfrm>
            <a:prstGeom prst="line">
              <a:avLst/>
            </a:prstGeom>
            <a:noFill/>
            <a:ln w="44450">
              <a:solidFill>
                <a:srgbClr val="008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38"/>
          <p:cNvGrpSpPr/>
          <p:nvPr/>
        </p:nvGrpSpPr>
        <p:grpSpPr bwMode="auto">
          <a:xfrm>
            <a:off x="6690995" y="1787208"/>
            <a:ext cx="1177925" cy="4257675"/>
            <a:chOff x="4206" y="783"/>
            <a:chExt cx="742" cy="2682"/>
          </a:xfrm>
        </p:grpSpPr>
        <p:sp>
          <p:nvSpPr>
            <p:cNvPr id="32780" name="Line 25"/>
            <p:cNvSpPr>
              <a:spLocks noChangeShapeType="1"/>
            </p:cNvSpPr>
            <p:nvPr/>
          </p:nvSpPr>
          <p:spPr bwMode="auto">
            <a:xfrm rot="16200000" flipH="1">
              <a:off x="3494" y="2120"/>
              <a:ext cx="2167" cy="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81" name="Text Box 26"/>
            <p:cNvSpPr txBox="1">
              <a:spLocks noChangeArrowheads="1"/>
            </p:cNvSpPr>
            <p:nvPr/>
          </p:nvSpPr>
          <p:spPr bwMode="auto">
            <a:xfrm>
              <a:off x="4206" y="783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r>
                <a:rPr lang="en-US" sz="2400" baseline="-25000">
                  <a:cs typeface="Arial" panose="020B0604020202020204" pitchFamily="34" charset="0"/>
                </a:rPr>
                <a:t>2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2782" name="Text Box 27"/>
            <p:cNvSpPr txBox="1">
              <a:spLocks noChangeArrowheads="1"/>
            </p:cNvSpPr>
            <p:nvPr/>
          </p:nvSpPr>
          <p:spPr bwMode="auto">
            <a:xfrm>
              <a:off x="4416" y="3235"/>
              <a:ext cx="32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N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32783" name="Text Box 37"/>
            <p:cNvSpPr txBox="1">
              <a:spLocks noChangeArrowheads="1"/>
            </p:cNvSpPr>
            <p:nvPr/>
          </p:nvSpPr>
          <p:spPr bwMode="auto">
            <a:xfrm>
              <a:off x="4555" y="3228"/>
              <a:ext cx="16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Courier New" panose="02070309020205020404" pitchFamily="49" charset="0"/>
                  <a:cs typeface="Arial" panose="020B0604020202020204" pitchFamily="34" charset="0"/>
                </a:rPr>
                <a:t>’</a:t>
              </a:r>
              <a:endParaRPr lang="en-US" sz="2400" b="1" baseline="-25000">
                <a:latin typeface="Courier New" panose="02070309020205020404" pitchFamily="49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9132" y="1445830"/>
            <a:ext cx="7967980" cy="442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劳动力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变化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潮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婴儿潮一代退休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政府某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项人口政策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的长期影响（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比如计划生育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-342900" algn="l" fontAlgn="auto">
              <a:lnSpc>
                <a:spcPts val="4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物理资本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人力资本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4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大规模新建工厂和购买设备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4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越来越多的人获得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高中或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大学学位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ts val="4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飓风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洪水等自然灾害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摧毁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总供给（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365885"/>
            <a:ext cx="7967980" cy="3644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土地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自然资源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矿产资源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的发现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进口石油供应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影响农业生产的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气候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-34290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技术进步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345938" y="1366807"/>
            <a:ext cx="35247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：比如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的不断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进步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LRAS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右移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收入的不断提升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不断向右平移。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长期趋势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长期的经济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伴随着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通货膨胀。</a:t>
            </a:r>
            <a:endParaRPr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5844" name="Group 21"/>
          <p:cNvGrpSpPr/>
          <p:nvPr/>
        </p:nvGrpSpPr>
        <p:grpSpPr bwMode="auto">
          <a:xfrm>
            <a:off x="4848860" y="2098993"/>
            <a:ext cx="1522413" cy="3711575"/>
            <a:chOff x="2852" y="859"/>
            <a:chExt cx="959" cy="2338"/>
          </a:xfrm>
        </p:grpSpPr>
        <p:sp>
          <p:nvSpPr>
            <p:cNvPr id="35890" name="Line 22"/>
            <p:cNvSpPr>
              <a:spLocks noChangeShapeType="1"/>
            </p:cNvSpPr>
            <p:nvPr/>
          </p:nvSpPr>
          <p:spPr bwMode="auto">
            <a:xfrm rot="16200000" flipH="1">
              <a:off x="2231" y="2147"/>
              <a:ext cx="2090" cy="10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91" name="Text Box 23"/>
            <p:cNvSpPr txBox="1">
              <a:spLocks noChangeArrowheads="1"/>
            </p:cNvSpPr>
            <p:nvPr/>
          </p:nvSpPr>
          <p:spPr bwMode="auto">
            <a:xfrm>
              <a:off x="2852" y="859"/>
              <a:ext cx="9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r>
                <a:rPr lang="en-US" sz="2400" baseline="-25000">
                  <a:cs typeface="Arial" panose="020B0604020202020204" pitchFamily="34" charset="0"/>
                </a:rPr>
                <a:t>1990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5847" name="Group 4"/>
          <p:cNvGrpSpPr/>
          <p:nvPr/>
        </p:nvGrpSpPr>
        <p:grpSpPr bwMode="auto">
          <a:xfrm>
            <a:off x="4415473" y="1914843"/>
            <a:ext cx="4422775" cy="4106862"/>
            <a:chOff x="2579" y="785"/>
            <a:chExt cx="2786" cy="2420"/>
          </a:xfrm>
        </p:grpSpPr>
        <p:grpSp>
          <p:nvGrpSpPr>
            <p:cNvPr id="35885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35888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9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886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35887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0"/>
          <p:cNvGrpSpPr/>
          <p:nvPr/>
        </p:nvGrpSpPr>
        <p:grpSpPr bwMode="auto">
          <a:xfrm>
            <a:off x="5367973" y="2894330"/>
            <a:ext cx="3375025" cy="2555875"/>
            <a:chOff x="3179" y="1360"/>
            <a:chExt cx="2126" cy="1610"/>
          </a:xfrm>
        </p:grpSpPr>
        <p:sp>
          <p:nvSpPr>
            <p:cNvPr id="35883" name="Line 11"/>
            <p:cNvSpPr>
              <a:spLocks noChangeShapeType="1"/>
            </p:cNvSpPr>
            <p:nvPr/>
          </p:nvSpPr>
          <p:spPr bwMode="auto">
            <a:xfrm>
              <a:off x="3179" y="1360"/>
              <a:ext cx="1460" cy="143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4" name="Text Box 12"/>
            <p:cNvSpPr txBox="1">
              <a:spLocks noChangeArrowheads="1"/>
            </p:cNvSpPr>
            <p:nvPr/>
          </p:nvSpPr>
          <p:spPr bwMode="auto">
            <a:xfrm>
              <a:off x="4542" y="2682"/>
              <a:ext cx="7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2000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13"/>
          <p:cNvGrpSpPr/>
          <p:nvPr/>
        </p:nvGrpSpPr>
        <p:grpSpPr bwMode="auto">
          <a:xfrm>
            <a:off x="5756910" y="1833880"/>
            <a:ext cx="1679575" cy="3981450"/>
            <a:chOff x="3424" y="589"/>
            <a:chExt cx="1058" cy="2611"/>
          </a:xfrm>
        </p:grpSpPr>
        <p:sp>
          <p:nvSpPr>
            <p:cNvPr id="35881" name="Line 14"/>
            <p:cNvSpPr>
              <a:spLocks noChangeShapeType="1"/>
            </p:cNvSpPr>
            <p:nvPr/>
          </p:nvSpPr>
          <p:spPr bwMode="auto">
            <a:xfrm rot="5400000">
              <a:off x="2732" y="2020"/>
              <a:ext cx="2357" cy="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82" name="Text Box 15"/>
            <p:cNvSpPr txBox="1">
              <a:spLocks noChangeArrowheads="1"/>
            </p:cNvSpPr>
            <p:nvPr/>
          </p:nvSpPr>
          <p:spPr bwMode="auto">
            <a:xfrm>
              <a:off x="3424" y="589"/>
              <a:ext cx="1058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r>
                <a:rPr lang="en-US" sz="2400" baseline="-25000">
                  <a:cs typeface="Arial" panose="020B0604020202020204" pitchFamily="34" charset="0"/>
                </a:rPr>
                <a:t>2000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35850" name="Group 16"/>
          <p:cNvGrpSpPr/>
          <p:nvPr/>
        </p:nvGrpSpPr>
        <p:grpSpPr bwMode="auto">
          <a:xfrm>
            <a:off x="4709160" y="3802380"/>
            <a:ext cx="2803525" cy="2009775"/>
            <a:chOff x="2764" y="1932"/>
            <a:chExt cx="1766" cy="1266"/>
          </a:xfrm>
        </p:grpSpPr>
        <p:sp>
          <p:nvSpPr>
            <p:cNvPr id="35879" name="Text Box 17"/>
            <p:cNvSpPr txBox="1">
              <a:spLocks noChangeArrowheads="1"/>
            </p:cNvSpPr>
            <p:nvPr/>
          </p:nvSpPr>
          <p:spPr bwMode="auto">
            <a:xfrm>
              <a:off x="3852" y="2910"/>
              <a:ext cx="6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1990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5880" name="Line 18"/>
            <p:cNvSpPr>
              <a:spLocks noChangeShapeType="1"/>
            </p:cNvSpPr>
            <p:nvPr/>
          </p:nvSpPr>
          <p:spPr bwMode="auto">
            <a:xfrm>
              <a:off x="2764" y="1932"/>
              <a:ext cx="1113" cy="109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9699" name="Text Box 19"/>
          <p:cNvSpPr txBox="1">
            <a:spLocks noChangeArrowheads="1"/>
          </p:cNvSpPr>
          <p:nvPr/>
        </p:nvSpPr>
        <p:spPr bwMode="auto">
          <a:xfrm>
            <a:off x="6283960" y="5858193"/>
            <a:ext cx="868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aseline="-25000">
                <a:cs typeface="Arial" panose="020B0604020202020204" pitchFamily="34" charset="0"/>
              </a:rPr>
              <a:t>2000</a:t>
            </a:r>
            <a:endParaRPr lang="en-US" sz="2400" baseline="-25000">
              <a:cs typeface="Arial" panose="020B0604020202020204" pitchFamily="34" charset="0"/>
            </a:endParaRPr>
          </a:p>
        </p:txBody>
      </p:sp>
      <p:sp>
        <p:nvSpPr>
          <p:cNvPr id="35853" name="Text Box 24"/>
          <p:cNvSpPr txBox="1">
            <a:spLocks noChangeArrowheads="1"/>
          </p:cNvSpPr>
          <p:nvPr/>
        </p:nvSpPr>
        <p:spPr bwMode="auto">
          <a:xfrm>
            <a:off x="5323523" y="5858193"/>
            <a:ext cx="73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aseline="-25000">
                <a:cs typeface="Arial" panose="020B0604020202020204" pitchFamily="34" charset="0"/>
              </a:rPr>
              <a:t>1990</a:t>
            </a:r>
            <a:endParaRPr lang="en-US" sz="2400" baseline="-25000">
              <a:cs typeface="Arial" panose="020B0604020202020204" pitchFamily="34" charset="0"/>
            </a:endParaRPr>
          </a:p>
        </p:txBody>
      </p:sp>
      <p:grpSp>
        <p:nvGrpSpPr>
          <p:cNvPr id="19" name="Group 25"/>
          <p:cNvGrpSpPr/>
          <p:nvPr/>
        </p:nvGrpSpPr>
        <p:grpSpPr bwMode="auto">
          <a:xfrm>
            <a:off x="6668135" y="2527618"/>
            <a:ext cx="2559050" cy="2133600"/>
            <a:chOff x="3998" y="1129"/>
            <a:chExt cx="1612" cy="1344"/>
          </a:xfrm>
        </p:grpSpPr>
        <p:sp>
          <p:nvSpPr>
            <p:cNvPr id="35877" name="Text Box 26"/>
            <p:cNvSpPr txBox="1">
              <a:spLocks noChangeArrowheads="1"/>
            </p:cNvSpPr>
            <p:nvPr/>
          </p:nvSpPr>
          <p:spPr bwMode="auto">
            <a:xfrm>
              <a:off x="4881" y="2185"/>
              <a:ext cx="7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2010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5878" name="Line 27"/>
            <p:cNvSpPr>
              <a:spLocks noChangeShapeType="1"/>
            </p:cNvSpPr>
            <p:nvPr/>
          </p:nvSpPr>
          <p:spPr bwMode="auto">
            <a:xfrm>
              <a:off x="3998" y="1129"/>
              <a:ext cx="1113" cy="109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8"/>
          <p:cNvGrpSpPr/>
          <p:nvPr/>
        </p:nvGrpSpPr>
        <p:grpSpPr bwMode="auto">
          <a:xfrm>
            <a:off x="7063423" y="1619568"/>
            <a:ext cx="1522412" cy="4198937"/>
            <a:chOff x="4247" y="864"/>
            <a:chExt cx="959" cy="2338"/>
          </a:xfrm>
        </p:grpSpPr>
        <p:sp>
          <p:nvSpPr>
            <p:cNvPr id="35875" name="Line 29"/>
            <p:cNvSpPr>
              <a:spLocks noChangeShapeType="1"/>
            </p:cNvSpPr>
            <p:nvPr/>
          </p:nvSpPr>
          <p:spPr bwMode="auto">
            <a:xfrm rot="16200000" flipH="1">
              <a:off x="3507" y="2152"/>
              <a:ext cx="2090" cy="1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6" name="Text Box 30"/>
            <p:cNvSpPr txBox="1">
              <a:spLocks noChangeArrowheads="1"/>
            </p:cNvSpPr>
            <p:nvPr/>
          </p:nvSpPr>
          <p:spPr bwMode="auto">
            <a:xfrm>
              <a:off x="4247" y="864"/>
              <a:ext cx="959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r>
                <a:rPr lang="en-US" sz="2400" baseline="-25000">
                  <a:cs typeface="Arial" panose="020B0604020202020204" pitchFamily="34" charset="0"/>
                </a:rPr>
                <a:t>2010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199711" name="Text Box 31"/>
          <p:cNvSpPr txBox="1">
            <a:spLocks noChangeArrowheads="1"/>
          </p:cNvSpPr>
          <p:nvPr/>
        </p:nvSpPr>
        <p:spPr bwMode="auto">
          <a:xfrm>
            <a:off x="7293610" y="5855018"/>
            <a:ext cx="901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aseline="-25000">
                <a:cs typeface="Arial" panose="020B0604020202020204" pitchFamily="34" charset="0"/>
              </a:rPr>
              <a:t>2010</a:t>
            </a:r>
            <a:endParaRPr lang="en-US" sz="2400" baseline="-25000">
              <a:cs typeface="Arial" panose="020B0604020202020204" pitchFamily="34" charset="0"/>
            </a:endParaRPr>
          </a:p>
        </p:txBody>
      </p:sp>
      <p:grpSp>
        <p:nvGrpSpPr>
          <p:cNvPr id="35857" name="Group 32"/>
          <p:cNvGrpSpPr/>
          <p:nvPr/>
        </p:nvGrpSpPr>
        <p:grpSpPr bwMode="auto">
          <a:xfrm>
            <a:off x="3837623" y="4416743"/>
            <a:ext cx="1755775" cy="369887"/>
            <a:chOff x="2215" y="2319"/>
            <a:chExt cx="1106" cy="233"/>
          </a:xfrm>
        </p:grpSpPr>
        <p:sp>
          <p:nvSpPr>
            <p:cNvPr id="35872" name="Text Box 33"/>
            <p:cNvSpPr txBox="1">
              <a:spLocks noChangeArrowheads="1"/>
            </p:cNvSpPr>
            <p:nvPr/>
          </p:nvSpPr>
          <p:spPr bwMode="auto">
            <a:xfrm>
              <a:off x="2215" y="2319"/>
              <a:ext cx="4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aseline="-25000">
                  <a:cs typeface="Arial" panose="020B0604020202020204" pitchFamily="34" charset="0"/>
                </a:rPr>
                <a:t>1990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5873" name="Line 34"/>
            <p:cNvSpPr>
              <a:spLocks noChangeShapeType="1"/>
            </p:cNvSpPr>
            <p:nvPr/>
          </p:nvSpPr>
          <p:spPr bwMode="auto">
            <a:xfrm flipH="1">
              <a:off x="2700" y="2436"/>
              <a:ext cx="5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4" name="Oval 35"/>
            <p:cNvSpPr>
              <a:spLocks noChangeArrowheads="1"/>
            </p:cNvSpPr>
            <p:nvPr/>
          </p:nvSpPr>
          <p:spPr bwMode="auto">
            <a:xfrm>
              <a:off x="3233" y="2388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199725" name="Line 45"/>
          <p:cNvSpPr>
            <a:spLocks noChangeShapeType="1"/>
          </p:cNvSpPr>
          <p:nvPr/>
        </p:nvSpPr>
        <p:spPr bwMode="auto">
          <a:xfrm>
            <a:off x="5707698" y="5989955"/>
            <a:ext cx="666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26" name="Line 46"/>
          <p:cNvSpPr>
            <a:spLocks noChangeShapeType="1"/>
          </p:cNvSpPr>
          <p:nvPr/>
        </p:nvSpPr>
        <p:spPr bwMode="auto">
          <a:xfrm>
            <a:off x="6695123" y="5988368"/>
            <a:ext cx="666750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27" name="Line 47"/>
          <p:cNvSpPr>
            <a:spLocks noChangeShapeType="1"/>
          </p:cNvSpPr>
          <p:nvPr/>
        </p:nvSpPr>
        <p:spPr bwMode="auto">
          <a:xfrm rot="-5400000">
            <a:off x="4088447" y="4424681"/>
            <a:ext cx="35877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9728" name="Line 48"/>
          <p:cNvSpPr>
            <a:spLocks noChangeShapeType="1"/>
          </p:cNvSpPr>
          <p:nvPr/>
        </p:nvSpPr>
        <p:spPr bwMode="auto">
          <a:xfrm rot="-5400000">
            <a:off x="4088447" y="3815081"/>
            <a:ext cx="358775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" name="Group 36"/>
          <p:cNvGrpSpPr/>
          <p:nvPr/>
        </p:nvGrpSpPr>
        <p:grpSpPr bwMode="auto">
          <a:xfrm>
            <a:off x="3842385" y="3848418"/>
            <a:ext cx="2752725" cy="369887"/>
            <a:chOff x="2218" y="1961"/>
            <a:chExt cx="1734" cy="233"/>
          </a:xfrm>
        </p:grpSpPr>
        <p:sp>
          <p:nvSpPr>
            <p:cNvPr id="35869" name="Oval 37"/>
            <p:cNvSpPr>
              <a:spLocks noChangeArrowheads="1"/>
            </p:cNvSpPr>
            <p:nvPr/>
          </p:nvSpPr>
          <p:spPr bwMode="auto">
            <a:xfrm>
              <a:off x="3864" y="2034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5870" name="Line 38"/>
            <p:cNvSpPr>
              <a:spLocks noChangeShapeType="1"/>
            </p:cNvSpPr>
            <p:nvPr/>
          </p:nvSpPr>
          <p:spPr bwMode="auto">
            <a:xfrm flipH="1">
              <a:off x="2700" y="2079"/>
              <a:ext cx="1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71" name="Text Box 39"/>
            <p:cNvSpPr txBox="1">
              <a:spLocks noChangeArrowheads="1"/>
            </p:cNvSpPr>
            <p:nvPr/>
          </p:nvSpPr>
          <p:spPr bwMode="auto">
            <a:xfrm>
              <a:off x="2218" y="1961"/>
              <a:ext cx="4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aseline="-25000">
                  <a:cs typeface="Arial" panose="020B0604020202020204" pitchFamily="34" charset="0"/>
                </a:rPr>
                <a:t>2000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40"/>
          <p:cNvGrpSpPr/>
          <p:nvPr/>
        </p:nvGrpSpPr>
        <p:grpSpPr bwMode="auto">
          <a:xfrm>
            <a:off x="3842385" y="3202305"/>
            <a:ext cx="3771900" cy="369888"/>
            <a:chOff x="2218" y="1554"/>
            <a:chExt cx="2376" cy="233"/>
          </a:xfrm>
        </p:grpSpPr>
        <p:sp>
          <p:nvSpPr>
            <p:cNvPr id="35866" name="Line 41"/>
            <p:cNvSpPr>
              <a:spLocks noChangeShapeType="1"/>
            </p:cNvSpPr>
            <p:nvPr/>
          </p:nvSpPr>
          <p:spPr bwMode="auto">
            <a:xfrm flipH="1">
              <a:off x="2700" y="1668"/>
              <a:ext cx="18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867" name="Oval 42"/>
            <p:cNvSpPr>
              <a:spLocks noChangeArrowheads="1"/>
            </p:cNvSpPr>
            <p:nvPr/>
          </p:nvSpPr>
          <p:spPr bwMode="auto">
            <a:xfrm>
              <a:off x="4506" y="1622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5868" name="Text Box 43"/>
            <p:cNvSpPr txBox="1">
              <a:spLocks noChangeArrowheads="1"/>
            </p:cNvSpPr>
            <p:nvPr/>
          </p:nvSpPr>
          <p:spPr bwMode="auto">
            <a:xfrm>
              <a:off x="2218" y="1554"/>
              <a:ext cx="4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aseline="-25000">
                  <a:cs typeface="Arial" panose="020B0604020202020204" pitchFamily="34" charset="0"/>
                </a:rPr>
                <a:t>2010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9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9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9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9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9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9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99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97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97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97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99" grpId="0"/>
      <p:bldP spid="199711" grpId="0"/>
      <p:bldP spid="199725" grpId="0" bldLvl="0" animBg="1"/>
      <p:bldP spid="199726" grpId="0" bldLvl="0" animBg="1"/>
      <p:bldP spid="199727" grpId="0" bldLvl="0" animBg="1"/>
      <p:bldP spid="19972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664210" y="1553210"/>
            <a:ext cx="29057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曲线是向上倾斜的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：即短期内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的增加会导致供应量的增加。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6870" name="Group 4"/>
          <p:cNvGrpSpPr/>
          <p:nvPr/>
        </p:nvGrpSpPr>
        <p:grpSpPr bwMode="auto">
          <a:xfrm>
            <a:off x="4348163" y="1702118"/>
            <a:ext cx="4422775" cy="4106862"/>
            <a:chOff x="2579" y="785"/>
            <a:chExt cx="2786" cy="2420"/>
          </a:xfrm>
        </p:grpSpPr>
        <p:grpSp>
          <p:nvGrpSpPr>
            <p:cNvPr id="36894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36897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98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895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36896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5122863" y="2481580"/>
            <a:ext cx="3379787" cy="2568575"/>
            <a:chOff x="3067" y="1234"/>
            <a:chExt cx="2129" cy="1618"/>
          </a:xfrm>
        </p:grpSpPr>
        <p:sp>
          <p:nvSpPr>
            <p:cNvPr id="36892" name="Line 11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Text Box 12"/>
            <p:cNvSpPr txBox="1">
              <a:spLocks noChangeArrowheads="1"/>
            </p:cNvSpPr>
            <p:nvPr/>
          </p:nvSpPr>
          <p:spPr bwMode="auto">
            <a:xfrm>
              <a:off x="4454" y="1234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>
                  <a:cs typeface="Arial" panose="020B0604020202020204" pitchFamily="34" charset="0"/>
                </a:rPr>
                <a:t>SRAS</a:t>
              </a:r>
              <a:endParaRPr lang="en-US" sz="2400" i="1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39"/>
          <p:cNvGrpSpPr/>
          <p:nvPr/>
        </p:nvGrpSpPr>
        <p:grpSpPr bwMode="auto">
          <a:xfrm>
            <a:off x="4538663" y="3288030"/>
            <a:ext cx="2676525" cy="2725738"/>
            <a:chOff x="2699" y="1742"/>
            <a:chExt cx="1686" cy="1717"/>
          </a:xfrm>
        </p:grpSpPr>
        <p:grpSp>
          <p:nvGrpSpPr>
            <p:cNvPr id="36886" name="Group 38"/>
            <p:cNvGrpSpPr/>
            <p:nvPr/>
          </p:nvGrpSpPr>
          <p:grpSpPr bwMode="auto">
            <a:xfrm>
              <a:off x="2699" y="1742"/>
              <a:ext cx="1568" cy="87"/>
              <a:chOff x="2699" y="1742"/>
              <a:chExt cx="1568" cy="87"/>
            </a:xfrm>
          </p:grpSpPr>
          <p:sp>
            <p:nvSpPr>
              <p:cNvPr id="36890" name="Oval 20"/>
              <p:cNvSpPr>
                <a:spLocks noChangeArrowheads="1"/>
              </p:cNvSpPr>
              <p:nvPr/>
            </p:nvSpPr>
            <p:spPr bwMode="auto">
              <a:xfrm>
                <a:off x="4179" y="1742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36891" name="Line 27"/>
              <p:cNvSpPr>
                <a:spLocks noChangeShapeType="1"/>
              </p:cNvSpPr>
              <p:nvPr/>
            </p:nvSpPr>
            <p:spPr bwMode="auto">
              <a:xfrm>
                <a:off x="2699" y="1781"/>
                <a:ext cx="152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887" name="Group 34"/>
            <p:cNvGrpSpPr/>
            <p:nvPr/>
          </p:nvGrpSpPr>
          <p:grpSpPr bwMode="auto">
            <a:xfrm>
              <a:off x="4077" y="1783"/>
              <a:ext cx="308" cy="1676"/>
              <a:chOff x="4077" y="1783"/>
              <a:chExt cx="308" cy="1676"/>
            </a:xfrm>
          </p:grpSpPr>
          <p:sp>
            <p:nvSpPr>
              <p:cNvPr id="36888" name="Line 28"/>
              <p:cNvSpPr>
                <a:spLocks noChangeShapeType="1"/>
              </p:cNvSpPr>
              <p:nvPr/>
            </p:nvSpPr>
            <p:spPr bwMode="auto">
              <a:xfrm>
                <a:off x="4228" y="1783"/>
                <a:ext cx="0" cy="14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89" name="Text Box 30"/>
              <p:cNvSpPr txBox="1">
                <a:spLocks noChangeArrowheads="1"/>
              </p:cNvSpPr>
              <p:nvPr/>
            </p:nvSpPr>
            <p:spPr bwMode="auto">
              <a:xfrm>
                <a:off x="4077" y="3229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Y</a:t>
                </a:r>
                <a:r>
                  <a:rPr lang="en-US" sz="2400" b="1" baseline="-25000"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Group 32"/>
          <p:cNvGrpSpPr/>
          <p:nvPr/>
        </p:nvGrpSpPr>
        <p:grpSpPr bwMode="auto">
          <a:xfrm>
            <a:off x="4033838" y="4091305"/>
            <a:ext cx="2152650" cy="1920875"/>
            <a:chOff x="2381" y="2248"/>
            <a:chExt cx="1356" cy="1210"/>
          </a:xfrm>
        </p:grpSpPr>
        <p:sp>
          <p:nvSpPr>
            <p:cNvPr id="36880" name="Oval 21"/>
            <p:cNvSpPr>
              <a:spLocks noChangeArrowheads="1"/>
            </p:cNvSpPr>
            <p:nvPr/>
          </p:nvSpPr>
          <p:spPr bwMode="auto">
            <a:xfrm>
              <a:off x="3535" y="2329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36881" name="Group 22"/>
            <p:cNvGrpSpPr/>
            <p:nvPr/>
          </p:nvGrpSpPr>
          <p:grpSpPr bwMode="auto">
            <a:xfrm>
              <a:off x="2701" y="2365"/>
              <a:ext cx="883" cy="841"/>
              <a:chOff x="357" y="2450"/>
              <a:chExt cx="795" cy="646"/>
            </a:xfrm>
          </p:grpSpPr>
          <p:sp>
            <p:nvSpPr>
              <p:cNvPr id="36884" name="Line 23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85" name="Line 24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882" name="Text Box 25"/>
            <p:cNvSpPr txBox="1">
              <a:spLocks noChangeArrowheads="1"/>
            </p:cNvSpPr>
            <p:nvPr/>
          </p:nvSpPr>
          <p:spPr bwMode="auto">
            <a:xfrm>
              <a:off x="2381" y="2248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36883" name="Text Box 31"/>
            <p:cNvSpPr txBox="1">
              <a:spLocks noChangeArrowheads="1"/>
            </p:cNvSpPr>
            <p:nvPr/>
          </p:nvSpPr>
          <p:spPr bwMode="auto">
            <a:xfrm>
              <a:off x="3429" y="3228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37"/>
          <p:cNvGrpSpPr/>
          <p:nvPr/>
        </p:nvGrpSpPr>
        <p:grpSpPr bwMode="auto">
          <a:xfrm>
            <a:off x="4032250" y="3157855"/>
            <a:ext cx="488950" cy="958850"/>
            <a:chOff x="2380" y="1660"/>
            <a:chExt cx="308" cy="604"/>
          </a:xfrm>
        </p:grpSpPr>
        <p:sp>
          <p:nvSpPr>
            <p:cNvPr id="36878" name="Text Box 29"/>
            <p:cNvSpPr txBox="1">
              <a:spLocks noChangeArrowheads="1"/>
            </p:cNvSpPr>
            <p:nvPr/>
          </p:nvSpPr>
          <p:spPr bwMode="auto">
            <a:xfrm>
              <a:off x="2380" y="1660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36879" name="Line 35"/>
            <p:cNvSpPr>
              <a:spLocks noChangeShapeType="1"/>
            </p:cNvSpPr>
            <p:nvPr/>
          </p:nvSpPr>
          <p:spPr bwMode="auto">
            <a:xfrm flipV="1">
              <a:off x="2508" y="1870"/>
              <a:ext cx="0" cy="39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796" name="Line 36"/>
          <p:cNvSpPr>
            <a:spLocks noChangeShapeType="1"/>
          </p:cNvSpPr>
          <p:nvPr/>
        </p:nvSpPr>
        <p:spPr bwMode="auto">
          <a:xfrm rot="5400000" flipV="1">
            <a:off x="6466682" y="5460523"/>
            <a:ext cx="0" cy="715963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矩形 32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6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412412" y="1382080"/>
            <a:ext cx="336059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SRAS的斜率向右上方倾斜？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必要性：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AS曲线是垂直的，则AD曲线的变动不会导致产出或就业的波动。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AS曲线向上倾斜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那么AD曲线的变动就会影响产出和就业。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894" name="Group 4"/>
          <p:cNvGrpSpPr/>
          <p:nvPr/>
        </p:nvGrpSpPr>
        <p:grpSpPr bwMode="auto">
          <a:xfrm>
            <a:off x="4178618" y="1531938"/>
            <a:ext cx="4422775" cy="4106862"/>
            <a:chOff x="2579" y="785"/>
            <a:chExt cx="2786" cy="2420"/>
          </a:xfrm>
        </p:grpSpPr>
        <p:grpSp>
          <p:nvGrpSpPr>
            <p:cNvPr id="37938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37941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42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939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37940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sp>
        <p:nvSpPr>
          <p:cNvPr id="37895" name="Line 10"/>
          <p:cNvSpPr>
            <a:spLocks noChangeShapeType="1"/>
          </p:cNvSpPr>
          <p:nvPr/>
        </p:nvSpPr>
        <p:spPr bwMode="auto">
          <a:xfrm>
            <a:off x="4908868" y="2276475"/>
            <a:ext cx="2317750" cy="2284413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6" name="Text Box 11"/>
          <p:cNvSpPr txBox="1">
            <a:spLocks noChangeArrowheads="1"/>
          </p:cNvSpPr>
          <p:nvPr/>
        </p:nvSpPr>
        <p:spPr bwMode="auto">
          <a:xfrm>
            <a:off x="7093268" y="4486275"/>
            <a:ext cx="798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i="1">
                <a:cs typeface="Arial" panose="020B0604020202020204" pitchFamily="34" charset="0"/>
              </a:rPr>
              <a:t>AD</a:t>
            </a:r>
            <a:r>
              <a:rPr lang="en-US" sz="2400" baseline="-25000">
                <a:cs typeface="Arial" panose="020B0604020202020204" pitchFamily="34" charset="0"/>
              </a:rPr>
              <a:t>1</a:t>
            </a:r>
            <a:endParaRPr lang="en-US" sz="2400" baseline="-25000">
              <a:cs typeface="Arial" panose="020B0604020202020204" pitchFamily="34" charset="0"/>
            </a:endParaRPr>
          </a:p>
        </p:txBody>
      </p:sp>
      <p:grpSp>
        <p:nvGrpSpPr>
          <p:cNvPr id="7" name="Group 12"/>
          <p:cNvGrpSpPr/>
          <p:nvPr/>
        </p:nvGrpSpPr>
        <p:grpSpPr bwMode="auto">
          <a:xfrm>
            <a:off x="4953318" y="2311400"/>
            <a:ext cx="3308350" cy="2568575"/>
            <a:chOff x="3067" y="1234"/>
            <a:chExt cx="2084" cy="1618"/>
          </a:xfrm>
        </p:grpSpPr>
        <p:sp>
          <p:nvSpPr>
            <p:cNvPr id="37936" name="Line 13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7" name="Text Box 14"/>
            <p:cNvSpPr txBox="1">
              <a:spLocks noChangeArrowheads="1"/>
            </p:cNvSpPr>
            <p:nvPr/>
          </p:nvSpPr>
          <p:spPr bwMode="auto">
            <a:xfrm>
              <a:off x="4475" y="1234"/>
              <a:ext cx="6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>
                  <a:cs typeface="Arial" panose="020B0604020202020204" pitchFamily="34" charset="0"/>
                </a:rPr>
                <a:t>SRAS</a:t>
              </a:r>
              <a:endParaRPr lang="en-US" sz="2400" i="1" baseline="-25000" dirty="0">
                <a:cs typeface="Arial" panose="020B0604020202020204" pitchFamily="34" charset="0"/>
              </a:endParaRPr>
            </a:p>
          </p:txBody>
        </p:sp>
      </p:grpSp>
      <p:sp>
        <p:nvSpPr>
          <p:cNvPr id="37898" name="Line 15"/>
          <p:cNvSpPr>
            <a:spLocks noChangeShapeType="1"/>
          </p:cNvSpPr>
          <p:nvPr/>
        </p:nvSpPr>
        <p:spPr bwMode="auto">
          <a:xfrm rot="16200000" flipH="1">
            <a:off x="4459606" y="3602037"/>
            <a:ext cx="3656012" cy="4763"/>
          </a:xfrm>
          <a:prstGeom prst="line">
            <a:avLst/>
          </a:prstGeom>
          <a:noFill/>
          <a:ln w="38100">
            <a:solidFill>
              <a:srgbClr val="DE84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Text Box 16"/>
          <p:cNvSpPr txBox="1">
            <a:spLocks noChangeArrowheads="1"/>
          </p:cNvSpPr>
          <p:nvPr/>
        </p:nvSpPr>
        <p:spPr bwMode="auto">
          <a:xfrm>
            <a:off x="5899468" y="1430338"/>
            <a:ext cx="942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i="1">
                <a:cs typeface="Arial" panose="020B0604020202020204" pitchFamily="34" charset="0"/>
              </a:rPr>
              <a:t>LRAS</a:t>
            </a:r>
            <a:endParaRPr lang="en-US" sz="2400" i="1" baseline="-25000">
              <a:cs typeface="Arial" panose="020B0604020202020204" pitchFamily="34" charset="0"/>
            </a:endParaRPr>
          </a:p>
        </p:txBody>
      </p:sp>
      <p:grpSp>
        <p:nvGrpSpPr>
          <p:cNvPr id="9" name="Group 17"/>
          <p:cNvGrpSpPr/>
          <p:nvPr/>
        </p:nvGrpSpPr>
        <p:grpSpPr bwMode="auto">
          <a:xfrm>
            <a:off x="5640705" y="1697038"/>
            <a:ext cx="2960688" cy="2603500"/>
            <a:chOff x="3500" y="847"/>
            <a:chExt cx="1865" cy="1640"/>
          </a:xfrm>
        </p:grpSpPr>
        <p:sp>
          <p:nvSpPr>
            <p:cNvPr id="37934" name="Line 18"/>
            <p:cNvSpPr>
              <a:spLocks noChangeShapeType="1"/>
            </p:cNvSpPr>
            <p:nvPr/>
          </p:nvSpPr>
          <p:spPr bwMode="auto">
            <a:xfrm>
              <a:off x="3500" y="847"/>
              <a:ext cx="1437" cy="142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35" name="Text Box 19"/>
            <p:cNvSpPr txBox="1">
              <a:spLocks noChangeArrowheads="1"/>
            </p:cNvSpPr>
            <p:nvPr/>
          </p:nvSpPr>
          <p:spPr bwMode="auto">
            <a:xfrm>
              <a:off x="4862" y="2199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hi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20"/>
          <p:cNvGrpSpPr/>
          <p:nvPr/>
        </p:nvGrpSpPr>
        <p:grpSpPr bwMode="auto">
          <a:xfrm>
            <a:off x="4472305" y="3105150"/>
            <a:ext cx="2681288" cy="2290763"/>
            <a:chOff x="2764" y="1734"/>
            <a:chExt cx="1689" cy="1443"/>
          </a:xfrm>
        </p:grpSpPr>
        <p:sp>
          <p:nvSpPr>
            <p:cNvPr id="37932" name="Text Box 21"/>
            <p:cNvSpPr txBox="1">
              <a:spLocks noChangeArrowheads="1"/>
            </p:cNvSpPr>
            <p:nvPr/>
          </p:nvSpPr>
          <p:spPr bwMode="auto">
            <a:xfrm>
              <a:off x="3950" y="2889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lo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37933" name="Line 22"/>
            <p:cNvSpPr>
              <a:spLocks noChangeShapeType="1"/>
            </p:cNvSpPr>
            <p:nvPr/>
          </p:nvSpPr>
          <p:spPr bwMode="auto">
            <a:xfrm>
              <a:off x="2764" y="1734"/>
              <a:ext cx="1260" cy="12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902" name="Oval 23"/>
          <p:cNvSpPr>
            <a:spLocks noChangeArrowheads="1"/>
          </p:cNvSpPr>
          <p:nvPr/>
        </p:nvSpPr>
        <p:spPr bwMode="auto">
          <a:xfrm>
            <a:off x="6221730" y="3565525"/>
            <a:ext cx="139700" cy="1381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7903" name="Text Box 24"/>
          <p:cNvSpPr txBox="1">
            <a:spLocks noChangeArrowheads="1"/>
          </p:cNvSpPr>
          <p:nvPr/>
        </p:nvSpPr>
        <p:spPr bwMode="auto">
          <a:xfrm>
            <a:off x="6042343" y="5480050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1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grpSp>
        <p:nvGrpSpPr>
          <p:cNvPr id="12" name="Group 26"/>
          <p:cNvGrpSpPr/>
          <p:nvPr/>
        </p:nvGrpSpPr>
        <p:grpSpPr bwMode="auto">
          <a:xfrm>
            <a:off x="3861118" y="4070350"/>
            <a:ext cx="2016125" cy="1771650"/>
            <a:chOff x="2379" y="2342"/>
            <a:chExt cx="1270" cy="1116"/>
          </a:xfrm>
        </p:grpSpPr>
        <p:grpSp>
          <p:nvGrpSpPr>
            <p:cNvPr id="37925" name="Group 27"/>
            <p:cNvGrpSpPr/>
            <p:nvPr/>
          </p:nvGrpSpPr>
          <p:grpSpPr bwMode="auto">
            <a:xfrm>
              <a:off x="2379" y="2342"/>
              <a:ext cx="1109" cy="230"/>
              <a:chOff x="2379" y="2342"/>
              <a:chExt cx="1109" cy="230"/>
            </a:xfrm>
          </p:grpSpPr>
          <p:sp>
            <p:nvSpPr>
              <p:cNvPr id="37930" name="Line 28"/>
              <p:cNvSpPr>
                <a:spLocks noChangeShapeType="1"/>
              </p:cNvSpPr>
              <p:nvPr/>
            </p:nvSpPr>
            <p:spPr bwMode="auto">
              <a:xfrm>
                <a:off x="2706" y="2457"/>
                <a:ext cx="782" cy="0"/>
              </a:xfrm>
              <a:prstGeom prst="line">
                <a:avLst/>
              </a:prstGeom>
              <a:noFill/>
              <a:ln w="9525">
                <a:solidFill>
                  <a:srgbClr val="777777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31" name="Text Box 29"/>
              <p:cNvSpPr txBox="1">
                <a:spLocks noChangeArrowheads="1"/>
              </p:cNvSpPr>
              <p:nvPr/>
            </p:nvSpPr>
            <p:spPr bwMode="auto">
              <a:xfrm>
                <a:off x="2379" y="2342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solidFill>
                      <a:srgbClr val="CC0000"/>
                    </a:solidFill>
                    <a:cs typeface="Arial" panose="020B0604020202020204" pitchFamily="34" charset="0"/>
                  </a:rPr>
                  <a:t>P</a:t>
                </a:r>
                <a:r>
                  <a:rPr lang="en-US" sz="2400" baseline="-25000">
                    <a:solidFill>
                      <a:srgbClr val="CC0000"/>
                    </a:solidFill>
                    <a:cs typeface="Arial" panose="020B0604020202020204" pitchFamily="34" charset="0"/>
                  </a:rPr>
                  <a:t>lo</a:t>
                </a:r>
                <a:endParaRPr lang="en-US" sz="2400" baseline="-25000">
                  <a:solidFill>
                    <a:srgbClr val="CC0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7926" name="Group 30"/>
            <p:cNvGrpSpPr/>
            <p:nvPr/>
          </p:nvGrpSpPr>
          <p:grpSpPr bwMode="auto">
            <a:xfrm>
              <a:off x="3341" y="2411"/>
              <a:ext cx="308" cy="1047"/>
              <a:chOff x="3341" y="2411"/>
              <a:chExt cx="308" cy="1047"/>
            </a:xfrm>
          </p:grpSpPr>
          <p:sp>
            <p:nvSpPr>
              <p:cNvPr id="37927" name="Line 31"/>
              <p:cNvSpPr>
                <a:spLocks noChangeShapeType="1"/>
              </p:cNvSpPr>
              <p:nvPr/>
            </p:nvSpPr>
            <p:spPr bwMode="auto">
              <a:xfrm>
                <a:off x="3493" y="2445"/>
                <a:ext cx="3" cy="761"/>
              </a:xfrm>
              <a:prstGeom prst="line">
                <a:avLst/>
              </a:prstGeom>
              <a:noFill/>
              <a:ln w="9525">
                <a:solidFill>
                  <a:srgbClr val="777777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8" name="Text Box 32"/>
              <p:cNvSpPr txBox="1">
                <a:spLocks noChangeArrowheads="1"/>
              </p:cNvSpPr>
              <p:nvPr/>
            </p:nvSpPr>
            <p:spPr bwMode="auto">
              <a:xfrm>
                <a:off x="3341" y="3228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solidFill>
                      <a:srgbClr val="CC0000"/>
                    </a:solidFill>
                    <a:cs typeface="Arial" panose="020B0604020202020204" pitchFamily="34" charset="0"/>
                  </a:rPr>
                  <a:t>Y</a:t>
                </a:r>
                <a:r>
                  <a:rPr lang="en-US" sz="2400" baseline="-25000">
                    <a:solidFill>
                      <a:srgbClr val="CC0000"/>
                    </a:solidFill>
                    <a:cs typeface="Arial" panose="020B0604020202020204" pitchFamily="34" charset="0"/>
                  </a:rPr>
                  <a:t>lo</a:t>
                </a:r>
                <a:endParaRPr lang="en-US" sz="2400" baseline="-25000">
                  <a:solidFill>
                    <a:srgbClr val="CC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29" name="Oval 33"/>
              <p:cNvSpPr>
                <a:spLocks noChangeArrowheads="1"/>
              </p:cNvSpPr>
              <p:nvPr/>
            </p:nvSpPr>
            <p:spPr bwMode="auto">
              <a:xfrm>
                <a:off x="3450" y="2411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Group 34"/>
          <p:cNvGrpSpPr/>
          <p:nvPr/>
        </p:nvGrpSpPr>
        <p:grpSpPr bwMode="auto">
          <a:xfrm>
            <a:off x="3859530" y="2825750"/>
            <a:ext cx="3355975" cy="3017838"/>
            <a:chOff x="2378" y="1558"/>
            <a:chExt cx="2114" cy="1901"/>
          </a:xfrm>
        </p:grpSpPr>
        <p:grpSp>
          <p:nvGrpSpPr>
            <p:cNvPr id="37918" name="Group 35"/>
            <p:cNvGrpSpPr/>
            <p:nvPr/>
          </p:nvGrpSpPr>
          <p:grpSpPr bwMode="auto">
            <a:xfrm>
              <a:off x="2378" y="1558"/>
              <a:ext cx="1961" cy="230"/>
              <a:chOff x="2378" y="1558"/>
              <a:chExt cx="1961" cy="230"/>
            </a:xfrm>
          </p:grpSpPr>
          <p:sp>
            <p:nvSpPr>
              <p:cNvPr id="37923" name="Line 36"/>
              <p:cNvSpPr>
                <a:spLocks noChangeShapeType="1"/>
              </p:cNvSpPr>
              <p:nvPr/>
            </p:nvSpPr>
            <p:spPr bwMode="auto">
              <a:xfrm flipV="1">
                <a:off x="2702" y="1673"/>
                <a:ext cx="1637" cy="3"/>
              </a:xfrm>
              <a:prstGeom prst="line">
                <a:avLst/>
              </a:prstGeom>
              <a:noFill/>
              <a:ln w="9525">
                <a:solidFill>
                  <a:srgbClr val="777777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4" name="Text Box 37"/>
              <p:cNvSpPr txBox="1">
                <a:spLocks noChangeArrowheads="1"/>
              </p:cNvSpPr>
              <p:nvPr/>
            </p:nvSpPr>
            <p:spPr bwMode="auto">
              <a:xfrm>
                <a:off x="2378" y="1558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solidFill>
                      <a:srgbClr val="008000"/>
                    </a:solidFill>
                    <a:cs typeface="Arial" panose="020B0604020202020204" pitchFamily="34" charset="0"/>
                  </a:rPr>
                  <a:t>P</a:t>
                </a:r>
                <a:r>
                  <a:rPr lang="en-US" sz="2400" baseline="-25000">
                    <a:solidFill>
                      <a:srgbClr val="008000"/>
                    </a:solidFill>
                    <a:cs typeface="Arial" panose="020B0604020202020204" pitchFamily="34" charset="0"/>
                  </a:rPr>
                  <a:t>hi</a:t>
                </a:r>
                <a:endParaRPr lang="en-US" sz="2400" baseline="-25000">
                  <a:solidFill>
                    <a:srgbClr val="008000"/>
                  </a:solidFill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7919" name="Group 38"/>
            <p:cNvGrpSpPr/>
            <p:nvPr/>
          </p:nvGrpSpPr>
          <p:grpSpPr bwMode="auto">
            <a:xfrm>
              <a:off x="4184" y="1632"/>
              <a:ext cx="308" cy="1827"/>
              <a:chOff x="4184" y="1632"/>
              <a:chExt cx="308" cy="1827"/>
            </a:xfrm>
          </p:grpSpPr>
          <p:sp>
            <p:nvSpPr>
              <p:cNvPr id="37920" name="Text Box 39"/>
              <p:cNvSpPr txBox="1">
                <a:spLocks noChangeArrowheads="1"/>
              </p:cNvSpPr>
              <p:nvPr/>
            </p:nvSpPr>
            <p:spPr bwMode="auto">
              <a:xfrm>
                <a:off x="4184" y="3229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solidFill>
                      <a:srgbClr val="008000"/>
                    </a:solidFill>
                    <a:cs typeface="Arial" panose="020B0604020202020204" pitchFamily="34" charset="0"/>
                  </a:rPr>
                  <a:t>Y</a:t>
                </a:r>
                <a:r>
                  <a:rPr lang="en-US" sz="2400" baseline="-25000">
                    <a:solidFill>
                      <a:srgbClr val="008000"/>
                    </a:solidFill>
                    <a:cs typeface="Arial" panose="020B0604020202020204" pitchFamily="34" charset="0"/>
                  </a:rPr>
                  <a:t>hi</a:t>
                </a:r>
                <a:endParaRPr lang="en-US" sz="2400" baseline="-25000">
                  <a:solidFill>
                    <a:srgbClr val="008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7921" name="Line 40"/>
              <p:cNvSpPr>
                <a:spLocks noChangeShapeType="1"/>
              </p:cNvSpPr>
              <p:nvPr/>
            </p:nvSpPr>
            <p:spPr bwMode="auto">
              <a:xfrm>
                <a:off x="4339" y="1677"/>
                <a:ext cx="0" cy="1522"/>
              </a:xfrm>
              <a:prstGeom prst="line">
                <a:avLst/>
              </a:prstGeom>
              <a:noFill/>
              <a:ln w="9525">
                <a:solidFill>
                  <a:srgbClr val="777777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22" name="Oval 41"/>
              <p:cNvSpPr>
                <a:spLocks noChangeArrowheads="1"/>
              </p:cNvSpPr>
              <p:nvPr/>
            </p:nvSpPr>
            <p:spPr bwMode="auto">
              <a:xfrm>
                <a:off x="4296" y="1632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58442" name="Line 42"/>
          <p:cNvSpPr>
            <a:spLocks noChangeShapeType="1"/>
          </p:cNvSpPr>
          <p:nvPr/>
        </p:nvSpPr>
        <p:spPr bwMode="auto">
          <a:xfrm rot="5400000" flipV="1">
            <a:off x="6954362" y="3126581"/>
            <a:ext cx="0" cy="1014413"/>
          </a:xfrm>
          <a:prstGeom prst="line">
            <a:avLst/>
          </a:prstGeom>
          <a:noFill/>
          <a:ln w="57150">
            <a:solidFill>
              <a:srgbClr val="008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3" name="Line 43"/>
          <p:cNvSpPr>
            <a:spLocks noChangeShapeType="1"/>
          </p:cNvSpPr>
          <p:nvPr/>
        </p:nvSpPr>
        <p:spPr bwMode="auto">
          <a:xfrm rot="16200000" flipV="1">
            <a:off x="5630387" y="3123406"/>
            <a:ext cx="0" cy="101441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" name="Group 44"/>
          <p:cNvGrpSpPr/>
          <p:nvPr/>
        </p:nvGrpSpPr>
        <p:grpSpPr bwMode="auto">
          <a:xfrm>
            <a:off x="3859530" y="2154238"/>
            <a:ext cx="2495550" cy="365125"/>
            <a:chOff x="2378" y="1135"/>
            <a:chExt cx="1572" cy="230"/>
          </a:xfrm>
        </p:grpSpPr>
        <p:sp>
          <p:nvSpPr>
            <p:cNvPr id="37915" name="Line 45"/>
            <p:cNvSpPr>
              <a:spLocks noChangeShapeType="1"/>
            </p:cNvSpPr>
            <p:nvPr/>
          </p:nvSpPr>
          <p:spPr bwMode="auto">
            <a:xfrm>
              <a:off x="2705" y="1250"/>
              <a:ext cx="1202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6" name="Text Box 46"/>
            <p:cNvSpPr txBox="1">
              <a:spLocks noChangeArrowheads="1"/>
            </p:cNvSpPr>
            <p:nvPr/>
          </p:nvSpPr>
          <p:spPr bwMode="auto">
            <a:xfrm>
              <a:off x="2378" y="1135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solidFill>
                    <a:srgbClr val="008000"/>
                  </a:solidFill>
                  <a:cs typeface="Arial" panose="020B0604020202020204" pitchFamily="34" charset="0"/>
                </a:rPr>
                <a:t>P</a:t>
              </a:r>
              <a:r>
                <a:rPr lang="en-US" sz="2400" baseline="-25000">
                  <a:solidFill>
                    <a:srgbClr val="008000"/>
                  </a:solidFill>
                  <a:cs typeface="Arial" panose="020B0604020202020204" pitchFamily="34" charset="0"/>
                </a:rPr>
                <a:t>hi</a:t>
              </a:r>
              <a:endParaRPr lang="en-US" sz="2400" baseline="-25000">
                <a:solidFill>
                  <a:srgbClr val="008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17" name="Oval 47"/>
            <p:cNvSpPr>
              <a:spLocks noChangeArrowheads="1"/>
            </p:cNvSpPr>
            <p:nvPr/>
          </p:nvSpPr>
          <p:spPr bwMode="auto">
            <a:xfrm>
              <a:off x="3862" y="1207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48"/>
          <p:cNvGrpSpPr/>
          <p:nvPr/>
        </p:nvGrpSpPr>
        <p:grpSpPr bwMode="auto">
          <a:xfrm>
            <a:off x="3861118" y="4708525"/>
            <a:ext cx="2497137" cy="365125"/>
            <a:chOff x="2379" y="2744"/>
            <a:chExt cx="1573" cy="230"/>
          </a:xfrm>
        </p:grpSpPr>
        <p:sp>
          <p:nvSpPr>
            <p:cNvPr id="37912" name="Line 49"/>
            <p:cNvSpPr>
              <a:spLocks noChangeShapeType="1"/>
            </p:cNvSpPr>
            <p:nvPr/>
          </p:nvSpPr>
          <p:spPr bwMode="auto">
            <a:xfrm>
              <a:off x="2706" y="2859"/>
              <a:ext cx="1202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13" name="Text Box 50"/>
            <p:cNvSpPr txBox="1">
              <a:spLocks noChangeArrowheads="1"/>
            </p:cNvSpPr>
            <p:nvPr/>
          </p:nvSpPr>
          <p:spPr bwMode="auto">
            <a:xfrm>
              <a:off x="2379" y="2744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solidFill>
                    <a:srgbClr val="CC0000"/>
                  </a:solidFill>
                  <a:cs typeface="Arial" panose="020B0604020202020204" pitchFamily="34" charset="0"/>
                </a:rPr>
                <a:t>P</a:t>
              </a:r>
              <a:r>
                <a:rPr lang="en-US" sz="2400" baseline="-25000">
                  <a:solidFill>
                    <a:srgbClr val="CC0000"/>
                  </a:solidFill>
                  <a:cs typeface="Arial" panose="020B0604020202020204" pitchFamily="34" charset="0"/>
                </a:rPr>
                <a:t>lo</a:t>
              </a:r>
              <a:endParaRPr lang="en-US" sz="2400" baseline="-25000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7914" name="Oval 51"/>
            <p:cNvSpPr>
              <a:spLocks noChangeArrowheads="1"/>
            </p:cNvSpPr>
            <p:nvPr/>
          </p:nvSpPr>
          <p:spPr bwMode="auto">
            <a:xfrm>
              <a:off x="3864" y="2814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52" name="矩形 51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5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5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58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8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8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58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2" grpId="0" bldLvl="0" animBg="1"/>
      <p:bldP spid="35844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88010" y="1592580"/>
            <a:ext cx="8174250" cy="411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短期供给曲线（SRAS）的三个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都给出总供给曲线在短期内具有正斜率的原因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指出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某种类型的市场缺陷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不完全性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偏离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水平时，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也会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偏离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自然产出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尤其是，当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水平时，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实际产出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自然产出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619929"/>
            <a:ext cx="79679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粘性工资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理论（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Sticky Wage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名义工资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内是粘性的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它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们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调整缓慢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，比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由于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劳动合同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周期等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原因。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公司和工人根据他们预期的价格水平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sz="240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，预先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设定名义工资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然后会在较长一段时间内不再调整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88010" y="1592580"/>
            <a:ext cx="785812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实际价格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P&gt;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P</a:t>
            </a:r>
            <a:r>
              <a:rPr lang="en-US" altLang="zh-CN" sz="240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企业的收入较高，但劳动力成本却不会增加，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生产更有利可图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，企业会增加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雇佣工人，从而增加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越高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产量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越高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SRAS曲线向上倾斜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351915"/>
            <a:ext cx="79679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l" fontAlgn="auto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粘性价格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理论（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Sticky Price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缺陷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许多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厂家的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内是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粘性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比如，有些厂家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调整价格的费用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较高（菜单成本等）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2" indent="-342900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厂家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他们预期的价格水平，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240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预先设定名义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然后会在较长一段时间内不再调整。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88010" y="1494790"/>
            <a:ext cx="7858125" cy="336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央行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增加货币供应。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价格水平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将上升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。短期内没有菜单成本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或者较低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的公司可以立即提高价格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有菜单成本的公司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相对较低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的原先价格，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2400" baseline="-25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未涨价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产品需求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该类公司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增加了产量和就业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产量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曲线向上倾斜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2" name="TextBox 15"/>
          <p:cNvSpPr txBox="1"/>
          <p:nvPr/>
        </p:nvSpPr>
        <p:spPr>
          <a:xfrm>
            <a:off x="525866" y="1397136"/>
            <a:ext cx="7787005" cy="336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价格错觉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Price Misperception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缺陷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：公司将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全社会实际价格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普涨与其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的涨价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混淆起来。公司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意识到所有价格都在上涨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只有自己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产品的价格正在上涨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，进而增加产量和就业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产量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SRAS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曲线向上倾斜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4260533" y="1711643"/>
            <a:ext cx="4422775" cy="4111953"/>
            <a:chOff x="2579" y="785"/>
            <a:chExt cx="2786" cy="2423"/>
          </a:xfrm>
        </p:grpSpPr>
        <p:grpSp>
          <p:nvGrpSpPr>
            <p:cNvPr id="46115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46118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6119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6116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17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Y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 bwMode="auto">
          <a:xfrm>
            <a:off x="5035233" y="2491105"/>
            <a:ext cx="3379787" cy="2568575"/>
            <a:chOff x="3067" y="1234"/>
            <a:chExt cx="2129" cy="1618"/>
          </a:xfrm>
        </p:grpSpPr>
        <p:sp>
          <p:nvSpPr>
            <p:cNvPr id="46113" name="Line 11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14" name="Text Box 12"/>
            <p:cNvSpPr txBox="1">
              <a:spLocks noChangeArrowheads="1"/>
            </p:cNvSpPr>
            <p:nvPr/>
          </p:nvSpPr>
          <p:spPr bwMode="auto">
            <a:xfrm>
              <a:off x="4454" y="1234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>
                  <a:latin typeface="Arial" panose="020B0604020202020204"/>
                  <a:cs typeface="Arial" panose="020B0604020202020204"/>
                </a:rPr>
                <a:t>SRAS</a:t>
              </a:r>
              <a:endParaRPr lang="en-US" sz="2400" i="1" baseline="-250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Group 39"/>
          <p:cNvGrpSpPr/>
          <p:nvPr/>
        </p:nvGrpSpPr>
        <p:grpSpPr bwMode="auto">
          <a:xfrm>
            <a:off x="6159183" y="2459115"/>
            <a:ext cx="488950" cy="3565766"/>
            <a:chOff x="3775" y="1033"/>
            <a:chExt cx="308" cy="2427"/>
          </a:xfrm>
        </p:grpSpPr>
        <p:sp>
          <p:nvSpPr>
            <p:cNvPr id="46111" name="Line 14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19050">
              <a:solidFill>
                <a:srgbClr val="DE8400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12" name="Text Box 18"/>
            <p:cNvSpPr txBox="1">
              <a:spLocks noChangeArrowheads="1"/>
            </p:cNvSpPr>
            <p:nvPr/>
          </p:nvSpPr>
          <p:spPr bwMode="auto">
            <a:xfrm>
              <a:off x="3775" y="3227"/>
              <a:ext cx="3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Y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N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50"/>
          <p:cNvGrpSpPr/>
          <p:nvPr/>
        </p:nvGrpSpPr>
        <p:grpSpPr bwMode="auto">
          <a:xfrm>
            <a:off x="1863577" y="2317590"/>
            <a:ext cx="2560638" cy="1489075"/>
            <a:chOff x="1002" y="1052"/>
            <a:chExt cx="1613" cy="938"/>
          </a:xfrm>
        </p:grpSpPr>
        <p:sp>
          <p:nvSpPr>
            <p:cNvPr id="46109" name="AutoShape 22"/>
            <p:cNvSpPr/>
            <p:nvPr/>
          </p:nvSpPr>
          <p:spPr bwMode="auto">
            <a:xfrm>
              <a:off x="2400" y="1052"/>
              <a:ext cx="215" cy="938"/>
            </a:xfrm>
            <a:prstGeom prst="leftBrace">
              <a:avLst>
                <a:gd name="adj1" fmla="val 4233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10" name="Rectangle 23"/>
            <p:cNvSpPr>
              <a:spLocks noChangeArrowheads="1"/>
            </p:cNvSpPr>
            <p:nvPr/>
          </p:nvSpPr>
          <p:spPr bwMode="auto">
            <a:xfrm>
              <a:off x="1002" y="1324"/>
              <a:ext cx="1390" cy="35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当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&gt;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38"/>
          <p:cNvGrpSpPr/>
          <p:nvPr/>
        </p:nvGrpSpPr>
        <p:grpSpPr bwMode="auto">
          <a:xfrm>
            <a:off x="6511608" y="5724843"/>
            <a:ext cx="1765300" cy="949325"/>
            <a:chOff x="3997" y="3271"/>
            <a:chExt cx="1112" cy="598"/>
          </a:xfrm>
        </p:grpSpPr>
        <p:sp>
          <p:nvSpPr>
            <p:cNvPr id="46107" name="Rectangle 26"/>
            <p:cNvSpPr>
              <a:spLocks noChangeArrowheads="1"/>
            </p:cNvSpPr>
            <p:nvPr/>
          </p:nvSpPr>
          <p:spPr bwMode="auto">
            <a:xfrm>
              <a:off x="4207" y="3536"/>
              <a:ext cx="700" cy="3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Y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&gt;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Y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N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08" name="AutoShape 27"/>
            <p:cNvSpPr/>
            <p:nvPr/>
          </p:nvSpPr>
          <p:spPr bwMode="auto">
            <a:xfrm rot="-5400000">
              <a:off x="4445" y="2823"/>
              <a:ext cx="215" cy="1112"/>
            </a:xfrm>
            <a:prstGeom prst="leftBrace">
              <a:avLst>
                <a:gd name="adj1" fmla="val 50188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4" name="Group 51"/>
          <p:cNvGrpSpPr/>
          <p:nvPr/>
        </p:nvGrpSpPr>
        <p:grpSpPr bwMode="auto">
          <a:xfrm>
            <a:off x="1906964" y="3843963"/>
            <a:ext cx="2560637" cy="1489075"/>
            <a:chOff x="979" y="2226"/>
            <a:chExt cx="1613" cy="938"/>
          </a:xfrm>
        </p:grpSpPr>
        <p:sp>
          <p:nvSpPr>
            <p:cNvPr id="46105" name="AutoShape 28"/>
            <p:cNvSpPr/>
            <p:nvPr/>
          </p:nvSpPr>
          <p:spPr bwMode="auto">
            <a:xfrm>
              <a:off x="2377" y="2226"/>
              <a:ext cx="215" cy="938"/>
            </a:xfrm>
            <a:prstGeom prst="leftBrace">
              <a:avLst>
                <a:gd name="adj1" fmla="val 42335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06" name="Rectangle 29"/>
            <p:cNvSpPr>
              <a:spLocks noChangeArrowheads="1"/>
            </p:cNvSpPr>
            <p:nvPr/>
          </p:nvSpPr>
          <p:spPr bwMode="auto">
            <a:xfrm>
              <a:off x="979" y="2511"/>
              <a:ext cx="1376" cy="35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5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当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</a:t>
              </a:r>
              <a:r>
                <a:rPr lang="en-US" sz="25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&lt;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37"/>
          <p:cNvGrpSpPr/>
          <p:nvPr/>
        </p:nvGrpSpPr>
        <p:grpSpPr bwMode="auto">
          <a:xfrm>
            <a:off x="4473258" y="5729605"/>
            <a:ext cx="1744662" cy="941388"/>
            <a:chOff x="2713" y="3274"/>
            <a:chExt cx="1099" cy="593"/>
          </a:xfrm>
        </p:grpSpPr>
        <p:sp>
          <p:nvSpPr>
            <p:cNvPr id="46103" name="Rectangle 30"/>
            <p:cNvSpPr>
              <a:spLocks noChangeArrowheads="1"/>
            </p:cNvSpPr>
            <p:nvPr/>
          </p:nvSpPr>
          <p:spPr bwMode="auto">
            <a:xfrm>
              <a:off x="2910" y="3534"/>
              <a:ext cx="700" cy="333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500" b="1" i="1">
                  <a:latin typeface="Arial" panose="020B0604020202020204"/>
                  <a:cs typeface="Arial" panose="020B0604020202020204"/>
                </a:rPr>
                <a:t>Y</a:t>
              </a:r>
              <a:r>
                <a:rPr lang="en-US" sz="2500">
                  <a:latin typeface="Arial" panose="020B0604020202020204"/>
                  <a:cs typeface="Arial" panose="020B0604020202020204"/>
                </a:rPr>
                <a:t> &lt; </a:t>
              </a:r>
              <a:r>
                <a:rPr lang="en-US" sz="2400" b="1" i="1">
                  <a:latin typeface="Arial" panose="020B0604020202020204"/>
                  <a:cs typeface="Arial" panose="020B0604020202020204"/>
                </a:rPr>
                <a:t>Y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N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04" name="AutoShape 31"/>
            <p:cNvSpPr/>
            <p:nvPr/>
          </p:nvSpPr>
          <p:spPr bwMode="auto">
            <a:xfrm rot="-5400000">
              <a:off x="3155" y="2832"/>
              <a:ext cx="215" cy="1099"/>
            </a:xfrm>
            <a:prstGeom prst="leftBrace">
              <a:avLst>
                <a:gd name="adj1" fmla="val 49602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40"/>
          <p:cNvGrpSpPr/>
          <p:nvPr/>
        </p:nvGrpSpPr>
        <p:grpSpPr bwMode="auto">
          <a:xfrm>
            <a:off x="3916692" y="3646809"/>
            <a:ext cx="2509838" cy="369888"/>
            <a:chOff x="2368" y="1962"/>
            <a:chExt cx="1581" cy="233"/>
          </a:xfrm>
        </p:grpSpPr>
        <p:sp>
          <p:nvSpPr>
            <p:cNvPr id="46100" name="Line 19"/>
            <p:cNvSpPr>
              <a:spLocks noChangeShapeType="1"/>
            </p:cNvSpPr>
            <p:nvPr/>
          </p:nvSpPr>
          <p:spPr bwMode="auto">
            <a:xfrm flipH="1">
              <a:off x="2700" y="2079"/>
              <a:ext cx="12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01" name="Text Box 20"/>
            <p:cNvSpPr txBox="1">
              <a:spLocks noChangeArrowheads="1"/>
            </p:cNvSpPr>
            <p:nvPr/>
          </p:nvSpPr>
          <p:spPr bwMode="auto">
            <a:xfrm>
              <a:off x="2368" y="1962"/>
              <a:ext cx="3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E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46102" name="Oval 33"/>
            <p:cNvSpPr>
              <a:spLocks noChangeArrowheads="1"/>
            </p:cNvSpPr>
            <p:nvPr/>
          </p:nvSpPr>
          <p:spPr bwMode="auto">
            <a:xfrm>
              <a:off x="3861" y="2032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6099" name="Text Box 41"/>
          <p:cNvSpPr txBox="1">
            <a:spLocks noChangeArrowheads="1"/>
          </p:cNvSpPr>
          <p:nvPr/>
        </p:nvSpPr>
        <p:spPr bwMode="auto">
          <a:xfrm>
            <a:off x="1930986" y="3638087"/>
            <a:ext cx="1985705" cy="476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</a:t>
            </a:r>
            <a:endParaRPr lang="zh-CN" altLang="en-US" sz="25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8879" name="Line 47"/>
          <p:cNvSpPr>
            <a:spLocks noChangeShapeType="1"/>
          </p:cNvSpPr>
          <p:nvPr/>
        </p:nvSpPr>
        <p:spPr bwMode="auto">
          <a:xfrm flipV="1">
            <a:off x="6399898" y="2889568"/>
            <a:ext cx="995362" cy="919162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8881" name="Line 49"/>
          <p:cNvSpPr>
            <a:spLocks noChangeShapeType="1"/>
          </p:cNvSpPr>
          <p:nvPr/>
        </p:nvSpPr>
        <p:spPr bwMode="auto">
          <a:xfrm flipV="1">
            <a:off x="5055870" y="3894455"/>
            <a:ext cx="1281113" cy="1189038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4893679" y="1113186"/>
            <a:ext cx="3877458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人们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水平时，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实际产出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自然产出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488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488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79" grpId="0" bldLvl="0" animBg="1"/>
      <p:bldP spid="248879" grpId="1" bldLvl="0" animBg="1"/>
      <p:bldP spid="248881" grpId="0" bldLvl="0" animBg="1"/>
      <p:bldP spid="248881" grpId="1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8010" y="1351915"/>
            <a:ext cx="8221345" cy="286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algn="l" fontAlgn="auto">
              <a:lnSpc>
                <a:spcPct val="17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这些缺陷是暂时的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。随着时间的推移，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粘性工资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粘性价格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会得到调整。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错觉会得到纠正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4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altLang="zh-CN" sz="2400" baseline="-250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会逐渐趋向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实际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价格水平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4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短期总供给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SRAS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→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垂直的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总供给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LRAS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grpSp>
        <p:nvGrpSpPr>
          <p:cNvPr id="48132" name="Group 41"/>
          <p:cNvGrpSpPr/>
          <p:nvPr/>
        </p:nvGrpSpPr>
        <p:grpSpPr bwMode="auto">
          <a:xfrm>
            <a:off x="5637213" y="2253298"/>
            <a:ext cx="1177925" cy="3844925"/>
            <a:chOff x="3536" y="778"/>
            <a:chExt cx="742" cy="2422"/>
          </a:xfrm>
        </p:grpSpPr>
        <p:sp>
          <p:nvSpPr>
            <p:cNvPr id="48151" name="Line 42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38100">
              <a:solidFill>
                <a:srgbClr val="DE84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52" name="Text Box 43"/>
            <p:cNvSpPr txBox="1">
              <a:spLocks noChangeArrowheads="1"/>
            </p:cNvSpPr>
            <p:nvPr/>
          </p:nvSpPr>
          <p:spPr bwMode="auto">
            <a:xfrm>
              <a:off x="3536" y="778"/>
              <a:ext cx="74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i="1">
                  <a:cs typeface="Arial" panose="020B0604020202020204" pitchFamily="34" charset="0"/>
                </a:rPr>
                <a:t>LRAS</a:t>
              </a:r>
              <a:endParaRPr lang="en-US" sz="2600" i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48134" name="Group 3"/>
          <p:cNvGrpSpPr/>
          <p:nvPr/>
        </p:nvGrpSpPr>
        <p:grpSpPr bwMode="auto">
          <a:xfrm>
            <a:off x="4116388" y="2200910"/>
            <a:ext cx="4422775" cy="4138613"/>
            <a:chOff x="2579" y="785"/>
            <a:chExt cx="2786" cy="2439"/>
          </a:xfrm>
        </p:grpSpPr>
        <p:grpSp>
          <p:nvGrpSpPr>
            <p:cNvPr id="48146" name="Group 4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48149" name="Line 5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50" name="Line 6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8147" name="Text Box 7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P</a:t>
              </a:r>
              <a:endParaRPr lang="en-US" sz="2600" b="1" i="1">
                <a:cs typeface="Arial" panose="020B0604020202020204" pitchFamily="34" charset="0"/>
              </a:endParaRPr>
            </a:p>
          </p:txBody>
        </p:sp>
        <p:sp>
          <p:nvSpPr>
            <p:cNvPr id="48148" name="Text Box 8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Y</a:t>
              </a:r>
              <a:endParaRPr lang="en-US" sz="26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48135" name="Group 9"/>
          <p:cNvGrpSpPr/>
          <p:nvPr/>
        </p:nvGrpSpPr>
        <p:grpSpPr bwMode="auto">
          <a:xfrm>
            <a:off x="4891088" y="2980373"/>
            <a:ext cx="3379787" cy="2568575"/>
            <a:chOff x="3067" y="1234"/>
            <a:chExt cx="2129" cy="1618"/>
          </a:xfrm>
        </p:grpSpPr>
        <p:sp>
          <p:nvSpPr>
            <p:cNvPr id="48144" name="Line 10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5" name="Text Box 11"/>
            <p:cNvSpPr txBox="1">
              <a:spLocks noChangeArrowheads="1"/>
            </p:cNvSpPr>
            <p:nvPr/>
          </p:nvSpPr>
          <p:spPr bwMode="auto">
            <a:xfrm>
              <a:off x="4454" y="1234"/>
              <a:ext cx="74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i="1" dirty="0">
                  <a:cs typeface="Arial" panose="020B0604020202020204" pitchFamily="34" charset="0"/>
                </a:rPr>
                <a:t>SRAS</a:t>
              </a:r>
              <a:endParaRPr lang="en-US" sz="2600" i="1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48136" name="Group 31"/>
          <p:cNvGrpSpPr/>
          <p:nvPr/>
        </p:nvGrpSpPr>
        <p:grpSpPr bwMode="auto">
          <a:xfrm>
            <a:off x="3781425" y="4136073"/>
            <a:ext cx="2509838" cy="396875"/>
            <a:chOff x="2368" y="1962"/>
            <a:chExt cx="1581" cy="250"/>
          </a:xfrm>
        </p:grpSpPr>
        <p:sp>
          <p:nvSpPr>
            <p:cNvPr id="48141" name="Line 32"/>
            <p:cNvSpPr>
              <a:spLocks noChangeShapeType="1"/>
            </p:cNvSpPr>
            <p:nvPr/>
          </p:nvSpPr>
          <p:spPr bwMode="auto">
            <a:xfrm flipH="1">
              <a:off x="2700" y="2079"/>
              <a:ext cx="12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2" name="Text Box 33"/>
            <p:cNvSpPr txBox="1">
              <a:spLocks noChangeArrowheads="1"/>
            </p:cNvSpPr>
            <p:nvPr/>
          </p:nvSpPr>
          <p:spPr bwMode="auto">
            <a:xfrm>
              <a:off x="2368" y="1962"/>
              <a:ext cx="3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P</a:t>
              </a:r>
              <a:r>
                <a:rPr lang="en-US" sz="2600" b="1" baseline="-25000">
                  <a:cs typeface="Arial" panose="020B0604020202020204" pitchFamily="34" charset="0"/>
                </a:rPr>
                <a:t>E</a:t>
              </a:r>
              <a:endParaRPr lang="en-US" sz="2600" b="1" baseline="-25000">
                <a:cs typeface="Arial" panose="020B0604020202020204" pitchFamily="34" charset="0"/>
              </a:endParaRPr>
            </a:p>
          </p:txBody>
        </p:sp>
        <p:sp>
          <p:nvSpPr>
            <p:cNvPr id="48143" name="Oval 34"/>
            <p:cNvSpPr>
              <a:spLocks noChangeArrowheads="1"/>
            </p:cNvSpPr>
            <p:nvPr/>
          </p:nvSpPr>
          <p:spPr bwMode="auto">
            <a:xfrm>
              <a:off x="3861" y="2032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48137" name="Text Box 44"/>
          <p:cNvSpPr txBox="1">
            <a:spLocks noChangeArrowheads="1"/>
          </p:cNvSpPr>
          <p:nvPr/>
        </p:nvSpPr>
        <p:spPr bwMode="auto">
          <a:xfrm>
            <a:off x="5981700" y="6147435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N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sp>
        <p:nvSpPr>
          <p:cNvPr id="48138" name="Rectangle 45"/>
          <p:cNvSpPr>
            <a:spLocks noGrp="1" noChangeArrowheads="1"/>
          </p:cNvSpPr>
          <p:nvPr>
            <p:ph type="body" idx="4294967295"/>
          </p:nvPr>
        </p:nvSpPr>
        <p:spPr>
          <a:xfrm>
            <a:off x="1402968" y="2787621"/>
            <a:ext cx="2713420" cy="1128453"/>
          </a:xfrm>
          <a:solidFill>
            <a:srgbClr val="CCFFCC"/>
          </a:solidFill>
          <a:ln>
            <a:noFill/>
            <a:miter lim="800000"/>
          </a:ln>
        </p:spPr>
        <p:txBody>
          <a:bodyPr>
            <a:noAutofit/>
          </a:bodyPr>
          <a:lstStyle/>
          <a:p>
            <a:pPr marL="290830" indent="-29083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endParaRPr lang="en-US" sz="240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290830" indent="-29083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sz="24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</a:t>
            </a:r>
            <a:r>
              <a:rPr lang="en-US" sz="2400" baseline="-250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</a:t>
            </a:r>
            <a:r>
              <a:rPr lang="en-US" sz="24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 </a:t>
            </a:r>
            <a:r>
              <a:rPr lang="en-US" sz="24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→</a:t>
            </a:r>
            <a:r>
              <a:rPr lang="zh-CN" altLang="en-US" sz="24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en-US" sz="24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Y </a:t>
            </a:r>
            <a:r>
              <a:rPr 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= Y</a:t>
            </a:r>
            <a:r>
              <a:rPr lang="en-US" sz="2400" baseline="-25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N</a:t>
            </a:r>
            <a:endParaRPr lang="en-US" sz="24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6365" y="1415415"/>
            <a:ext cx="4578800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任何会改变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LR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曲线位置的因素（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生产要素）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也同样会改变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曲线的位置。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charset="0"/>
              <a:buChar char="Ø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另外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sz="240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E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也会改变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的位置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en-US" sz="2400" baseline="-25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E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，工人和公司将提高工资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800100" lvl="1" indent="-342900">
              <a:lnSpc>
                <a:spcPct val="110000"/>
              </a:lnSpc>
              <a:buSzPct val="100000"/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在每一个P点，生产利润较低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那么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将下降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S向左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（向上）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移动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9158" name="Group 4"/>
          <p:cNvGrpSpPr/>
          <p:nvPr/>
        </p:nvGrpSpPr>
        <p:grpSpPr bwMode="auto">
          <a:xfrm>
            <a:off x="6353493" y="1718628"/>
            <a:ext cx="1177925" cy="3844925"/>
            <a:chOff x="3536" y="778"/>
            <a:chExt cx="742" cy="2422"/>
          </a:xfrm>
        </p:grpSpPr>
        <p:sp>
          <p:nvSpPr>
            <p:cNvPr id="49184" name="Line 5"/>
            <p:cNvSpPr>
              <a:spLocks noChangeShapeType="1"/>
            </p:cNvSpPr>
            <p:nvPr/>
          </p:nvSpPr>
          <p:spPr bwMode="auto">
            <a:xfrm rot="16200000" flipH="1">
              <a:off x="2824" y="2115"/>
              <a:ext cx="2167" cy="3"/>
            </a:xfrm>
            <a:prstGeom prst="line">
              <a:avLst/>
            </a:prstGeom>
            <a:noFill/>
            <a:ln w="38100">
              <a:solidFill>
                <a:srgbClr val="5F5F5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85" name="Text Box 6"/>
            <p:cNvSpPr txBox="1">
              <a:spLocks noChangeArrowheads="1"/>
            </p:cNvSpPr>
            <p:nvPr/>
          </p:nvSpPr>
          <p:spPr bwMode="auto">
            <a:xfrm>
              <a:off x="3536" y="778"/>
              <a:ext cx="74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i="1">
                  <a:solidFill>
                    <a:srgbClr val="5F5F5F"/>
                  </a:solidFill>
                  <a:cs typeface="Arial" panose="020B0604020202020204" pitchFamily="34" charset="0"/>
                </a:rPr>
                <a:t>LRAS</a:t>
              </a:r>
              <a:endParaRPr lang="en-US" sz="2600" i="1" baseline="-25000">
                <a:solidFill>
                  <a:srgbClr val="5F5F5F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49159" name="Group 7"/>
          <p:cNvGrpSpPr/>
          <p:nvPr/>
        </p:nvGrpSpPr>
        <p:grpSpPr bwMode="auto">
          <a:xfrm>
            <a:off x="5029518" y="1666240"/>
            <a:ext cx="3679825" cy="4138613"/>
            <a:chOff x="2579" y="785"/>
            <a:chExt cx="2786" cy="2439"/>
          </a:xfrm>
        </p:grpSpPr>
        <p:grpSp>
          <p:nvGrpSpPr>
            <p:cNvPr id="49179" name="Group 8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49182" name="Line 9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83" name="Line 10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9180" name="Text Box 11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P</a:t>
              </a:r>
              <a:endParaRPr lang="en-US" sz="2600" b="1" i="1">
                <a:cs typeface="Arial" panose="020B0604020202020204" pitchFamily="34" charset="0"/>
              </a:endParaRPr>
            </a:p>
          </p:txBody>
        </p:sp>
        <p:sp>
          <p:nvSpPr>
            <p:cNvPr id="49181" name="Text Box 12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Y</a:t>
              </a:r>
              <a:endParaRPr lang="en-US" sz="26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49160" name="Group 34"/>
          <p:cNvGrpSpPr/>
          <p:nvPr/>
        </p:nvGrpSpPr>
        <p:grpSpPr bwMode="auto">
          <a:xfrm>
            <a:off x="6010593" y="2469515"/>
            <a:ext cx="3155950" cy="2601913"/>
            <a:chOff x="3529" y="1562"/>
            <a:chExt cx="1988" cy="1639"/>
          </a:xfrm>
        </p:grpSpPr>
        <p:sp>
          <p:nvSpPr>
            <p:cNvPr id="49177" name="Line 14"/>
            <p:cNvSpPr>
              <a:spLocks noChangeShapeType="1"/>
            </p:cNvSpPr>
            <p:nvPr/>
          </p:nvSpPr>
          <p:spPr bwMode="auto">
            <a:xfrm flipV="1">
              <a:off x="3529" y="1817"/>
              <a:ext cx="1393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8" name="Text Box 15"/>
            <p:cNvSpPr txBox="1">
              <a:spLocks noChangeArrowheads="1"/>
            </p:cNvSpPr>
            <p:nvPr/>
          </p:nvSpPr>
          <p:spPr bwMode="auto">
            <a:xfrm>
              <a:off x="4827" y="1562"/>
              <a:ext cx="69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i="1" dirty="0">
                  <a:cs typeface="Arial" panose="020B0604020202020204" pitchFamily="34" charset="0"/>
                </a:rPr>
                <a:t>SRAS</a:t>
              </a:r>
              <a:endParaRPr lang="en-US" sz="2600" i="1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49161" name="Group 16"/>
          <p:cNvGrpSpPr/>
          <p:nvPr/>
        </p:nvGrpSpPr>
        <p:grpSpPr bwMode="auto">
          <a:xfrm>
            <a:off x="4716780" y="3968115"/>
            <a:ext cx="2290763" cy="396875"/>
            <a:chOff x="2368" y="1962"/>
            <a:chExt cx="1581" cy="250"/>
          </a:xfrm>
        </p:grpSpPr>
        <p:sp>
          <p:nvSpPr>
            <p:cNvPr id="49174" name="Line 17"/>
            <p:cNvSpPr>
              <a:spLocks noChangeShapeType="1"/>
            </p:cNvSpPr>
            <p:nvPr/>
          </p:nvSpPr>
          <p:spPr bwMode="auto">
            <a:xfrm flipH="1">
              <a:off x="2700" y="2079"/>
              <a:ext cx="120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5" name="Text Box 18"/>
            <p:cNvSpPr txBox="1">
              <a:spLocks noChangeArrowheads="1"/>
            </p:cNvSpPr>
            <p:nvPr/>
          </p:nvSpPr>
          <p:spPr bwMode="auto">
            <a:xfrm>
              <a:off x="2368" y="1962"/>
              <a:ext cx="3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P</a:t>
              </a:r>
              <a:r>
                <a:rPr lang="en-US" sz="2600" b="1" baseline="-25000">
                  <a:cs typeface="Arial" panose="020B0604020202020204" pitchFamily="34" charset="0"/>
                </a:rPr>
                <a:t>E</a:t>
              </a:r>
              <a:endParaRPr lang="en-US" sz="2600" b="1" baseline="-25000">
                <a:cs typeface="Arial" panose="020B0604020202020204" pitchFamily="34" charset="0"/>
              </a:endParaRPr>
            </a:p>
          </p:txBody>
        </p:sp>
        <p:sp>
          <p:nvSpPr>
            <p:cNvPr id="49176" name="Oval 19"/>
            <p:cNvSpPr>
              <a:spLocks noChangeArrowheads="1"/>
            </p:cNvSpPr>
            <p:nvPr/>
          </p:nvSpPr>
          <p:spPr bwMode="auto">
            <a:xfrm>
              <a:off x="3861" y="2032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49162" name="Text Box 20"/>
          <p:cNvSpPr txBox="1">
            <a:spLocks noChangeArrowheads="1"/>
          </p:cNvSpPr>
          <p:nvPr/>
        </p:nvSpPr>
        <p:spPr bwMode="auto">
          <a:xfrm>
            <a:off x="6697980" y="5612765"/>
            <a:ext cx="488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 b="1" i="1">
                <a:cs typeface="Arial" panose="020B0604020202020204" pitchFamily="34" charset="0"/>
              </a:rPr>
              <a:t>Y</a:t>
            </a:r>
            <a:r>
              <a:rPr lang="en-US" sz="2400" b="1" baseline="-25000">
                <a:cs typeface="Arial" panose="020B0604020202020204" pitchFamily="34" charset="0"/>
              </a:rPr>
              <a:t>N</a:t>
            </a:r>
            <a:endParaRPr lang="en-US" sz="2400" b="1" baseline="-25000">
              <a:cs typeface="Arial" panose="020B0604020202020204" pitchFamily="34" charset="0"/>
            </a:endParaRPr>
          </a:p>
        </p:txBody>
      </p:sp>
      <p:grpSp>
        <p:nvGrpSpPr>
          <p:cNvPr id="7" name="Group 33"/>
          <p:cNvGrpSpPr/>
          <p:nvPr/>
        </p:nvGrpSpPr>
        <p:grpSpPr bwMode="auto">
          <a:xfrm>
            <a:off x="5408930" y="2156778"/>
            <a:ext cx="3044825" cy="2613025"/>
            <a:chOff x="3150" y="1365"/>
            <a:chExt cx="1918" cy="1646"/>
          </a:xfrm>
        </p:grpSpPr>
        <p:sp>
          <p:nvSpPr>
            <p:cNvPr id="49172" name="Line 22"/>
            <p:cNvSpPr>
              <a:spLocks noChangeShapeType="1"/>
            </p:cNvSpPr>
            <p:nvPr/>
          </p:nvSpPr>
          <p:spPr bwMode="auto">
            <a:xfrm flipV="1">
              <a:off x="3150" y="1627"/>
              <a:ext cx="1393" cy="1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3" name="Text Box 23"/>
            <p:cNvSpPr txBox="1">
              <a:spLocks noChangeArrowheads="1"/>
            </p:cNvSpPr>
            <p:nvPr/>
          </p:nvSpPr>
          <p:spPr bwMode="auto">
            <a:xfrm>
              <a:off x="4378" y="1365"/>
              <a:ext cx="69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i="1" dirty="0">
                  <a:solidFill>
                    <a:srgbClr val="CC0000"/>
                  </a:solidFill>
                  <a:cs typeface="Arial" panose="020B0604020202020204" pitchFamily="34" charset="0"/>
                </a:rPr>
                <a:t>SRAS</a:t>
              </a:r>
              <a:endParaRPr lang="en-US" sz="2600" i="1" baseline="-25000" dirty="0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35"/>
          <p:cNvGrpSpPr/>
          <p:nvPr/>
        </p:nvGrpSpPr>
        <p:grpSpPr bwMode="auto">
          <a:xfrm>
            <a:off x="4724718" y="3058478"/>
            <a:ext cx="2290762" cy="431800"/>
            <a:chOff x="2719" y="1933"/>
            <a:chExt cx="1443" cy="272"/>
          </a:xfrm>
        </p:grpSpPr>
        <p:sp>
          <p:nvSpPr>
            <p:cNvPr id="49169" name="Line 25"/>
            <p:cNvSpPr>
              <a:spLocks noChangeShapeType="1"/>
            </p:cNvSpPr>
            <p:nvPr/>
          </p:nvSpPr>
          <p:spPr bwMode="auto">
            <a:xfrm flipH="1">
              <a:off x="3022" y="2054"/>
              <a:ext cx="1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170" name="Text Box 26"/>
            <p:cNvSpPr txBox="1">
              <a:spLocks noChangeArrowheads="1"/>
            </p:cNvSpPr>
            <p:nvPr/>
          </p:nvSpPr>
          <p:spPr bwMode="auto">
            <a:xfrm>
              <a:off x="2719" y="1933"/>
              <a:ext cx="28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600" b="1" i="1">
                  <a:solidFill>
                    <a:srgbClr val="CC0000"/>
                  </a:solidFill>
                  <a:cs typeface="Arial" panose="020B0604020202020204" pitchFamily="34" charset="0"/>
                </a:rPr>
                <a:t>P</a:t>
              </a:r>
              <a:r>
                <a:rPr lang="en-US" sz="2600" b="1" baseline="-25000">
                  <a:solidFill>
                    <a:srgbClr val="CC0000"/>
                  </a:solidFill>
                  <a:cs typeface="Arial" panose="020B0604020202020204" pitchFamily="34" charset="0"/>
                </a:rPr>
                <a:t>E</a:t>
              </a:r>
              <a:endParaRPr lang="en-US" sz="2600" b="1" baseline="-25000">
                <a:solidFill>
                  <a:srgbClr val="CC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9171" name="Oval 27"/>
            <p:cNvSpPr>
              <a:spLocks noChangeArrowheads="1"/>
            </p:cNvSpPr>
            <p:nvPr/>
          </p:nvSpPr>
          <p:spPr bwMode="auto">
            <a:xfrm>
              <a:off x="4082" y="2007"/>
              <a:ext cx="80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365596" name="Line 28"/>
          <p:cNvSpPr>
            <a:spLocks noChangeShapeType="1"/>
          </p:cNvSpPr>
          <p:nvPr/>
        </p:nvSpPr>
        <p:spPr bwMode="auto">
          <a:xfrm flipV="1">
            <a:off x="4896168" y="3447415"/>
            <a:ext cx="0" cy="5746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5599" name="Line 31"/>
          <p:cNvSpPr>
            <a:spLocks noChangeShapeType="1"/>
          </p:cNvSpPr>
          <p:nvPr/>
        </p:nvSpPr>
        <p:spPr bwMode="auto">
          <a:xfrm flipH="1">
            <a:off x="6113780" y="4152265"/>
            <a:ext cx="708025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5600" name="Line 32"/>
          <p:cNvSpPr>
            <a:spLocks noChangeShapeType="1"/>
          </p:cNvSpPr>
          <p:nvPr/>
        </p:nvSpPr>
        <p:spPr bwMode="auto">
          <a:xfrm flipH="1">
            <a:off x="7309168" y="2961640"/>
            <a:ext cx="708025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矩形 31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6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65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96" grpId="0" bldLvl="0" animBg="1"/>
      <p:bldP spid="365599" grpId="0" bldLvl="0" animBg="1"/>
      <p:bldP spid="365600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45670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328474" y="1632632"/>
            <a:ext cx="3409025" cy="35623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Ø"/>
              <a:tabLst>
                <a:tab pos="340995" algn="l"/>
              </a:tabLst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长期均衡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中：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tabLst>
                <a:tab pos="340995" algn="l"/>
              </a:tabLst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AD=LRAS=SRAS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tabLst>
                <a:tab pos="340995" algn="l"/>
              </a:tabLst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baseline="-25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tabLst>
                <a:tab pos="340995" algn="l"/>
              </a:tabLst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sz="2400" baseline="-25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ct val="30000"/>
              </a:spcBef>
              <a:buFont typeface="Wingdings" panose="05000000000000000000" pitchFamily="2" charset="2"/>
              <a:buChar char="ü"/>
              <a:tabLst>
                <a:tab pos="340995" algn="l"/>
              </a:tabLst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失业率处于自然失业率水平</a:t>
            </a:r>
            <a:r>
              <a:rPr sz="2400" dirty="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。</a:t>
            </a:r>
            <a:endParaRPr 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0182" name="Group 5"/>
          <p:cNvGrpSpPr/>
          <p:nvPr/>
        </p:nvGrpSpPr>
        <p:grpSpPr bwMode="auto">
          <a:xfrm>
            <a:off x="4094163" y="1593533"/>
            <a:ext cx="4422775" cy="4106862"/>
            <a:chOff x="2579" y="785"/>
            <a:chExt cx="2786" cy="2420"/>
          </a:xfrm>
        </p:grpSpPr>
        <p:grpSp>
          <p:nvGrpSpPr>
            <p:cNvPr id="50194" name="Group 6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0197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98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195" name="Text Box 9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50196" name="Text Box 10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sp>
        <p:nvSpPr>
          <p:cNvPr id="50183" name="Line 11"/>
          <p:cNvSpPr>
            <a:spLocks noChangeShapeType="1"/>
          </p:cNvSpPr>
          <p:nvPr/>
        </p:nvSpPr>
        <p:spPr bwMode="auto">
          <a:xfrm>
            <a:off x="5032375" y="2549208"/>
            <a:ext cx="2317750" cy="22844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4" name="Text Box 12"/>
          <p:cNvSpPr txBox="1">
            <a:spLocks noChangeArrowheads="1"/>
          </p:cNvSpPr>
          <p:nvPr/>
        </p:nvSpPr>
        <p:spPr bwMode="auto">
          <a:xfrm>
            <a:off x="7272338" y="4714558"/>
            <a:ext cx="709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i="1">
                <a:cs typeface="Arial" panose="020B0604020202020204" pitchFamily="34" charset="0"/>
              </a:rPr>
              <a:t>AD</a:t>
            </a:r>
            <a:endParaRPr lang="en-US" sz="2400" i="1" baseline="-25000">
              <a:cs typeface="Arial" panose="020B0604020202020204" pitchFamily="34" charset="0"/>
            </a:endParaRPr>
          </a:p>
        </p:txBody>
      </p:sp>
      <p:sp>
        <p:nvSpPr>
          <p:cNvPr id="50185" name="Line 13"/>
          <p:cNvSpPr>
            <a:spLocks noChangeShapeType="1"/>
          </p:cNvSpPr>
          <p:nvPr/>
        </p:nvSpPr>
        <p:spPr bwMode="auto">
          <a:xfrm flipV="1">
            <a:off x="4868863" y="2744470"/>
            <a:ext cx="2376487" cy="219710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6" name="Text Box 14"/>
          <p:cNvSpPr txBox="1">
            <a:spLocks noChangeArrowheads="1"/>
          </p:cNvSpPr>
          <p:nvPr/>
        </p:nvSpPr>
        <p:spPr bwMode="auto">
          <a:xfrm>
            <a:off x="7148513" y="2372995"/>
            <a:ext cx="110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i="1" dirty="0">
                <a:cs typeface="Arial" panose="020B0604020202020204" pitchFamily="34" charset="0"/>
              </a:rPr>
              <a:t>SRAS</a:t>
            </a:r>
            <a:endParaRPr lang="en-US" sz="2400" i="1" baseline="-25000" dirty="0">
              <a:cs typeface="Arial" panose="020B0604020202020204" pitchFamily="34" charset="0"/>
            </a:endParaRPr>
          </a:p>
        </p:txBody>
      </p:sp>
      <p:sp>
        <p:nvSpPr>
          <p:cNvPr id="50187" name="Line 15"/>
          <p:cNvSpPr>
            <a:spLocks noChangeShapeType="1"/>
          </p:cNvSpPr>
          <p:nvPr/>
        </p:nvSpPr>
        <p:spPr bwMode="auto">
          <a:xfrm>
            <a:off x="4292600" y="3700145"/>
            <a:ext cx="19081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8" name="Text Box 16"/>
          <p:cNvSpPr txBox="1">
            <a:spLocks noChangeArrowheads="1"/>
          </p:cNvSpPr>
          <p:nvPr/>
        </p:nvSpPr>
        <p:spPr bwMode="auto">
          <a:xfrm>
            <a:off x="3784600" y="3506470"/>
            <a:ext cx="488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500" b="1" i="1">
                <a:cs typeface="Arial" panose="020B0604020202020204" pitchFamily="34" charset="0"/>
              </a:rPr>
              <a:t>P</a:t>
            </a:r>
            <a:r>
              <a:rPr lang="en-US" sz="2500" b="1" baseline="-25000">
                <a:cs typeface="Arial" panose="020B0604020202020204" pitchFamily="34" charset="0"/>
              </a:rPr>
              <a:t>E</a:t>
            </a:r>
            <a:endParaRPr lang="en-US" sz="2500" b="1" baseline="-25000">
              <a:cs typeface="Arial" panose="020B0604020202020204" pitchFamily="34" charset="0"/>
            </a:endParaRPr>
          </a:p>
        </p:txBody>
      </p:sp>
      <p:sp>
        <p:nvSpPr>
          <p:cNvPr id="50189" name="Line 17"/>
          <p:cNvSpPr>
            <a:spLocks noChangeShapeType="1"/>
          </p:cNvSpPr>
          <p:nvPr/>
        </p:nvSpPr>
        <p:spPr bwMode="auto">
          <a:xfrm rot="16200000" flipH="1">
            <a:off x="4483101" y="3771582"/>
            <a:ext cx="3440112" cy="4763"/>
          </a:xfrm>
          <a:prstGeom prst="line">
            <a:avLst/>
          </a:prstGeom>
          <a:noFill/>
          <a:ln w="38100">
            <a:solidFill>
              <a:srgbClr val="DE84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0" name="Text Box 19"/>
          <p:cNvSpPr txBox="1">
            <a:spLocks noChangeArrowheads="1"/>
          </p:cNvSpPr>
          <p:nvPr/>
        </p:nvSpPr>
        <p:spPr bwMode="auto">
          <a:xfrm>
            <a:off x="5691188" y="1649095"/>
            <a:ext cx="105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i="1">
                <a:cs typeface="Arial" panose="020B0604020202020204" pitchFamily="34" charset="0"/>
              </a:rPr>
              <a:t>LRAS</a:t>
            </a:r>
            <a:endParaRPr lang="en-US" sz="2400" i="1" baseline="-25000">
              <a:cs typeface="Arial" panose="020B0604020202020204" pitchFamily="34" charset="0"/>
            </a:endParaRPr>
          </a:p>
        </p:txBody>
      </p:sp>
      <p:sp>
        <p:nvSpPr>
          <p:cNvPr id="50191" name="Oval 28"/>
          <p:cNvSpPr>
            <a:spLocks noChangeArrowheads="1"/>
          </p:cNvSpPr>
          <p:nvPr/>
        </p:nvSpPr>
        <p:spPr bwMode="auto">
          <a:xfrm>
            <a:off x="6137275" y="3627120"/>
            <a:ext cx="139700" cy="138113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round/>
              </a14:hiddenLine>
            </a:ext>
          </a:extLst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0192" name="Rectangle 52"/>
          <p:cNvSpPr>
            <a:spLocks noChangeArrowheads="1"/>
          </p:cNvSpPr>
          <p:nvPr/>
        </p:nvSpPr>
        <p:spPr bwMode="auto">
          <a:xfrm>
            <a:off x="5967413" y="5484495"/>
            <a:ext cx="550862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 b="1" i="1">
                <a:cs typeface="Arial" panose="020B0604020202020204" pitchFamily="34" charset="0"/>
              </a:rPr>
              <a:t>Y</a:t>
            </a:r>
            <a:r>
              <a:rPr lang="en-US" sz="2500" b="1" baseline="-25000">
                <a:cs typeface="Arial" panose="020B0604020202020204" pitchFamily="34" charset="0"/>
              </a:rPr>
              <a:t>N</a:t>
            </a:r>
            <a:endParaRPr lang="en-US" sz="2500" b="1" baseline="-25000">
              <a:cs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58656" y="572156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供给（</a:t>
            </a:r>
            <a:r>
              <a:rPr lang="en-US" altLang="zh-CN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6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6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67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67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67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08" grpId="0" bldLvl="5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8010" y="600075"/>
            <a:ext cx="75545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AD-AS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模型解释经济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6060" y="1512570"/>
            <a:ext cx="8517255" cy="4096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0" algn="l" fontAlgn="auto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由改变总需求曲线AD或总供给曲线AS的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事件引起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lvl="1" indent="0" algn="l" fontAlgn="auto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charset="0"/>
              <a:buChar char="Ø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分析经济波动的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四个步骤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2" indent="-457200" algn="l" fontAlgn="auto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确定该事件是移动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AD曲线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还是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AS曲线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2" indent="-457200" algn="l" fontAlgn="auto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确定曲线是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向左移动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还是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向右移动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2" indent="-457200" algn="l" fontAlgn="auto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AD–AS图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查看该事件在短期内如何改变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Y和P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2" indent="-457200" algn="l" fontAlgn="auto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+mj-lt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AD–AS图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查看经济如何从新的短期均衡移动到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新的长期均衡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6060" y="1316793"/>
            <a:ext cx="422783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：本国股市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崩盘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457200">
              <a:lnSpc>
                <a:spcPct val="120000"/>
              </a:lnSpc>
              <a:spcAft>
                <a:spcPts val="600"/>
              </a:spcAft>
              <a:buFont typeface="Wingdings" panose="05000000000000000000" charset="0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改变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，从而平移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457200">
              <a:lnSpc>
                <a:spcPct val="120000"/>
              </a:lnSpc>
              <a:spcAft>
                <a:spcPts val="600"/>
              </a:spcAft>
              <a:buFont typeface="Wingdings" panose="05000000000000000000" charset="0"/>
              <a:buAutoNum type="arabicPeriod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C下降，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AD曲线向左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平移；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457200">
              <a:lnSpc>
                <a:spcPct val="120000"/>
              </a:lnSpc>
              <a:spcAft>
                <a:spcPts val="600"/>
              </a:spcAft>
              <a:buFont typeface="Wingdings" panose="05000000000000000000" charset="0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为短期均衡点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457200">
              <a:lnSpc>
                <a:spcPct val="120000"/>
              </a:lnSpc>
              <a:spcAft>
                <a:spcPts val="600"/>
              </a:spcAft>
              <a:buFont typeface="Wingdings" panose="05000000000000000000" charset="0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随着时间推移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，P</a:t>
            </a:r>
            <a:r>
              <a:rPr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下降，SRAS向右移动，直到在C点达到长期均衡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Y和失业率都回到最初的水平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，但是价格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永久降低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2228" name="Group 52"/>
          <p:cNvGrpSpPr/>
          <p:nvPr/>
        </p:nvGrpSpPr>
        <p:grpSpPr bwMode="auto">
          <a:xfrm>
            <a:off x="6188710" y="1777365"/>
            <a:ext cx="1177925" cy="4306888"/>
            <a:chOff x="3670" y="778"/>
            <a:chExt cx="742" cy="2713"/>
          </a:xfrm>
        </p:grpSpPr>
        <p:sp>
          <p:nvSpPr>
            <p:cNvPr id="52270" name="Line 17"/>
            <p:cNvSpPr>
              <a:spLocks noChangeShapeType="1"/>
            </p:cNvSpPr>
            <p:nvPr/>
          </p:nvSpPr>
          <p:spPr bwMode="auto">
            <a:xfrm rot="16200000" flipH="1">
              <a:off x="2956" y="2115"/>
              <a:ext cx="2167" cy="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1" name="Text Box 19"/>
            <p:cNvSpPr txBox="1">
              <a:spLocks noChangeArrowheads="1"/>
            </p:cNvSpPr>
            <p:nvPr/>
          </p:nvSpPr>
          <p:spPr bwMode="auto">
            <a:xfrm>
              <a:off x="3670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  <p:sp>
          <p:nvSpPr>
            <p:cNvPr id="52272" name="Rectangle 51"/>
            <p:cNvSpPr>
              <a:spLocks noChangeArrowheads="1"/>
            </p:cNvSpPr>
            <p:nvPr/>
          </p:nvSpPr>
          <p:spPr bwMode="auto">
            <a:xfrm>
              <a:off x="3891" y="3203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N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2231" name="Group 5"/>
          <p:cNvGrpSpPr/>
          <p:nvPr/>
        </p:nvGrpSpPr>
        <p:grpSpPr bwMode="auto">
          <a:xfrm>
            <a:off x="4745673" y="1721803"/>
            <a:ext cx="3994150" cy="4106862"/>
            <a:chOff x="2579" y="785"/>
            <a:chExt cx="2786" cy="2420"/>
          </a:xfrm>
        </p:grpSpPr>
        <p:grpSp>
          <p:nvGrpSpPr>
            <p:cNvPr id="52265" name="Group 6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2268" name="Line 7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69" name="Line 8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2266" name="Text Box 9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52267" name="Text Box 10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52232" name="Group 54"/>
          <p:cNvGrpSpPr/>
          <p:nvPr/>
        </p:nvGrpSpPr>
        <p:grpSpPr bwMode="auto">
          <a:xfrm>
            <a:off x="5442585" y="2226628"/>
            <a:ext cx="2947988" cy="2609850"/>
            <a:chOff x="3200" y="1121"/>
            <a:chExt cx="1857" cy="1644"/>
          </a:xfrm>
        </p:grpSpPr>
        <p:sp>
          <p:nvSpPr>
            <p:cNvPr id="52263" name="Line 11"/>
            <p:cNvSpPr>
              <a:spLocks noChangeShapeType="1"/>
            </p:cNvSpPr>
            <p:nvPr/>
          </p:nvSpPr>
          <p:spPr bwMode="auto">
            <a:xfrm>
              <a:off x="3200" y="1121"/>
              <a:ext cx="1460" cy="143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64" name="Text Box 12"/>
            <p:cNvSpPr txBox="1">
              <a:spLocks noChangeArrowheads="1"/>
            </p:cNvSpPr>
            <p:nvPr/>
          </p:nvSpPr>
          <p:spPr bwMode="auto">
            <a:xfrm>
              <a:off x="4588" y="2477"/>
              <a:ext cx="4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2233" name="Group 55"/>
          <p:cNvGrpSpPr/>
          <p:nvPr/>
        </p:nvGrpSpPr>
        <p:grpSpPr bwMode="auto">
          <a:xfrm>
            <a:off x="5231448" y="2377440"/>
            <a:ext cx="3390900" cy="2597150"/>
            <a:chOff x="3067" y="1216"/>
            <a:chExt cx="2136" cy="1636"/>
          </a:xfrm>
        </p:grpSpPr>
        <p:sp>
          <p:nvSpPr>
            <p:cNvPr id="52261" name="Line 13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62" name="Text Box 14"/>
            <p:cNvSpPr txBox="1">
              <a:spLocks noChangeArrowheads="1"/>
            </p:cNvSpPr>
            <p:nvPr/>
          </p:nvSpPr>
          <p:spPr bwMode="auto">
            <a:xfrm>
              <a:off x="4461" y="1216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cs typeface="Arial" panose="020B0604020202020204" pitchFamily="34" charset="0"/>
                </a:rPr>
                <a:t>SRAS</a:t>
              </a:r>
              <a:r>
                <a:rPr lang="en-US" sz="2400" baseline="-25000" dirty="0" err="1">
                  <a:cs typeface="Arial" panose="020B0604020202020204" pitchFamily="34" charset="0"/>
                </a:rPr>
                <a:t>1</a:t>
              </a:r>
              <a:endParaRPr lang="en-US" sz="2400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4"/>
          <p:cNvGrpSpPr/>
          <p:nvPr/>
        </p:nvGrpSpPr>
        <p:grpSpPr bwMode="auto">
          <a:xfrm>
            <a:off x="5206048" y="3271203"/>
            <a:ext cx="2606675" cy="2216150"/>
            <a:chOff x="3051" y="1719"/>
            <a:chExt cx="1642" cy="1396"/>
          </a:xfrm>
        </p:grpSpPr>
        <p:sp>
          <p:nvSpPr>
            <p:cNvPr id="52259" name="Text Box 21"/>
            <p:cNvSpPr txBox="1">
              <a:spLocks noChangeArrowheads="1"/>
            </p:cNvSpPr>
            <p:nvPr/>
          </p:nvSpPr>
          <p:spPr bwMode="auto">
            <a:xfrm>
              <a:off x="4236" y="2827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2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52260" name="Line 22"/>
            <p:cNvSpPr>
              <a:spLocks noChangeShapeType="1"/>
            </p:cNvSpPr>
            <p:nvPr/>
          </p:nvSpPr>
          <p:spPr bwMode="auto">
            <a:xfrm>
              <a:off x="3051" y="1719"/>
              <a:ext cx="1235" cy="121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56"/>
          <p:cNvGrpSpPr/>
          <p:nvPr/>
        </p:nvGrpSpPr>
        <p:grpSpPr bwMode="auto">
          <a:xfrm>
            <a:off x="6096635" y="3441065"/>
            <a:ext cx="2765425" cy="2012950"/>
            <a:chOff x="3540" y="1767"/>
            <a:chExt cx="1742" cy="1268"/>
          </a:xfrm>
        </p:grpSpPr>
        <p:sp>
          <p:nvSpPr>
            <p:cNvPr id="52257" name="Line 23"/>
            <p:cNvSpPr>
              <a:spLocks noChangeShapeType="1"/>
            </p:cNvSpPr>
            <p:nvPr/>
          </p:nvSpPr>
          <p:spPr bwMode="auto">
            <a:xfrm flipV="1">
              <a:off x="3540" y="2013"/>
              <a:ext cx="1092" cy="1022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8" name="Text Box 24"/>
            <p:cNvSpPr txBox="1">
              <a:spLocks noChangeArrowheads="1"/>
            </p:cNvSpPr>
            <p:nvPr/>
          </p:nvSpPr>
          <p:spPr bwMode="auto">
            <a:xfrm>
              <a:off x="4540" y="1767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cs typeface="Arial" panose="020B0604020202020204" pitchFamily="34" charset="0"/>
                </a:rPr>
                <a:t>SRAS</a:t>
              </a:r>
              <a:r>
                <a:rPr lang="en-US" sz="2400" baseline="-25000" dirty="0" err="1">
                  <a:cs typeface="Arial" panose="020B0604020202020204" pitchFamily="34" charset="0"/>
                </a:rPr>
                <a:t>2</a:t>
              </a:r>
              <a:endParaRPr lang="en-US" sz="2400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2236" name="Group 65"/>
          <p:cNvGrpSpPr/>
          <p:nvPr/>
        </p:nvGrpSpPr>
        <p:grpSpPr bwMode="auto">
          <a:xfrm>
            <a:off x="4421823" y="3353753"/>
            <a:ext cx="2422525" cy="365125"/>
            <a:chOff x="2697" y="1925"/>
            <a:chExt cx="1526" cy="230"/>
          </a:xfrm>
        </p:grpSpPr>
        <p:sp>
          <p:nvSpPr>
            <p:cNvPr id="52254" name="Line 15"/>
            <p:cNvSpPr>
              <a:spLocks noChangeShapeType="1"/>
            </p:cNvSpPr>
            <p:nvPr/>
          </p:nvSpPr>
          <p:spPr bwMode="auto">
            <a:xfrm flipV="1">
              <a:off x="3013" y="2045"/>
              <a:ext cx="116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5" name="Text Box 16"/>
            <p:cNvSpPr txBox="1">
              <a:spLocks noChangeArrowheads="1"/>
            </p:cNvSpPr>
            <p:nvPr/>
          </p:nvSpPr>
          <p:spPr bwMode="auto">
            <a:xfrm>
              <a:off x="2697" y="1925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1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52256" name="Oval 28"/>
            <p:cNvSpPr>
              <a:spLocks noChangeArrowheads="1"/>
            </p:cNvSpPr>
            <p:nvPr/>
          </p:nvSpPr>
          <p:spPr bwMode="auto">
            <a:xfrm>
              <a:off x="4135" y="2003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52237" name="Text Box 58"/>
          <p:cNvSpPr txBox="1">
            <a:spLocks noChangeArrowheads="1"/>
          </p:cNvSpPr>
          <p:nvPr/>
        </p:nvSpPr>
        <p:spPr bwMode="auto">
          <a:xfrm>
            <a:off x="6896735" y="3352165"/>
            <a:ext cx="319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>
                <a:cs typeface="Arial" panose="020B0604020202020204" pitchFamily="34" charset="0"/>
              </a:rPr>
              <a:t>A</a:t>
            </a:r>
            <a:endParaRPr lang="en-US" sz="2400" baseline="-25000">
              <a:cs typeface="Arial" panose="020B0604020202020204" pitchFamily="34" charset="0"/>
            </a:endParaRPr>
          </a:p>
        </p:txBody>
      </p:sp>
      <p:grpSp>
        <p:nvGrpSpPr>
          <p:cNvPr id="10" name="Group 68"/>
          <p:cNvGrpSpPr/>
          <p:nvPr/>
        </p:nvGrpSpPr>
        <p:grpSpPr bwMode="auto">
          <a:xfrm>
            <a:off x="4428173" y="3977640"/>
            <a:ext cx="2135187" cy="2054225"/>
            <a:chOff x="2701" y="2318"/>
            <a:chExt cx="1345" cy="1294"/>
          </a:xfrm>
        </p:grpSpPr>
        <p:grpSp>
          <p:nvGrpSpPr>
            <p:cNvPr id="52246" name="Group 66"/>
            <p:cNvGrpSpPr/>
            <p:nvPr/>
          </p:nvGrpSpPr>
          <p:grpSpPr bwMode="auto">
            <a:xfrm>
              <a:off x="2701" y="2318"/>
              <a:ext cx="1220" cy="1294"/>
              <a:chOff x="2701" y="2318"/>
              <a:chExt cx="1220" cy="1294"/>
            </a:xfrm>
          </p:grpSpPr>
          <p:sp>
            <p:nvSpPr>
              <p:cNvPr id="52248" name="Oval 33"/>
              <p:cNvSpPr>
                <a:spLocks noChangeArrowheads="1"/>
              </p:cNvSpPr>
              <p:nvPr/>
            </p:nvSpPr>
            <p:spPr bwMode="auto">
              <a:xfrm>
                <a:off x="3710" y="2389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grpSp>
            <p:nvGrpSpPr>
              <p:cNvPr id="52249" name="Group 34"/>
              <p:cNvGrpSpPr/>
              <p:nvPr/>
            </p:nvGrpSpPr>
            <p:grpSpPr bwMode="auto">
              <a:xfrm>
                <a:off x="3010" y="2434"/>
                <a:ext cx="746" cy="924"/>
                <a:chOff x="357" y="2450"/>
                <a:chExt cx="795" cy="646"/>
              </a:xfrm>
            </p:grpSpPr>
            <p:sp>
              <p:nvSpPr>
                <p:cNvPr id="52252" name="Line 35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253" name="Line 36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2250" name="Text Box 37"/>
              <p:cNvSpPr txBox="1">
                <a:spLocks noChangeArrowheads="1"/>
              </p:cNvSpPr>
              <p:nvPr/>
            </p:nvSpPr>
            <p:spPr bwMode="auto">
              <a:xfrm>
                <a:off x="2701" y="2318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P</a:t>
                </a:r>
                <a:r>
                  <a:rPr lang="en-US" sz="2400" b="1" baseline="-25000"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  <p:sp>
            <p:nvSpPr>
              <p:cNvPr id="52251" name="Text Box 50"/>
              <p:cNvSpPr txBox="1">
                <a:spLocks noChangeArrowheads="1"/>
              </p:cNvSpPr>
              <p:nvPr/>
            </p:nvSpPr>
            <p:spPr bwMode="auto">
              <a:xfrm>
                <a:off x="3613" y="3382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Y</a:t>
                </a:r>
                <a:r>
                  <a:rPr lang="en-US" sz="2400" b="1" baseline="-25000">
                    <a:cs typeface="Arial" panose="020B0604020202020204" pitchFamily="34" charset="0"/>
                  </a:rPr>
                  <a:t>2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2247" name="Text Box 59"/>
            <p:cNvSpPr txBox="1">
              <a:spLocks noChangeArrowheads="1"/>
            </p:cNvSpPr>
            <p:nvPr/>
          </p:nvSpPr>
          <p:spPr bwMode="auto">
            <a:xfrm>
              <a:off x="3845" y="2322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B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69"/>
          <p:cNvGrpSpPr/>
          <p:nvPr/>
        </p:nvGrpSpPr>
        <p:grpSpPr bwMode="auto">
          <a:xfrm>
            <a:off x="4424998" y="4634865"/>
            <a:ext cx="2773362" cy="376238"/>
            <a:chOff x="2699" y="2732"/>
            <a:chExt cx="1747" cy="237"/>
          </a:xfrm>
        </p:grpSpPr>
        <p:grpSp>
          <p:nvGrpSpPr>
            <p:cNvPr id="52241" name="Group 67"/>
            <p:cNvGrpSpPr/>
            <p:nvPr/>
          </p:nvGrpSpPr>
          <p:grpSpPr bwMode="auto">
            <a:xfrm>
              <a:off x="2699" y="2732"/>
              <a:ext cx="1525" cy="230"/>
              <a:chOff x="2699" y="2732"/>
              <a:chExt cx="1525" cy="230"/>
            </a:xfrm>
          </p:grpSpPr>
          <p:sp>
            <p:nvSpPr>
              <p:cNvPr id="52243" name="Oval 29"/>
              <p:cNvSpPr>
                <a:spLocks noChangeArrowheads="1"/>
              </p:cNvSpPr>
              <p:nvPr/>
            </p:nvSpPr>
            <p:spPr bwMode="auto">
              <a:xfrm>
                <a:off x="4136" y="2802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52244" name="Line 44"/>
              <p:cNvSpPr>
                <a:spLocks noChangeShapeType="1"/>
              </p:cNvSpPr>
              <p:nvPr/>
            </p:nvSpPr>
            <p:spPr bwMode="auto">
              <a:xfrm>
                <a:off x="3011" y="2847"/>
                <a:ext cx="115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45" name="Text Box 45"/>
              <p:cNvSpPr txBox="1">
                <a:spLocks noChangeArrowheads="1"/>
              </p:cNvSpPr>
              <p:nvPr/>
            </p:nvSpPr>
            <p:spPr bwMode="auto">
              <a:xfrm>
                <a:off x="2699" y="2732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P</a:t>
                </a:r>
                <a:r>
                  <a:rPr lang="en-US" sz="2400" b="1" baseline="-25000">
                    <a:cs typeface="Arial" panose="020B0604020202020204" pitchFamily="34" charset="0"/>
                  </a:rPr>
                  <a:t>3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2242" name="Text Box 60"/>
            <p:cNvSpPr txBox="1">
              <a:spLocks noChangeArrowheads="1"/>
            </p:cNvSpPr>
            <p:nvPr/>
          </p:nvSpPr>
          <p:spPr bwMode="auto">
            <a:xfrm>
              <a:off x="4245" y="2739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C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48" name="TextBox 5"/>
          <p:cNvSpPr txBox="1"/>
          <p:nvPr/>
        </p:nvSpPr>
        <p:spPr>
          <a:xfrm>
            <a:off x="481478" y="582319"/>
            <a:ext cx="75545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AD-AS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模型解释经济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5418" y="1418046"/>
            <a:ext cx="3980688" cy="47705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国经济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繁荣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AD曲线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曲线右移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短期均衡点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和Y较高，失业率较低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随着时间推移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，P</a:t>
            </a:r>
            <a:r>
              <a:rPr sz="2400" baseline="-25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上升，SRAS向左移动，直到经济在C点达到长期均衡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Y和失业率恢复到初始水平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，但是价格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永久上升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Group 5"/>
          <p:cNvGrpSpPr/>
          <p:nvPr/>
        </p:nvGrpSpPr>
        <p:grpSpPr bwMode="auto">
          <a:xfrm>
            <a:off x="5969953" y="1701165"/>
            <a:ext cx="1177925" cy="4311651"/>
            <a:chOff x="3670" y="778"/>
            <a:chExt cx="742" cy="2716"/>
          </a:xfrm>
        </p:grpSpPr>
        <p:sp>
          <p:nvSpPr>
            <p:cNvPr id="7" name="Line 8"/>
            <p:cNvSpPr>
              <a:spLocks noChangeShapeType="1"/>
            </p:cNvSpPr>
            <p:nvPr/>
          </p:nvSpPr>
          <p:spPr bwMode="auto">
            <a:xfrm rot="16200000" flipH="1">
              <a:off x="2956" y="2115"/>
              <a:ext cx="2167" cy="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3670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LRAS</a:t>
              </a:r>
              <a:endParaRPr lang="en-US" sz="2400" i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891" y="3203"/>
              <a:ext cx="35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Y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N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9"/>
          <p:cNvGrpSpPr/>
          <p:nvPr/>
        </p:nvGrpSpPr>
        <p:grpSpPr bwMode="auto">
          <a:xfrm>
            <a:off x="4804728" y="1645603"/>
            <a:ext cx="3994150" cy="4111953"/>
            <a:chOff x="2579" y="785"/>
            <a:chExt cx="2786" cy="2423"/>
          </a:xfrm>
        </p:grpSpPr>
        <p:grpSp>
          <p:nvGrpSpPr>
            <p:cNvPr id="11" name="Group 10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Y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15"/>
          <p:cNvGrpSpPr/>
          <p:nvPr/>
        </p:nvGrpSpPr>
        <p:grpSpPr bwMode="auto">
          <a:xfrm>
            <a:off x="5501640" y="2150428"/>
            <a:ext cx="2947988" cy="2609850"/>
            <a:chOff x="3200" y="1121"/>
            <a:chExt cx="1857" cy="1644"/>
          </a:xfrm>
        </p:grpSpPr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3200" y="1121"/>
              <a:ext cx="1460" cy="143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 Box 19"/>
            <p:cNvSpPr txBox="1">
              <a:spLocks noChangeArrowheads="1"/>
            </p:cNvSpPr>
            <p:nvPr/>
          </p:nvSpPr>
          <p:spPr bwMode="auto">
            <a:xfrm>
              <a:off x="4588" y="2477"/>
              <a:ext cx="4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AD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18"/>
          <p:cNvGrpSpPr/>
          <p:nvPr/>
        </p:nvGrpSpPr>
        <p:grpSpPr bwMode="auto">
          <a:xfrm>
            <a:off x="5138103" y="1907540"/>
            <a:ext cx="3390900" cy="2597150"/>
            <a:chOff x="3067" y="1216"/>
            <a:chExt cx="2136" cy="1636"/>
          </a:xfrm>
        </p:grpSpPr>
        <p:sp>
          <p:nvSpPr>
            <p:cNvPr id="20" name="Line 21"/>
            <p:cNvSpPr>
              <a:spLocks noChangeShapeType="1"/>
            </p:cNvSpPr>
            <p:nvPr/>
          </p:nvSpPr>
          <p:spPr bwMode="auto">
            <a:xfrm flipV="1">
              <a:off x="3067" y="1468"/>
              <a:ext cx="1497" cy="1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4461" y="1216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latin typeface="Arial" panose="020B0604020202020204"/>
                  <a:cs typeface="Arial" panose="020B0604020202020204"/>
                </a:rPr>
                <a:t>SRAS</a:t>
              </a:r>
              <a:r>
                <a:rPr lang="en-US" sz="2400" baseline="-25000" dirty="0" err="1">
                  <a:latin typeface="Arial" panose="020B0604020202020204"/>
                  <a:cs typeface="Arial" panose="020B0604020202020204"/>
                </a:rPr>
                <a:t>2</a:t>
              </a:r>
              <a:endParaRPr lang="en-US" sz="2400" baseline="-250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2" name="Group 21"/>
          <p:cNvGrpSpPr/>
          <p:nvPr/>
        </p:nvGrpSpPr>
        <p:grpSpPr bwMode="auto">
          <a:xfrm>
            <a:off x="5265103" y="3195003"/>
            <a:ext cx="2606675" cy="2216150"/>
            <a:chOff x="3051" y="1719"/>
            <a:chExt cx="1642" cy="1396"/>
          </a:xfrm>
        </p:grpSpPr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4236" y="2827"/>
              <a:ext cx="4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latin typeface="Arial" panose="020B0604020202020204"/>
                  <a:cs typeface="Arial" panose="020B0604020202020204"/>
                </a:rPr>
                <a:t>AD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051" y="1719"/>
              <a:ext cx="1235" cy="121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4"/>
          <p:cNvGrpSpPr/>
          <p:nvPr/>
        </p:nvGrpSpPr>
        <p:grpSpPr bwMode="auto">
          <a:xfrm>
            <a:off x="6003290" y="2971165"/>
            <a:ext cx="2765425" cy="2012950"/>
            <a:chOff x="3540" y="1767"/>
            <a:chExt cx="1742" cy="1268"/>
          </a:xfrm>
        </p:grpSpPr>
        <p:sp>
          <p:nvSpPr>
            <p:cNvPr id="26" name="Line 27"/>
            <p:cNvSpPr>
              <a:spLocks noChangeShapeType="1"/>
            </p:cNvSpPr>
            <p:nvPr/>
          </p:nvSpPr>
          <p:spPr bwMode="auto">
            <a:xfrm flipV="1">
              <a:off x="3540" y="2013"/>
              <a:ext cx="1092" cy="1022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4540" y="1767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latin typeface="Arial" panose="020B0604020202020204"/>
                  <a:cs typeface="Arial" panose="020B0604020202020204"/>
                </a:rPr>
                <a:t>SRAS</a:t>
              </a:r>
              <a:r>
                <a:rPr lang="en-US" sz="2400" baseline="-25000" dirty="0" err="1">
                  <a:latin typeface="Arial" panose="020B0604020202020204"/>
                  <a:cs typeface="Arial" panose="020B0604020202020204"/>
                </a:rPr>
                <a:t>1</a:t>
              </a:r>
              <a:endParaRPr lang="en-US" sz="2400" baseline="-250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8" name="Group 49"/>
          <p:cNvGrpSpPr/>
          <p:nvPr/>
        </p:nvGrpSpPr>
        <p:grpSpPr bwMode="auto">
          <a:xfrm>
            <a:off x="4484053" y="4279271"/>
            <a:ext cx="2139950" cy="369888"/>
            <a:chOff x="2844" y="2652"/>
            <a:chExt cx="1348" cy="233"/>
          </a:xfrm>
        </p:grpSpPr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4104" y="2725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0" name="Line 38"/>
            <p:cNvSpPr>
              <a:spLocks noChangeShapeType="1"/>
            </p:cNvSpPr>
            <p:nvPr/>
          </p:nvSpPr>
          <p:spPr bwMode="auto">
            <a:xfrm>
              <a:off x="3156" y="2771"/>
              <a:ext cx="9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 Box 39"/>
            <p:cNvSpPr txBox="1">
              <a:spLocks noChangeArrowheads="1"/>
            </p:cNvSpPr>
            <p:nvPr/>
          </p:nvSpPr>
          <p:spPr bwMode="auto">
            <a:xfrm>
              <a:off x="2844" y="2652"/>
              <a:ext cx="30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2" name="Group 51"/>
          <p:cNvGrpSpPr/>
          <p:nvPr/>
        </p:nvGrpSpPr>
        <p:grpSpPr bwMode="auto">
          <a:xfrm>
            <a:off x="4480878" y="3009269"/>
            <a:ext cx="2489200" cy="377826"/>
            <a:chOff x="2842" y="1852"/>
            <a:chExt cx="1568" cy="238"/>
          </a:xfrm>
        </p:grpSpPr>
        <p:grpSp>
          <p:nvGrpSpPr>
            <p:cNvPr id="33" name="Group 47"/>
            <p:cNvGrpSpPr/>
            <p:nvPr/>
          </p:nvGrpSpPr>
          <p:grpSpPr bwMode="auto">
            <a:xfrm>
              <a:off x="2842" y="1857"/>
              <a:ext cx="1350" cy="233"/>
              <a:chOff x="2842" y="1857"/>
              <a:chExt cx="1350" cy="233"/>
            </a:xfrm>
          </p:grpSpPr>
          <p:sp>
            <p:nvSpPr>
              <p:cNvPr id="35" name="Line 29"/>
              <p:cNvSpPr>
                <a:spLocks noChangeShapeType="1"/>
              </p:cNvSpPr>
              <p:nvPr/>
            </p:nvSpPr>
            <p:spPr bwMode="auto">
              <a:xfrm>
                <a:off x="3158" y="1970"/>
                <a:ext cx="995" cy="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6" name="Text Box 30"/>
              <p:cNvSpPr txBox="1">
                <a:spLocks noChangeArrowheads="1"/>
              </p:cNvSpPr>
              <p:nvPr/>
            </p:nvSpPr>
            <p:spPr bwMode="auto">
              <a:xfrm>
                <a:off x="2842" y="1857"/>
                <a:ext cx="30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P</a:t>
                </a:r>
                <a:r>
                  <a:rPr lang="en-US" sz="2400" b="1" baseline="-25000">
                    <a:latin typeface="Arial" panose="020B0604020202020204"/>
                    <a:cs typeface="Arial" panose="020B0604020202020204"/>
                  </a:rPr>
                  <a:t>3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Oval 31"/>
              <p:cNvSpPr>
                <a:spLocks noChangeArrowheads="1"/>
              </p:cNvSpPr>
              <p:nvPr/>
            </p:nvSpPr>
            <p:spPr bwMode="auto">
              <a:xfrm>
                <a:off x="4104" y="1926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4" name="Text Box 41"/>
            <p:cNvSpPr txBox="1">
              <a:spLocks noChangeArrowheads="1"/>
            </p:cNvSpPr>
            <p:nvPr/>
          </p:nvSpPr>
          <p:spPr bwMode="auto">
            <a:xfrm>
              <a:off x="4209" y="1852"/>
              <a:ext cx="2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C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8" name="Group 50"/>
          <p:cNvGrpSpPr/>
          <p:nvPr/>
        </p:nvGrpSpPr>
        <p:grpSpPr bwMode="auto">
          <a:xfrm>
            <a:off x="4487228" y="3658552"/>
            <a:ext cx="3168650" cy="2317749"/>
            <a:chOff x="2846" y="2261"/>
            <a:chExt cx="1996" cy="1460"/>
          </a:xfrm>
        </p:grpSpPr>
        <p:grpSp>
          <p:nvGrpSpPr>
            <p:cNvPr id="39" name="Group 48"/>
            <p:cNvGrpSpPr/>
            <p:nvPr/>
          </p:nvGrpSpPr>
          <p:grpSpPr bwMode="auto">
            <a:xfrm>
              <a:off x="2846" y="2262"/>
              <a:ext cx="1904" cy="1459"/>
              <a:chOff x="2846" y="2262"/>
              <a:chExt cx="1904" cy="1459"/>
            </a:xfrm>
          </p:grpSpPr>
          <p:sp>
            <p:nvSpPr>
              <p:cNvPr id="41" name="Oval 33"/>
              <p:cNvSpPr>
                <a:spLocks noChangeArrowheads="1"/>
              </p:cNvSpPr>
              <p:nvPr/>
            </p:nvSpPr>
            <p:spPr bwMode="auto">
              <a:xfrm>
                <a:off x="4527" y="2333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grpSp>
            <p:nvGrpSpPr>
              <p:cNvPr id="42" name="Group 34"/>
              <p:cNvGrpSpPr/>
              <p:nvPr/>
            </p:nvGrpSpPr>
            <p:grpSpPr bwMode="auto">
              <a:xfrm>
                <a:off x="3154" y="2378"/>
                <a:ext cx="1416" cy="1072"/>
                <a:chOff x="357" y="2450"/>
                <a:chExt cx="795" cy="646"/>
              </a:xfrm>
            </p:grpSpPr>
            <p:sp>
              <p:nvSpPr>
                <p:cNvPr id="45" name="Line 35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  <p:sp>
              <p:nvSpPr>
                <p:cNvPr id="46" name="Line 36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>
                    <a:latin typeface="Arial" panose="020B0604020202020204"/>
                    <a:cs typeface="Arial" panose="020B0604020202020204"/>
                  </a:endParaRPr>
                </a:p>
              </p:txBody>
            </p:sp>
          </p:grpSp>
          <p:sp>
            <p:nvSpPr>
              <p:cNvPr id="43" name="Text Box 37"/>
              <p:cNvSpPr txBox="1">
                <a:spLocks noChangeArrowheads="1"/>
              </p:cNvSpPr>
              <p:nvPr/>
            </p:nvSpPr>
            <p:spPr bwMode="auto">
              <a:xfrm>
                <a:off x="2846" y="2262"/>
                <a:ext cx="30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P</a:t>
                </a:r>
                <a:r>
                  <a:rPr lang="en-US" sz="2400" b="1" baseline="-25000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44" name="Text Box 40"/>
              <p:cNvSpPr txBox="1">
                <a:spLocks noChangeArrowheads="1"/>
              </p:cNvSpPr>
              <p:nvPr/>
            </p:nvSpPr>
            <p:spPr bwMode="auto">
              <a:xfrm>
                <a:off x="4442" y="3488"/>
                <a:ext cx="30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latin typeface="Arial" panose="020B0604020202020204"/>
                    <a:cs typeface="Arial" panose="020B0604020202020204"/>
                  </a:rPr>
                  <a:t>Y</a:t>
                </a:r>
                <a:r>
                  <a:rPr lang="en-US" sz="2400" b="1" baseline="-25000">
                    <a:latin typeface="Arial" panose="020B0604020202020204"/>
                    <a:cs typeface="Arial" panose="020B0604020202020204"/>
                  </a:rPr>
                  <a:t>2</a:t>
                </a:r>
                <a:endParaRPr lang="en-US" sz="2400" b="1" baseline="-25000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40" name="Text Box 42"/>
            <p:cNvSpPr txBox="1">
              <a:spLocks noChangeArrowheads="1"/>
            </p:cNvSpPr>
            <p:nvPr/>
          </p:nvSpPr>
          <p:spPr bwMode="auto">
            <a:xfrm>
              <a:off x="4641" y="2261"/>
              <a:ext cx="20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B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7" name="Text Box 43"/>
          <p:cNvSpPr txBox="1">
            <a:spLocks noChangeArrowheads="1"/>
          </p:cNvSpPr>
          <p:nvPr/>
        </p:nvSpPr>
        <p:spPr bwMode="auto">
          <a:xfrm>
            <a:off x="6665278" y="4252278"/>
            <a:ext cx="319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>
                <a:latin typeface="Arial" panose="020B0604020202020204"/>
                <a:cs typeface="Arial" panose="020B0604020202020204"/>
              </a:rPr>
              <a:t>A</a:t>
            </a:r>
            <a:endParaRPr lang="en-US" sz="2400" baseline="-25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TextBox 5"/>
          <p:cNvSpPr txBox="1"/>
          <p:nvPr/>
        </p:nvSpPr>
        <p:spPr>
          <a:xfrm>
            <a:off x="588010" y="600075"/>
            <a:ext cx="75545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AD-AS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模型解释经济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6128" y="1342708"/>
            <a:ext cx="3969977" cy="424731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进口石油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上涨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影响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生产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成本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，影响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SRAS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（假设LRAS不变）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生产成本提高，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SRAS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向左移动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79705" indent="0" algn="l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AutoNum type="arabicPeriod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经济在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点达到短期均衡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更高，Y更低，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失业率更高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A到B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经济经历了一段时期的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滞胀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产出下降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价格上涨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共存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5300" name="Group 2"/>
          <p:cNvGrpSpPr/>
          <p:nvPr/>
        </p:nvGrpSpPr>
        <p:grpSpPr bwMode="auto">
          <a:xfrm>
            <a:off x="6203950" y="1577340"/>
            <a:ext cx="1177925" cy="4306888"/>
            <a:chOff x="3670" y="778"/>
            <a:chExt cx="742" cy="2713"/>
          </a:xfrm>
        </p:grpSpPr>
        <p:sp>
          <p:nvSpPr>
            <p:cNvPr id="55335" name="Line 3"/>
            <p:cNvSpPr>
              <a:spLocks noChangeShapeType="1"/>
            </p:cNvSpPr>
            <p:nvPr/>
          </p:nvSpPr>
          <p:spPr bwMode="auto">
            <a:xfrm rot="16200000" flipH="1">
              <a:off x="2956" y="2115"/>
              <a:ext cx="2167" cy="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36" name="Text Box 4"/>
            <p:cNvSpPr txBox="1">
              <a:spLocks noChangeArrowheads="1"/>
            </p:cNvSpPr>
            <p:nvPr/>
          </p:nvSpPr>
          <p:spPr bwMode="auto">
            <a:xfrm>
              <a:off x="3670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  <p:sp>
          <p:nvSpPr>
            <p:cNvPr id="55337" name="Rectangle 5"/>
            <p:cNvSpPr>
              <a:spLocks noChangeArrowheads="1"/>
            </p:cNvSpPr>
            <p:nvPr/>
          </p:nvSpPr>
          <p:spPr bwMode="auto">
            <a:xfrm>
              <a:off x="3891" y="3203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N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5303" name="Group 8"/>
          <p:cNvGrpSpPr/>
          <p:nvPr/>
        </p:nvGrpSpPr>
        <p:grpSpPr bwMode="auto">
          <a:xfrm>
            <a:off x="4605338" y="1521778"/>
            <a:ext cx="3994150" cy="4106862"/>
            <a:chOff x="2579" y="785"/>
            <a:chExt cx="2786" cy="2420"/>
          </a:xfrm>
        </p:grpSpPr>
        <p:grpSp>
          <p:nvGrpSpPr>
            <p:cNvPr id="55330" name="Group 9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5333" name="Line 10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34" name="Line 11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331" name="Text Box 12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55332" name="Text Box 13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55304" name="Group 14"/>
          <p:cNvGrpSpPr/>
          <p:nvPr/>
        </p:nvGrpSpPr>
        <p:grpSpPr bwMode="auto">
          <a:xfrm>
            <a:off x="5341938" y="2656840"/>
            <a:ext cx="2947987" cy="2609850"/>
            <a:chOff x="3200" y="1121"/>
            <a:chExt cx="1857" cy="1644"/>
          </a:xfrm>
        </p:grpSpPr>
        <p:sp>
          <p:nvSpPr>
            <p:cNvPr id="55328" name="Line 15"/>
            <p:cNvSpPr>
              <a:spLocks noChangeShapeType="1"/>
            </p:cNvSpPr>
            <p:nvPr/>
          </p:nvSpPr>
          <p:spPr bwMode="auto">
            <a:xfrm>
              <a:off x="3200" y="1121"/>
              <a:ext cx="1460" cy="143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9" name="Text Box 16"/>
            <p:cNvSpPr txBox="1">
              <a:spLocks noChangeArrowheads="1"/>
            </p:cNvSpPr>
            <p:nvPr/>
          </p:nvSpPr>
          <p:spPr bwMode="auto">
            <a:xfrm>
              <a:off x="4588" y="2477"/>
              <a:ext cx="4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5305" name="Group 44"/>
          <p:cNvGrpSpPr/>
          <p:nvPr/>
        </p:nvGrpSpPr>
        <p:grpSpPr bwMode="auto">
          <a:xfrm>
            <a:off x="5791200" y="2767965"/>
            <a:ext cx="3008313" cy="2235200"/>
            <a:chOff x="3648" y="1682"/>
            <a:chExt cx="1895" cy="1408"/>
          </a:xfrm>
        </p:grpSpPr>
        <p:sp>
          <p:nvSpPr>
            <p:cNvPr id="55326" name="Line 18"/>
            <p:cNvSpPr>
              <a:spLocks noChangeShapeType="1"/>
            </p:cNvSpPr>
            <p:nvPr/>
          </p:nvSpPr>
          <p:spPr bwMode="auto">
            <a:xfrm flipV="1">
              <a:off x="3648" y="1934"/>
              <a:ext cx="1256" cy="115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7" name="Text Box 19"/>
            <p:cNvSpPr txBox="1">
              <a:spLocks noChangeArrowheads="1"/>
            </p:cNvSpPr>
            <p:nvPr/>
          </p:nvSpPr>
          <p:spPr bwMode="auto">
            <a:xfrm>
              <a:off x="4801" y="1682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cs typeface="Arial" panose="020B0604020202020204" pitchFamily="34" charset="0"/>
                </a:rPr>
                <a:t>SRAS</a:t>
              </a:r>
              <a:r>
                <a:rPr lang="en-US" sz="2400" baseline="-25000" dirty="0" err="1">
                  <a:cs typeface="Arial" panose="020B0604020202020204" pitchFamily="34" charset="0"/>
                </a:rPr>
                <a:t>1</a:t>
              </a:r>
              <a:endParaRPr lang="en-US" sz="2400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2" name="Group 43"/>
          <p:cNvGrpSpPr/>
          <p:nvPr/>
        </p:nvGrpSpPr>
        <p:grpSpPr bwMode="auto">
          <a:xfrm>
            <a:off x="5094288" y="2048828"/>
            <a:ext cx="3321050" cy="2436812"/>
            <a:chOff x="3209" y="1229"/>
            <a:chExt cx="2092" cy="1535"/>
          </a:xfrm>
        </p:grpSpPr>
        <p:sp>
          <p:nvSpPr>
            <p:cNvPr id="55324" name="Line 24"/>
            <p:cNvSpPr>
              <a:spLocks noChangeShapeType="1"/>
            </p:cNvSpPr>
            <p:nvPr/>
          </p:nvSpPr>
          <p:spPr bwMode="auto">
            <a:xfrm flipV="1">
              <a:off x="3209" y="1447"/>
              <a:ext cx="1407" cy="131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25" name="Text Box 25"/>
            <p:cNvSpPr txBox="1">
              <a:spLocks noChangeArrowheads="1"/>
            </p:cNvSpPr>
            <p:nvPr/>
          </p:nvSpPr>
          <p:spPr bwMode="auto">
            <a:xfrm>
              <a:off x="4559" y="1229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cs typeface="Arial" panose="020B0604020202020204" pitchFamily="34" charset="0"/>
                </a:rPr>
                <a:t>SRAS</a:t>
              </a:r>
              <a:r>
                <a:rPr lang="en-US" sz="2400" baseline="-25000" dirty="0" err="1">
                  <a:cs typeface="Arial" panose="020B0604020202020204" pitchFamily="34" charset="0"/>
                </a:rPr>
                <a:t>2</a:t>
              </a:r>
              <a:endParaRPr lang="en-US" sz="2400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5307" name="Group 53"/>
          <p:cNvGrpSpPr/>
          <p:nvPr/>
        </p:nvGrpSpPr>
        <p:grpSpPr bwMode="auto">
          <a:xfrm>
            <a:off x="4281488" y="3872865"/>
            <a:ext cx="2932112" cy="398463"/>
            <a:chOff x="2697" y="2378"/>
            <a:chExt cx="1847" cy="251"/>
          </a:xfrm>
        </p:grpSpPr>
        <p:grpSp>
          <p:nvGrpSpPr>
            <p:cNvPr id="55319" name="Group 42"/>
            <p:cNvGrpSpPr/>
            <p:nvPr/>
          </p:nvGrpSpPr>
          <p:grpSpPr bwMode="auto">
            <a:xfrm>
              <a:off x="2697" y="2399"/>
              <a:ext cx="1622" cy="230"/>
              <a:chOff x="2697" y="2329"/>
              <a:chExt cx="1622" cy="230"/>
            </a:xfrm>
          </p:grpSpPr>
          <p:sp>
            <p:nvSpPr>
              <p:cNvPr id="55321" name="Line 26"/>
              <p:cNvSpPr>
                <a:spLocks noChangeShapeType="1"/>
              </p:cNvSpPr>
              <p:nvPr/>
            </p:nvSpPr>
            <p:spPr bwMode="auto">
              <a:xfrm flipV="1">
                <a:off x="3009" y="2445"/>
                <a:ext cx="126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22" name="Text Box 27"/>
              <p:cNvSpPr txBox="1">
                <a:spLocks noChangeArrowheads="1"/>
              </p:cNvSpPr>
              <p:nvPr/>
            </p:nvSpPr>
            <p:spPr bwMode="auto">
              <a:xfrm>
                <a:off x="2697" y="2329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P</a:t>
                </a:r>
                <a:r>
                  <a:rPr lang="en-US" sz="2400" b="1" baseline="-25000">
                    <a:cs typeface="Arial" panose="020B0604020202020204" pitchFamily="34" charset="0"/>
                  </a:rPr>
                  <a:t>1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  <p:sp>
            <p:nvSpPr>
              <p:cNvPr id="55323" name="Oval 28"/>
              <p:cNvSpPr>
                <a:spLocks noChangeArrowheads="1"/>
              </p:cNvSpPr>
              <p:nvPr/>
            </p:nvSpPr>
            <p:spPr bwMode="auto">
              <a:xfrm>
                <a:off x="4231" y="2399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5320" name="Text Box 38"/>
            <p:cNvSpPr txBox="1">
              <a:spLocks noChangeArrowheads="1"/>
            </p:cNvSpPr>
            <p:nvPr/>
          </p:nvSpPr>
          <p:spPr bwMode="auto">
            <a:xfrm>
              <a:off x="4343" y="2378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A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 52"/>
          <p:cNvGrpSpPr/>
          <p:nvPr/>
        </p:nvGrpSpPr>
        <p:grpSpPr bwMode="auto">
          <a:xfrm>
            <a:off x="4281488" y="3050540"/>
            <a:ext cx="2174875" cy="2781300"/>
            <a:chOff x="2697" y="1860"/>
            <a:chExt cx="1370" cy="1752"/>
          </a:xfrm>
        </p:grpSpPr>
        <p:sp>
          <p:nvSpPr>
            <p:cNvPr id="55312" name="Oval 30"/>
            <p:cNvSpPr>
              <a:spLocks noChangeArrowheads="1"/>
            </p:cNvSpPr>
            <p:nvPr/>
          </p:nvSpPr>
          <p:spPr bwMode="auto">
            <a:xfrm>
              <a:off x="3842" y="2083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55313" name="Group 31"/>
            <p:cNvGrpSpPr/>
            <p:nvPr/>
          </p:nvGrpSpPr>
          <p:grpSpPr bwMode="auto">
            <a:xfrm>
              <a:off x="3011" y="2128"/>
              <a:ext cx="875" cy="1230"/>
              <a:chOff x="357" y="2450"/>
              <a:chExt cx="795" cy="646"/>
            </a:xfrm>
          </p:grpSpPr>
          <p:sp>
            <p:nvSpPr>
              <p:cNvPr id="55317" name="Line 32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18" name="Line 33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314" name="Text Box 34"/>
            <p:cNvSpPr txBox="1">
              <a:spLocks noChangeArrowheads="1"/>
            </p:cNvSpPr>
            <p:nvPr/>
          </p:nvSpPr>
          <p:spPr bwMode="auto">
            <a:xfrm>
              <a:off x="2697" y="2012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55315" name="Text Box 37"/>
            <p:cNvSpPr txBox="1">
              <a:spLocks noChangeArrowheads="1"/>
            </p:cNvSpPr>
            <p:nvPr/>
          </p:nvSpPr>
          <p:spPr bwMode="auto">
            <a:xfrm>
              <a:off x="3759" y="3382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55316" name="Text Box 39"/>
            <p:cNvSpPr txBox="1">
              <a:spLocks noChangeArrowheads="1"/>
            </p:cNvSpPr>
            <p:nvPr/>
          </p:nvSpPr>
          <p:spPr bwMode="auto">
            <a:xfrm>
              <a:off x="3797" y="1860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B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sp>
        <p:nvSpPr>
          <p:cNvPr id="487480" name="Line 56"/>
          <p:cNvSpPr>
            <a:spLocks noChangeShapeType="1"/>
          </p:cNvSpPr>
          <p:nvPr/>
        </p:nvSpPr>
        <p:spPr bwMode="auto">
          <a:xfrm flipH="1">
            <a:off x="6180138" y="5380990"/>
            <a:ext cx="576262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7481" name="Line 57"/>
          <p:cNvSpPr>
            <a:spLocks noChangeShapeType="1"/>
          </p:cNvSpPr>
          <p:nvPr/>
        </p:nvSpPr>
        <p:spPr bwMode="auto">
          <a:xfrm flipV="1">
            <a:off x="4827588" y="3490278"/>
            <a:ext cx="0" cy="57785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TextBox 5"/>
          <p:cNvSpPr txBox="1"/>
          <p:nvPr/>
        </p:nvSpPr>
        <p:spPr>
          <a:xfrm>
            <a:off x="588010" y="600075"/>
            <a:ext cx="75545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AD-AS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模型解释经济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7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87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7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7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7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7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7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7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80" grpId="0" bldLvl="0" animBg="1"/>
      <p:bldP spid="487481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5425" y="1381790"/>
            <a:ext cx="4023309" cy="463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4-1.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政府放任自由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低就业率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导致工资下降，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用工成本降低，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SRAS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右移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，直到经济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重回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点，回到原始的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长期均衡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，但是过程较长。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4-2.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政府干预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：积极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财政或货币政策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AD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，促使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Y回到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</a:t>
            </a:r>
            <a:r>
              <a:rPr sz="2400" baseline="-250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的均衡点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但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P会一直更高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实现了产量目标，过程较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短，但是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放弃了价格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目标。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56324" name="Group 2"/>
          <p:cNvGrpSpPr/>
          <p:nvPr/>
        </p:nvGrpSpPr>
        <p:grpSpPr bwMode="auto">
          <a:xfrm>
            <a:off x="6525260" y="1647190"/>
            <a:ext cx="1177925" cy="4306888"/>
            <a:chOff x="3670" y="778"/>
            <a:chExt cx="742" cy="2713"/>
          </a:xfrm>
        </p:grpSpPr>
        <p:sp>
          <p:nvSpPr>
            <p:cNvPr id="56369" name="Line 3"/>
            <p:cNvSpPr>
              <a:spLocks noChangeShapeType="1"/>
            </p:cNvSpPr>
            <p:nvPr/>
          </p:nvSpPr>
          <p:spPr bwMode="auto">
            <a:xfrm rot="16200000" flipH="1">
              <a:off x="2956" y="2115"/>
              <a:ext cx="2167" cy="3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70" name="Text Box 4"/>
            <p:cNvSpPr txBox="1">
              <a:spLocks noChangeArrowheads="1"/>
            </p:cNvSpPr>
            <p:nvPr/>
          </p:nvSpPr>
          <p:spPr bwMode="auto">
            <a:xfrm>
              <a:off x="3670" y="778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LRAS</a:t>
              </a:r>
              <a:endParaRPr lang="en-US" sz="2400" i="1" baseline="-25000">
                <a:cs typeface="Arial" panose="020B0604020202020204" pitchFamily="34" charset="0"/>
              </a:endParaRPr>
            </a:p>
          </p:txBody>
        </p:sp>
        <p:sp>
          <p:nvSpPr>
            <p:cNvPr id="56371" name="Rectangle 5"/>
            <p:cNvSpPr>
              <a:spLocks noChangeArrowheads="1"/>
            </p:cNvSpPr>
            <p:nvPr/>
          </p:nvSpPr>
          <p:spPr bwMode="auto">
            <a:xfrm>
              <a:off x="3891" y="3203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N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6327" name="Group 8"/>
          <p:cNvGrpSpPr/>
          <p:nvPr/>
        </p:nvGrpSpPr>
        <p:grpSpPr bwMode="auto">
          <a:xfrm>
            <a:off x="4926648" y="1591628"/>
            <a:ext cx="3994150" cy="4106862"/>
            <a:chOff x="2579" y="785"/>
            <a:chExt cx="2786" cy="2420"/>
          </a:xfrm>
        </p:grpSpPr>
        <p:grpSp>
          <p:nvGrpSpPr>
            <p:cNvPr id="56364" name="Group 9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6367" name="Line 10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68" name="Line 11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6365" name="Text Box 12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  <p:sp>
          <p:nvSpPr>
            <p:cNvPr id="56366" name="Text Box 13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endParaRPr lang="en-US" sz="24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56328" name="Group 14"/>
          <p:cNvGrpSpPr/>
          <p:nvPr/>
        </p:nvGrpSpPr>
        <p:grpSpPr bwMode="auto">
          <a:xfrm>
            <a:off x="5663248" y="2726690"/>
            <a:ext cx="2947987" cy="2609850"/>
            <a:chOff x="3200" y="1121"/>
            <a:chExt cx="1857" cy="1644"/>
          </a:xfrm>
        </p:grpSpPr>
        <p:sp>
          <p:nvSpPr>
            <p:cNvPr id="56362" name="Line 15"/>
            <p:cNvSpPr>
              <a:spLocks noChangeShapeType="1"/>
            </p:cNvSpPr>
            <p:nvPr/>
          </p:nvSpPr>
          <p:spPr bwMode="auto">
            <a:xfrm>
              <a:off x="3200" y="1121"/>
              <a:ext cx="1460" cy="1439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3" name="Text Box 16"/>
            <p:cNvSpPr txBox="1">
              <a:spLocks noChangeArrowheads="1"/>
            </p:cNvSpPr>
            <p:nvPr/>
          </p:nvSpPr>
          <p:spPr bwMode="auto">
            <a:xfrm>
              <a:off x="4588" y="2477"/>
              <a:ext cx="4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1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6329" name="Group 17"/>
          <p:cNvGrpSpPr/>
          <p:nvPr/>
        </p:nvGrpSpPr>
        <p:grpSpPr bwMode="auto">
          <a:xfrm>
            <a:off x="6112510" y="2837815"/>
            <a:ext cx="3008313" cy="2235200"/>
            <a:chOff x="3648" y="1682"/>
            <a:chExt cx="1895" cy="1408"/>
          </a:xfrm>
        </p:grpSpPr>
        <p:sp>
          <p:nvSpPr>
            <p:cNvPr id="56360" name="Line 18"/>
            <p:cNvSpPr>
              <a:spLocks noChangeShapeType="1"/>
            </p:cNvSpPr>
            <p:nvPr/>
          </p:nvSpPr>
          <p:spPr bwMode="auto">
            <a:xfrm flipV="1">
              <a:off x="3648" y="1934"/>
              <a:ext cx="1256" cy="1156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61" name="Text Box 19"/>
            <p:cNvSpPr txBox="1">
              <a:spLocks noChangeArrowheads="1"/>
            </p:cNvSpPr>
            <p:nvPr/>
          </p:nvSpPr>
          <p:spPr bwMode="auto">
            <a:xfrm>
              <a:off x="4801" y="1682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cs typeface="Arial" panose="020B0604020202020204" pitchFamily="34" charset="0"/>
                </a:rPr>
                <a:t>SRAS</a:t>
              </a:r>
              <a:r>
                <a:rPr lang="en-US" sz="2400" baseline="-25000" dirty="0" err="1">
                  <a:cs typeface="Arial" panose="020B0604020202020204" pitchFamily="34" charset="0"/>
                </a:rPr>
                <a:t>1</a:t>
              </a:r>
              <a:endParaRPr lang="en-US" sz="2400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6330" name="Group 20"/>
          <p:cNvGrpSpPr/>
          <p:nvPr/>
        </p:nvGrpSpPr>
        <p:grpSpPr bwMode="auto">
          <a:xfrm>
            <a:off x="5415598" y="2118678"/>
            <a:ext cx="3321050" cy="2436812"/>
            <a:chOff x="3209" y="1229"/>
            <a:chExt cx="2092" cy="1535"/>
          </a:xfrm>
        </p:grpSpPr>
        <p:sp>
          <p:nvSpPr>
            <p:cNvPr id="56358" name="Line 21"/>
            <p:cNvSpPr>
              <a:spLocks noChangeShapeType="1"/>
            </p:cNvSpPr>
            <p:nvPr/>
          </p:nvSpPr>
          <p:spPr bwMode="auto">
            <a:xfrm flipV="1">
              <a:off x="3209" y="1447"/>
              <a:ext cx="1407" cy="131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59" name="Text Box 22"/>
            <p:cNvSpPr txBox="1">
              <a:spLocks noChangeArrowheads="1"/>
            </p:cNvSpPr>
            <p:nvPr/>
          </p:nvSpPr>
          <p:spPr bwMode="auto">
            <a:xfrm>
              <a:off x="4559" y="1229"/>
              <a:ext cx="7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 dirty="0" err="1">
                  <a:cs typeface="Arial" panose="020B0604020202020204" pitchFamily="34" charset="0"/>
                </a:rPr>
                <a:t>SRAS</a:t>
              </a:r>
              <a:r>
                <a:rPr lang="en-US" sz="2400" baseline="-25000" dirty="0" err="1">
                  <a:cs typeface="Arial" panose="020B0604020202020204" pitchFamily="34" charset="0"/>
                </a:rPr>
                <a:t>2</a:t>
              </a:r>
              <a:endParaRPr lang="en-US" sz="2400" baseline="-25000" dirty="0">
                <a:cs typeface="Arial" panose="020B0604020202020204" pitchFamily="34" charset="0"/>
              </a:endParaRPr>
            </a:p>
          </p:txBody>
        </p:sp>
      </p:grpSp>
      <p:grpSp>
        <p:nvGrpSpPr>
          <p:cNvPr id="56331" name="Group 23"/>
          <p:cNvGrpSpPr/>
          <p:nvPr/>
        </p:nvGrpSpPr>
        <p:grpSpPr bwMode="auto">
          <a:xfrm>
            <a:off x="4602798" y="3942715"/>
            <a:ext cx="2932112" cy="398463"/>
            <a:chOff x="2697" y="2378"/>
            <a:chExt cx="1847" cy="251"/>
          </a:xfrm>
        </p:grpSpPr>
        <p:grpSp>
          <p:nvGrpSpPr>
            <p:cNvPr id="56353" name="Group 24"/>
            <p:cNvGrpSpPr/>
            <p:nvPr/>
          </p:nvGrpSpPr>
          <p:grpSpPr bwMode="auto">
            <a:xfrm>
              <a:off x="2697" y="2399"/>
              <a:ext cx="1622" cy="230"/>
              <a:chOff x="2697" y="2329"/>
              <a:chExt cx="1622" cy="230"/>
            </a:xfrm>
          </p:grpSpPr>
          <p:sp>
            <p:nvSpPr>
              <p:cNvPr id="56355" name="Line 25"/>
              <p:cNvSpPr>
                <a:spLocks noChangeShapeType="1"/>
              </p:cNvSpPr>
              <p:nvPr/>
            </p:nvSpPr>
            <p:spPr bwMode="auto">
              <a:xfrm flipV="1">
                <a:off x="3009" y="2445"/>
                <a:ext cx="126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56" name="Text Box 26"/>
              <p:cNvSpPr txBox="1">
                <a:spLocks noChangeArrowheads="1"/>
              </p:cNvSpPr>
              <p:nvPr/>
            </p:nvSpPr>
            <p:spPr bwMode="auto">
              <a:xfrm>
                <a:off x="2697" y="2329"/>
                <a:ext cx="30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sz="2400" b="1" i="1">
                    <a:cs typeface="Arial" panose="020B0604020202020204" pitchFamily="34" charset="0"/>
                  </a:rPr>
                  <a:t>P</a:t>
                </a:r>
                <a:r>
                  <a:rPr lang="en-US" sz="2400" b="1" baseline="-25000">
                    <a:cs typeface="Arial" panose="020B0604020202020204" pitchFamily="34" charset="0"/>
                  </a:rPr>
                  <a:t>1</a:t>
                </a:r>
                <a:endParaRPr lang="en-US" sz="2400" b="1" baseline="-25000">
                  <a:cs typeface="Arial" panose="020B0604020202020204" pitchFamily="34" charset="0"/>
                </a:endParaRPr>
              </a:p>
            </p:txBody>
          </p:sp>
          <p:sp>
            <p:nvSpPr>
              <p:cNvPr id="56357" name="Oval 27"/>
              <p:cNvSpPr>
                <a:spLocks noChangeArrowheads="1"/>
              </p:cNvSpPr>
              <p:nvPr/>
            </p:nvSpPr>
            <p:spPr bwMode="auto">
              <a:xfrm>
                <a:off x="4231" y="2399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prstDash val="dash"/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6354" name="Text Box 28"/>
            <p:cNvSpPr txBox="1">
              <a:spLocks noChangeArrowheads="1"/>
            </p:cNvSpPr>
            <p:nvPr/>
          </p:nvSpPr>
          <p:spPr bwMode="auto">
            <a:xfrm>
              <a:off x="4343" y="2378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A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56332" name="Group 29"/>
          <p:cNvGrpSpPr/>
          <p:nvPr/>
        </p:nvGrpSpPr>
        <p:grpSpPr bwMode="auto">
          <a:xfrm>
            <a:off x="4602798" y="3120390"/>
            <a:ext cx="2174875" cy="2781300"/>
            <a:chOff x="2697" y="1860"/>
            <a:chExt cx="1370" cy="1752"/>
          </a:xfrm>
        </p:grpSpPr>
        <p:sp>
          <p:nvSpPr>
            <p:cNvPr id="56346" name="Oval 30"/>
            <p:cNvSpPr>
              <a:spLocks noChangeArrowheads="1"/>
            </p:cNvSpPr>
            <p:nvPr/>
          </p:nvSpPr>
          <p:spPr bwMode="auto">
            <a:xfrm>
              <a:off x="3842" y="2083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56347" name="Group 31"/>
            <p:cNvGrpSpPr/>
            <p:nvPr/>
          </p:nvGrpSpPr>
          <p:grpSpPr bwMode="auto">
            <a:xfrm>
              <a:off x="3011" y="2128"/>
              <a:ext cx="875" cy="1230"/>
              <a:chOff x="357" y="2450"/>
              <a:chExt cx="795" cy="646"/>
            </a:xfrm>
          </p:grpSpPr>
          <p:sp>
            <p:nvSpPr>
              <p:cNvPr id="56351" name="Line 32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52" name="Line 33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6348" name="Text Box 34"/>
            <p:cNvSpPr txBox="1">
              <a:spLocks noChangeArrowheads="1"/>
            </p:cNvSpPr>
            <p:nvPr/>
          </p:nvSpPr>
          <p:spPr bwMode="auto">
            <a:xfrm>
              <a:off x="2697" y="2012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56349" name="Text Box 35"/>
            <p:cNvSpPr txBox="1">
              <a:spLocks noChangeArrowheads="1"/>
            </p:cNvSpPr>
            <p:nvPr/>
          </p:nvSpPr>
          <p:spPr bwMode="auto">
            <a:xfrm>
              <a:off x="3759" y="3382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Y</a:t>
              </a:r>
              <a:r>
                <a:rPr lang="en-US" sz="2400" b="1" baseline="-25000">
                  <a:cs typeface="Arial" panose="020B0604020202020204" pitchFamily="34" charset="0"/>
                </a:rPr>
                <a:t>2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56350" name="Text Box 36"/>
            <p:cNvSpPr txBox="1">
              <a:spLocks noChangeArrowheads="1"/>
            </p:cNvSpPr>
            <p:nvPr/>
          </p:nvSpPr>
          <p:spPr bwMode="auto">
            <a:xfrm>
              <a:off x="3797" y="1860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B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37"/>
          <p:cNvGrpSpPr/>
          <p:nvPr/>
        </p:nvGrpSpPr>
        <p:grpSpPr bwMode="auto">
          <a:xfrm>
            <a:off x="6287135" y="2153603"/>
            <a:ext cx="2703513" cy="2371725"/>
            <a:chOff x="3758" y="1251"/>
            <a:chExt cx="1703" cy="1494"/>
          </a:xfrm>
        </p:grpSpPr>
        <p:sp>
          <p:nvSpPr>
            <p:cNvPr id="56344" name="Line 38"/>
            <p:cNvSpPr>
              <a:spLocks noChangeShapeType="1"/>
            </p:cNvSpPr>
            <p:nvPr/>
          </p:nvSpPr>
          <p:spPr bwMode="auto">
            <a:xfrm>
              <a:off x="3758" y="1251"/>
              <a:ext cx="1306" cy="1289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5" name="Text Box 39"/>
            <p:cNvSpPr txBox="1">
              <a:spLocks noChangeArrowheads="1"/>
            </p:cNvSpPr>
            <p:nvPr/>
          </p:nvSpPr>
          <p:spPr bwMode="auto">
            <a:xfrm>
              <a:off x="4992" y="2457"/>
              <a:ext cx="4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i="1">
                  <a:cs typeface="Arial" panose="020B0604020202020204" pitchFamily="34" charset="0"/>
                </a:rPr>
                <a:t>AD</a:t>
              </a:r>
              <a:r>
                <a:rPr lang="en-US" sz="2400" baseline="-25000">
                  <a:cs typeface="Arial" panose="020B0604020202020204" pitchFamily="34" charset="0"/>
                </a:rPr>
                <a:t>2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40"/>
          <p:cNvGrpSpPr/>
          <p:nvPr/>
        </p:nvGrpSpPr>
        <p:grpSpPr bwMode="auto">
          <a:xfrm>
            <a:off x="4601210" y="2779078"/>
            <a:ext cx="2919413" cy="374650"/>
            <a:chOff x="2696" y="1645"/>
            <a:chExt cx="1839" cy="236"/>
          </a:xfrm>
        </p:grpSpPr>
        <p:sp>
          <p:nvSpPr>
            <p:cNvPr id="56340" name="Line 41"/>
            <p:cNvSpPr>
              <a:spLocks noChangeShapeType="1"/>
            </p:cNvSpPr>
            <p:nvPr/>
          </p:nvSpPr>
          <p:spPr bwMode="auto">
            <a:xfrm>
              <a:off x="3014" y="1760"/>
              <a:ext cx="126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41" name="Text Box 42"/>
            <p:cNvSpPr txBox="1">
              <a:spLocks noChangeArrowheads="1"/>
            </p:cNvSpPr>
            <p:nvPr/>
          </p:nvSpPr>
          <p:spPr bwMode="auto">
            <a:xfrm>
              <a:off x="2696" y="1645"/>
              <a:ext cx="30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 b="1" i="1">
                  <a:cs typeface="Arial" panose="020B0604020202020204" pitchFamily="34" charset="0"/>
                </a:rPr>
                <a:t>P</a:t>
              </a:r>
              <a:r>
                <a:rPr lang="en-US" sz="2400" b="1" baseline="-25000">
                  <a:cs typeface="Arial" panose="020B0604020202020204" pitchFamily="34" charset="0"/>
                </a:rPr>
                <a:t>3</a:t>
              </a:r>
              <a:endParaRPr lang="en-US" sz="2400" b="1" baseline="-25000">
                <a:cs typeface="Arial" panose="020B0604020202020204" pitchFamily="34" charset="0"/>
              </a:endParaRPr>
            </a:p>
          </p:txBody>
        </p:sp>
        <p:sp>
          <p:nvSpPr>
            <p:cNvPr id="56342" name="Text Box 43"/>
            <p:cNvSpPr txBox="1">
              <a:spLocks noChangeArrowheads="1"/>
            </p:cNvSpPr>
            <p:nvPr/>
          </p:nvSpPr>
          <p:spPr bwMode="auto">
            <a:xfrm>
              <a:off x="4334" y="1651"/>
              <a:ext cx="20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400">
                  <a:cs typeface="Arial" panose="020B0604020202020204" pitchFamily="34" charset="0"/>
                </a:rPr>
                <a:t>C</a:t>
              </a:r>
              <a:endParaRPr lang="en-US" sz="2400" baseline="-25000">
                <a:cs typeface="Arial" panose="020B0604020202020204" pitchFamily="34" charset="0"/>
              </a:endParaRPr>
            </a:p>
          </p:txBody>
        </p:sp>
        <p:sp>
          <p:nvSpPr>
            <p:cNvPr id="56343" name="Oval 44"/>
            <p:cNvSpPr>
              <a:spLocks noChangeArrowheads="1"/>
            </p:cNvSpPr>
            <p:nvPr/>
          </p:nvSpPr>
          <p:spPr bwMode="auto">
            <a:xfrm>
              <a:off x="4230" y="1718"/>
              <a:ext cx="88" cy="87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491567" name="Line 47"/>
          <p:cNvSpPr>
            <a:spLocks noChangeShapeType="1"/>
          </p:cNvSpPr>
          <p:nvPr/>
        </p:nvSpPr>
        <p:spPr bwMode="auto">
          <a:xfrm flipH="1">
            <a:off x="6512560" y="5450840"/>
            <a:ext cx="57626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68" name="Line 48"/>
          <p:cNvSpPr>
            <a:spLocks noChangeShapeType="1"/>
          </p:cNvSpPr>
          <p:nvPr/>
        </p:nvSpPr>
        <p:spPr bwMode="auto">
          <a:xfrm flipV="1">
            <a:off x="5147310" y="2963228"/>
            <a:ext cx="0" cy="57785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1571" name="Arc 51"/>
          <p:cNvSpPr/>
          <p:nvPr/>
        </p:nvSpPr>
        <p:spPr bwMode="auto">
          <a:xfrm flipH="1" flipV="1">
            <a:off x="6491923" y="3468053"/>
            <a:ext cx="696912" cy="684212"/>
          </a:xfrm>
          <a:custGeom>
            <a:avLst/>
            <a:gdLst>
              <a:gd name="T0" fmla="*/ 2147483647 w 21073"/>
              <a:gd name="T1" fmla="*/ 0 h 21075"/>
              <a:gd name="T2" fmla="*/ 2147483647 w 21073"/>
              <a:gd name="T3" fmla="*/ 2147483647 h 21075"/>
              <a:gd name="T4" fmla="*/ 0 w 21073"/>
              <a:gd name="T5" fmla="*/ 2147483647 h 21075"/>
              <a:gd name="T6" fmla="*/ 0 60000 65536"/>
              <a:gd name="T7" fmla="*/ 0 60000 65536"/>
              <a:gd name="T8" fmla="*/ 0 60000 65536"/>
              <a:gd name="T9" fmla="*/ 0 w 21073"/>
              <a:gd name="T10" fmla="*/ 0 h 21075"/>
              <a:gd name="T11" fmla="*/ 21073 w 21073"/>
              <a:gd name="T12" fmla="*/ 21075 h 2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073" h="21075" fill="none" extrusionOk="0">
                <a:moveTo>
                  <a:pt x="4734" y="0"/>
                </a:moveTo>
                <a:cubicBezTo>
                  <a:pt x="12879" y="1830"/>
                  <a:pt x="19240" y="8189"/>
                  <a:pt x="21073" y="16333"/>
                </a:cubicBezTo>
              </a:path>
              <a:path w="21073" h="21075" stroke="0" extrusionOk="0">
                <a:moveTo>
                  <a:pt x="4734" y="0"/>
                </a:moveTo>
                <a:cubicBezTo>
                  <a:pt x="12879" y="1830"/>
                  <a:pt x="19240" y="8189"/>
                  <a:pt x="21073" y="16333"/>
                </a:cubicBezTo>
                <a:lnTo>
                  <a:pt x="0" y="21075"/>
                </a:lnTo>
                <a:close/>
              </a:path>
            </a:pathLst>
          </a:custGeom>
          <a:noFill/>
          <a:ln w="38100">
            <a:solidFill>
              <a:srgbClr val="00CC00"/>
            </a:solidFill>
            <a:round/>
            <a:headEnd type="triangle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Box 5"/>
          <p:cNvSpPr txBox="1"/>
          <p:nvPr/>
        </p:nvSpPr>
        <p:spPr>
          <a:xfrm>
            <a:off x="588010" y="600075"/>
            <a:ext cx="75545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AD-AS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模型解释经济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sym typeface="+mn-ea"/>
              </a:rPr>
              <a:t>波动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915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91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1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1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1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1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1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1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91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7" grpId="0" bldLvl="0" animBg="1"/>
      <p:bldP spid="491568" grpId="0" bldLvl="0" animBg="1"/>
      <p:bldP spid="491571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15052" y="1882429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544" y="2968867"/>
            <a:ext cx="8477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cs typeface="宋体" panose="02010600030101010101" pitchFamily="2" charset="-122"/>
              </a:rPr>
              <a:t>第</a:t>
            </a:r>
            <a:r>
              <a:rPr lang="en-US" altLang="zh-CN" sz="36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36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cs typeface="宋体" panose="02010600030101010101" pitchFamily="2" charset="-122"/>
              </a:rPr>
              <a:t>章</a:t>
            </a:r>
            <a:r>
              <a:rPr lang="zh-CN" altLang="en-US" sz="36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cs typeface="宋体" panose="02010600030101010101" pitchFamily="2" charset="-122"/>
              </a:rPr>
              <a:t>：货币和财政政策对</a:t>
            </a:r>
            <a:r>
              <a:rPr lang="zh-CN" altLang="en-US" sz="36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cs typeface="宋体" panose="02010600030101010101" pitchFamily="2" charset="-122"/>
              </a:rPr>
              <a:t>总</a:t>
            </a:r>
            <a:r>
              <a:rPr lang="zh-CN" altLang="en-US" sz="3600" b="1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  <a:cs typeface="宋体" panose="02010600030101010101" pitchFamily="2" charset="-122"/>
              </a:rPr>
              <a:t>需求影响</a:t>
            </a:r>
            <a:endParaRPr lang="zh-CN" altLang="en-US" sz="36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indent="0" algn="l">
          <a:lnSpc>
            <a:spcPct val="160000"/>
          </a:lnSpc>
          <a:buFont typeface="Wingdings" panose="05000000000000000000" charset="0"/>
          <a:buNone/>
          <a:defRPr sz="2000" b="1" dirty="0">
            <a:solidFill>
              <a:srgbClr val="002060"/>
            </a:solidFill>
            <a:latin typeface="思源黑体 CN Bold" panose="020B0800000000000000" pitchFamily="34" charset="-122"/>
            <a:ea typeface="思源黑体 CN Bold" panose="020B0800000000000000" pitchFamily="3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4810</Words>
  <Application>WPS 演示</Application>
  <PresentationFormat>全屏显示(4:3)</PresentationFormat>
  <Paragraphs>683</Paragraphs>
  <Slides>48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5" baseType="lpstr">
      <vt:lpstr>Arial</vt:lpstr>
      <vt:lpstr>宋体</vt:lpstr>
      <vt:lpstr>Wingdings</vt:lpstr>
      <vt:lpstr>Wingdings</vt:lpstr>
      <vt:lpstr>思源黑体 CN Bold</vt:lpstr>
      <vt:lpstr>黑体</vt:lpstr>
      <vt:lpstr>思源黑体 CN Regular</vt:lpstr>
      <vt:lpstr>思源黑体 CN Light</vt:lpstr>
      <vt:lpstr>Times New Roman</vt:lpstr>
      <vt:lpstr>华光中雅_CNKI</vt:lpstr>
      <vt:lpstr>微软雅黑</vt:lpstr>
      <vt:lpstr>Arial Unicode MS</vt:lpstr>
      <vt:lpstr>Calibri</vt:lpstr>
      <vt:lpstr>华光琥珀_CNKI</vt:lpstr>
      <vt:lpstr>Courier New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Carthage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</dc:title>
  <dc:creator>Ron</dc:creator>
  <cp:lastModifiedBy>YZ</cp:lastModifiedBy>
  <cp:revision>595</cp:revision>
  <dcterms:created xsi:type="dcterms:W3CDTF">2010-12-25T14:19:00Z</dcterms:created>
  <dcterms:modified xsi:type="dcterms:W3CDTF">2025-12-24T13:27:06Z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AB9822C6B33A4439BB00D46D86F7DF37_12</vt:lpwstr>
  </property>
</Properties>
</file>