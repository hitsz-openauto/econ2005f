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5" r:id="rId3"/>
    <p:sldId id="316" r:id="rId5"/>
    <p:sldId id="317" r:id="rId6"/>
    <p:sldId id="359" r:id="rId7"/>
    <p:sldId id="318" r:id="rId8"/>
    <p:sldId id="319" r:id="rId9"/>
    <p:sldId id="320" r:id="rId10"/>
    <p:sldId id="321" r:id="rId11"/>
    <p:sldId id="257" r:id="rId12"/>
    <p:sldId id="358" r:id="rId13"/>
    <p:sldId id="365" r:id="rId14"/>
    <p:sldId id="366" r:id="rId15"/>
    <p:sldId id="260" r:id="rId16"/>
    <p:sldId id="362" r:id="rId17"/>
    <p:sldId id="266" r:id="rId18"/>
    <p:sldId id="270" r:id="rId19"/>
    <p:sldId id="271" r:id="rId20"/>
    <p:sldId id="272" r:id="rId21"/>
    <p:sldId id="267" r:id="rId22"/>
    <p:sldId id="269" r:id="rId23"/>
    <p:sldId id="276" r:id="rId24"/>
    <p:sldId id="363" r:id="rId25"/>
    <p:sldId id="277" r:id="rId26"/>
    <p:sldId id="300" r:id="rId27"/>
    <p:sldId id="283" r:id="rId28"/>
    <p:sldId id="286" r:id="rId29"/>
    <p:sldId id="290" r:id="rId30"/>
    <p:sldId id="287" r:id="rId31"/>
    <p:sldId id="291" r:id="rId32"/>
    <p:sldId id="293" r:id="rId33"/>
    <p:sldId id="369" r:id="rId34"/>
    <p:sldId id="367" r:id="rId35"/>
    <p:sldId id="368" r:id="rId36"/>
    <p:sldId id="292" r:id="rId37"/>
    <p:sldId id="294" r:id="rId38"/>
    <p:sldId id="301" r:id="rId39"/>
    <p:sldId id="360" r:id="rId40"/>
  </p:sldIdLst>
  <p:sldSz cx="9144000" cy="6858000" type="screen4x3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7" clrIdx="0"/>
  <p:cmAuthor id="2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BF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4686" autoAdjust="0"/>
  </p:normalViewPr>
  <p:slideViewPr>
    <p:cSldViewPr snapToGrid="0" showGuides="1">
      <p:cViewPr varScale="1">
        <p:scale>
          <a:sx n="71" d="100"/>
          <a:sy n="71" d="100"/>
        </p:scale>
        <p:origin x="-138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2013PP\Data\Chapter%2028\LF%20Participation%20by%20Sex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Work2012\Mankiw\Data\Chapter%206%20(7)\Slide%203%20(actual%20and%20natural%20rates%20of%20unemployment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49449917626546"/>
          <c:y val="0.0499519507560181"/>
          <c:w val="0.892482943469786"/>
          <c:h val="0.85838041431261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Female</c:v>
                </c:pt>
              </c:strCache>
            </c:strRef>
          </c:tx>
          <c:spPr>
            <a:ln w="47625" cap="rnd" cmpd="sng" algn="ctr">
              <a:solidFill>
                <a:srgbClr val="D60093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Sheet1!$A$5:$A$762</c:f>
              <c:numCache>
                <c:formatCode>General</c:formatCode>
                <c:ptCount val="758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</c:numCache>
            </c:numRef>
          </c:xVal>
          <c:yVal>
            <c:numRef>
              <c:f>Sheet1!$B$5:$B$762</c:f>
              <c:numCache>
                <c:formatCode>0.0</c:formatCode>
                <c:ptCount val="758"/>
                <c:pt idx="0">
                  <c:v>33.8</c:v>
                </c:pt>
                <c:pt idx="1">
                  <c:v>34.6</c:v>
                </c:pt>
                <c:pt idx="2">
                  <c:v>34.7</c:v>
                </c:pt>
                <c:pt idx="3">
                  <c:v>34.5</c:v>
                </c:pt>
                <c:pt idx="4">
                  <c:v>34.6</c:v>
                </c:pt>
                <c:pt idx="5">
                  <c:v>35.6</c:v>
                </c:pt>
                <c:pt idx="6">
                  <c:v>36.8</c:v>
                </c:pt>
                <c:pt idx="7">
                  <c:v>36.9</c:v>
                </c:pt>
                <c:pt idx="8">
                  <c:v>37.1</c:v>
                </c:pt>
                <c:pt idx="9">
                  <c:v>37.1</c:v>
                </c:pt>
                <c:pt idx="10">
                  <c:v>37.8</c:v>
                </c:pt>
                <c:pt idx="11">
                  <c:v>38.1</c:v>
                </c:pt>
                <c:pt idx="12">
                  <c:v>37.9</c:v>
                </c:pt>
                <c:pt idx="13">
                  <c:v>38.3</c:v>
                </c:pt>
                <c:pt idx="14">
                  <c:v>38.7</c:v>
                </c:pt>
                <c:pt idx="15">
                  <c:v>39.2</c:v>
                </c:pt>
                <c:pt idx="16">
                  <c:v>40.3</c:v>
                </c:pt>
                <c:pt idx="17">
                  <c:v>41.1</c:v>
                </c:pt>
                <c:pt idx="18">
                  <c:v>41.6</c:v>
                </c:pt>
                <c:pt idx="19">
                  <c:v>42.7</c:v>
                </c:pt>
                <c:pt idx="20">
                  <c:v>43.4</c:v>
                </c:pt>
                <c:pt idx="21">
                  <c:v>43.4</c:v>
                </c:pt>
                <c:pt idx="22">
                  <c:v>43.9</c:v>
                </c:pt>
                <c:pt idx="23">
                  <c:v>44.7</c:v>
                </c:pt>
                <c:pt idx="24">
                  <c:v>45.7</c:v>
                </c:pt>
                <c:pt idx="25">
                  <c:v>46.4</c:v>
                </c:pt>
                <c:pt idx="26">
                  <c:v>47.3</c:v>
                </c:pt>
                <c:pt idx="27">
                  <c:v>48.4</c:v>
                </c:pt>
                <c:pt idx="28">
                  <c:v>50</c:v>
                </c:pt>
                <c:pt idx="29">
                  <c:v>50.9</c:v>
                </c:pt>
                <c:pt idx="30">
                  <c:v>51.5</c:v>
                </c:pt>
                <c:pt idx="31">
                  <c:v>52.1</c:v>
                </c:pt>
                <c:pt idx="32">
                  <c:v>52.6</c:v>
                </c:pt>
                <c:pt idx="33">
                  <c:v>52.9</c:v>
                </c:pt>
                <c:pt idx="34">
                  <c:v>53.6</c:v>
                </c:pt>
                <c:pt idx="35">
                  <c:v>54.5</c:v>
                </c:pt>
                <c:pt idx="36">
                  <c:v>55.3</c:v>
                </c:pt>
                <c:pt idx="37">
                  <c:v>56</c:v>
                </c:pt>
                <c:pt idx="38">
                  <c:v>56.6</c:v>
                </c:pt>
                <c:pt idx="39">
                  <c:v>57.4</c:v>
                </c:pt>
                <c:pt idx="40">
                  <c:v>57.5</c:v>
                </c:pt>
                <c:pt idx="41">
                  <c:v>57.4</c:v>
                </c:pt>
                <c:pt idx="42">
                  <c:v>57.8</c:v>
                </c:pt>
                <c:pt idx="43">
                  <c:v>57.9</c:v>
                </c:pt>
                <c:pt idx="44">
                  <c:v>58.8</c:v>
                </c:pt>
                <c:pt idx="45">
                  <c:v>59</c:v>
                </c:pt>
                <c:pt idx="46">
                  <c:v>59.3</c:v>
                </c:pt>
                <c:pt idx="47">
                  <c:v>59.8</c:v>
                </c:pt>
                <c:pt idx="48">
                  <c:v>59.9</c:v>
                </c:pt>
                <c:pt idx="49">
                  <c:v>60</c:v>
                </c:pt>
                <c:pt idx="50">
                  <c:v>59.9</c:v>
                </c:pt>
                <c:pt idx="51">
                  <c:v>59.8</c:v>
                </c:pt>
                <c:pt idx="52">
                  <c:v>59.6</c:v>
                </c:pt>
                <c:pt idx="53">
                  <c:v>59.5</c:v>
                </c:pt>
                <c:pt idx="54">
                  <c:v>59.2</c:v>
                </c:pt>
                <c:pt idx="55">
                  <c:v>59.2</c:v>
                </c:pt>
                <c:pt idx="56">
                  <c:v>59.4</c:v>
                </c:pt>
                <c:pt idx="57">
                  <c:v>59.3</c:v>
                </c:pt>
                <c:pt idx="58">
                  <c:v>59.5</c:v>
                </c:pt>
                <c:pt idx="59">
                  <c:v>59.2</c:v>
                </c:pt>
                <c:pt idx="60">
                  <c:v>58.6</c:v>
                </c:pt>
                <c:pt idx="61">
                  <c:v>58.1</c:v>
                </c:pt>
                <c:pt idx="62">
                  <c:v>57.7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Sheet1!$C$4</c:f>
              <c:strCache>
                <c:ptCount val="1"/>
                <c:pt idx="0">
                  <c:v>Male</c:v>
                </c:pt>
              </c:strCache>
            </c:strRef>
          </c:tx>
          <c:spPr>
            <a:ln w="47625" cap="rnd" cmpd="sng" algn="ctr">
              <a:solidFill>
                <a:srgbClr val="333399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Sheet1!$A$5:$A$762</c:f>
              <c:numCache>
                <c:formatCode>General</c:formatCode>
                <c:ptCount val="758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</c:numCache>
            </c:numRef>
          </c:xVal>
          <c:yVal>
            <c:numRef>
              <c:f>Sheet1!$C$5:$C$762</c:f>
              <c:numCache>
                <c:formatCode>0.0</c:formatCode>
                <c:ptCount val="758"/>
                <c:pt idx="0">
                  <c:v>86.3</c:v>
                </c:pt>
                <c:pt idx="1">
                  <c:v>86.3</c:v>
                </c:pt>
                <c:pt idx="2">
                  <c:v>86.3</c:v>
                </c:pt>
                <c:pt idx="3">
                  <c:v>86</c:v>
                </c:pt>
                <c:pt idx="4">
                  <c:v>85.6</c:v>
                </c:pt>
                <c:pt idx="5">
                  <c:v>85.3</c:v>
                </c:pt>
                <c:pt idx="6">
                  <c:v>85.5</c:v>
                </c:pt>
                <c:pt idx="7">
                  <c:v>84.8</c:v>
                </c:pt>
                <c:pt idx="8">
                  <c:v>84.3</c:v>
                </c:pt>
                <c:pt idx="9">
                  <c:v>83.7</c:v>
                </c:pt>
                <c:pt idx="10">
                  <c:v>83.4</c:v>
                </c:pt>
                <c:pt idx="11">
                  <c:v>82.9</c:v>
                </c:pt>
                <c:pt idx="12">
                  <c:v>82</c:v>
                </c:pt>
                <c:pt idx="13">
                  <c:v>81.3</c:v>
                </c:pt>
                <c:pt idx="14">
                  <c:v>81</c:v>
                </c:pt>
                <c:pt idx="15">
                  <c:v>80.7</c:v>
                </c:pt>
                <c:pt idx="16">
                  <c:v>80.4</c:v>
                </c:pt>
                <c:pt idx="17">
                  <c:v>80.4</c:v>
                </c:pt>
                <c:pt idx="18">
                  <c:v>80.1</c:v>
                </c:pt>
                <c:pt idx="19">
                  <c:v>79.8</c:v>
                </c:pt>
                <c:pt idx="20">
                  <c:v>79.7</c:v>
                </c:pt>
                <c:pt idx="21">
                  <c:v>79.1</c:v>
                </c:pt>
                <c:pt idx="22">
                  <c:v>78.9</c:v>
                </c:pt>
                <c:pt idx="23">
                  <c:v>78.8</c:v>
                </c:pt>
                <c:pt idx="24">
                  <c:v>78.7</c:v>
                </c:pt>
                <c:pt idx="25">
                  <c:v>77.9</c:v>
                </c:pt>
                <c:pt idx="26">
                  <c:v>77.5</c:v>
                </c:pt>
                <c:pt idx="27">
                  <c:v>77.6</c:v>
                </c:pt>
                <c:pt idx="28">
                  <c:v>77.8</c:v>
                </c:pt>
                <c:pt idx="29">
                  <c:v>77.8</c:v>
                </c:pt>
                <c:pt idx="30">
                  <c:v>77.5</c:v>
                </c:pt>
                <c:pt idx="31">
                  <c:v>77</c:v>
                </c:pt>
                <c:pt idx="32">
                  <c:v>76.7</c:v>
                </c:pt>
                <c:pt idx="33">
                  <c:v>76.3</c:v>
                </c:pt>
                <c:pt idx="34">
                  <c:v>76.3</c:v>
                </c:pt>
                <c:pt idx="35">
                  <c:v>76.3</c:v>
                </c:pt>
                <c:pt idx="36">
                  <c:v>76.2</c:v>
                </c:pt>
                <c:pt idx="37">
                  <c:v>76.2</c:v>
                </c:pt>
                <c:pt idx="38">
                  <c:v>76.2</c:v>
                </c:pt>
                <c:pt idx="39">
                  <c:v>76.4</c:v>
                </c:pt>
                <c:pt idx="40">
                  <c:v>76.4</c:v>
                </c:pt>
                <c:pt idx="41">
                  <c:v>75.8</c:v>
                </c:pt>
                <c:pt idx="42">
                  <c:v>75.8</c:v>
                </c:pt>
                <c:pt idx="43">
                  <c:v>75.4</c:v>
                </c:pt>
                <c:pt idx="44">
                  <c:v>75</c:v>
                </c:pt>
                <c:pt idx="45">
                  <c:v>75</c:v>
                </c:pt>
                <c:pt idx="46">
                  <c:v>74.9</c:v>
                </c:pt>
                <c:pt idx="47">
                  <c:v>75</c:v>
                </c:pt>
                <c:pt idx="48">
                  <c:v>74.9</c:v>
                </c:pt>
                <c:pt idx="49">
                  <c:v>74.7</c:v>
                </c:pt>
                <c:pt idx="50">
                  <c:v>74.8</c:v>
                </c:pt>
                <c:pt idx="51">
                  <c:v>74.5</c:v>
                </c:pt>
                <c:pt idx="52">
                  <c:v>74.1</c:v>
                </c:pt>
                <c:pt idx="53">
                  <c:v>73.5</c:v>
                </c:pt>
                <c:pt idx="54">
                  <c:v>73.3</c:v>
                </c:pt>
                <c:pt idx="55">
                  <c:v>73.3</c:v>
                </c:pt>
                <c:pt idx="56">
                  <c:v>73.5</c:v>
                </c:pt>
                <c:pt idx="57">
                  <c:v>73.2</c:v>
                </c:pt>
                <c:pt idx="58">
                  <c:v>73</c:v>
                </c:pt>
                <c:pt idx="59">
                  <c:v>72</c:v>
                </c:pt>
                <c:pt idx="60">
                  <c:v>71.2</c:v>
                </c:pt>
                <c:pt idx="61">
                  <c:v>70.5</c:v>
                </c:pt>
                <c:pt idx="62">
                  <c:v>70.2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1207936"/>
        <c:axId val="451209472"/>
      </c:scatterChart>
      <c:valAx>
        <c:axId val="451207936"/>
        <c:scaling>
          <c:orientation val="minMax"/>
          <c:max val="2015"/>
          <c:min val="1950"/>
        </c:scaling>
        <c:delete val="0"/>
        <c:axPos val="b"/>
        <c:numFmt formatCode="0" sourceLinked="0"/>
        <c:majorTickMark val="cross"/>
        <c:minorTickMark val="in"/>
        <c:tickLblPos val="nextTo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51209472"/>
        <c:crosses val="autoZero"/>
        <c:crossBetween val="midCat"/>
        <c:majorUnit val="10"/>
        <c:minorUnit val="1"/>
      </c:valAx>
      <c:valAx>
        <c:axId val="451209472"/>
        <c:scaling>
          <c:orientation val="minMax"/>
          <c:max val="90"/>
          <c:min val="2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51207936"/>
        <c:crosses val="autoZero"/>
        <c:crossBetween val="midCat"/>
        <c:majorUnit val="10"/>
        <c:minorUnit val="2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9928219317247"/>
          <c:y val="0.0562911141428988"/>
          <c:w val="0.890944925132848"/>
          <c:h val="0.857372299783558"/>
        </c:manualLayout>
      </c:layout>
      <c:lineChart>
        <c:grouping val="standard"/>
        <c:varyColors val="0"/>
        <c:ser>
          <c:idx val="1"/>
          <c:order val="0"/>
          <c:tx>
            <c:strRef>
              <c:f>Sheet1!$D$1</c:f>
              <c:strCache>
                <c:ptCount val="1"/>
                <c:pt idx="0">
                  <c:v>女性</c:v>
                </c:pt>
              </c:strCache>
            </c:strRef>
          </c:tx>
          <c:spPr>
            <a:ln w="47625" cap="rnd">
              <a:solidFill>
                <a:srgbClr val="D6009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Sheet1!$A$2:$A$42</c:f>
              <c:numCache>
                <c:formatCode>General</c:formatCode>
                <c:ptCount val="41"/>
                <c:pt idx="0">
                  <c:v>1978</c:v>
                </c:pt>
                <c:pt idx="6">
                  <c:v>1985</c:v>
                </c:pt>
                <c:pt idx="11">
                  <c:v>1990</c:v>
                </c:pt>
                <c:pt idx="16">
                  <c:v>1995</c:v>
                </c:pt>
                <c:pt idx="21">
                  <c:v>2000</c:v>
                </c:pt>
                <c:pt idx="26">
                  <c:v>2005</c:v>
                </c:pt>
                <c:pt idx="31">
                  <c:v>2010</c:v>
                </c:pt>
                <c:pt idx="36">
                  <c:v>2015</c:v>
                </c:pt>
                <c:pt idx="40">
                  <c:v>2019</c:v>
                </c:pt>
              </c:numCache>
            </c:num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32.9</c:v>
                </c:pt>
                <c:pt idx="1">
                  <c:v>35.4</c:v>
                </c:pt>
                <c:pt idx="2">
                  <c:v>36</c:v>
                </c:pt>
                <c:pt idx="3">
                  <c:v>36.3</c:v>
                </c:pt>
                <c:pt idx="4">
                  <c:v>36.5</c:v>
                </c:pt>
                <c:pt idx="5">
                  <c:v>36.4</c:v>
                </c:pt>
                <c:pt idx="6">
                  <c:v>36.4</c:v>
                </c:pt>
                <c:pt idx="7">
                  <c:v>36.6</c:v>
                </c:pt>
                <c:pt idx="8">
                  <c:v>36.8</c:v>
                </c:pt>
                <c:pt idx="9">
                  <c:v>37</c:v>
                </c:pt>
                <c:pt idx="10">
                  <c:v>37.4</c:v>
                </c:pt>
                <c:pt idx="11">
                  <c:v>37.7</c:v>
                </c:pt>
                <c:pt idx="12">
                  <c:v>37.8</c:v>
                </c:pt>
                <c:pt idx="13">
                  <c:v>37.8</c:v>
                </c:pt>
                <c:pt idx="14">
                  <c:v>37.3</c:v>
                </c:pt>
                <c:pt idx="15">
                  <c:v>38</c:v>
                </c:pt>
                <c:pt idx="16">
                  <c:v>38.5</c:v>
                </c:pt>
                <c:pt idx="17">
                  <c:v>38.9</c:v>
                </c:pt>
                <c:pt idx="18">
                  <c:v>38.8</c:v>
                </c:pt>
                <c:pt idx="19">
                  <c:v>38</c:v>
                </c:pt>
                <c:pt idx="20">
                  <c:v>37.8</c:v>
                </c:pt>
                <c:pt idx="21">
                  <c:v>37.9</c:v>
                </c:pt>
                <c:pt idx="22">
                  <c:v>37.6</c:v>
                </c:pt>
                <c:pt idx="23">
                  <c:v>37.8</c:v>
                </c:pt>
                <c:pt idx="24">
                  <c:v>37.9</c:v>
                </c:pt>
                <c:pt idx="25">
                  <c:v>38.1</c:v>
                </c:pt>
                <c:pt idx="26">
                  <c:v>37.9</c:v>
                </c:pt>
                <c:pt idx="27">
                  <c:v>38</c:v>
                </c:pt>
                <c:pt idx="28">
                  <c:v>37.8</c:v>
                </c:pt>
                <c:pt idx="29">
                  <c:v>37.6</c:v>
                </c:pt>
                <c:pt idx="30">
                  <c:v>37.2</c:v>
                </c:pt>
                <c:pt idx="31">
                  <c:v>37.2</c:v>
                </c:pt>
                <c:pt idx="32">
                  <c:v>36.3</c:v>
                </c:pt>
                <c:pt idx="33">
                  <c:v>35.8</c:v>
                </c:pt>
                <c:pt idx="34">
                  <c:v>35</c:v>
                </c:pt>
                <c:pt idx="35">
                  <c:v>35.8</c:v>
                </c:pt>
                <c:pt idx="36">
                  <c:v>36.1</c:v>
                </c:pt>
                <c:pt idx="37">
                  <c:v>36.4</c:v>
                </c:pt>
                <c:pt idx="38">
                  <c:v>37.1</c:v>
                </c:pt>
                <c:pt idx="39">
                  <c:v>37.2</c:v>
                </c:pt>
                <c:pt idx="40">
                  <c:v>38.9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Sheet1!$E$1</c:f>
              <c:strCache>
                <c:ptCount val="1"/>
                <c:pt idx="0">
                  <c:v>男性</c:v>
                </c:pt>
              </c:strCache>
            </c:strRef>
          </c:tx>
          <c:spPr>
            <a:ln w="4762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Sheet1!$A$2:$A$42</c:f>
              <c:numCache>
                <c:formatCode>General</c:formatCode>
                <c:ptCount val="41"/>
                <c:pt idx="0">
                  <c:v>1978</c:v>
                </c:pt>
                <c:pt idx="6">
                  <c:v>1985</c:v>
                </c:pt>
                <c:pt idx="11">
                  <c:v>1990</c:v>
                </c:pt>
                <c:pt idx="16">
                  <c:v>1995</c:v>
                </c:pt>
                <c:pt idx="21">
                  <c:v>2000</c:v>
                </c:pt>
                <c:pt idx="26">
                  <c:v>2005</c:v>
                </c:pt>
                <c:pt idx="31">
                  <c:v>2010</c:v>
                </c:pt>
                <c:pt idx="36">
                  <c:v>2015</c:v>
                </c:pt>
                <c:pt idx="40">
                  <c:v>2019</c:v>
                </c:pt>
              </c:numCache>
            </c:num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67.1</c:v>
                </c:pt>
                <c:pt idx="1">
                  <c:v>64.6</c:v>
                </c:pt>
                <c:pt idx="2">
                  <c:v>64</c:v>
                </c:pt>
                <c:pt idx="3">
                  <c:v>63.7</c:v>
                </c:pt>
                <c:pt idx="4">
                  <c:v>63.5</c:v>
                </c:pt>
                <c:pt idx="5">
                  <c:v>63.6</c:v>
                </c:pt>
                <c:pt idx="6">
                  <c:v>63.6</c:v>
                </c:pt>
                <c:pt idx="7">
                  <c:v>63.4</c:v>
                </c:pt>
                <c:pt idx="8">
                  <c:v>63.2</c:v>
                </c:pt>
                <c:pt idx="9">
                  <c:v>63</c:v>
                </c:pt>
                <c:pt idx="10">
                  <c:v>62.6</c:v>
                </c:pt>
                <c:pt idx="11">
                  <c:v>62.3</c:v>
                </c:pt>
                <c:pt idx="12">
                  <c:v>62.2</c:v>
                </c:pt>
                <c:pt idx="13">
                  <c:v>62.2</c:v>
                </c:pt>
                <c:pt idx="14">
                  <c:v>62.7</c:v>
                </c:pt>
                <c:pt idx="15">
                  <c:v>62</c:v>
                </c:pt>
                <c:pt idx="16">
                  <c:v>61.5</c:v>
                </c:pt>
                <c:pt idx="17">
                  <c:v>61.1</c:v>
                </c:pt>
                <c:pt idx="18">
                  <c:v>61.2</c:v>
                </c:pt>
                <c:pt idx="19">
                  <c:v>62</c:v>
                </c:pt>
                <c:pt idx="20">
                  <c:v>62.2</c:v>
                </c:pt>
                <c:pt idx="21">
                  <c:v>62.1</c:v>
                </c:pt>
                <c:pt idx="22">
                  <c:v>62.4</c:v>
                </c:pt>
                <c:pt idx="23">
                  <c:v>62.2</c:v>
                </c:pt>
                <c:pt idx="24">
                  <c:v>62.1</c:v>
                </c:pt>
                <c:pt idx="25">
                  <c:v>61.9</c:v>
                </c:pt>
                <c:pt idx="26">
                  <c:v>62.1</c:v>
                </c:pt>
                <c:pt idx="27">
                  <c:v>62</c:v>
                </c:pt>
                <c:pt idx="28">
                  <c:v>62.2</c:v>
                </c:pt>
                <c:pt idx="29">
                  <c:v>62.4</c:v>
                </c:pt>
                <c:pt idx="30">
                  <c:v>62.8</c:v>
                </c:pt>
                <c:pt idx="31">
                  <c:v>62.8</c:v>
                </c:pt>
                <c:pt idx="32">
                  <c:v>63.7</c:v>
                </c:pt>
                <c:pt idx="33">
                  <c:v>64.2</c:v>
                </c:pt>
                <c:pt idx="34">
                  <c:v>65</c:v>
                </c:pt>
                <c:pt idx="35">
                  <c:v>64.2</c:v>
                </c:pt>
                <c:pt idx="36">
                  <c:v>63.9</c:v>
                </c:pt>
                <c:pt idx="37">
                  <c:v>63.6</c:v>
                </c:pt>
                <c:pt idx="38">
                  <c:v>62.9</c:v>
                </c:pt>
                <c:pt idx="39">
                  <c:v>62.8</c:v>
                </c:pt>
                <c:pt idx="40">
                  <c:v>61.1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41688832"/>
        <c:axId val="441690368"/>
      </c:lineChart>
      <c:catAx>
        <c:axId val="441688832"/>
        <c:scaling>
          <c:orientation val="minMax"/>
        </c:scaling>
        <c:delete val="0"/>
        <c:axPos val="b"/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41690368"/>
        <c:crosses val="autoZero"/>
        <c:auto val="1"/>
        <c:lblAlgn val="ctr"/>
        <c:lblOffset val="100"/>
        <c:noMultiLvlLbl val="0"/>
      </c:catAx>
      <c:valAx>
        <c:axId val="441690368"/>
        <c:scaling>
          <c:orientation val="minMax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41688832"/>
        <c:crosses val="autoZero"/>
        <c:crossBetween val="between"/>
        <c:majorUnit val="10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32682897720492"/>
          <c:y val="0.0341282184205979"/>
          <c:w val="0.900704141305645"/>
          <c:h val="0.87264558493174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Unemployment</c:v>
                </c:pt>
              </c:strCache>
            </c:strRef>
          </c:tx>
          <c:spPr>
            <a:ln w="44450" cap="rnd" cmpd="sng" algn="ctr">
              <a:solidFill>
                <a:srgbClr val="FF0000"/>
              </a:solidFill>
              <a:prstDash val="solid"/>
              <a:round/>
            </a:ln>
            <a:effectLst>
              <a:outerShdw blurRad="25400" dist="38100" dir="2700000" algn="tl" rotWithShape="0">
                <a:srgbClr val="BFBFBF"/>
              </a:outerShdw>
            </a:effectLst>
          </c:spPr>
          <c:marker>
            <c:symbol val="none"/>
          </c:marker>
          <c:dLbls>
            <c:delete val="1"/>
          </c:dLbls>
          <c:xVal>
            <c:numRef>
              <c:f>Sheet1!$A$8:$A$219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Sheet1!$B$8:$B$219</c:f>
              <c:numCache>
                <c:formatCode>0.0</c:formatCode>
                <c:ptCount val="212"/>
                <c:pt idx="0">
                  <c:v>5.1</c:v>
                </c:pt>
                <c:pt idx="1">
                  <c:v>5.2</c:v>
                </c:pt>
                <c:pt idx="2">
                  <c:v>5.5</c:v>
                </c:pt>
                <c:pt idx="3">
                  <c:v>6.3</c:v>
                </c:pt>
                <c:pt idx="4">
                  <c:v>6.8</c:v>
                </c:pt>
                <c:pt idx="5">
                  <c:v>7</c:v>
                </c:pt>
                <c:pt idx="6">
                  <c:v>6.8</c:v>
                </c:pt>
                <c:pt idx="7">
                  <c:v>6.2</c:v>
                </c:pt>
                <c:pt idx="8">
                  <c:v>5.6</c:v>
                </c:pt>
                <c:pt idx="9">
                  <c:v>5.5</c:v>
                </c:pt>
                <c:pt idx="10">
                  <c:v>5.6</c:v>
                </c:pt>
                <c:pt idx="11">
                  <c:v>5.5</c:v>
                </c:pt>
                <c:pt idx="12">
                  <c:v>5.8</c:v>
                </c:pt>
                <c:pt idx="13">
                  <c:v>5.7</c:v>
                </c:pt>
                <c:pt idx="14">
                  <c:v>5.5</c:v>
                </c:pt>
                <c:pt idx="15">
                  <c:v>5.6</c:v>
                </c:pt>
                <c:pt idx="16">
                  <c:v>5.5</c:v>
                </c:pt>
                <c:pt idx="17">
                  <c:v>5.2</c:v>
                </c:pt>
                <c:pt idx="18">
                  <c:v>5</c:v>
                </c:pt>
                <c:pt idx="19">
                  <c:v>5</c:v>
                </c:pt>
                <c:pt idx="20">
                  <c:v>4.9</c:v>
                </c:pt>
                <c:pt idx="21">
                  <c:v>4.7</c:v>
                </c:pt>
                <c:pt idx="22">
                  <c:v>4.4</c:v>
                </c:pt>
                <c:pt idx="23">
                  <c:v>4.1</c:v>
                </c:pt>
                <c:pt idx="24">
                  <c:v>3.9</c:v>
                </c:pt>
                <c:pt idx="25">
                  <c:v>3.8</c:v>
                </c:pt>
                <c:pt idx="26">
                  <c:v>3.8</c:v>
                </c:pt>
                <c:pt idx="27">
                  <c:v>3.7</c:v>
                </c:pt>
                <c:pt idx="28">
                  <c:v>3.8</c:v>
                </c:pt>
                <c:pt idx="29">
                  <c:v>3.8</c:v>
                </c:pt>
                <c:pt idx="30">
                  <c:v>3.8</c:v>
                </c:pt>
                <c:pt idx="31">
                  <c:v>3.9</c:v>
                </c:pt>
                <c:pt idx="32">
                  <c:v>3.7</c:v>
                </c:pt>
                <c:pt idx="33">
                  <c:v>3.6</c:v>
                </c:pt>
                <c:pt idx="34">
                  <c:v>3.5</c:v>
                </c:pt>
                <c:pt idx="35">
                  <c:v>3.4</c:v>
                </c:pt>
                <c:pt idx="36">
                  <c:v>3.4</c:v>
                </c:pt>
                <c:pt idx="37">
                  <c:v>3.4</c:v>
                </c:pt>
                <c:pt idx="38">
                  <c:v>3.6</c:v>
                </c:pt>
                <c:pt idx="39">
                  <c:v>3.6</c:v>
                </c:pt>
                <c:pt idx="40">
                  <c:v>4.2</c:v>
                </c:pt>
                <c:pt idx="41">
                  <c:v>4.8</c:v>
                </c:pt>
                <c:pt idx="42">
                  <c:v>5.2</c:v>
                </c:pt>
                <c:pt idx="43">
                  <c:v>5.8</c:v>
                </c:pt>
                <c:pt idx="44">
                  <c:v>5.9</c:v>
                </c:pt>
                <c:pt idx="45">
                  <c:v>5.9</c:v>
                </c:pt>
                <c:pt idx="46">
                  <c:v>6</c:v>
                </c:pt>
                <c:pt idx="47">
                  <c:v>5.9</c:v>
                </c:pt>
                <c:pt idx="48">
                  <c:v>5.8</c:v>
                </c:pt>
                <c:pt idx="49">
                  <c:v>5.7</c:v>
                </c:pt>
                <c:pt idx="50">
                  <c:v>5.6</c:v>
                </c:pt>
                <c:pt idx="51">
                  <c:v>5.4</c:v>
                </c:pt>
                <c:pt idx="52">
                  <c:v>4.9</c:v>
                </c:pt>
                <c:pt idx="53">
                  <c:v>4.9</c:v>
                </c:pt>
                <c:pt idx="54">
                  <c:v>4.8</c:v>
                </c:pt>
                <c:pt idx="55">
                  <c:v>4.8</c:v>
                </c:pt>
                <c:pt idx="56">
                  <c:v>5.1</c:v>
                </c:pt>
                <c:pt idx="57">
                  <c:v>5.2</c:v>
                </c:pt>
                <c:pt idx="58">
                  <c:v>5.6</c:v>
                </c:pt>
                <c:pt idx="59">
                  <c:v>6.6</c:v>
                </c:pt>
                <c:pt idx="60">
                  <c:v>8.3</c:v>
                </c:pt>
                <c:pt idx="61">
                  <c:v>8.9</c:v>
                </c:pt>
                <c:pt idx="62">
                  <c:v>8.5</c:v>
                </c:pt>
                <c:pt idx="63">
                  <c:v>8.3</c:v>
                </c:pt>
                <c:pt idx="64">
                  <c:v>7.7</c:v>
                </c:pt>
                <c:pt idx="65">
                  <c:v>7.6</c:v>
                </c:pt>
                <c:pt idx="66">
                  <c:v>7.7</c:v>
                </c:pt>
                <c:pt idx="67">
                  <c:v>7.8</c:v>
                </c:pt>
                <c:pt idx="68">
                  <c:v>7.5</c:v>
                </c:pt>
                <c:pt idx="69">
                  <c:v>7.1</c:v>
                </c:pt>
                <c:pt idx="70">
                  <c:v>6.9</c:v>
                </c:pt>
                <c:pt idx="71">
                  <c:v>6.7</c:v>
                </c:pt>
                <c:pt idx="72">
                  <c:v>6.3</c:v>
                </c:pt>
                <c:pt idx="73">
                  <c:v>6</c:v>
                </c:pt>
                <c:pt idx="74">
                  <c:v>6</c:v>
                </c:pt>
                <c:pt idx="75">
                  <c:v>5.9</c:v>
                </c:pt>
                <c:pt idx="76">
                  <c:v>5.9</c:v>
                </c:pt>
                <c:pt idx="77">
                  <c:v>5.7</c:v>
                </c:pt>
                <c:pt idx="78">
                  <c:v>5.9</c:v>
                </c:pt>
                <c:pt idx="79">
                  <c:v>6</c:v>
                </c:pt>
                <c:pt idx="80">
                  <c:v>6.3</c:v>
                </c:pt>
                <c:pt idx="81">
                  <c:v>7.3</c:v>
                </c:pt>
                <c:pt idx="82">
                  <c:v>7.7</c:v>
                </c:pt>
                <c:pt idx="83">
                  <c:v>7.4</c:v>
                </c:pt>
                <c:pt idx="84">
                  <c:v>7.4</c:v>
                </c:pt>
                <c:pt idx="85">
                  <c:v>7.4</c:v>
                </c:pt>
                <c:pt idx="86">
                  <c:v>7.4</c:v>
                </c:pt>
                <c:pt idx="87">
                  <c:v>8.2</c:v>
                </c:pt>
                <c:pt idx="88">
                  <c:v>8.8</c:v>
                </c:pt>
                <c:pt idx="89">
                  <c:v>9.4</c:v>
                </c:pt>
                <c:pt idx="90">
                  <c:v>9.9</c:v>
                </c:pt>
                <c:pt idx="91">
                  <c:v>10.7</c:v>
                </c:pt>
                <c:pt idx="92">
                  <c:v>10.4</c:v>
                </c:pt>
                <c:pt idx="93">
                  <c:v>10.1</c:v>
                </c:pt>
                <c:pt idx="94">
                  <c:v>9.4</c:v>
                </c:pt>
                <c:pt idx="95">
                  <c:v>8.5</c:v>
                </c:pt>
                <c:pt idx="96">
                  <c:v>7.9</c:v>
                </c:pt>
                <c:pt idx="97">
                  <c:v>7.4</c:v>
                </c:pt>
                <c:pt idx="98">
                  <c:v>7.4</c:v>
                </c:pt>
                <c:pt idx="99">
                  <c:v>7.3</c:v>
                </c:pt>
                <c:pt idx="100">
                  <c:v>7.2</c:v>
                </c:pt>
                <c:pt idx="101">
                  <c:v>7.3</c:v>
                </c:pt>
                <c:pt idx="102">
                  <c:v>7.2</c:v>
                </c:pt>
                <c:pt idx="103">
                  <c:v>7</c:v>
                </c:pt>
                <c:pt idx="104">
                  <c:v>7</c:v>
                </c:pt>
                <c:pt idx="105">
                  <c:v>7.2</c:v>
                </c:pt>
                <c:pt idx="106">
                  <c:v>7</c:v>
                </c:pt>
                <c:pt idx="107">
                  <c:v>6.8</c:v>
                </c:pt>
                <c:pt idx="108">
                  <c:v>6.6</c:v>
                </c:pt>
                <c:pt idx="109">
                  <c:v>6.3</c:v>
                </c:pt>
                <c:pt idx="110">
                  <c:v>6</c:v>
                </c:pt>
                <c:pt idx="111">
                  <c:v>5.8</c:v>
                </c:pt>
                <c:pt idx="112">
                  <c:v>5.7</c:v>
                </c:pt>
                <c:pt idx="113">
                  <c:v>5.5</c:v>
                </c:pt>
                <c:pt idx="114">
                  <c:v>5.5</c:v>
                </c:pt>
                <c:pt idx="115">
                  <c:v>5.3</c:v>
                </c:pt>
                <c:pt idx="116">
                  <c:v>5.2</c:v>
                </c:pt>
                <c:pt idx="117">
                  <c:v>5.2</c:v>
                </c:pt>
                <c:pt idx="118">
                  <c:v>5.2</c:v>
                </c:pt>
                <c:pt idx="119">
                  <c:v>5.4</c:v>
                </c:pt>
                <c:pt idx="120">
                  <c:v>5.3</c:v>
                </c:pt>
                <c:pt idx="121">
                  <c:v>5.3</c:v>
                </c:pt>
                <c:pt idx="122">
                  <c:v>5.7</c:v>
                </c:pt>
                <c:pt idx="123">
                  <c:v>6.1</c:v>
                </c:pt>
                <c:pt idx="124">
                  <c:v>6.6</c:v>
                </c:pt>
                <c:pt idx="125">
                  <c:v>6.8</c:v>
                </c:pt>
                <c:pt idx="126">
                  <c:v>6.9</c:v>
                </c:pt>
                <c:pt idx="127">
                  <c:v>7.1</c:v>
                </c:pt>
                <c:pt idx="128">
                  <c:v>7.4</c:v>
                </c:pt>
                <c:pt idx="129">
                  <c:v>7.6</c:v>
                </c:pt>
                <c:pt idx="130">
                  <c:v>7.6</c:v>
                </c:pt>
                <c:pt idx="131">
                  <c:v>7.4</c:v>
                </c:pt>
                <c:pt idx="132">
                  <c:v>7.1</c:v>
                </c:pt>
                <c:pt idx="133">
                  <c:v>7.1</c:v>
                </c:pt>
                <c:pt idx="134">
                  <c:v>6.8</c:v>
                </c:pt>
                <c:pt idx="135">
                  <c:v>6.6</c:v>
                </c:pt>
                <c:pt idx="136">
                  <c:v>6.6</c:v>
                </c:pt>
                <c:pt idx="137">
                  <c:v>6.2</c:v>
                </c:pt>
                <c:pt idx="138">
                  <c:v>6</c:v>
                </c:pt>
                <c:pt idx="139">
                  <c:v>5.6</c:v>
                </c:pt>
                <c:pt idx="140">
                  <c:v>5.5</c:v>
                </c:pt>
                <c:pt idx="141">
                  <c:v>5.7</c:v>
                </c:pt>
                <c:pt idx="142">
                  <c:v>5.7</c:v>
                </c:pt>
                <c:pt idx="143">
                  <c:v>5.6</c:v>
                </c:pt>
                <c:pt idx="144">
                  <c:v>5.5</c:v>
                </c:pt>
                <c:pt idx="145">
                  <c:v>5.5</c:v>
                </c:pt>
                <c:pt idx="146">
                  <c:v>5.3</c:v>
                </c:pt>
                <c:pt idx="147">
                  <c:v>5.3</c:v>
                </c:pt>
                <c:pt idx="148">
                  <c:v>5.2</c:v>
                </c:pt>
                <c:pt idx="149">
                  <c:v>5</c:v>
                </c:pt>
                <c:pt idx="150">
                  <c:v>4.9</c:v>
                </c:pt>
                <c:pt idx="151">
                  <c:v>4.7</c:v>
                </c:pt>
                <c:pt idx="152">
                  <c:v>4.6</c:v>
                </c:pt>
                <c:pt idx="153">
                  <c:v>4.4</c:v>
                </c:pt>
                <c:pt idx="154">
                  <c:v>4.5</c:v>
                </c:pt>
                <c:pt idx="155">
                  <c:v>4.4</c:v>
                </c:pt>
                <c:pt idx="156">
                  <c:v>4.3</c:v>
                </c:pt>
                <c:pt idx="157">
                  <c:v>4.3</c:v>
                </c:pt>
                <c:pt idx="158">
                  <c:v>4.2</c:v>
                </c:pt>
                <c:pt idx="159">
                  <c:v>4.1</c:v>
                </c:pt>
                <c:pt idx="160">
                  <c:v>4</c:v>
                </c:pt>
                <c:pt idx="161">
                  <c:v>3.9</c:v>
                </c:pt>
                <c:pt idx="162">
                  <c:v>4</c:v>
                </c:pt>
                <c:pt idx="163">
                  <c:v>3.9</c:v>
                </c:pt>
                <c:pt idx="164">
                  <c:v>4.2</c:v>
                </c:pt>
                <c:pt idx="165">
                  <c:v>4.4</c:v>
                </c:pt>
                <c:pt idx="166">
                  <c:v>4.8</c:v>
                </c:pt>
                <c:pt idx="167">
                  <c:v>5.5</c:v>
                </c:pt>
                <c:pt idx="168">
                  <c:v>5.7</c:v>
                </c:pt>
                <c:pt idx="169">
                  <c:v>5.8</c:v>
                </c:pt>
                <c:pt idx="170">
                  <c:v>5.7</c:v>
                </c:pt>
                <c:pt idx="171">
                  <c:v>5.9</c:v>
                </c:pt>
                <c:pt idx="172">
                  <c:v>5.9</c:v>
                </c:pt>
                <c:pt idx="173">
                  <c:v>6.1</c:v>
                </c:pt>
                <c:pt idx="174">
                  <c:v>6.1</c:v>
                </c:pt>
                <c:pt idx="175">
                  <c:v>5.8</c:v>
                </c:pt>
                <c:pt idx="176">
                  <c:v>5.7</c:v>
                </c:pt>
                <c:pt idx="177">
                  <c:v>5.6</c:v>
                </c:pt>
                <c:pt idx="178">
                  <c:v>5.4</c:v>
                </c:pt>
                <c:pt idx="179">
                  <c:v>5.4</c:v>
                </c:pt>
                <c:pt idx="180">
                  <c:v>5.3</c:v>
                </c:pt>
                <c:pt idx="181">
                  <c:v>5.1</c:v>
                </c:pt>
                <c:pt idx="182">
                  <c:v>5</c:v>
                </c:pt>
                <c:pt idx="183">
                  <c:v>5</c:v>
                </c:pt>
                <c:pt idx="184">
                  <c:v>4.7</c:v>
                </c:pt>
                <c:pt idx="185">
                  <c:v>4.6</c:v>
                </c:pt>
                <c:pt idx="186">
                  <c:v>4.6</c:v>
                </c:pt>
                <c:pt idx="187">
                  <c:v>4.4</c:v>
                </c:pt>
                <c:pt idx="188">
                  <c:v>4.5</c:v>
                </c:pt>
                <c:pt idx="189">
                  <c:v>4.5</c:v>
                </c:pt>
                <c:pt idx="190">
                  <c:v>4.7</c:v>
                </c:pt>
                <c:pt idx="191">
                  <c:v>4.8</c:v>
                </c:pt>
                <c:pt idx="192">
                  <c:v>5</c:v>
                </c:pt>
                <c:pt idx="193">
                  <c:v>5.3</c:v>
                </c:pt>
                <c:pt idx="194">
                  <c:v>6</c:v>
                </c:pt>
                <c:pt idx="195">
                  <c:v>6.9</c:v>
                </c:pt>
                <c:pt idx="196">
                  <c:v>8.3</c:v>
                </c:pt>
                <c:pt idx="197">
                  <c:v>9.3</c:v>
                </c:pt>
                <c:pt idx="198">
                  <c:v>9.6</c:v>
                </c:pt>
                <c:pt idx="199">
                  <c:v>9.9</c:v>
                </c:pt>
                <c:pt idx="200">
                  <c:v>9.8</c:v>
                </c:pt>
                <c:pt idx="201">
                  <c:v>9.6</c:v>
                </c:pt>
                <c:pt idx="202">
                  <c:v>9.5</c:v>
                </c:pt>
                <c:pt idx="203">
                  <c:v>9.5</c:v>
                </c:pt>
                <c:pt idx="204">
                  <c:v>9</c:v>
                </c:pt>
                <c:pt idx="205">
                  <c:v>9</c:v>
                </c:pt>
                <c:pt idx="206">
                  <c:v>9</c:v>
                </c:pt>
                <c:pt idx="207">
                  <c:v>8.7</c:v>
                </c:pt>
                <c:pt idx="208">
                  <c:v>8.3</c:v>
                </c:pt>
                <c:pt idx="209">
                  <c:v>8.2</c:v>
                </c:pt>
                <c:pt idx="210">
                  <c:v>8</c:v>
                </c:pt>
                <c:pt idx="211">
                  <c:v>7.8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Sheet1!$C$7</c:f>
              <c:strCache>
                <c:ptCount val="1"/>
                <c:pt idx="0">
                  <c:v>N. Unemployment</c:v>
                </c:pt>
              </c:strCache>
            </c:strRef>
          </c:tx>
          <c:spPr>
            <a:ln w="44450" cap="rnd" cmpd="sng" algn="ctr">
              <a:solidFill>
                <a:srgbClr val="0000FF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Sheet1!$A$8:$A$219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Sheet1!$C$8:$C$219</c:f>
              <c:numCache>
                <c:formatCode>0.0</c:formatCode>
                <c:ptCount val="212"/>
                <c:pt idx="0">
                  <c:v>4.64375</c:v>
                </c:pt>
                <c:pt idx="1">
                  <c:v>4.61625</c:v>
                </c:pt>
                <c:pt idx="2">
                  <c:v>4.60625</c:v>
                </c:pt>
                <c:pt idx="3">
                  <c:v>4.61375</c:v>
                </c:pt>
                <c:pt idx="4">
                  <c:v>4.63375</c:v>
                </c:pt>
                <c:pt idx="5">
                  <c:v>4.66375</c:v>
                </c:pt>
                <c:pt idx="6">
                  <c:v>4.69875</c:v>
                </c:pt>
                <c:pt idx="7">
                  <c:v>4.73375</c:v>
                </c:pt>
                <c:pt idx="8">
                  <c:v>4.76499999999999</c:v>
                </c:pt>
                <c:pt idx="9">
                  <c:v>4.79875</c:v>
                </c:pt>
                <c:pt idx="10">
                  <c:v>4.8325</c:v>
                </c:pt>
                <c:pt idx="11">
                  <c:v>4.86249999999999</c:v>
                </c:pt>
                <c:pt idx="12">
                  <c:v>4.89499999999999</c:v>
                </c:pt>
                <c:pt idx="13">
                  <c:v>4.9225</c:v>
                </c:pt>
                <c:pt idx="14">
                  <c:v>4.95125</c:v>
                </c:pt>
                <c:pt idx="15">
                  <c:v>4.9775</c:v>
                </c:pt>
                <c:pt idx="16">
                  <c:v>4.99125</c:v>
                </c:pt>
                <c:pt idx="17">
                  <c:v>4.98875</c:v>
                </c:pt>
                <c:pt idx="18">
                  <c:v>4.98125</c:v>
                </c:pt>
                <c:pt idx="19">
                  <c:v>4.97625</c:v>
                </c:pt>
                <c:pt idx="20">
                  <c:v>4.9925</c:v>
                </c:pt>
                <c:pt idx="21">
                  <c:v>5.0375</c:v>
                </c:pt>
                <c:pt idx="22">
                  <c:v>5.09375</c:v>
                </c:pt>
                <c:pt idx="23">
                  <c:v>5.14875</c:v>
                </c:pt>
                <c:pt idx="24">
                  <c:v>5.2</c:v>
                </c:pt>
                <c:pt idx="25">
                  <c:v>5.24625</c:v>
                </c:pt>
                <c:pt idx="26">
                  <c:v>5.28875</c:v>
                </c:pt>
                <c:pt idx="27">
                  <c:v>5.33375</c:v>
                </c:pt>
                <c:pt idx="28">
                  <c:v>5.38</c:v>
                </c:pt>
                <c:pt idx="29">
                  <c:v>5.42499999999999</c:v>
                </c:pt>
                <c:pt idx="30">
                  <c:v>5.4625</c:v>
                </c:pt>
                <c:pt idx="31">
                  <c:v>5.49625</c:v>
                </c:pt>
                <c:pt idx="32">
                  <c:v>5.51875</c:v>
                </c:pt>
                <c:pt idx="33">
                  <c:v>5.51875</c:v>
                </c:pt>
                <c:pt idx="34">
                  <c:v>5.50125</c:v>
                </c:pt>
                <c:pt idx="35">
                  <c:v>5.485</c:v>
                </c:pt>
                <c:pt idx="36">
                  <c:v>5.47875</c:v>
                </c:pt>
                <c:pt idx="37">
                  <c:v>5.48</c:v>
                </c:pt>
                <c:pt idx="38">
                  <c:v>5.4875</c:v>
                </c:pt>
                <c:pt idx="39">
                  <c:v>5.495</c:v>
                </c:pt>
                <c:pt idx="40">
                  <c:v>5.5</c:v>
                </c:pt>
                <c:pt idx="41">
                  <c:v>5.515</c:v>
                </c:pt>
                <c:pt idx="42">
                  <c:v>5.54125</c:v>
                </c:pt>
                <c:pt idx="43">
                  <c:v>5.56875</c:v>
                </c:pt>
                <c:pt idx="44">
                  <c:v>5.5825</c:v>
                </c:pt>
                <c:pt idx="45">
                  <c:v>5.59</c:v>
                </c:pt>
                <c:pt idx="46">
                  <c:v>5.59499999999999</c:v>
                </c:pt>
                <c:pt idx="47">
                  <c:v>5.6025</c:v>
                </c:pt>
                <c:pt idx="48">
                  <c:v>5.62749999999999</c:v>
                </c:pt>
                <c:pt idx="49">
                  <c:v>5.66749999999999</c:v>
                </c:pt>
                <c:pt idx="50">
                  <c:v>5.71625</c:v>
                </c:pt>
                <c:pt idx="51">
                  <c:v>5.77</c:v>
                </c:pt>
                <c:pt idx="52">
                  <c:v>5.83499999999999</c:v>
                </c:pt>
                <c:pt idx="53">
                  <c:v>5.8925</c:v>
                </c:pt>
                <c:pt idx="54">
                  <c:v>5.9475</c:v>
                </c:pt>
                <c:pt idx="55">
                  <c:v>5.99625</c:v>
                </c:pt>
                <c:pt idx="56">
                  <c:v>6.0325</c:v>
                </c:pt>
                <c:pt idx="57">
                  <c:v>6.0625</c:v>
                </c:pt>
                <c:pt idx="58">
                  <c:v>6.09</c:v>
                </c:pt>
                <c:pt idx="59">
                  <c:v>6.12</c:v>
                </c:pt>
                <c:pt idx="60">
                  <c:v>6.14875</c:v>
                </c:pt>
                <c:pt idx="61">
                  <c:v>6.1775</c:v>
                </c:pt>
                <c:pt idx="62">
                  <c:v>6.21</c:v>
                </c:pt>
                <c:pt idx="63">
                  <c:v>6.245</c:v>
                </c:pt>
                <c:pt idx="64">
                  <c:v>6.28125</c:v>
                </c:pt>
                <c:pt idx="65">
                  <c:v>6.32</c:v>
                </c:pt>
                <c:pt idx="66">
                  <c:v>6.36249999999999</c:v>
                </c:pt>
                <c:pt idx="67">
                  <c:v>6.4025</c:v>
                </c:pt>
                <c:pt idx="68">
                  <c:v>6.44125</c:v>
                </c:pt>
                <c:pt idx="69">
                  <c:v>6.47625</c:v>
                </c:pt>
                <c:pt idx="70">
                  <c:v>6.5075</c:v>
                </c:pt>
                <c:pt idx="71">
                  <c:v>6.535</c:v>
                </c:pt>
                <c:pt idx="72">
                  <c:v>6.55875</c:v>
                </c:pt>
                <c:pt idx="73">
                  <c:v>6.58375</c:v>
                </c:pt>
                <c:pt idx="74">
                  <c:v>6.60749999999999</c:v>
                </c:pt>
                <c:pt idx="75">
                  <c:v>6.6325</c:v>
                </c:pt>
                <c:pt idx="76">
                  <c:v>6.65625</c:v>
                </c:pt>
                <c:pt idx="77">
                  <c:v>6.67875</c:v>
                </c:pt>
                <c:pt idx="78">
                  <c:v>6.70125</c:v>
                </c:pt>
                <c:pt idx="79">
                  <c:v>6.72125</c:v>
                </c:pt>
                <c:pt idx="80">
                  <c:v>6.74375</c:v>
                </c:pt>
                <c:pt idx="81">
                  <c:v>6.7575</c:v>
                </c:pt>
                <c:pt idx="82">
                  <c:v>6.76375</c:v>
                </c:pt>
                <c:pt idx="83">
                  <c:v>6.77</c:v>
                </c:pt>
                <c:pt idx="84">
                  <c:v>6.77375</c:v>
                </c:pt>
                <c:pt idx="85">
                  <c:v>6.7825</c:v>
                </c:pt>
                <c:pt idx="86">
                  <c:v>6.79375</c:v>
                </c:pt>
                <c:pt idx="87">
                  <c:v>6.80499999999999</c:v>
                </c:pt>
                <c:pt idx="88">
                  <c:v>6.82</c:v>
                </c:pt>
                <c:pt idx="89">
                  <c:v>6.84</c:v>
                </c:pt>
                <c:pt idx="90">
                  <c:v>6.86375</c:v>
                </c:pt>
                <c:pt idx="91">
                  <c:v>6.88875</c:v>
                </c:pt>
                <c:pt idx="92">
                  <c:v>6.91375</c:v>
                </c:pt>
                <c:pt idx="93">
                  <c:v>6.94125</c:v>
                </c:pt>
                <c:pt idx="94">
                  <c:v>6.96875</c:v>
                </c:pt>
                <c:pt idx="95">
                  <c:v>6.99375</c:v>
                </c:pt>
                <c:pt idx="96">
                  <c:v>7.01625</c:v>
                </c:pt>
                <c:pt idx="97">
                  <c:v>7.035</c:v>
                </c:pt>
                <c:pt idx="98">
                  <c:v>7.0475</c:v>
                </c:pt>
                <c:pt idx="99">
                  <c:v>7.0525</c:v>
                </c:pt>
                <c:pt idx="100">
                  <c:v>7.04</c:v>
                </c:pt>
                <c:pt idx="101">
                  <c:v>7.005</c:v>
                </c:pt>
                <c:pt idx="102">
                  <c:v>6.965</c:v>
                </c:pt>
                <c:pt idx="103">
                  <c:v>6.93000000000001</c:v>
                </c:pt>
                <c:pt idx="104">
                  <c:v>6.89625</c:v>
                </c:pt>
                <c:pt idx="105">
                  <c:v>6.86875</c:v>
                </c:pt>
                <c:pt idx="106">
                  <c:v>6.8425</c:v>
                </c:pt>
                <c:pt idx="107">
                  <c:v>6.8125</c:v>
                </c:pt>
                <c:pt idx="108">
                  <c:v>6.78125</c:v>
                </c:pt>
                <c:pt idx="109">
                  <c:v>6.7525</c:v>
                </c:pt>
                <c:pt idx="110">
                  <c:v>6.72625</c:v>
                </c:pt>
                <c:pt idx="111">
                  <c:v>6.70125</c:v>
                </c:pt>
                <c:pt idx="112">
                  <c:v>6.67625</c:v>
                </c:pt>
                <c:pt idx="113">
                  <c:v>6.655</c:v>
                </c:pt>
                <c:pt idx="114">
                  <c:v>6.635</c:v>
                </c:pt>
                <c:pt idx="115">
                  <c:v>6.61625</c:v>
                </c:pt>
                <c:pt idx="116">
                  <c:v>6.5975</c:v>
                </c:pt>
                <c:pt idx="117">
                  <c:v>6.5775</c:v>
                </c:pt>
                <c:pt idx="118">
                  <c:v>6.56</c:v>
                </c:pt>
                <c:pt idx="119">
                  <c:v>6.53875</c:v>
                </c:pt>
                <c:pt idx="120">
                  <c:v>6.515</c:v>
                </c:pt>
                <c:pt idx="121">
                  <c:v>6.48625</c:v>
                </c:pt>
                <c:pt idx="122">
                  <c:v>6.44375</c:v>
                </c:pt>
                <c:pt idx="123">
                  <c:v>6.39749999999999</c:v>
                </c:pt>
                <c:pt idx="124">
                  <c:v>6.35375</c:v>
                </c:pt>
                <c:pt idx="125">
                  <c:v>6.31375</c:v>
                </c:pt>
                <c:pt idx="126">
                  <c:v>6.27625</c:v>
                </c:pt>
                <c:pt idx="127">
                  <c:v>6.24375</c:v>
                </c:pt>
                <c:pt idx="128">
                  <c:v>6.21</c:v>
                </c:pt>
                <c:pt idx="129">
                  <c:v>6.17125</c:v>
                </c:pt>
                <c:pt idx="130">
                  <c:v>6.12625</c:v>
                </c:pt>
                <c:pt idx="131">
                  <c:v>6.07375</c:v>
                </c:pt>
                <c:pt idx="132">
                  <c:v>6.01375</c:v>
                </c:pt>
                <c:pt idx="133">
                  <c:v>5.9575</c:v>
                </c:pt>
                <c:pt idx="134">
                  <c:v>5.9075</c:v>
                </c:pt>
                <c:pt idx="135">
                  <c:v>5.86625</c:v>
                </c:pt>
                <c:pt idx="136">
                  <c:v>5.8325</c:v>
                </c:pt>
                <c:pt idx="137">
                  <c:v>5.80499999999999</c:v>
                </c:pt>
                <c:pt idx="138">
                  <c:v>5.7825</c:v>
                </c:pt>
                <c:pt idx="139">
                  <c:v>5.7575</c:v>
                </c:pt>
                <c:pt idx="140">
                  <c:v>5.73375</c:v>
                </c:pt>
                <c:pt idx="141">
                  <c:v>5.71</c:v>
                </c:pt>
                <c:pt idx="142">
                  <c:v>5.6825</c:v>
                </c:pt>
                <c:pt idx="143">
                  <c:v>5.65499999999999</c:v>
                </c:pt>
                <c:pt idx="144">
                  <c:v>5.62999999999999</c:v>
                </c:pt>
                <c:pt idx="145">
                  <c:v>5.60125</c:v>
                </c:pt>
                <c:pt idx="146">
                  <c:v>5.56875</c:v>
                </c:pt>
                <c:pt idx="147">
                  <c:v>5.53875</c:v>
                </c:pt>
                <c:pt idx="148">
                  <c:v>5.50875</c:v>
                </c:pt>
                <c:pt idx="149">
                  <c:v>5.4825</c:v>
                </c:pt>
                <c:pt idx="150">
                  <c:v>5.46</c:v>
                </c:pt>
                <c:pt idx="151">
                  <c:v>5.44375</c:v>
                </c:pt>
                <c:pt idx="152">
                  <c:v>5.43125</c:v>
                </c:pt>
                <c:pt idx="153">
                  <c:v>5.4225</c:v>
                </c:pt>
                <c:pt idx="154">
                  <c:v>5.42</c:v>
                </c:pt>
                <c:pt idx="155">
                  <c:v>5.42625</c:v>
                </c:pt>
                <c:pt idx="156">
                  <c:v>5.44625</c:v>
                </c:pt>
                <c:pt idx="157">
                  <c:v>5.485</c:v>
                </c:pt>
                <c:pt idx="158">
                  <c:v>5.53625</c:v>
                </c:pt>
                <c:pt idx="159">
                  <c:v>5.59125</c:v>
                </c:pt>
                <c:pt idx="160">
                  <c:v>5.64749999999999</c:v>
                </c:pt>
                <c:pt idx="161">
                  <c:v>5.70375</c:v>
                </c:pt>
                <c:pt idx="162">
                  <c:v>5.7575</c:v>
                </c:pt>
                <c:pt idx="163">
                  <c:v>5.805</c:v>
                </c:pt>
                <c:pt idx="164">
                  <c:v>5.8475</c:v>
                </c:pt>
                <c:pt idx="165">
                  <c:v>5.8775</c:v>
                </c:pt>
                <c:pt idx="166">
                  <c:v>5.905</c:v>
                </c:pt>
                <c:pt idx="167">
                  <c:v>5.93125</c:v>
                </c:pt>
                <c:pt idx="168">
                  <c:v>5.95125</c:v>
                </c:pt>
                <c:pt idx="169">
                  <c:v>5.9625</c:v>
                </c:pt>
                <c:pt idx="170">
                  <c:v>5.97</c:v>
                </c:pt>
                <c:pt idx="171">
                  <c:v>5.975</c:v>
                </c:pt>
                <c:pt idx="172">
                  <c:v>5.98</c:v>
                </c:pt>
                <c:pt idx="173">
                  <c:v>5.98875</c:v>
                </c:pt>
                <c:pt idx="174">
                  <c:v>5.9975</c:v>
                </c:pt>
                <c:pt idx="175">
                  <c:v>6.01</c:v>
                </c:pt>
                <c:pt idx="176">
                  <c:v>6.02499999999999</c:v>
                </c:pt>
                <c:pt idx="177">
                  <c:v>6.04</c:v>
                </c:pt>
                <c:pt idx="178">
                  <c:v>6.06</c:v>
                </c:pt>
                <c:pt idx="179">
                  <c:v>6.0825</c:v>
                </c:pt>
                <c:pt idx="180">
                  <c:v>6.11</c:v>
                </c:pt>
                <c:pt idx="181">
                  <c:v>6.13875</c:v>
                </c:pt>
                <c:pt idx="182">
                  <c:v>6.16499999999999</c:v>
                </c:pt>
                <c:pt idx="183">
                  <c:v>6.19125</c:v>
                </c:pt>
                <c:pt idx="184">
                  <c:v>6.21875</c:v>
                </c:pt>
                <c:pt idx="185">
                  <c:v>6.2475</c:v>
                </c:pt>
                <c:pt idx="186">
                  <c:v>6.27625</c:v>
                </c:pt>
                <c:pt idx="187">
                  <c:v>6.3075</c:v>
                </c:pt>
                <c:pt idx="188">
                  <c:v>6.33875</c:v>
                </c:pt>
                <c:pt idx="189">
                  <c:v>6.37125</c:v>
                </c:pt>
                <c:pt idx="190">
                  <c:v>6.40625</c:v>
                </c:pt>
                <c:pt idx="191">
                  <c:v>6.4425</c:v>
                </c:pt>
                <c:pt idx="192">
                  <c:v>6.48125</c:v>
                </c:pt>
                <c:pt idx="193">
                  <c:v>6.52125</c:v>
                </c:pt>
                <c:pt idx="194">
                  <c:v>6.56375</c:v>
                </c:pt>
                <c:pt idx="195">
                  <c:v>6.605</c:v>
                </c:pt>
                <c:pt idx="196">
                  <c:v>6.6475</c:v>
                </c:pt>
                <c:pt idx="197">
                  <c:v>6.69125</c:v>
                </c:pt>
                <c:pt idx="198">
                  <c:v>6.735</c:v>
                </c:pt>
                <c:pt idx="199">
                  <c:v>6.78</c:v>
                </c:pt>
                <c:pt idx="200">
                  <c:v>6.82625</c:v>
                </c:pt>
                <c:pt idx="201">
                  <c:v>6.87375</c:v>
                </c:pt>
                <c:pt idx="202">
                  <c:v>6.9225</c:v>
                </c:pt>
                <c:pt idx="203">
                  <c:v>6.97</c:v>
                </c:pt>
                <c:pt idx="204">
                  <c:v>7.01875</c:v>
                </c:pt>
                <c:pt idx="205">
                  <c:v>7.06375</c:v>
                </c:pt>
                <c:pt idx="206">
                  <c:v>7.10625</c:v>
                </c:pt>
                <c:pt idx="207">
                  <c:v>7.14375</c:v>
                </c:pt>
                <c:pt idx="208">
                  <c:v>7.1725</c:v>
                </c:pt>
                <c:pt idx="209">
                  <c:v>7.19875</c:v>
                </c:pt>
                <c:pt idx="210">
                  <c:v>7.22375</c:v>
                </c:pt>
                <c:pt idx="211">
                  <c:v>7.25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2109824"/>
        <c:axId val="452111360"/>
      </c:scatterChart>
      <c:valAx>
        <c:axId val="452109824"/>
        <c:scaling>
          <c:orientation val="minMax"/>
          <c:max val="2013"/>
          <c:min val="1960"/>
        </c:scaling>
        <c:delete val="0"/>
        <c:axPos val="b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52111360"/>
        <c:crosses val="autoZero"/>
        <c:crossBetween val="midCat"/>
        <c:majorUnit val="10"/>
        <c:minorUnit val="2"/>
      </c:valAx>
      <c:valAx>
        <c:axId val="452111360"/>
        <c:scaling>
          <c:orientation val="minMax"/>
          <c:max val="12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452109824"/>
        <c:crosses val="autoZero"/>
        <c:crossBetween val="midCat"/>
        <c:majorUnit val="2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156" y="1279287"/>
            <a:ext cx="4605433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D3572E-8716-4CD7-9F26-4ECB9DACFF70}" type="slidenum">
              <a:rPr lang="en-US" smtClean="0"/>
            </a:fld>
            <a:endParaRPr lang="en-US"/>
          </a:p>
        </p:txBody>
      </p:sp>
      <p:sp>
        <p:nvSpPr>
          <p:cNvPr id="8089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03440A8E-2DA4-4935-91D5-CDF700A40EC2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0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3.jpeg"/><Relationship Id="rId1" Type="http://schemas.openxmlformats.org/officeDocument/2006/relationships/hyperlink" Target="../../../../../../Program%20Files/TurningPoint/2003/Questions.html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1041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4933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6239" y="2027937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82300" y="3043255"/>
            <a:ext cx="3366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6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：失业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943" y="1857328"/>
            <a:ext cx="74575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衡量失业？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结构性失业和摩擦性失业的区别是什么？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政府有哪些公共政策可以降低失业？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8686" y="1345820"/>
            <a:ext cx="81434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我国一般采用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城镇登记失业率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：城镇户籍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劳动年龄人口数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和到劳动部门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登记的失业人数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国外一般采用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调查失业率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 通过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抽样调查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失业率。比如美国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统计局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(BLS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统计的美国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失业率就是基于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户成人人口的定期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调查，而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获得的失业率数据。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年开始也公布城镇地区调查失业率数据。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281" y="1345819"/>
            <a:ext cx="85502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我国城镇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登记失业率与真实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值之间存在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的原因：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登记的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失业人员才被算作失业人口。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未纳入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农村转型人口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。农村人口实际并未与生产资料相分离，所以认为农村人口不存在失业问题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。（我国的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城镇化率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左右）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无法体现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隐性失业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。比如“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下岗职工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”，名义上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处于待业或者就业状态，实际上是典型的失业人员，但是未统计失业人口。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690" y="1220470"/>
            <a:ext cx="8233410" cy="5257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统计失业率的时候，我们将</a:t>
            </a:r>
            <a:r>
              <a:rPr lang="zh-CN" altLang="en-US" sz="2400" smtClean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成年人口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：也包括自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雇人士和无薪雇员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：过去短期内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在积极寻找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的劳动力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非劳动力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劳动年龄人口中不参与劳动力市场的群体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：包括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就业者和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成年人口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：劳动力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非劳动力。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周岁以上。这个口径和法律意义上的成年人（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岁）不同，我国允许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周岁以上的劳动者参与就业。</a:t>
            </a:r>
            <a:endPara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692" y="1644184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失业率（“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u-rate”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失业者占比劳动力的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5"/>
          <p:cNvSpPr txBox="1"/>
          <p:nvPr/>
        </p:nvSpPr>
        <p:spPr>
          <a:xfrm>
            <a:off x="649692" y="3857468"/>
            <a:ext cx="7704856" cy="719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劳动力参与率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：劳动力占比成年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人口的百分比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1"/>
          <p:cNvGrpSpPr/>
          <p:nvPr/>
        </p:nvGrpSpPr>
        <p:grpSpPr bwMode="auto">
          <a:xfrm>
            <a:off x="951041" y="2621538"/>
            <a:ext cx="7391400" cy="1092200"/>
            <a:chOff x="546" y="1437"/>
            <a:chExt cx="4656" cy="688"/>
          </a:xfrm>
        </p:grpSpPr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546" y="1437"/>
              <a:ext cx="4631" cy="6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0" name="Group 20"/>
            <p:cNvGrpSpPr/>
            <p:nvPr/>
          </p:nvGrpSpPr>
          <p:grpSpPr bwMode="auto">
            <a:xfrm>
              <a:off x="605" y="1450"/>
              <a:ext cx="4597" cy="626"/>
              <a:chOff x="472" y="1450"/>
              <a:chExt cx="4597" cy="626"/>
            </a:xfrm>
          </p:grpSpPr>
          <p:sp>
            <p:nvSpPr>
              <p:cNvPr id="11" name="Text Box 7"/>
              <p:cNvSpPr txBox="1">
                <a:spLocks noChangeArrowheads="1"/>
              </p:cNvSpPr>
              <p:nvPr/>
            </p:nvSpPr>
            <p:spPr bwMode="auto">
              <a:xfrm>
                <a:off x="472" y="1466"/>
                <a:ext cx="1624" cy="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失业率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grpSp>
            <p:nvGrpSpPr>
              <p:cNvPr id="12" name="Group 8"/>
              <p:cNvGrpSpPr/>
              <p:nvPr/>
            </p:nvGrpSpPr>
            <p:grpSpPr bwMode="auto">
              <a:xfrm>
                <a:off x="3022" y="1450"/>
                <a:ext cx="2047" cy="626"/>
                <a:chOff x="2934" y="1849"/>
                <a:chExt cx="1582" cy="626"/>
              </a:xfrm>
            </p:grpSpPr>
            <p:sp>
              <p:nvSpPr>
                <p:cNvPr id="1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942" y="1849"/>
                  <a:ext cx="1574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900">
                      <a:latin typeface="Arial" panose="020B0604020202020204"/>
                      <a:cs typeface="Arial" panose="020B0604020202020204"/>
                    </a:rPr>
                    <a:t> </a:t>
                  </a:r>
                  <a:r>
                    <a:rPr lang="zh-CN" altLang="en-US" sz="2400" smtClean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失业者人数</a:t>
                  </a:r>
                  <a:endPara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15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934" y="2184"/>
                  <a:ext cx="1574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 smtClean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劳动力人数</a:t>
                  </a:r>
                  <a:endPara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17" name="Line 11"/>
                <p:cNvSpPr>
                  <a:spLocks noChangeShapeType="1"/>
                </p:cNvSpPr>
                <p:nvPr/>
              </p:nvSpPr>
              <p:spPr bwMode="auto">
                <a:xfrm>
                  <a:off x="3035" y="2185"/>
                  <a:ext cx="136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3" name="Text Box 12"/>
              <p:cNvSpPr txBox="1">
                <a:spLocks noChangeArrowheads="1"/>
              </p:cNvSpPr>
              <p:nvPr/>
            </p:nvSpPr>
            <p:spPr bwMode="auto">
              <a:xfrm>
                <a:off x="2200" y="1465"/>
                <a:ext cx="891" cy="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900">
                    <a:latin typeface="Arial" panose="020B0604020202020204"/>
                    <a:cs typeface="Arial" panose="020B0604020202020204"/>
                  </a:rPr>
                  <a:t>=  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8" name="Group 30"/>
          <p:cNvGrpSpPr/>
          <p:nvPr/>
        </p:nvGrpSpPr>
        <p:grpSpPr bwMode="auto">
          <a:xfrm>
            <a:off x="827217" y="4853760"/>
            <a:ext cx="7524750" cy="1092200"/>
            <a:chOff x="338" y="3173"/>
            <a:chExt cx="4740" cy="688"/>
          </a:xfrm>
        </p:grpSpPr>
        <p:sp>
          <p:nvSpPr>
            <p:cNvPr id="19" name="Rectangle 21"/>
            <p:cNvSpPr>
              <a:spLocks noChangeArrowheads="1"/>
            </p:cNvSpPr>
            <p:nvPr/>
          </p:nvSpPr>
          <p:spPr bwMode="auto">
            <a:xfrm>
              <a:off x="338" y="3173"/>
              <a:ext cx="4728" cy="6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0" name="Group 19"/>
            <p:cNvGrpSpPr/>
            <p:nvPr/>
          </p:nvGrpSpPr>
          <p:grpSpPr bwMode="auto">
            <a:xfrm>
              <a:off x="349" y="3191"/>
              <a:ext cx="4729" cy="608"/>
              <a:chOff x="216" y="3191"/>
              <a:chExt cx="4729" cy="608"/>
            </a:xfrm>
          </p:grpSpPr>
          <p:sp>
            <p:nvSpPr>
              <p:cNvPr id="21" name="Text Box 13"/>
              <p:cNvSpPr txBox="1">
                <a:spLocks noChangeArrowheads="1"/>
              </p:cNvSpPr>
              <p:nvPr/>
            </p:nvSpPr>
            <p:spPr bwMode="auto">
              <a:xfrm>
                <a:off x="216" y="3207"/>
                <a:ext cx="1878" cy="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劳动力参与率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grpSp>
            <p:nvGrpSpPr>
              <p:cNvPr id="22" name="Group 14"/>
              <p:cNvGrpSpPr/>
              <p:nvPr/>
            </p:nvGrpSpPr>
            <p:grpSpPr bwMode="auto">
              <a:xfrm>
                <a:off x="3045" y="3191"/>
                <a:ext cx="1900" cy="605"/>
                <a:chOff x="2942" y="1849"/>
                <a:chExt cx="1578" cy="605"/>
              </a:xfrm>
            </p:grpSpPr>
            <p:sp>
              <p:nvSpPr>
                <p:cNvPr id="24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942" y="1849"/>
                  <a:ext cx="1574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劳动力人数</a:t>
                  </a:r>
                  <a:endPara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25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946" y="2163"/>
                  <a:ext cx="1574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成年人口</a:t>
                  </a:r>
                  <a:endPara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26" name="Line 17"/>
                <p:cNvSpPr>
                  <a:spLocks noChangeShapeType="1"/>
                </p:cNvSpPr>
                <p:nvPr/>
              </p:nvSpPr>
              <p:spPr bwMode="auto">
                <a:xfrm>
                  <a:off x="3035" y="2185"/>
                  <a:ext cx="136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2198" y="3206"/>
                <a:ext cx="891" cy="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900">
                    <a:latin typeface="Arial" panose="020B0604020202020204"/>
                    <a:cs typeface="Arial" panose="020B0604020202020204"/>
                  </a:rPr>
                  <a:t>=  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</p:grpSp>
      <p:sp>
        <p:nvSpPr>
          <p:cNvPr id="2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092" y="1412782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：使用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以下数据计算劳动力、失业率、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人口、劳动力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参与率：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Group 8"/>
          <p:cNvGraphicFramePr>
            <a:graphicFrameLocks noGrp="1"/>
          </p:cNvGraphicFramePr>
          <p:nvPr/>
        </p:nvGraphicFramePr>
        <p:xfrm>
          <a:off x="1827458" y="2608796"/>
          <a:ext cx="5700712" cy="2542419"/>
        </p:xfrm>
        <a:graphic>
          <a:graphicData uri="http://schemas.openxmlformats.org/drawingml/2006/table">
            <a:tbl>
              <a:tblPr/>
              <a:tblGrid>
                <a:gridCol w="3254375"/>
                <a:gridCol w="2446337"/>
              </a:tblGrid>
              <a:tr h="8181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年我国劳动力数据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</a:tr>
              <a:tr h="584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失业人数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tabLst>
                          <a:tab pos="688975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0.34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761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就业人数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tabLst>
                          <a:tab pos="688975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7.47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39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非劳动力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tabLst>
                          <a:tab pos="688975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3.72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7786" y="1457401"/>
            <a:ext cx="7560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就业人数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失业人数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7.47 + 0.34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u-rate)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失业人数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*100%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>
              <a:lnSpc>
                <a:spcPct val="150000"/>
              </a:lnSpc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0.34/7.81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*100%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>
              <a:lnSpc>
                <a:spcPct val="150000"/>
              </a:lnSpc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4.32%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998392" y="1478657"/>
            <a:ext cx="69824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 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=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 + 非劳动力 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亿+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参与率 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（劳动力/成年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人口）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= 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11.53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67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572135" y="1430020"/>
            <a:ext cx="7717790" cy="4681855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Group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07307" y="1736774"/>
          <a:ext cx="7208109" cy="3565826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2402703"/>
                <a:gridCol w="2402703"/>
                <a:gridCol w="2402703"/>
              </a:tblGrid>
              <a:tr h="56919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ts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</a:t>
                      </a:r>
                      <a:r>
                        <a:rPr lang="zh-CN" altLang="en-US" sz="2400" kern="120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教育程度</a:t>
                      </a: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分类的劳动力统计数据</a:t>
                      </a:r>
                      <a:endParaRPr lang="en-US" altLang="zh-CN" sz="2400" kern="1200" smtClean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ts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2013</a:t>
                      </a: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年，美国</a:t>
                      </a: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58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失业率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劳动力参与率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76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高中以下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10.3%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44.5%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58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高中文凭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7.6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59.0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152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大学辍学或在读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6.0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67.2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992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学士学位或以上</a:t>
                      </a: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3.7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75.3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572135" y="1430020"/>
            <a:ext cx="7717790" cy="4681855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Group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07307" y="1736774"/>
          <a:ext cx="7208109" cy="3565826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2402703"/>
                <a:gridCol w="2402703"/>
                <a:gridCol w="2402703"/>
              </a:tblGrid>
              <a:tr h="56919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ts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</a:t>
                      </a:r>
                      <a:r>
                        <a:rPr lang="zh-CN" altLang="en-US" sz="2400" kern="120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教育程度</a:t>
                      </a: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分类的劳动力统计数据</a:t>
                      </a:r>
                      <a:endParaRPr lang="en-US" altLang="zh-CN" sz="2400" kern="1200" smtClean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ts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2010</a:t>
                      </a: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年，中国大陆</a:t>
                      </a: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58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失业率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劳动力参与率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76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高中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5.7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62.8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58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大学专科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68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152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大学本科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.0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992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研究生</a:t>
                      </a: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572135" y="1430020"/>
            <a:ext cx="7717790" cy="4681855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Group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07307" y="1736774"/>
          <a:ext cx="7208109" cy="3565826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2402703"/>
                <a:gridCol w="2402703"/>
                <a:gridCol w="2402703"/>
              </a:tblGrid>
              <a:tr h="56919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ts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</a:t>
                      </a:r>
                      <a:r>
                        <a:rPr lang="zh-CN" altLang="en-US" sz="2400" kern="120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教育程度</a:t>
                      </a: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分类的劳动力统计数据</a:t>
                      </a:r>
                      <a:endParaRPr lang="en-US" altLang="zh-CN" sz="2400" kern="1200" smtClean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ts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2021</a:t>
                      </a: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年，中国台湾</a:t>
                      </a: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58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失业率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劳动力参与率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76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国中及以下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3.4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38.5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58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高中、高职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62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152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专科</a:t>
                      </a:r>
                      <a:endParaRPr lang="zh-CN" alt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72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992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大学及以上</a:t>
                      </a:r>
                      <a:endParaRPr lang="en-US" sz="2400" kern="120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63</a:t>
                      </a:r>
                      <a:r>
                        <a:rPr lang="en-US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2400" kern="1200" smtClean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33406" y="1376387"/>
            <a:ext cx="6997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性别分类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的劳动力统计数据，1950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–2012，美国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25727" y="1911178"/>
          <a:ext cx="7419203" cy="4050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463" name="TextBox 8"/>
          <p:cNvSpPr txBox="1">
            <a:spLocks noChangeArrowheads="1"/>
          </p:cNvSpPr>
          <p:nvPr/>
        </p:nvSpPr>
        <p:spPr bwMode="auto">
          <a:xfrm rot="-5400000">
            <a:off x="-1005295" y="3383918"/>
            <a:ext cx="3343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lang="zh-CN" altLang="en-US" sz="24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参与率</a:t>
            </a:r>
            <a:endParaRPr lang="en-US" sz="24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88546" y="2565615"/>
            <a:ext cx="10493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男性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59500" y="3552353"/>
            <a:ext cx="1371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女性</a:t>
            </a:r>
            <a:endParaRPr 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74596" y="1450529"/>
            <a:ext cx="6980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性别分类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的劳动力统计数据，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1978-2019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，中国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9463" name="TextBox 8"/>
          <p:cNvSpPr txBox="1">
            <a:spLocks noChangeArrowheads="1"/>
          </p:cNvSpPr>
          <p:nvPr/>
        </p:nvSpPr>
        <p:spPr bwMode="auto">
          <a:xfrm rot="-5400000">
            <a:off x="-1277144" y="3161497"/>
            <a:ext cx="3343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en-US" sz="24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劳动力参与率</a:t>
            </a:r>
            <a:endParaRPr 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571472" y="1902941"/>
          <a:ext cx="7789934" cy="418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3111183" y="2211388"/>
            <a:ext cx="10493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男性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5535883" y="4532309"/>
            <a:ext cx="10493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女性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71500" y="1386840"/>
            <a:ext cx="829241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（失业率指标的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以下每一项中，失业率会发生什么变化？ 失业率能否准确反映劳动力市场的情况？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了工作，开始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邹是一名教培老师，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他的机构上半年关闭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以来一直失业，他变得气馁并放弃了找工作。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郑博士是家庭唯一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来源，近期失去了年薪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万的助理研究员的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在附近的麦当劳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找到一份兼职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，直到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他在科研机构找到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另一份工作。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00623" y="1478074"/>
            <a:ext cx="8020491" cy="178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小苏失去了工作，开始寻找新的工作。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失业率上升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例中失业率下降真实反映了劳动力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恶化。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387556" y="1401840"/>
            <a:ext cx="8416958" cy="362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000"/>
              </a:lnSpc>
              <a:buClr>
                <a:srgbClr val="FF0000"/>
              </a:buClr>
              <a:buFont typeface="+mj-lt"/>
              <a:buAutoNum type="alphaUcPeriod" startAt="2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小邹是一名教培老师，自从他的机构上半年关闭以来一直失业，他变得气馁并放弃了找工作。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找工作，被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归类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非劳动力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不是“失业”。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下降。分子（失业人数）和分母（劳动力人数）同时减少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个，比值下降。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例中失业率似乎显示劳动力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市场正在改善，但事实并非如此。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63262" y="1465305"/>
            <a:ext cx="7746365" cy="368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000"/>
              </a:lnSpc>
              <a:buClr>
                <a:srgbClr val="FF0000"/>
              </a:buClr>
              <a:buFont typeface="+mj-lt"/>
              <a:buAutoNum type="alphaUcPeriod" startAt="3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郑博士是家庭唯一收入来源，近期失去了年薪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万的助理研究员的工作。他立即在附近的麦当劳找到一份兼职工作，直到他在科研机构找到另一份工作。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失业率不变。因为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一个人无论是全职工作还是兼职工作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都是“就业”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该例中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失业率似乎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显示劳动力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市场没有变化，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但事实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并非如此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糟。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362585" y="1454384"/>
            <a:ext cx="8419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指标具有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局限性：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失业率并不是劳动力</a:t>
            </a: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市场健康状况的完美指标：</a:t>
            </a: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685800" indent="-342900" algn="l" fontAlgn="auto">
              <a:lnSpc>
                <a:spcPct val="150000"/>
              </a:lnSpc>
              <a:buFontTx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它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不统计退出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劳动力市场的</a:t>
            </a: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工人。</a:t>
            </a: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685800" indent="-342900" algn="l" fontAlgn="auto">
              <a:lnSpc>
                <a:spcPct val="150000"/>
              </a:lnSpc>
              <a:buFontTx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它不区分全职和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兼职工作。</a:t>
            </a: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685800" indent="-342900" algn="l" fontAlgn="auto">
              <a:lnSpc>
                <a:spcPct val="150000"/>
              </a:lnSpc>
              <a:buFontTx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有些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人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在调查</a:t>
            </a: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中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误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报</a:t>
            </a:r>
            <a:r>
              <a:rPr lang="en-US" altLang="zh-CN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瞒报他们</a:t>
            </a: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的工作状态。</a:t>
            </a: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尽管不完美，失业率仍然</a:t>
            </a: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是劳动力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市场和宏观经济</a:t>
            </a:r>
            <a:r>
              <a:rPr lang="zh-CN" altLang="en-US"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的一个非常有用的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晴雨表。</a:t>
            </a: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387179" y="1313922"/>
            <a:ext cx="8583826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，忽高忽低，但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存在，不可消灭。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自然失业率（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长期）：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充分就业下的失业率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不存在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过多劳动力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供给，也不存在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过多劳动力需求；即：想雇人的都雇到人了，想就业的都就业了。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在此情况下的失业率水平。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是一种长期均衡状态，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实际失业率（短期）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往往偏离。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周期性失业（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短期）：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实际失业率与其自然失业率的偏离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实际失业率会高于或者低于自然失业率水平。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相关。（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我们将在后面的章节中研究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169640" y="1515847"/>
            <a:ext cx="52938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美国失业率数据，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1960-2012 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004038" y="1993557"/>
          <a:ext cx="7085519" cy="402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" name="Group 15"/>
          <p:cNvGrpSpPr/>
          <p:nvPr/>
        </p:nvGrpSpPr>
        <p:grpSpPr bwMode="auto">
          <a:xfrm>
            <a:off x="4291848" y="2291557"/>
            <a:ext cx="2405062" cy="841376"/>
            <a:chOff x="3191" y="1186"/>
            <a:chExt cx="1515" cy="530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492" y="1186"/>
              <a:ext cx="121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实际失业率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Line 7"/>
            <p:cNvSpPr>
              <a:spLocks noChangeShapeType="1"/>
            </p:cNvSpPr>
            <p:nvPr/>
          </p:nvSpPr>
          <p:spPr bwMode="auto">
            <a:xfrm flipH="1">
              <a:off x="3191" y="1409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Group 14"/>
          <p:cNvGrpSpPr/>
          <p:nvPr/>
        </p:nvGrpSpPr>
        <p:grpSpPr bwMode="auto">
          <a:xfrm>
            <a:off x="3002057" y="3657612"/>
            <a:ext cx="2245995" cy="1383945"/>
            <a:chOff x="2417" y="1870"/>
            <a:chExt cx="1436" cy="1037"/>
          </a:xfrm>
        </p:grpSpPr>
        <p:sp>
          <p:nvSpPr>
            <p:cNvPr id="27657" name="Text Box 5"/>
            <p:cNvSpPr txBox="1">
              <a:spLocks noChangeArrowheads="1"/>
            </p:cNvSpPr>
            <p:nvPr/>
          </p:nvSpPr>
          <p:spPr bwMode="auto">
            <a:xfrm>
              <a:off x="2417" y="2590"/>
              <a:ext cx="143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自然失业率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7658" name="Line 6"/>
            <p:cNvSpPr>
              <a:spLocks noChangeShapeType="1"/>
            </p:cNvSpPr>
            <p:nvPr/>
          </p:nvSpPr>
          <p:spPr bwMode="auto">
            <a:xfrm flipH="1">
              <a:off x="3135" y="1870"/>
              <a:ext cx="0" cy="7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2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 uiExpand="1">
        <p:bldSub>
          <a:bldChart animBg="0" bld="series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350874" y="1375804"/>
            <a:ext cx="4725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中国失业率数据，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1987-2009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29" y="2262863"/>
            <a:ext cx="5998466" cy="3640007"/>
          </a:xfrm>
          <a:prstGeom prst="rect">
            <a:avLst/>
          </a:prstGeom>
          <a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</p:pic>
      <p:sp>
        <p:nvSpPr>
          <p:cNvPr id="9" name="文本框 8"/>
          <p:cNvSpPr txBox="1"/>
          <p:nvPr/>
        </p:nvSpPr>
        <p:spPr>
          <a:xfrm>
            <a:off x="1132021" y="1809373"/>
            <a:ext cx="7492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（来源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：都阳、陆旸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中国的自然失业率水平及其含义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06744" y="1307422"/>
            <a:ext cx="8358316" cy="5029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：即使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经济表现良好，也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有失业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时候都会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有正在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寻找工作的人。包括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5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摩擦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性失业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花时间寻找最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他们技能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和偏好的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工作，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寻找合适的工作需要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时间。</a:t>
            </a:r>
            <a:endParaRPr lang="en-US" altLang="zh-CN" sz="2400" smtClean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1257300" lvl="2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即使有足够的工作岗位，也会发生摩擦性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失业</a:t>
            </a:r>
            <a:r>
              <a:rPr lang="en-US" altLang="zh-CN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.</a:t>
            </a:r>
            <a:endParaRPr lang="zh-CN" altLang="en-US" sz="240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1257300" lvl="2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5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结构性失业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当岗位比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现实工资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高于均衡水平时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，就会没有足够工作岗位。</a:t>
            </a:r>
            <a:endParaRPr lang="zh-CN" altLang="en-US" sz="240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1257300" lvl="2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0086" y="1409207"/>
            <a:ext cx="3624649" cy="471974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结构性失业的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原因：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工资高于均衡工资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水平，造成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岗位不足，即劳动力供给大于劳动力需求，就会形成结构性失业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工资高于均衡工资的原因有以下三个……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251008" y="1716405"/>
            <a:ext cx="4456112" cy="3871913"/>
            <a:chOff x="2558" y="778"/>
            <a:chExt cx="2807" cy="2439"/>
          </a:xfrm>
        </p:grpSpPr>
        <p:grpSp>
          <p:nvGrpSpPr>
            <p:cNvPr id="33819" name="Group 5"/>
            <p:cNvGrpSpPr/>
            <p:nvPr/>
          </p:nvGrpSpPr>
          <p:grpSpPr bwMode="auto">
            <a:xfrm>
              <a:off x="2697" y="1030"/>
              <a:ext cx="2409" cy="2049"/>
              <a:chOff x="1098" y="1361"/>
              <a:chExt cx="2116" cy="2027"/>
            </a:xfrm>
          </p:grpSpPr>
          <p:sp>
            <p:nvSpPr>
              <p:cNvPr id="33822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3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20" name="Text Box 8"/>
            <p:cNvSpPr txBox="1">
              <a:spLocks noChangeArrowheads="1"/>
            </p:cNvSpPr>
            <p:nvPr/>
          </p:nvSpPr>
          <p:spPr bwMode="auto">
            <a:xfrm>
              <a:off x="2558" y="778"/>
              <a:ext cx="2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W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33821" name="Text Box 9"/>
            <p:cNvSpPr txBox="1">
              <a:spLocks noChangeArrowheads="1"/>
            </p:cNvSpPr>
            <p:nvPr/>
          </p:nvSpPr>
          <p:spPr bwMode="auto">
            <a:xfrm>
              <a:off x="5075" y="2929"/>
              <a:ext cx="2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L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5313363" y="2174875"/>
            <a:ext cx="2617787" cy="3203575"/>
            <a:chOff x="3240" y="1064"/>
            <a:chExt cx="1649" cy="2018"/>
          </a:xfrm>
        </p:grpSpPr>
        <p:sp>
          <p:nvSpPr>
            <p:cNvPr id="33817" name="Line 11"/>
            <p:cNvSpPr>
              <a:spLocks noChangeShapeType="1"/>
            </p:cNvSpPr>
            <p:nvPr/>
          </p:nvSpPr>
          <p:spPr bwMode="auto">
            <a:xfrm>
              <a:off x="3240" y="1064"/>
              <a:ext cx="1417" cy="184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Text Box 12"/>
            <p:cNvSpPr txBox="1">
              <a:spLocks noChangeArrowheads="1"/>
            </p:cNvSpPr>
            <p:nvPr/>
          </p:nvSpPr>
          <p:spPr bwMode="auto">
            <a:xfrm>
              <a:off x="4569" y="2794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D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5463858" y="1822768"/>
            <a:ext cx="1703387" cy="3362325"/>
            <a:chOff x="3328" y="857"/>
            <a:chExt cx="1073" cy="2118"/>
          </a:xfrm>
        </p:grpSpPr>
        <p:sp>
          <p:nvSpPr>
            <p:cNvPr id="33815" name="Line 14"/>
            <p:cNvSpPr>
              <a:spLocks noChangeShapeType="1"/>
            </p:cNvSpPr>
            <p:nvPr/>
          </p:nvSpPr>
          <p:spPr bwMode="auto">
            <a:xfrm flipV="1">
              <a:off x="3328" y="1089"/>
              <a:ext cx="872" cy="188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6" name="Text Box 15"/>
            <p:cNvSpPr txBox="1">
              <a:spLocks noChangeArrowheads="1"/>
            </p:cNvSpPr>
            <p:nvPr/>
          </p:nvSpPr>
          <p:spPr bwMode="auto">
            <a:xfrm>
              <a:off x="4081" y="857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S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3444875" y="3248660"/>
            <a:ext cx="2921000" cy="365125"/>
            <a:chOff x="2051" y="1742"/>
            <a:chExt cx="1840" cy="230"/>
          </a:xfrm>
        </p:grpSpPr>
        <p:sp>
          <p:nvSpPr>
            <p:cNvPr id="33812" name="Line 17"/>
            <p:cNvSpPr>
              <a:spLocks noChangeShapeType="1"/>
            </p:cNvSpPr>
            <p:nvPr/>
          </p:nvSpPr>
          <p:spPr bwMode="auto">
            <a:xfrm>
              <a:off x="2702" y="1860"/>
              <a:ext cx="1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3" name="Oval 18"/>
            <p:cNvSpPr>
              <a:spLocks noChangeArrowheads="1"/>
            </p:cNvSpPr>
            <p:nvPr/>
          </p:nvSpPr>
          <p:spPr bwMode="auto">
            <a:xfrm>
              <a:off x="3803" y="1812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3814" name="Text Box 19"/>
            <p:cNvSpPr txBox="1">
              <a:spLocks noChangeArrowheads="1"/>
            </p:cNvSpPr>
            <p:nvPr/>
          </p:nvSpPr>
          <p:spPr bwMode="auto">
            <a:xfrm>
              <a:off x="2051" y="1742"/>
              <a:ext cx="58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W</a:t>
              </a:r>
              <a:r>
                <a:rPr lang="en-US" sz="2400" b="1" i="1" baseline="-25000">
                  <a:cs typeface="Arial" panose="020B0604020202020204" pitchFamily="34" charset="0"/>
                </a:rPr>
                <a:t>E</a:t>
              </a:r>
              <a:endParaRPr lang="en-US" sz="2400" b="1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20"/>
          <p:cNvGrpSpPr/>
          <p:nvPr/>
        </p:nvGrpSpPr>
        <p:grpSpPr bwMode="auto">
          <a:xfrm>
            <a:off x="3452813" y="2279650"/>
            <a:ext cx="5680075" cy="460375"/>
            <a:chOff x="2056" y="1142"/>
            <a:chExt cx="3578" cy="290"/>
          </a:xfrm>
        </p:grpSpPr>
        <p:sp>
          <p:nvSpPr>
            <p:cNvPr id="33808" name="Line 21"/>
            <p:cNvSpPr>
              <a:spLocks noChangeShapeType="1"/>
            </p:cNvSpPr>
            <p:nvPr/>
          </p:nvSpPr>
          <p:spPr bwMode="auto">
            <a:xfrm>
              <a:off x="2700" y="1304"/>
              <a:ext cx="1888" cy="0"/>
            </a:xfrm>
            <a:prstGeom prst="line">
              <a:avLst/>
            </a:prstGeom>
            <a:noFill/>
            <a:ln w="28575">
              <a:solidFill>
                <a:srgbClr val="DE84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Text Box 22"/>
            <p:cNvSpPr txBox="1">
              <a:spLocks noChangeArrowheads="1"/>
            </p:cNvSpPr>
            <p:nvPr/>
          </p:nvSpPr>
          <p:spPr bwMode="auto">
            <a:xfrm>
              <a:off x="4691" y="1142"/>
              <a:ext cx="94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实际工资</a:t>
              </a: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811" name="Text Box 24"/>
            <p:cNvSpPr txBox="1">
              <a:spLocks noChangeArrowheads="1"/>
            </p:cNvSpPr>
            <p:nvPr/>
          </p:nvSpPr>
          <p:spPr bwMode="auto">
            <a:xfrm>
              <a:off x="2056" y="1187"/>
              <a:ext cx="58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W</a:t>
              </a:r>
              <a:r>
                <a:rPr lang="en-US" sz="2400" b="1" i="1" baseline="-25000">
                  <a:cs typeface="Arial" panose="020B0604020202020204" pitchFamily="34" charset="0"/>
                </a:rPr>
                <a:t>1</a:t>
              </a:r>
              <a:endParaRPr lang="en-US" sz="2400" b="1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25"/>
          <p:cNvGrpSpPr/>
          <p:nvPr/>
        </p:nvGrpSpPr>
        <p:grpSpPr bwMode="auto">
          <a:xfrm>
            <a:off x="5484813" y="1435100"/>
            <a:ext cx="1235075" cy="1068388"/>
            <a:chOff x="3336" y="596"/>
            <a:chExt cx="778" cy="673"/>
          </a:xfrm>
        </p:grpSpPr>
        <p:sp>
          <p:nvSpPr>
            <p:cNvPr id="33806" name="AutoShape 26"/>
            <p:cNvSpPr/>
            <p:nvPr/>
          </p:nvSpPr>
          <p:spPr bwMode="auto">
            <a:xfrm rot="5400000">
              <a:off x="3661" y="826"/>
              <a:ext cx="196" cy="689"/>
            </a:xfrm>
            <a:prstGeom prst="leftBrace">
              <a:avLst>
                <a:gd name="adj1" fmla="val 61648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3807" name="Text Box 27"/>
            <p:cNvSpPr txBox="1">
              <a:spLocks noChangeArrowheads="1"/>
            </p:cNvSpPr>
            <p:nvPr/>
          </p:nvSpPr>
          <p:spPr bwMode="auto">
            <a:xfrm>
              <a:off x="3336" y="596"/>
              <a:ext cx="77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失业</a:t>
              </a:r>
              <a:endPara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3805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31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ldLvl="5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52120" y="1548130"/>
            <a:ext cx="74504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最低工资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法：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技能最低或经验最少的工人，最低工资可能会超过均衡工资，从而导致结构性失业。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但这个群体是劳动力的一小部分，所以最低工资不能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大多数结构性失业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71500" y="1387475"/>
            <a:ext cx="80617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工会：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雇主就工资、福利和工作条件进行谈判的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协会。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其力量，为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工人争取更高的工资。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国外的经验：同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，工会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工人的工资比非工会工人高 20%，获得的福利也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工会工人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工资高于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均衡工资水平时，劳动力需求量下降并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导致结构性失业。</a:t>
            </a:r>
            <a:endParaRPr lang="en-US" altLang="zh-CN" sz="2400" smtClean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失业工人进入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未加入工会的劳动力市场，这增加了这些市场的劳动力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供应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并进一步降低</a:t>
            </a:r>
            <a:r>
              <a:rPr lang="zh-CN" altLang="en-US" sz="24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了工资</a:t>
            </a:r>
            <a:r>
              <a:rPr lang="zh-CN" altLang="en-US" sz="2400" smtClean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288350" y="1476897"/>
            <a:ext cx="85356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是好是坏？ 经济学家看法不一。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：工会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是卡特尔（垄断组织形式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之一），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他们将工资提高到高于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工资水平，导致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失业以及压低非工会劳动力市场的工资。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倡导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：工会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对抗大公司的市场力量，使公司对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工人的诉求更加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71500" y="1460444"/>
            <a:ext cx="79063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效率工资：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：企业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自愿支付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高于均衡水平的工资，以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提高工人的生产率。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工资理论提出了企业支付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高工资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的原因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19125" y="1310005"/>
            <a:ext cx="79063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企业支付效率工资的四个原因：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工人健康：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欠发达国家，营养不良是一个普遍问题。 支付更高的工资可以让工人吃得更好，让他们更健康，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更有生产力。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员工流失：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雇用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和培训新员工的成本很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。支付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高工资使工人更有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动力留下来。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15925" y="1384146"/>
            <a:ext cx="87280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工人素质：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更高的工资会吸引更好的求职者，提高公司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的整体素质。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工人努力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可以努力工作，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也可以偷懒，偷懒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的人如果被抓住就会被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解雇。但是被解雇是否是一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种很好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的威慑取决于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找另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份类似的高工资工作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的难易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程度。如果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市场工资高于均衡工资，则没有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足够的类似工作岗位，找另一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份高工资工作就非常难。因此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工人有更多的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动力去努力而不是偷懒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81" y="69269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失业率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302826" y="1572204"/>
            <a:ext cx="85655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失业都是短暂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的，失业者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都能很快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找到新的工作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观察到的失业是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小部分长期失业人员的流动率相当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，随着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时间推移它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占据了大部分可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观察到的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中大部分失业问题是由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少数长时间失业的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工人所造成的。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这些事实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有助于政府设计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的劳动政策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失业者，即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哪些人最有可能长期失业？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这些人才是政府劳动政策的重点目标对象。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00" y="662305"/>
            <a:ext cx="68535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71500" y="662305"/>
            <a:ext cx="68535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85775" y="1468120"/>
            <a:ext cx="8160920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政府职业平台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：工人有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不同偏好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和技能，岗位也有不同的要求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。政府提供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职位空缺信息，以加快工人与职位的匹配。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政府公共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为从衰落行业退出的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工人掌握发展中行业所需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的技能（比如教培、房地产中介等行业）。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35747" y="1471518"/>
            <a:ext cx="8337550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保险：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工人失业时部分保障他们的收入。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保险减少收入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不确定性。为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失业者提供更多时间求职，以获得更好的工作匹配，从而提高生产力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失业保险增加了摩擦性失业。 当工人有失业保险时，他们寻找或接受工作的动力会减少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662305"/>
            <a:ext cx="68535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88144" y="1419431"/>
            <a:ext cx="790638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6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：以下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哪项最有可能减少摩擦性失业？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60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取消最低工资。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60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增加失业保险金。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60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项新的法律禁止工会。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60000"/>
              </a:lnSpc>
              <a:buClr>
                <a:srgbClr val="FF0000"/>
              </a:buClr>
              <a:buFont typeface="+mj-lt"/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越来越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在“前程无忧”上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发布简历，越来越多的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雇主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使用“前程无忧”寻找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合适的员工。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662305"/>
            <a:ext cx="68535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64343" y="1710415"/>
            <a:ext cx="7906385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政府取消最低工资。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一项新的法律禁止工会。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结构性失业，而不是摩擦性失业。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662305"/>
            <a:ext cx="68535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1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80819" y="1413853"/>
            <a:ext cx="790638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政府增加失业保险金。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摩擦性失业，而不是减少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越来越多的员工前程无忧上发布简历，越来越多的雇主使用前程无忧寻找合适的员工。 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加快匹配工人和工作的过程，减少摩擦性失业。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662305"/>
            <a:ext cx="68535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0226" y="1988840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</a:t>
            </a:r>
            <a:r>
              <a:rPr lang="en-US" altLang="zh-CN" sz="4800">
                <a:solidFill>
                  <a:schemeClr val="bg1"/>
                </a:solidFill>
              </a:rPr>
              <a:t>》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62850" y="3058644"/>
            <a:ext cx="4419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：货币体系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5bbe317b-2f70-4b98-89a6-b26650bf9a3c}"/>
</p:tagLst>
</file>

<file path=ppt/tags/tag2.xml><?xml version="1.0" encoding="utf-8"?>
<p:tagLst xmlns:p="http://schemas.openxmlformats.org/presentationml/2006/main">
  <p:tag name="KSO_WM_UNIT_TABLE_BEAUTIFY" val="smartTable{5bbe317b-2f70-4b98-89a6-b26650bf9a3c}"/>
</p:tagLst>
</file>

<file path=ppt/tags/tag3.xml><?xml version="1.0" encoding="utf-8"?>
<p:tagLst xmlns:p="http://schemas.openxmlformats.org/presentationml/2006/main">
  <p:tag name="KSO_WM_UNIT_TABLE_BEAUTIFY" val="smartTable{5bbe317b-2f70-4b98-89a6-b26650bf9a3c}"/>
</p:tagLst>
</file>

<file path=ppt/theme/theme1.xml><?xml version="1.0" encoding="utf-8"?>
<a:theme xmlns:a="http://schemas.openxmlformats.org/drawingml/2006/main" name="1_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02060"/>
    </a:accent1>
    <a:accent2>
      <a:srgbClr val="0070C0"/>
    </a:accent2>
    <a:accent3>
      <a:srgbClr val="00B0F0"/>
    </a:accent3>
    <a:accent4>
      <a:srgbClr val="595959"/>
    </a:accent4>
    <a:accent5>
      <a:srgbClr val="7F7F7F"/>
    </a:accent5>
    <a:accent6>
      <a:srgbClr val="BFBFB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4025</Words>
  <Application>WPS 演示</Application>
  <PresentationFormat>全屏显示(4:3)</PresentationFormat>
  <Paragraphs>421</Paragraphs>
  <Slides>37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Times New Roman</vt:lpstr>
      <vt:lpstr>Verdana</vt:lpstr>
      <vt:lpstr>华光中雅_CNKI</vt:lpstr>
      <vt:lpstr>微软雅黑</vt:lpstr>
      <vt:lpstr>Arial</vt:lpstr>
      <vt:lpstr>华光琥珀_CNKI</vt:lpstr>
      <vt:lpstr>Arial Unicode MS</vt:lpstr>
      <vt:lpstr>Calibri</vt:lpstr>
      <vt:lpstr>Tahoma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zhangyan</dc:creator>
  <cp:lastModifiedBy>HITSZ</cp:lastModifiedBy>
  <cp:revision>274</cp:revision>
  <dcterms:created xsi:type="dcterms:W3CDTF">2021-08-07T09:21:00Z</dcterms:created>
  <dcterms:modified xsi:type="dcterms:W3CDTF">2025-12-14T00:57:52Z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  <property fmtid="{D5CDD505-2E9C-101B-9397-08002B2CF9AE}" pid="3" name="ICV">
    <vt:lpwstr>B7DF767531AE470FBAE2D7F21792708D_12</vt:lpwstr>
  </property>
</Properties>
</file>