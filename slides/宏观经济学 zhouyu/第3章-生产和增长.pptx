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66" r:id="rId2"/>
    <p:sldId id="257" r:id="rId3"/>
    <p:sldId id="313" r:id="rId4"/>
    <p:sldId id="315" r:id="rId5"/>
    <p:sldId id="281" r:id="rId6"/>
    <p:sldId id="280" r:id="rId7"/>
    <p:sldId id="316" r:id="rId8"/>
    <p:sldId id="317" r:id="rId9"/>
    <p:sldId id="318" r:id="rId10"/>
    <p:sldId id="279" r:id="rId11"/>
    <p:sldId id="278" r:id="rId12"/>
    <p:sldId id="277" r:id="rId13"/>
    <p:sldId id="276" r:id="rId14"/>
    <p:sldId id="288" r:id="rId15"/>
    <p:sldId id="297" r:id="rId16"/>
    <p:sldId id="295" r:id="rId17"/>
    <p:sldId id="294" r:id="rId18"/>
    <p:sldId id="293" r:id="rId19"/>
    <p:sldId id="292" r:id="rId20"/>
    <p:sldId id="298" r:id="rId21"/>
    <p:sldId id="320" r:id="rId22"/>
    <p:sldId id="323" r:id="rId23"/>
    <p:sldId id="291" r:id="rId24"/>
    <p:sldId id="290" r:id="rId25"/>
    <p:sldId id="324" r:id="rId26"/>
    <p:sldId id="303" r:id="rId27"/>
    <p:sldId id="302" r:id="rId28"/>
    <p:sldId id="310" r:id="rId29"/>
    <p:sldId id="309" r:id="rId30"/>
    <p:sldId id="319" r:id="rId31"/>
    <p:sldId id="312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>
          <p15:clr>
            <a:srgbClr val="A4A3A4"/>
          </p15:clr>
        </p15:guide>
        <p15:guide id="2" pos="292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06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98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56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34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237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169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38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15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03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97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19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9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427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080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171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477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687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946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83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931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53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pPr/>
              <a:t>2022/2/18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53C9CD8B-9D8F-4E4F-AA7B-F97C16B10CCD}"/>
              </a:ext>
            </a:extLst>
          </p:cNvPr>
          <p:cNvSpPr txBox="1"/>
          <p:nvPr/>
        </p:nvSpPr>
        <p:spPr>
          <a:xfrm>
            <a:off x="2123728" y="3645024"/>
            <a:ext cx="4806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3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：生产和增长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4BD039C5-E591-4702-AED9-53741EC3D7EA}"/>
              </a:ext>
            </a:extLst>
          </p:cNvPr>
          <p:cNvSpPr txBox="1"/>
          <p:nvPr/>
        </p:nvSpPr>
        <p:spPr>
          <a:xfrm>
            <a:off x="1835696" y="1124744"/>
            <a:ext cx="485902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（宏观经济学原理）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4889" y="1772816"/>
            <a:ext cx="6953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不同国家和地区的生活水平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和经济增长有何不同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？有什么演变的趋势？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什么是生产函数？怎么衡量生产力？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对经济增长很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重要？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生产力的决定因素有哪些？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政府的公共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影响生产力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？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7481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世界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各地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的人均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（国民收入）和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增长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380334"/>
              </p:ext>
            </p:extLst>
          </p:nvPr>
        </p:nvGraphicFramePr>
        <p:xfrm>
          <a:off x="755576" y="1484784"/>
          <a:ext cx="8208914" cy="4425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2"/>
                <a:gridCol w="1728192"/>
                <a:gridCol w="1728192"/>
                <a:gridCol w="1728192"/>
                <a:gridCol w="1656186"/>
              </a:tblGrid>
              <a:tr h="100811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地区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人均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GDP:1978</a:t>
                      </a:r>
                      <a: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美元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人均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GDP:2019</a:t>
                      </a:r>
                      <a: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美元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增长率：</a:t>
                      </a:r>
                      <a: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1978-2019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（倍）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第一类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阿尔及利亚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1,456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3,975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摩洛哥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690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3,230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rowSpan="5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第二类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韩国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1,405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31,846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21.7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中国大陆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10,216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64.5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</a:t>
                      </a:r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台湾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1,606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24,828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新加坡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3,193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65,640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中国香港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3,923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48,354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11.3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第三类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加拿大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9,123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46,326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10,564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65,279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1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520" y="1340768"/>
            <a:ext cx="871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图中我们看到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几个事实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有些国家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地区富裕，有些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贫穷。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贫穷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不一定永远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贫穷。例如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：中国、韩国、新加坡等的收入在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年很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年相当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但同时另一些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似乎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陷入贫困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陷阱。如：阿尔及利亚和摩洛哥，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年比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年没有多少经济增长。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富裕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国家</a:t>
            </a:r>
            <a:r>
              <a:rPr lang="en-US" altLang="zh-CN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地区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可能会被较贫穷但发展速度更快的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国家</a:t>
            </a:r>
            <a:r>
              <a:rPr lang="en-US" altLang="zh-CN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地区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所赶超，比如美国、加拿大，就被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中国、韩国等逐步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赶上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7481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世界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各地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的人均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（国民收入）和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增长</a:t>
            </a:r>
          </a:p>
        </p:txBody>
      </p:sp>
    </p:spTree>
    <p:extLst>
      <p:ext uri="{BB962C8B-B14F-4D97-AF65-F5344CB8AC3E}">
        <p14:creationId xmlns:p14="http://schemas.microsoft.com/office/powerpoint/2010/main" val="77669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412776"/>
            <a:ext cx="81369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一个国家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地区是富裕还是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贫穷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这个国家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地区的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：每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投入生产出的商品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服务的数量。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生产出的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服务的数量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劳动投入的总量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Y/L=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劳动投入的产出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人均实际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572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568" y="1556792"/>
            <a:ext cx="8136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为什么生产力如此重要？</a:t>
            </a:r>
            <a:endParaRPr lang="en-US" altLang="zh-CN" sz="2400" b="1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生产力提高，即使劳动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投入没有增加，实际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总量也会增加，国民收入也会增加，人们的生活水平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会提升。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生产力的决定因素有哪些呢？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6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9512" y="1340768"/>
            <a:ext cx="8712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生产函数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和生产要素投入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F(L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K, H, 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函数关系，“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是技术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知识生产要素，其变大表示技术的进步。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是其他生产要素。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是劳动力，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是物质资本，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是人力资本，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是自然资源。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函数“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”，而不是在（）里面，说明技术知识的分享，不像其他生产要素那样具有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排他性。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25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5576" y="126876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生产函数具有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规模报酬不变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的性质：将所有投入改变相同的百分比会导致产出按该百分比改变。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所有投入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加倍，会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导致产出加倍；将所有投入增加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导致产出增加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xmlns="" id="{9919C8D5-AC9F-4CF5-A9A2-C1388CAF0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645024"/>
            <a:ext cx="6565900" cy="45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40000"/>
              </a:spcBef>
              <a:buClr>
                <a:srgbClr val="00B85C"/>
              </a:buClr>
              <a:buSzPct val="120000"/>
              <a:buFont typeface="Wingdings" pitchFamily="2" charset="2"/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2Y  =  A F(2L, 2K, 2H, 2N)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7D13B430-4278-41FA-87E7-2387DEDE41CA}"/>
              </a:ext>
            </a:extLst>
          </p:cNvPr>
          <p:cNvSpPr txBox="1"/>
          <p:nvPr/>
        </p:nvSpPr>
        <p:spPr>
          <a:xfrm>
            <a:off x="763852" y="4743377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：我们没有将技术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）乘以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xmlns="" id="{605F535C-3F16-4820-BFF8-F2DDDA668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4221088"/>
            <a:ext cx="6565900" cy="45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40000"/>
              </a:spcBef>
              <a:buClr>
                <a:srgbClr val="00B85C"/>
              </a:buClr>
              <a:buSzPct val="120000"/>
              <a:buFont typeface="Wingdings" pitchFamily="2" charset="2"/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1.1Y  =  A F(1.1L, 1.1K, 1.1H, 1.1N)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668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25DB41C6-7280-4F9C-95FB-DBA34115EBF5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1412776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如果我们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每种投入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1/L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产出也要乘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sz="2400" b="1" smtClean="0"/>
              <a:t>	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Y/L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 A F(1, K/L, H/L, N/L)</a:t>
            </a:r>
          </a:p>
          <a:p>
            <a:pPr>
              <a:lnSpc>
                <a:spcPct val="150000"/>
              </a:lnSpc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这个等式表明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Y/L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技术知识水平（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人均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物质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资本（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K/L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人均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人力资本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H/L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人均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自然资源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N/L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403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568" y="1412776"/>
            <a:ext cx="79928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用于生产商品和服务的设备、厂房等资本形态。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K/L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人均物质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当劳动力拥有更多物质资本时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，生产力会更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高，即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K/L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的增加导致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Y/L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的增加。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43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2" y="1484784"/>
            <a:ext cx="83529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资本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工人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教育、培训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获得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知识、技能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经验等资本形态。（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“干”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中学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, Learning by Doing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H/L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人均人力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资本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。（一般用劳动者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平均受教育年限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表示）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当劳动力拥有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更多的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资本时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生产力会提高。即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H/L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的增加导致 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Y/L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的增加。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091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560" y="1417749"/>
            <a:ext cx="8208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自然资源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自然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的土地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矿藏等资源。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N/L=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人均自然资源。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N/L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增加会导致 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Y/L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的增加。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一些国家富裕是因为它们拥有丰富的自然资源（例如，沙特阿拉伯拥有大量石油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。但是自然资源缺乏，也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致富（例如，日本进口它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需要的自然资源）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我们一般不强调自然资源对于生产力的影响。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30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2" y="1340768"/>
            <a:ext cx="84249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技术知识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生产商品和服务的最佳方式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理解。技术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进步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不仅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意味着更快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的计算机等硬件，也包括组织生产的软件，它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意味着任何提高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生产力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的技术知识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进步。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技术知识不需要人均的概念，技术传播不受限制，可以在无限多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的劳动者之间共享。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人力资本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：劳动力为获取技术知识而付出的努力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和人力资本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：两者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对生产力都很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重要。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815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148" y="1484784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技术知识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“科技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是第一生产力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”的背景：人口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红利的消失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、物质资本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的逆全球化思潮、自然资源的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枯竭；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劳动力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、物质资本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的边际产出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下降。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431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生产力：储蓄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与投资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281" y="1412776"/>
            <a:ext cx="85312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我们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研究公共政策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如何提升生产力。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首先，增加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K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可以提高生产力。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更多的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来自投资，投资来自于储蓄，增加储蓄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减少消费。因此，一国在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当前消费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未来消费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之间进行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权衡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政府可以实施提高储蓄和投资的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政策，形成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的上升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，导致生产力上升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但生产力上升是递减的。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因为资本的</a:t>
            </a:r>
            <a:r>
              <a:rPr lang="zh-CN" altLang="en-US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边际收益递减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规律：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随着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K 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增加，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额外增加一单位 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，导致的额外产出逐步下降的。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629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537359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生产力：储蓄与投资：边际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收益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递减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9975F954-3850-4E8B-BAD9-858B3A4E3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37983" y="2195880"/>
            <a:ext cx="4888383" cy="4234908"/>
          </a:xfrm>
          <a:prstGeom prst="rect">
            <a:avLst/>
          </a:prstGeom>
        </p:spPr>
      </p:pic>
      <p:sp>
        <p:nvSpPr>
          <p:cNvPr id="19" name="Text Box 84">
            <a:extLst>
              <a:ext uri="{FF2B5EF4-FFF2-40B4-BE49-F238E27FC236}">
                <a16:creationId xmlns:a16="http://schemas.microsoft.com/office/drawing/2014/main" xmlns="" id="{A0D95F50-3FB1-4047-A4F1-3891B3ACF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30" y="4005064"/>
            <a:ext cx="2770188" cy="1676806"/>
          </a:xfrm>
          <a:prstGeom prst="rect">
            <a:avLst/>
          </a:prstGeom>
          <a:solidFill>
            <a:srgbClr val="CCFFCC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  <a:cs typeface="Arial" charset="0"/>
              </a:rPr>
              <a:t>如果劳动力配备的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  <a:cs typeface="Arial" charset="0"/>
              </a:rPr>
              <a:t>K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  <a:cs typeface="Arial" charset="0"/>
              </a:rPr>
              <a:t>很少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，给他们更多的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K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会大大提高他们的生产力。</a:t>
            </a:r>
            <a:endParaRPr lang="en-US" sz="2400" dirty="0"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20" name="Text Box 85">
            <a:extLst>
              <a:ext uri="{FF2B5EF4-FFF2-40B4-BE49-F238E27FC236}">
                <a16:creationId xmlns:a16="http://schemas.microsoft.com/office/drawing/2014/main" xmlns="" id="{0B20BDBA-0F4B-47E0-8143-B66826D0C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178" y="1196752"/>
            <a:ext cx="2770188" cy="1643527"/>
          </a:xfrm>
          <a:prstGeom prst="rect">
            <a:avLst/>
          </a:prstGeom>
          <a:solidFill>
            <a:srgbClr val="FFCCCC">
              <a:alpha val="59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  <a:cs typeface="Arial" charset="0"/>
              </a:rPr>
              <a:t>如果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  <a:cs typeface="Arial" charset="0"/>
              </a:rPr>
              <a:t>劳动力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  <a:cs typeface="Arial" charset="0"/>
              </a:rPr>
              <a:t>已经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有很多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K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，给他们更多的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K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Arial" charset="0"/>
              </a:rPr>
              <a:t>几乎不会提高生产力。</a:t>
            </a:r>
            <a:endParaRPr lang="en-US" sz="2400" dirty="0"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3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47667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生产力：追赶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效应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62DEFF3-0B2B-475D-B99A-416BA7107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8794" y="2280706"/>
            <a:ext cx="6984776" cy="41513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8" name="Text Box 42">
            <a:extLst>
              <a:ext uri="{FF2B5EF4-FFF2-40B4-BE49-F238E27FC236}">
                <a16:creationId xmlns:a16="http://schemas.microsoft.com/office/drawing/2014/main" xmlns="" id="{24303318-0505-4FBA-9AF9-75FA0D686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412776"/>
            <a:ext cx="8280920" cy="86793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追赶效应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穷国（特征：人均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资本低）的资本边际产出往往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比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富国大，因此经济发展速度快，趋势上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追赶富国。</a:t>
            </a:r>
            <a:endParaRPr 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059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生产力：追赶效应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381888"/>
              </p:ext>
            </p:extLst>
          </p:nvPr>
        </p:nvGraphicFramePr>
        <p:xfrm>
          <a:off x="755576" y="1484784"/>
          <a:ext cx="8208914" cy="4425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2"/>
                <a:gridCol w="1728192"/>
                <a:gridCol w="1728192"/>
                <a:gridCol w="1728192"/>
                <a:gridCol w="1656186"/>
              </a:tblGrid>
              <a:tr h="100811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地区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人均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GDP:1978</a:t>
                      </a:r>
                      <a: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美元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人均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GDP:2019</a:t>
                      </a:r>
                      <a: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美元</a:t>
                      </a:r>
                      <a:r>
                        <a:rPr lang="en-US" altLang="zh-CN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增长率：</a:t>
                      </a:r>
                      <a:r>
                        <a:rPr lang="en-US" altLang="zh-CN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1978-2019</a:t>
                      </a:r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（倍）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第一类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阿尔及利亚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1,456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3,975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摩洛哥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690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3,230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rowSpan="5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第二类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韩国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1,405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31,846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21.7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中国大陆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10,216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64.5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</a:t>
                      </a:r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台湾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1,606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24,828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新加坡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3,193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65,640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19.6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中国香港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3,923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48,354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11.3</a:t>
                      </a:r>
                      <a:endParaRPr lang="en-US" altLang="zh-CN" sz="2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第三类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加拿大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9,123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46,326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68425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</a:t>
                      </a:r>
                      <a:endParaRPr lang="zh-CN" altLang="en-US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10,564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65,279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</a:t>
                      </a:r>
                      <a:endParaRPr lang="en-US" altLang="zh-CN" sz="24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37" marR="3637" marT="3637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03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生产力：储蓄与投资：利用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ACF8B8FE-4FAB-4E73-BC9F-7AD2F1BFD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3281" y="1556792"/>
            <a:ext cx="8387191" cy="4076594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为了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提高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K/L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政府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还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可以鼓励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利用外资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外国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直接投资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：由外国实体拥有和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经营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的资本投资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例如外商独资企业）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外国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证券投资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：从外国融资由外国实体拥有，但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由本国居民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经营的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资本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投资（例如外商入股本国企业）。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外资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投资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部分收益流回到外国。</a:t>
            </a:r>
            <a:endParaRPr 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869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4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ACF8B8FE-4FAB-4E73-BC9F-7AD2F1BFD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08912" cy="3240360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有益于国内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无足够储蓄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来资助投资项目的穷国。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有益于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穷国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其他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国家的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最先进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一些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发达国家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（比如美国），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由于本国的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储蓄率低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，无法满足本国的投资需求，也需要从其他国家引进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外资（美国是全球最大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债务国）。</a:t>
            </a:r>
            <a:endParaRPr 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137" y="641967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生产力：储蓄与投资：利用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757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4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620688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生产力：产权保护与政治稳定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544" y="1340768"/>
            <a:ext cx="8424936" cy="4916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尊重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财产权和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知识产权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即保护人们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对自己拥有的资源行使权力的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能力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许多贫穷国家，司法系统运作不佳，对产权保护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不佳。比如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合同并不总是得到执行，欺诈、腐败往往逍遥法外，某些情况下，公司须贿赂官员以获得行政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许可等。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政治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稳定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（例如，频繁的政变）也给产权保护带来很大不确定性。</a:t>
            </a:r>
          </a:p>
          <a:p>
            <a:pPr marL="342900" indent="-342900">
              <a:lnSpc>
                <a:spcPts val="3800"/>
              </a:lnSpc>
              <a:buFont typeface="Wingdings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总之产权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得不到有效保护，市场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主体就会缺乏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投资的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动力（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切记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：物质资本的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增加是促进生产力的重要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途径）。</a:t>
            </a:r>
            <a:endParaRPr lang="en-US" altLang="zh-CN" sz="2400" smtClean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经济稳定增长需要执法有效的法院、长期稳定的法律、诚实廉洁的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官员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906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生产力：自由贸易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560" y="1412776"/>
            <a:ext cx="83529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自由贸易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促进本国与全球经济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的融合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，参与国际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分工，积极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发展国际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经济贸易及技术台作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交流，利于本国经济振兴。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对外贸易与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发现新技术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具有类似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效果。有利于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穷国学习其他国家的最先进技术，提高本国的生产力。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实行自由贸易政策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往往取得持续成功。例如，亚洲四小龙、中国大陆等等。反之，实行内向型政策的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普遍未能创造持续增长。例如，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世纪的阿根廷。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240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生产力：教育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636E07BB-C5D2-42B3-BAB3-FACE49A60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628800"/>
            <a:ext cx="8478343" cy="3096344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政府通过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促进教育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，投资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人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力资本（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，来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提高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生产力。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比如，增加公立学校，大学学费减免等。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教育对于生产力的提升具有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着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影响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。比如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，有研究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发现教育年限每增加一年，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劳动力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工资就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会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提高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10%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，而劳动力的工资是和劳动力的生产力正向关联的。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88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4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生产力：健康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与营养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1B4666E9-98DA-4164-82AE-CDD40D2640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340768"/>
            <a:ext cx="8856984" cy="4680520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政府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扩大健康和营养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支出，投资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人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力资本（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，提高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生产力。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较少生病、身体健康的劳动者生产力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更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/>
              <a:t>吃饱、吃好的劳动者生产力更</a:t>
            </a:r>
            <a:r>
              <a:rPr lang="zh-CN" altLang="zh-CN" sz="2400" smtClean="0"/>
              <a:t>高</a:t>
            </a:r>
            <a:r>
              <a:rPr lang="zh-CN" altLang="en-US" sz="2400" smtClean="0"/>
              <a:t>。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劳动者的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营养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摄入用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卡路里热量来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衡量，比如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1962-1995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，韩国人均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营养摄入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增长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44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，其经济也获得了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惊人增长；再比如诺贝尔奖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获得者罗伯特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福格尔（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1993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）发现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1790-1980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，英国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%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的经济增长归功于工人的营养摄入改善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200" smtClean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措施包括设立</a:t>
            </a: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公立医院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、完善</a:t>
            </a: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医保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体制、完善</a:t>
            </a: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失业救济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制度等。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650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4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生产力：自然资源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2089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一方认为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：自然资源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是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增长的限制。人口增长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正在消耗地球上不可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再生的自然资源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，因此将限制生活水平的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增长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另一方认为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自然资源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不是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增长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限制。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进步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通常会弥补自然资源短缺的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局限性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混合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动力汽车使用较少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汽油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更好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的房屋隔热可以减少加热或冷却所需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能量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当一种资源变得稀缺时，其市场价格就会上涨，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从而增加对这种资源的保护，以及加快开发替代品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4235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生产力：研究与开发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1340768"/>
            <a:ext cx="78488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长远看：技术知识进步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是生产力提高的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知识是公共品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，不像劳动力、资本具有排他性，知识可以自由分享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提高所有人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生产力。技术知识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进步一般通过研究与开发（“研发”）来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促进技术知识进步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的政策：</a:t>
            </a: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专利法来保护技术的知识产权，谁开发谁受益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对民营企业研发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的税收激励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或直接研发资金支持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鼓励大学基础研究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鼓励国际科技创新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交流等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3733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生产力：人口增长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1340768"/>
            <a:ext cx="8568952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一方认为：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人口增长存在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影响，因为会稀释自然资源和资本存量。</a:t>
            </a:r>
          </a:p>
          <a:p>
            <a:pPr marL="12573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，马尔萨斯认为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人口增长会稀释自然资源，削弱社会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自给自足能力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，降低社会生活水平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。事实上世界人口迄今增加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六倍，如果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马尔萨斯是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对的，那么生活水平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下降，相反全球生活水平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在稳步提升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。马尔萨斯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没有考虑到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技术进步等原因的生产力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增长。</a:t>
            </a:r>
          </a:p>
        </p:txBody>
      </p:sp>
    </p:spTree>
    <p:extLst>
      <p:ext uri="{BB962C8B-B14F-4D97-AF65-F5344CB8AC3E}">
        <p14:creationId xmlns:p14="http://schemas.microsoft.com/office/powerpoint/2010/main" val="1062478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生产力：人口增长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9512" y="1484784"/>
            <a:ext cx="8352928" cy="399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的人口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更多的劳动力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更低的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K/L →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生产力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从而生活水平降低。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：更多的人口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儿童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教育系统压力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人均教育资源下降。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为了解决这个问题，许多发展中国家使用政策来控制人口增长：比如计划生育政策（独生子女政策、单独二孩、三孩政策）、避孕（医学）知识教育和避孕技术的普及、提高女性受教育程度以提高女性生孩子的机会成本等等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722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生产力：人口增长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208912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另一方认为：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人口增长存在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影响。人口增长可以促进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进步。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意味着：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科学家、发明家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工程师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频繁的科技创新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迈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克尔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克雷默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(Michael Kremer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QJE, 1993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诺贝尔经济学奖）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：人类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历史的进程中，</a:t>
            </a:r>
          </a:p>
          <a:p>
            <a:pPr marL="12573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经济增长率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随着世界人口的增加而增加</a:t>
            </a:r>
          </a:p>
          <a:p>
            <a:pPr marL="12573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人口较多的地区比人口较少的地区增长得更快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3395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879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：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生产力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5556" y="1340768"/>
            <a:ext cx="8388932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从长远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来看，你认为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以下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哪些政策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能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有效提高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贫困国家的经济增长和生活水平？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本国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公司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的投资提供税收优惠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外国公司的投资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提供税收优惠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现金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补贴以提高高中和大学的入学率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打击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政府腐败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限制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进口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保护本国弱势产业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允许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自由贸易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放弃生育或移民限制政策</a:t>
            </a:r>
            <a:endParaRPr lang="en-US" altLang="zh-CN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613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BD039C5-E591-4702-AED9-53741EC3D7EA}"/>
              </a:ext>
            </a:extLst>
          </p:cNvPr>
          <p:cNvSpPr txBox="1"/>
          <p:nvPr/>
        </p:nvSpPr>
        <p:spPr>
          <a:xfrm>
            <a:off x="2325666" y="1988840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53C9CD8B-9D8F-4E4F-AA7B-F97C16B10CCD}"/>
              </a:ext>
            </a:extLst>
          </p:cNvPr>
          <p:cNvSpPr txBox="1"/>
          <p:nvPr/>
        </p:nvSpPr>
        <p:spPr>
          <a:xfrm>
            <a:off x="1206156" y="3264142"/>
            <a:ext cx="732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储蓄、投资和金融体系</a:t>
            </a:r>
          </a:p>
        </p:txBody>
      </p:sp>
    </p:spTree>
    <p:extLst>
      <p:ext uri="{BB962C8B-B14F-4D97-AF65-F5344CB8AC3E}">
        <p14:creationId xmlns:p14="http://schemas.microsoft.com/office/powerpoint/2010/main" val="336198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7056</TotalTime>
  <Words>2305</Words>
  <Application>Microsoft Office PowerPoint</Application>
  <PresentationFormat>全屏显示(4:3)</PresentationFormat>
  <Paragraphs>262</Paragraphs>
  <Slides>31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等线</vt:lpstr>
      <vt:lpstr>华光琥珀_CNKI</vt:lpstr>
      <vt:lpstr>华光中雅_CNKI</vt:lpstr>
      <vt:lpstr>思源黑体 CN Bold</vt:lpstr>
      <vt:lpstr>思源黑体 CN Light</vt:lpstr>
      <vt:lpstr>思源黑体 CN Regular</vt:lpstr>
      <vt:lpstr>宋体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Windows 用户</cp:lastModifiedBy>
  <cp:revision>254</cp:revision>
  <dcterms:created xsi:type="dcterms:W3CDTF">2020-07-01T07:18:00Z</dcterms:created>
  <dcterms:modified xsi:type="dcterms:W3CDTF">2022-02-18T03:28:14Z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