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42"/>
  </p:handoutMasterIdLst>
  <p:sldIdLst>
    <p:sldId id="266" r:id="rId3"/>
    <p:sldId id="257" r:id="rId5"/>
    <p:sldId id="268" r:id="rId6"/>
    <p:sldId id="324" r:id="rId7"/>
    <p:sldId id="346" r:id="rId8"/>
    <p:sldId id="325" r:id="rId9"/>
    <p:sldId id="347" r:id="rId10"/>
    <p:sldId id="348" r:id="rId11"/>
    <p:sldId id="349" r:id="rId12"/>
    <p:sldId id="269" r:id="rId13"/>
    <p:sldId id="350" r:id="rId14"/>
    <p:sldId id="351" r:id="rId15"/>
    <p:sldId id="352" r:id="rId16"/>
    <p:sldId id="353" r:id="rId17"/>
    <p:sldId id="354" r:id="rId18"/>
    <p:sldId id="355" r:id="rId19"/>
    <p:sldId id="356" r:id="rId20"/>
    <p:sldId id="357" r:id="rId21"/>
    <p:sldId id="358" r:id="rId22"/>
    <p:sldId id="359" r:id="rId23"/>
    <p:sldId id="361" r:id="rId24"/>
    <p:sldId id="270" r:id="rId25"/>
    <p:sldId id="362" r:id="rId26"/>
    <p:sldId id="381" r:id="rId27"/>
    <p:sldId id="364" r:id="rId28"/>
    <p:sldId id="365" r:id="rId29"/>
    <p:sldId id="366" r:id="rId30"/>
    <p:sldId id="367" r:id="rId31"/>
    <p:sldId id="368" r:id="rId32"/>
    <p:sldId id="369" r:id="rId33"/>
    <p:sldId id="370" r:id="rId34"/>
    <p:sldId id="371" r:id="rId35"/>
    <p:sldId id="372" r:id="rId36"/>
    <p:sldId id="373" r:id="rId37"/>
    <p:sldId id="374" r:id="rId38"/>
    <p:sldId id="375" r:id="rId39"/>
    <p:sldId id="376" r:id="rId40"/>
    <p:sldId id="314" r:id="rId41"/>
  </p:sldIdLst>
  <p:sldSz cx="9144000" cy="6858000" type="screen4x3"/>
  <p:notesSz cx="6797675" cy="9928225"/>
  <p:custDataLst>
    <p:tags r:id="rId4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8" userDrawn="1">
          <p15:clr>
            <a:srgbClr val="A4A3A4"/>
          </p15:clr>
        </p15:guide>
        <p15:guide id="2" pos="292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YZ" initials="Y" lastIdx="3" clrIdx="0"/>
  <p:cmAuthor id="1" name="潘 柏蕙" initials="潘" lastIdx="3"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2060"/>
    <a:srgbClr val="9F8453"/>
    <a:srgbClr val="9D7B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9" autoAdjust="0"/>
    <p:restoredTop sz="93727" autoAdjust="0"/>
  </p:normalViewPr>
  <p:slideViewPr>
    <p:cSldViewPr showGuides="1">
      <p:cViewPr varScale="1">
        <p:scale>
          <a:sx n="109" d="100"/>
          <a:sy n="109" d="100"/>
        </p:scale>
        <p:origin x="1578" y="102"/>
      </p:cViewPr>
      <p:guideLst>
        <p:guide orient="horz" pos="2198"/>
        <p:guide pos="2925"/>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7" Type="http://schemas.openxmlformats.org/officeDocument/2006/relationships/tags" Target="tags/tag3.xml"/><Relationship Id="rId46" Type="http://schemas.openxmlformats.org/officeDocument/2006/relationships/commentAuthors" Target="commentAuthors.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handoutMaster" Target="handoutMasters/handoutMaster1.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2" Type="http://schemas.openxmlformats.org/officeDocument/2006/relationships/themeOverride" Target="../theme/themeOverride1.xml"/><Relationship Id="rId1" Type="http://schemas.openxmlformats.org/officeDocument/2006/relationships/oleObject" Target="file:///C:\Users\Ron\Dropbox\MANKIW-CENGAGE\!%20Mankiw%20Principles\PPTs,%202012%20update\Data%20Files\chap12%20gov%20receipt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50016294838145"/>
          <c:y val="0.0223970152985329"/>
          <c:w val="0.818886811023622"/>
          <c:h val="0.849150299472439"/>
        </c:manualLayout>
      </c:layout>
      <c:scatterChart>
        <c:scatterStyle val="lineMarker"/>
        <c:varyColors val="0"/>
        <c:ser>
          <c:idx val="0"/>
          <c:order val="0"/>
          <c:tx>
            <c:strRef>
              <c:f>DATA!$I$3</c:f>
              <c:strCache>
                <c:ptCount val="1"/>
                <c:pt idx="0">
                  <c:v>TOTAL</c:v>
                </c:pt>
              </c:strCache>
            </c:strRef>
          </c:tx>
          <c:spPr>
            <a:ln w="38100" cap="rnd" cmpd="sng" algn="ctr">
              <a:solidFill>
                <a:schemeClr val="accent1">
                  <a:shade val="95000"/>
                  <a:satMod val="105000"/>
                </a:schemeClr>
              </a:solidFill>
              <a:prstDash val="solid"/>
              <a:round/>
            </a:ln>
          </c:spPr>
          <c:marker>
            <c:symbol val="none"/>
          </c:marker>
          <c:dLbls>
            <c:delete val="1"/>
          </c:dLbls>
          <c:xVal>
            <c:numRef>
              <c:f>DATA!$H$4:$H$86</c:f>
              <c:numCache>
                <c:formatCode>General</c:formatCode>
                <c:ptCount val="83"/>
                <c:pt idx="0">
                  <c:v>1929</c:v>
                </c:pt>
                <c:pt idx="1">
                  <c:v>1930</c:v>
                </c:pt>
                <c:pt idx="2">
                  <c:v>1931</c:v>
                </c:pt>
                <c:pt idx="3">
                  <c:v>1932</c:v>
                </c:pt>
                <c:pt idx="4">
                  <c:v>1933</c:v>
                </c:pt>
                <c:pt idx="5">
                  <c:v>1934</c:v>
                </c:pt>
                <c:pt idx="6">
                  <c:v>1935</c:v>
                </c:pt>
                <c:pt idx="7">
                  <c:v>1936</c:v>
                </c:pt>
                <c:pt idx="8">
                  <c:v>1937</c:v>
                </c:pt>
                <c:pt idx="9">
                  <c:v>1938</c:v>
                </c:pt>
                <c:pt idx="10">
                  <c:v>1939</c:v>
                </c:pt>
                <c:pt idx="11">
                  <c:v>1940</c:v>
                </c:pt>
                <c:pt idx="12">
                  <c:v>1941</c:v>
                </c:pt>
                <c:pt idx="13">
                  <c:v>1942</c:v>
                </c:pt>
                <c:pt idx="14">
                  <c:v>1943</c:v>
                </c:pt>
                <c:pt idx="15">
                  <c:v>1944</c:v>
                </c:pt>
                <c:pt idx="16">
                  <c:v>1945</c:v>
                </c:pt>
                <c:pt idx="17">
                  <c:v>1946</c:v>
                </c:pt>
                <c:pt idx="18">
                  <c:v>1947</c:v>
                </c:pt>
                <c:pt idx="19">
                  <c:v>1948</c:v>
                </c:pt>
                <c:pt idx="20">
                  <c:v>1949</c:v>
                </c:pt>
                <c:pt idx="21">
                  <c:v>1950</c:v>
                </c:pt>
                <c:pt idx="22">
                  <c:v>1951</c:v>
                </c:pt>
                <c:pt idx="23">
                  <c:v>1952</c:v>
                </c:pt>
                <c:pt idx="24">
                  <c:v>1953</c:v>
                </c:pt>
                <c:pt idx="25">
                  <c:v>1954</c:v>
                </c:pt>
                <c:pt idx="26">
                  <c:v>1955</c:v>
                </c:pt>
                <c:pt idx="27">
                  <c:v>1956</c:v>
                </c:pt>
                <c:pt idx="28">
                  <c:v>1957</c:v>
                </c:pt>
                <c:pt idx="29">
                  <c:v>1958</c:v>
                </c:pt>
                <c:pt idx="30">
                  <c:v>1959</c:v>
                </c:pt>
                <c:pt idx="31">
                  <c:v>1960</c:v>
                </c:pt>
                <c:pt idx="32">
                  <c:v>1961</c:v>
                </c:pt>
                <c:pt idx="33">
                  <c:v>1962</c:v>
                </c:pt>
                <c:pt idx="34">
                  <c:v>1963</c:v>
                </c:pt>
                <c:pt idx="35">
                  <c:v>1964</c:v>
                </c:pt>
                <c:pt idx="36">
                  <c:v>1965</c:v>
                </c:pt>
                <c:pt idx="37">
                  <c:v>1966</c:v>
                </c:pt>
                <c:pt idx="38">
                  <c:v>1967</c:v>
                </c:pt>
                <c:pt idx="39">
                  <c:v>1968</c:v>
                </c:pt>
                <c:pt idx="40">
                  <c:v>1969</c:v>
                </c:pt>
                <c:pt idx="41">
                  <c:v>1970</c:v>
                </c:pt>
                <c:pt idx="42">
                  <c:v>1971</c:v>
                </c:pt>
                <c:pt idx="43">
                  <c:v>1972</c:v>
                </c:pt>
                <c:pt idx="44">
                  <c:v>1973</c:v>
                </c:pt>
                <c:pt idx="45">
                  <c:v>1974</c:v>
                </c:pt>
                <c:pt idx="46">
                  <c:v>1975</c:v>
                </c:pt>
                <c:pt idx="47">
                  <c:v>1976</c:v>
                </c:pt>
                <c:pt idx="48">
                  <c:v>1977</c:v>
                </c:pt>
                <c:pt idx="49">
                  <c:v>1978</c:v>
                </c:pt>
                <c:pt idx="50">
                  <c:v>1979</c:v>
                </c:pt>
                <c:pt idx="51">
                  <c:v>1980</c:v>
                </c:pt>
                <c:pt idx="52">
                  <c:v>1981</c:v>
                </c:pt>
                <c:pt idx="53">
                  <c:v>1982</c:v>
                </c:pt>
                <c:pt idx="54">
                  <c:v>1983</c:v>
                </c:pt>
                <c:pt idx="55">
                  <c:v>1984</c:v>
                </c:pt>
                <c:pt idx="56">
                  <c:v>1985</c:v>
                </c:pt>
                <c:pt idx="57">
                  <c:v>1986</c:v>
                </c:pt>
                <c:pt idx="58">
                  <c:v>1987</c:v>
                </c:pt>
                <c:pt idx="59">
                  <c:v>1988</c:v>
                </c:pt>
                <c:pt idx="60">
                  <c:v>1989</c:v>
                </c:pt>
                <c:pt idx="61">
                  <c:v>1990</c:v>
                </c:pt>
                <c:pt idx="62">
                  <c:v>1991</c:v>
                </c:pt>
                <c:pt idx="63">
                  <c:v>1992</c:v>
                </c:pt>
                <c:pt idx="64">
                  <c:v>1993</c:v>
                </c:pt>
                <c:pt idx="65">
                  <c:v>1994</c:v>
                </c:pt>
                <c:pt idx="66">
                  <c:v>1995</c:v>
                </c:pt>
                <c:pt idx="67">
                  <c:v>1996</c:v>
                </c:pt>
                <c:pt idx="68">
                  <c:v>1997</c:v>
                </c:pt>
                <c:pt idx="69">
                  <c:v>1998</c:v>
                </c:pt>
                <c:pt idx="70">
                  <c:v>1999</c:v>
                </c:pt>
                <c:pt idx="71">
                  <c:v>2000</c:v>
                </c:pt>
                <c:pt idx="72">
                  <c:v>2001</c:v>
                </c:pt>
                <c:pt idx="73">
                  <c:v>2002</c:v>
                </c:pt>
                <c:pt idx="74">
                  <c:v>2003</c:v>
                </c:pt>
                <c:pt idx="75">
                  <c:v>2004</c:v>
                </c:pt>
                <c:pt idx="76">
                  <c:v>2005</c:v>
                </c:pt>
                <c:pt idx="77">
                  <c:v>2006</c:v>
                </c:pt>
                <c:pt idx="78">
                  <c:v>2007</c:v>
                </c:pt>
                <c:pt idx="79">
                  <c:v>2008</c:v>
                </c:pt>
                <c:pt idx="80">
                  <c:v>2009</c:v>
                </c:pt>
                <c:pt idx="81">
                  <c:v>2010</c:v>
                </c:pt>
                <c:pt idx="82">
                  <c:v>2011</c:v>
                </c:pt>
              </c:numCache>
            </c:numRef>
          </c:xVal>
          <c:yVal>
            <c:numRef>
              <c:f>DATA!$I$4:$I$86</c:f>
              <c:numCache>
                <c:formatCode>0.0%</c:formatCode>
                <c:ptCount val="83"/>
                <c:pt idx="0">
                  <c:v>0.101351351351351</c:v>
                </c:pt>
                <c:pt idx="1">
                  <c:v>0.109649122807018</c:v>
                </c:pt>
                <c:pt idx="2">
                  <c:v>0.113725490196078</c:v>
                </c:pt>
                <c:pt idx="3">
                  <c:v>0.1396933560477</c:v>
                </c:pt>
                <c:pt idx="4">
                  <c:v>0.152482269503546</c:v>
                </c:pt>
                <c:pt idx="5">
                  <c:v>0.146969696969697</c:v>
                </c:pt>
                <c:pt idx="6">
                  <c:v>0.14324693042292</c:v>
                </c:pt>
                <c:pt idx="7">
                  <c:v>0.14200477326969</c:v>
                </c:pt>
                <c:pt idx="8">
                  <c:v>0.155603917301415</c:v>
                </c:pt>
                <c:pt idx="9">
                  <c:v>0.16144018583043</c:v>
                </c:pt>
                <c:pt idx="10">
                  <c:v>0.154013015184382</c:v>
                </c:pt>
                <c:pt idx="11">
                  <c:v>0.16370808678501</c:v>
                </c:pt>
                <c:pt idx="12">
                  <c:v>0.187845303867403</c:v>
                </c:pt>
                <c:pt idx="13">
                  <c:v>0.192711550339716</c:v>
                </c:pt>
                <c:pt idx="14">
                  <c:v>0.239677744209466</c:v>
                </c:pt>
                <c:pt idx="15">
                  <c:v>0.224749772520473</c:v>
                </c:pt>
                <c:pt idx="16">
                  <c:v>0.230493273542601</c:v>
                </c:pt>
                <c:pt idx="17">
                  <c:v>0.226822682268227</c:v>
                </c:pt>
                <c:pt idx="18">
                  <c:v>0.22695616550594</c:v>
                </c:pt>
                <c:pt idx="19">
                  <c:v>0.217</c:v>
                </c:pt>
                <c:pt idx="20">
                  <c:v>0.203</c:v>
                </c:pt>
                <c:pt idx="21">
                  <c:v>0.207</c:v>
                </c:pt>
                <c:pt idx="22">
                  <c:v>0.22</c:v>
                </c:pt>
                <c:pt idx="23">
                  <c:v>0.248</c:v>
                </c:pt>
                <c:pt idx="24">
                  <c:v>0.247</c:v>
                </c:pt>
                <c:pt idx="25">
                  <c:v>0.248</c:v>
                </c:pt>
                <c:pt idx="26">
                  <c:v>0.229</c:v>
                </c:pt>
                <c:pt idx="27">
                  <c:v>0.241</c:v>
                </c:pt>
                <c:pt idx="28">
                  <c:v>0.246</c:v>
                </c:pt>
                <c:pt idx="29">
                  <c:v>0.244</c:v>
                </c:pt>
                <c:pt idx="30">
                  <c:v>0.233</c:v>
                </c:pt>
                <c:pt idx="31">
                  <c:v>0.252</c:v>
                </c:pt>
                <c:pt idx="32">
                  <c:v>0.256</c:v>
                </c:pt>
                <c:pt idx="33">
                  <c:v>0.254</c:v>
                </c:pt>
                <c:pt idx="34">
                  <c:v>0.258</c:v>
                </c:pt>
                <c:pt idx="35">
                  <c:v>0.256</c:v>
                </c:pt>
                <c:pt idx="36">
                  <c:v>0.251</c:v>
                </c:pt>
                <c:pt idx="37">
                  <c:v>0.254</c:v>
                </c:pt>
                <c:pt idx="38">
                  <c:v>0.265</c:v>
                </c:pt>
                <c:pt idx="39">
                  <c:v>0.262</c:v>
                </c:pt>
                <c:pt idx="40">
                  <c:v>0.285</c:v>
                </c:pt>
                <c:pt idx="41">
                  <c:v>0.283</c:v>
                </c:pt>
                <c:pt idx="42">
                  <c:v>0.267</c:v>
                </c:pt>
                <c:pt idx="43">
                  <c:v>0.275</c:v>
                </c:pt>
                <c:pt idx="44">
                  <c:v>0.274</c:v>
                </c:pt>
                <c:pt idx="45">
                  <c:v>0.28</c:v>
                </c:pt>
                <c:pt idx="46">
                  <c:v>0.275</c:v>
                </c:pt>
                <c:pt idx="47">
                  <c:v>0.267</c:v>
                </c:pt>
                <c:pt idx="48">
                  <c:v>0.276</c:v>
                </c:pt>
                <c:pt idx="49">
                  <c:v>0.275</c:v>
                </c:pt>
                <c:pt idx="50">
                  <c:v>0.273</c:v>
                </c:pt>
                <c:pt idx="51">
                  <c:v>0.278</c:v>
                </c:pt>
                <c:pt idx="52">
                  <c:v>0.282</c:v>
                </c:pt>
                <c:pt idx="53">
                  <c:v>0.281</c:v>
                </c:pt>
                <c:pt idx="54">
                  <c:v>0.266</c:v>
                </c:pt>
                <c:pt idx="55">
                  <c:v>0.266</c:v>
                </c:pt>
                <c:pt idx="56">
                  <c:v>0.27</c:v>
                </c:pt>
                <c:pt idx="57">
                  <c:v>0.269</c:v>
                </c:pt>
                <c:pt idx="58">
                  <c:v>0.281</c:v>
                </c:pt>
                <c:pt idx="59">
                  <c:v>0.278</c:v>
                </c:pt>
                <c:pt idx="60">
                  <c:v>0.28</c:v>
                </c:pt>
                <c:pt idx="61">
                  <c:v>0.277</c:v>
                </c:pt>
                <c:pt idx="62">
                  <c:v>0.277</c:v>
                </c:pt>
                <c:pt idx="63">
                  <c:v>0.275</c:v>
                </c:pt>
                <c:pt idx="64">
                  <c:v>0.276</c:v>
                </c:pt>
                <c:pt idx="65">
                  <c:v>0.281</c:v>
                </c:pt>
                <c:pt idx="66">
                  <c:v>0.285</c:v>
                </c:pt>
                <c:pt idx="67">
                  <c:v>0.29</c:v>
                </c:pt>
                <c:pt idx="68">
                  <c:v>0.293</c:v>
                </c:pt>
                <c:pt idx="69">
                  <c:v>0.299</c:v>
                </c:pt>
                <c:pt idx="70">
                  <c:v>0.298</c:v>
                </c:pt>
                <c:pt idx="71">
                  <c:v>0.306</c:v>
                </c:pt>
                <c:pt idx="72">
                  <c:v>0.295</c:v>
                </c:pt>
                <c:pt idx="73">
                  <c:v>0.274</c:v>
                </c:pt>
                <c:pt idx="74">
                  <c:v>0.26</c:v>
                </c:pt>
                <c:pt idx="75">
                  <c:v>0.261</c:v>
                </c:pt>
                <c:pt idx="76">
                  <c:v>0.276</c:v>
                </c:pt>
                <c:pt idx="77">
                  <c:v>0.286</c:v>
                </c:pt>
                <c:pt idx="78">
                  <c:v>0.289</c:v>
                </c:pt>
                <c:pt idx="79">
                  <c:v>0.278</c:v>
                </c:pt>
                <c:pt idx="80">
                  <c:v>0.251</c:v>
                </c:pt>
                <c:pt idx="81" c:formatCode="General">
                  <c:v>0.251</c:v>
                </c:pt>
                <c:pt idx="82" c:formatCode="General">
                  <c:v>0.255</c:v>
                </c:pt>
              </c:numCache>
            </c:numRef>
          </c:yVal>
          <c:smooth val="0"/>
        </c:ser>
        <c:ser>
          <c:idx val="1"/>
          <c:order val="1"/>
          <c:tx>
            <c:strRef>
              <c:f>DATA!$J$3</c:f>
              <c:strCache>
                <c:ptCount val="1"/>
                <c:pt idx="0">
                  <c:v>FEDERAL</c:v>
                </c:pt>
              </c:strCache>
            </c:strRef>
          </c:tx>
          <c:spPr>
            <a:ln w="38100" cap="rnd" cmpd="sng" algn="ctr">
              <a:solidFill>
                <a:schemeClr val="accent2">
                  <a:shade val="95000"/>
                  <a:satMod val="105000"/>
                </a:schemeClr>
              </a:solidFill>
              <a:prstDash val="solid"/>
              <a:round/>
            </a:ln>
          </c:spPr>
          <c:marker>
            <c:symbol val="none"/>
          </c:marker>
          <c:dLbls>
            <c:delete val="1"/>
          </c:dLbls>
          <c:xVal>
            <c:numRef>
              <c:f>DATA!$H$4:$H$86</c:f>
              <c:numCache>
                <c:formatCode>General</c:formatCode>
                <c:ptCount val="83"/>
                <c:pt idx="0">
                  <c:v>1929</c:v>
                </c:pt>
                <c:pt idx="1">
                  <c:v>1930</c:v>
                </c:pt>
                <c:pt idx="2">
                  <c:v>1931</c:v>
                </c:pt>
                <c:pt idx="3">
                  <c:v>1932</c:v>
                </c:pt>
                <c:pt idx="4">
                  <c:v>1933</c:v>
                </c:pt>
                <c:pt idx="5">
                  <c:v>1934</c:v>
                </c:pt>
                <c:pt idx="6">
                  <c:v>1935</c:v>
                </c:pt>
                <c:pt idx="7">
                  <c:v>1936</c:v>
                </c:pt>
                <c:pt idx="8">
                  <c:v>1937</c:v>
                </c:pt>
                <c:pt idx="9">
                  <c:v>1938</c:v>
                </c:pt>
                <c:pt idx="10">
                  <c:v>1939</c:v>
                </c:pt>
                <c:pt idx="11">
                  <c:v>1940</c:v>
                </c:pt>
                <c:pt idx="12">
                  <c:v>1941</c:v>
                </c:pt>
                <c:pt idx="13">
                  <c:v>1942</c:v>
                </c:pt>
                <c:pt idx="14">
                  <c:v>1943</c:v>
                </c:pt>
                <c:pt idx="15">
                  <c:v>1944</c:v>
                </c:pt>
                <c:pt idx="16">
                  <c:v>1945</c:v>
                </c:pt>
                <c:pt idx="17">
                  <c:v>1946</c:v>
                </c:pt>
                <c:pt idx="18">
                  <c:v>1947</c:v>
                </c:pt>
                <c:pt idx="19">
                  <c:v>1948</c:v>
                </c:pt>
                <c:pt idx="20">
                  <c:v>1949</c:v>
                </c:pt>
                <c:pt idx="21">
                  <c:v>1950</c:v>
                </c:pt>
                <c:pt idx="22">
                  <c:v>1951</c:v>
                </c:pt>
                <c:pt idx="23">
                  <c:v>1952</c:v>
                </c:pt>
                <c:pt idx="24">
                  <c:v>1953</c:v>
                </c:pt>
                <c:pt idx="25">
                  <c:v>1954</c:v>
                </c:pt>
                <c:pt idx="26">
                  <c:v>1955</c:v>
                </c:pt>
                <c:pt idx="27">
                  <c:v>1956</c:v>
                </c:pt>
                <c:pt idx="28">
                  <c:v>1957</c:v>
                </c:pt>
                <c:pt idx="29">
                  <c:v>1958</c:v>
                </c:pt>
                <c:pt idx="30">
                  <c:v>1959</c:v>
                </c:pt>
                <c:pt idx="31">
                  <c:v>1960</c:v>
                </c:pt>
                <c:pt idx="32">
                  <c:v>1961</c:v>
                </c:pt>
                <c:pt idx="33">
                  <c:v>1962</c:v>
                </c:pt>
                <c:pt idx="34">
                  <c:v>1963</c:v>
                </c:pt>
                <c:pt idx="35">
                  <c:v>1964</c:v>
                </c:pt>
                <c:pt idx="36">
                  <c:v>1965</c:v>
                </c:pt>
                <c:pt idx="37">
                  <c:v>1966</c:v>
                </c:pt>
                <c:pt idx="38">
                  <c:v>1967</c:v>
                </c:pt>
                <c:pt idx="39">
                  <c:v>1968</c:v>
                </c:pt>
                <c:pt idx="40">
                  <c:v>1969</c:v>
                </c:pt>
                <c:pt idx="41">
                  <c:v>1970</c:v>
                </c:pt>
                <c:pt idx="42">
                  <c:v>1971</c:v>
                </c:pt>
                <c:pt idx="43">
                  <c:v>1972</c:v>
                </c:pt>
                <c:pt idx="44">
                  <c:v>1973</c:v>
                </c:pt>
                <c:pt idx="45">
                  <c:v>1974</c:v>
                </c:pt>
                <c:pt idx="46">
                  <c:v>1975</c:v>
                </c:pt>
                <c:pt idx="47">
                  <c:v>1976</c:v>
                </c:pt>
                <c:pt idx="48">
                  <c:v>1977</c:v>
                </c:pt>
                <c:pt idx="49">
                  <c:v>1978</c:v>
                </c:pt>
                <c:pt idx="50">
                  <c:v>1979</c:v>
                </c:pt>
                <c:pt idx="51">
                  <c:v>1980</c:v>
                </c:pt>
                <c:pt idx="52">
                  <c:v>1981</c:v>
                </c:pt>
                <c:pt idx="53">
                  <c:v>1982</c:v>
                </c:pt>
                <c:pt idx="54">
                  <c:v>1983</c:v>
                </c:pt>
                <c:pt idx="55">
                  <c:v>1984</c:v>
                </c:pt>
                <c:pt idx="56">
                  <c:v>1985</c:v>
                </c:pt>
                <c:pt idx="57">
                  <c:v>1986</c:v>
                </c:pt>
                <c:pt idx="58">
                  <c:v>1987</c:v>
                </c:pt>
                <c:pt idx="59">
                  <c:v>1988</c:v>
                </c:pt>
                <c:pt idx="60">
                  <c:v>1989</c:v>
                </c:pt>
                <c:pt idx="61">
                  <c:v>1990</c:v>
                </c:pt>
                <c:pt idx="62">
                  <c:v>1991</c:v>
                </c:pt>
                <c:pt idx="63">
                  <c:v>1992</c:v>
                </c:pt>
                <c:pt idx="64">
                  <c:v>1993</c:v>
                </c:pt>
                <c:pt idx="65">
                  <c:v>1994</c:v>
                </c:pt>
                <c:pt idx="66">
                  <c:v>1995</c:v>
                </c:pt>
                <c:pt idx="67">
                  <c:v>1996</c:v>
                </c:pt>
                <c:pt idx="68">
                  <c:v>1997</c:v>
                </c:pt>
                <c:pt idx="69">
                  <c:v>1998</c:v>
                </c:pt>
                <c:pt idx="70">
                  <c:v>1999</c:v>
                </c:pt>
                <c:pt idx="71">
                  <c:v>2000</c:v>
                </c:pt>
                <c:pt idx="72">
                  <c:v>2001</c:v>
                </c:pt>
                <c:pt idx="73">
                  <c:v>2002</c:v>
                </c:pt>
                <c:pt idx="74">
                  <c:v>2003</c:v>
                </c:pt>
                <c:pt idx="75">
                  <c:v>2004</c:v>
                </c:pt>
                <c:pt idx="76">
                  <c:v>2005</c:v>
                </c:pt>
                <c:pt idx="77">
                  <c:v>2006</c:v>
                </c:pt>
                <c:pt idx="78">
                  <c:v>2007</c:v>
                </c:pt>
                <c:pt idx="79">
                  <c:v>2008</c:v>
                </c:pt>
                <c:pt idx="80">
                  <c:v>2009</c:v>
                </c:pt>
                <c:pt idx="81">
                  <c:v>2010</c:v>
                </c:pt>
                <c:pt idx="82">
                  <c:v>2011</c:v>
                </c:pt>
              </c:numCache>
            </c:numRef>
          </c:xVal>
          <c:yVal>
            <c:numRef>
              <c:f>DATA!$J$4:$J$86</c:f>
              <c:numCache>
                <c:formatCode>0.0%</c:formatCode>
                <c:ptCount val="83"/>
                <c:pt idx="0">
                  <c:v>0.0357142857142857</c:v>
                </c:pt>
                <c:pt idx="1">
                  <c:v>0.0317982456140351</c:v>
                </c:pt>
                <c:pt idx="2">
                  <c:v>0.0248366013071895</c:v>
                </c:pt>
                <c:pt idx="3">
                  <c:v>0.0272572402044293</c:v>
                </c:pt>
                <c:pt idx="4">
                  <c:v>0.0460992907801419</c:v>
                </c:pt>
                <c:pt idx="5">
                  <c:v>0.0515151515151515</c:v>
                </c:pt>
                <c:pt idx="6">
                  <c:v>0.0504774897680764</c:v>
                </c:pt>
                <c:pt idx="7">
                  <c:v>0.0548926014319809</c:v>
                </c:pt>
                <c:pt idx="8">
                  <c:v>0.0718171926006529</c:v>
                </c:pt>
                <c:pt idx="9">
                  <c:v>0.0696864111498258</c:v>
                </c:pt>
                <c:pt idx="10">
                  <c:v>0.0683297180043384</c:v>
                </c:pt>
                <c:pt idx="11">
                  <c:v>0.0808678500986193</c:v>
                </c:pt>
                <c:pt idx="12">
                  <c:v>0.117600631412786</c:v>
                </c:pt>
                <c:pt idx="13">
                  <c:v>0.137739345274861</c:v>
                </c:pt>
                <c:pt idx="14">
                  <c:v>0.193856998992951</c:v>
                </c:pt>
                <c:pt idx="15">
                  <c:v>0.182438580527753</c:v>
                </c:pt>
                <c:pt idx="16">
                  <c:v>0.18609865470852</c:v>
                </c:pt>
                <c:pt idx="17">
                  <c:v>0.177767776777678</c:v>
                </c:pt>
                <c:pt idx="18">
                  <c:v>0.175337976239246</c:v>
                </c:pt>
                <c:pt idx="19">
                  <c:v>0.162</c:v>
                </c:pt>
                <c:pt idx="20">
                  <c:v>0.145</c:v>
                </c:pt>
                <c:pt idx="21">
                  <c:v>0.144</c:v>
                </c:pt>
                <c:pt idx="22">
                  <c:v>0.161</c:v>
                </c:pt>
                <c:pt idx="23">
                  <c:v>0.19</c:v>
                </c:pt>
                <c:pt idx="24">
                  <c:v>0.187</c:v>
                </c:pt>
                <c:pt idx="25">
                  <c:v>0.185</c:v>
                </c:pt>
                <c:pt idx="26">
                  <c:v>0.165</c:v>
                </c:pt>
                <c:pt idx="27">
                  <c:v>0.175</c:v>
                </c:pt>
                <c:pt idx="28">
                  <c:v>0.177</c:v>
                </c:pt>
                <c:pt idx="29">
                  <c:v>0.173</c:v>
                </c:pt>
                <c:pt idx="30">
                  <c:v>0.162</c:v>
                </c:pt>
                <c:pt idx="31">
                  <c:v>0.178</c:v>
                </c:pt>
                <c:pt idx="32">
                  <c:v>0.178</c:v>
                </c:pt>
                <c:pt idx="33">
                  <c:v>0.176</c:v>
                </c:pt>
                <c:pt idx="34">
                  <c:v>0.178</c:v>
                </c:pt>
                <c:pt idx="35">
                  <c:v>0.176</c:v>
                </c:pt>
                <c:pt idx="36">
                  <c:v>0.17</c:v>
                </c:pt>
                <c:pt idx="37">
                  <c:v>0.173</c:v>
                </c:pt>
                <c:pt idx="38">
                  <c:v>0.184</c:v>
                </c:pt>
                <c:pt idx="39">
                  <c:v>0.176</c:v>
                </c:pt>
                <c:pt idx="40">
                  <c:v>0.197</c:v>
                </c:pt>
                <c:pt idx="41">
                  <c:v>0.19</c:v>
                </c:pt>
                <c:pt idx="42">
                  <c:v>0.173</c:v>
                </c:pt>
                <c:pt idx="43">
                  <c:v>0.176</c:v>
                </c:pt>
                <c:pt idx="44">
                  <c:v>0.176</c:v>
                </c:pt>
                <c:pt idx="45">
                  <c:v>0.183</c:v>
                </c:pt>
                <c:pt idx="46">
                  <c:v>0.179</c:v>
                </c:pt>
                <c:pt idx="47">
                  <c:v>0.171</c:v>
                </c:pt>
                <c:pt idx="48">
                  <c:v>0.18</c:v>
                </c:pt>
                <c:pt idx="49">
                  <c:v>0.18</c:v>
                </c:pt>
                <c:pt idx="50">
                  <c:v>0.185</c:v>
                </c:pt>
                <c:pt idx="51">
                  <c:v>0.19</c:v>
                </c:pt>
                <c:pt idx="52">
                  <c:v>0.196</c:v>
                </c:pt>
                <c:pt idx="53">
                  <c:v>0.192</c:v>
                </c:pt>
                <c:pt idx="54">
                  <c:v>0.175</c:v>
                </c:pt>
                <c:pt idx="55">
                  <c:v>0.173</c:v>
                </c:pt>
                <c:pt idx="56">
                  <c:v>0.177</c:v>
                </c:pt>
                <c:pt idx="57">
                  <c:v>0.175</c:v>
                </c:pt>
                <c:pt idx="58">
                  <c:v>0.184</c:v>
                </c:pt>
                <c:pt idx="59">
                  <c:v>0.182</c:v>
                </c:pt>
                <c:pt idx="60">
                  <c:v>0.184</c:v>
                </c:pt>
                <c:pt idx="61">
                  <c:v>0.18</c:v>
                </c:pt>
                <c:pt idx="62">
                  <c:v>0.178</c:v>
                </c:pt>
                <c:pt idx="63">
                  <c:v>0.175</c:v>
                </c:pt>
                <c:pt idx="64">
                  <c:v>0.175</c:v>
                </c:pt>
                <c:pt idx="65">
                  <c:v>0.18</c:v>
                </c:pt>
                <c:pt idx="66">
                  <c:v>0.184</c:v>
                </c:pt>
                <c:pt idx="67">
                  <c:v>0.188</c:v>
                </c:pt>
                <c:pt idx="68">
                  <c:v>0.192</c:v>
                </c:pt>
                <c:pt idx="69">
                  <c:v>0.199</c:v>
                </c:pt>
                <c:pt idx="70">
                  <c:v>0.198</c:v>
                </c:pt>
                <c:pt idx="71">
                  <c:v>0.206</c:v>
                </c:pt>
                <c:pt idx="72">
                  <c:v>0.195</c:v>
                </c:pt>
                <c:pt idx="73">
                  <c:v>0.176</c:v>
                </c:pt>
                <c:pt idx="74">
                  <c:v>0.162</c:v>
                </c:pt>
                <c:pt idx="75">
                  <c:v>0.161</c:v>
                </c:pt>
                <c:pt idx="76">
                  <c:v>0.173</c:v>
                </c:pt>
                <c:pt idx="77">
                  <c:v>0.182</c:v>
                </c:pt>
                <c:pt idx="78">
                  <c:v>0.185</c:v>
                </c:pt>
                <c:pt idx="79">
                  <c:v>0.176</c:v>
                </c:pt>
                <c:pt idx="80">
                  <c:v>0.151</c:v>
                </c:pt>
                <c:pt idx="81" c:formatCode="General">
                  <c:v>0.151</c:v>
                </c:pt>
                <c:pt idx="82" c:formatCode="General">
                  <c:v>0.154</c:v>
                </c:pt>
              </c:numCache>
            </c:numRef>
          </c:yVal>
          <c:smooth val="0"/>
        </c:ser>
        <c:ser>
          <c:idx val="2"/>
          <c:order val="2"/>
          <c:tx>
            <c:strRef>
              <c:f>DATA!$K$3</c:f>
              <c:strCache>
                <c:ptCount val="1"/>
                <c:pt idx="0">
                  <c:v>STATE &amp; LOCAL (diff)</c:v>
                </c:pt>
              </c:strCache>
            </c:strRef>
          </c:tx>
          <c:spPr>
            <a:ln w="38100" cap="rnd" cmpd="sng" algn="ctr">
              <a:solidFill>
                <a:schemeClr val="accent3">
                  <a:shade val="95000"/>
                  <a:satMod val="105000"/>
                </a:schemeClr>
              </a:solidFill>
              <a:prstDash val="solid"/>
              <a:round/>
            </a:ln>
          </c:spPr>
          <c:marker>
            <c:symbol val="none"/>
          </c:marker>
          <c:dLbls>
            <c:delete val="1"/>
          </c:dLbls>
          <c:xVal>
            <c:numRef>
              <c:f>DATA!$H$4:$H$86</c:f>
              <c:numCache>
                <c:formatCode>General</c:formatCode>
                <c:ptCount val="83"/>
                <c:pt idx="0">
                  <c:v>1929</c:v>
                </c:pt>
                <c:pt idx="1">
                  <c:v>1930</c:v>
                </c:pt>
                <c:pt idx="2">
                  <c:v>1931</c:v>
                </c:pt>
                <c:pt idx="3">
                  <c:v>1932</c:v>
                </c:pt>
                <c:pt idx="4">
                  <c:v>1933</c:v>
                </c:pt>
                <c:pt idx="5">
                  <c:v>1934</c:v>
                </c:pt>
                <c:pt idx="6">
                  <c:v>1935</c:v>
                </c:pt>
                <c:pt idx="7">
                  <c:v>1936</c:v>
                </c:pt>
                <c:pt idx="8">
                  <c:v>1937</c:v>
                </c:pt>
                <c:pt idx="9">
                  <c:v>1938</c:v>
                </c:pt>
                <c:pt idx="10">
                  <c:v>1939</c:v>
                </c:pt>
                <c:pt idx="11">
                  <c:v>1940</c:v>
                </c:pt>
                <c:pt idx="12">
                  <c:v>1941</c:v>
                </c:pt>
                <c:pt idx="13">
                  <c:v>1942</c:v>
                </c:pt>
                <c:pt idx="14">
                  <c:v>1943</c:v>
                </c:pt>
                <c:pt idx="15">
                  <c:v>1944</c:v>
                </c:pt>
                <c:pt idx="16">
                  <c:v>1945</c:v>
                </c:pt>
                <c:pt idx="17">
                  <c:v>1946</c:v>
                </c:pt>
                <c:pt idx="18">
                  <c:v>1947</c:v>
                </c:pt>
                <c:pt idx="19">
                  <c:v>1948</c:v>
                </c:pt>
                <c:pt idx="20">
                  <c:v>1949</c:v>
                </c:pt>
                <c:pt idx="21">
                  <c:v>1950</c:v>
                </c:pt>
                <c:pt idx="22">
                  <c:v>1951</c:v>
                </c:pt>
                <c:pt idx="23">
                  <c:v>1952</c:v>
                </c:pt>
                <c:pt idx="24">
                  <c:v>1953</c:v>
                </c:pt>
                <c:pt idx="25">
                  <c:v>1954</c:v>
                </c:pt>
                <c:pt idx="26">
                  <c:v>1955</c:v>
                </c:pt>
                <c:pt idx="27">
                  <c:v>1956</c:v>
                </c:pt>
                <c:pt idx="28">
                  <c:v>1957</c:v>
                </c:pt>
                <c:pt idx="29">
                  <c:v>1958</c:v>
                </c:pt>
                <c:pt idx="30">
                  <c:v>1959</c:v>
                </c:pt>
                <c:pt idx="31">
                  <c:v>1960</c:v>
                </c:pt>
                <c:pt idx="32">
                  <c:v>1961</c:v>
                </c:pt>
                <c:pt idx="33">
                  <c:v>1962</c:v>
                </c:pt>
                <c:pt idx="34">
                  <c:v>1963</c:v>
                </c:pt>
                <c:pt idx="35">
                  <c:v>1964</c:v>
                </c:pt>
                <c:pt idx="36">
                  <c:v>1965</c:v>
                </c:pt>
                <c:pt idx="37">
                  <c:v>1966</c:v>
                </c:pt>
                <c:pt idx="38">
                  <c:v>1967</c:v>
                </c:pt>
                <c:pt idx="39">
                  <c:v>1968</c:v>
                </c:pt>
                <c:pt idx="40">
                  <c:v>1969</c:v>
                </c:pt>
                <c:pt idx="41">
                  <c:v>1970</c:v>
                </c:pt>
                <c:pt idx="42">
                  <c:v>1971</c:v>
                </c:pt>
                <c:pt idx="43">
                  <c:v>1972</c:v>
                </c:pt>
                <c:pt idx="44">
                  <c:v>1973</c:v>
                </c:pt>
                <c:pt idx="45">
                  <c:v>1974</c:v>
                </c:pt>
                <c:pt idx="46">
                  <c:v>1975</c:v>
                </c:pt>
                <c:pt idx="47">
                  <c:v>1976</c:v>
                </c:pt>
                <c:pt idx="48">
                  <c:v>1977</c:v>
                </c:pt>
                <c:pt idx="49">
                  <c:v>1978</c:v>
                </c:pt>
                <c:pt idx="50">
                  <c:v>1979</c:v>
                </c:pt>
                <c:pt idx="51">
                  <c:v>1980</c:v>
                </c:pt>
                <c:pt idx="52">
                  <c:v>1981</c:v>
                </c:pt>
                <c:pt idx="53">
                  <c:v>1982</c:v>
                </c:pt>
                <c:pt idx="54">
                  <c:v>1983</c:v>
                </c:pt>
                <c:pt idx="55">
                  <c:v>1984</c:v>
                </c:pt>
                <c:pt idx="56">
                  <c:v>1985</c:v>
                </c:pt>
                <c:pt idx="57">
                  <c:v>1986</c:v>
                </c:pt>
                <c:pt idx="58">
                  <c:v>1987</c:v>
                </c:pt>
                <c:pt idx="59">
                  <c:v>1988</c:v>
                </c:pt>
                <c:pt idx="60">
                  <c:v>1989</c:v>
                </c:pt>
                <c:pt idx="61">
                  <c:v>1990</c:v>
                </c:pt>
                <c:pt idx="62">
                  <c:v>1991</c:v>
                </c:pt>
                <c:pt idx="63">
                  <c:v>1992</c:v>
                </c:pt>
                <c:pt idx="64">
                  <c:v>1993</c:v>
                </c:pt>
                <c:pt idx="65">
                  <c:v>1994</c:v>
                </c:pt>
                <c:pt idx="66">
                  <c:v>1995</c:v>
                </c:pt>
                <c:pt idx="67">
                  <c:v>1996</c:v>
                </c:pt>
                <c:pt idx="68">
                  <c:v>1997</c:v>
                </c:pt>
                <c:pt idx="69">
                  <c:v>1998</c:v>
                </c:pt>
                <c:pt idx="70">
                  <c:v>1999</c:v>
                </c:pt>
                <c:pt idx="71">
                  <c:v>2000</c:v>
                </c:pt>
                <c:pt idx="72">
                  <c:v>2001</c:v>
                </c:pt>
                <c:pt idx="73">
                  <c:v>2002</c:v>
                </c:pt>
                <c:pt idx="74">
                  <c:v>2003</c:v>
                </c:pt>
                <c:pt idx="75">
                  <c:v>2004</c:v>
                </c:pt>
                <c:pt idx="76">
                  <c:v>2005</c:v>
                </c:pt>
                <c:pt idx="77">
                  <c:v>2006</c:v>
                </c:pt>
                <c:pt idx="78">
                  <c:v>2007</c:v>
                </c:pt>
                <c:pt idx="79">
                  <c:v>2008</c:v>
                </c:pt>
                <c:pt idx="80">
                  <c:v>2009</c:v>
                </c:pt>
                <c:pt idx="81">
                  <c:v>2010</c:v>
                </c:pt>
                <c:pt idx="82">
                  <c:v>2011</c:v>
                </c:pt>
              </c:numCache>
            </c:numRef>
          </c:xVal>
          <c:yVal>
            <c:numRef>
              <c:f>DATA!$K$4:$K$86</c:f>
              <c:numCache>
                <c:formatCode>0.0%</c:formatCode>
                <c:ptCount val="83"/>
                <c:pt idx="0">
                  <c:v>0.0656370656370656</c:v>
                </c:pt>
                <c:pt idx="1">
                  <c:v>0.0778508771929825</c:v>
                </c:pt>
                <c:pt idx="2">
                  <c:v>0.0888888888888889</c:v>
                </c:pt>
                <c:pt idx="3">
                  <c:v>0.112436115843271</c:v>
                </c:pt>
                <c:pt idx="4">
                  <c:v>0.106382978723404</c:v>
                </c:pt>
                <c:pt idx="5">
                  <c:v>0.0954545454545455</c:v>
                </c:pt>
                <c:pt idx="6">
                  <c:v>0.0927694406548431</c:v>
                </c:pt>
                <c:pt idx="7">
                  <c:v>0.0871121718377088</c:v>
                </c:pt>
                <c:pt idx="8">
                  <c:v>0.0837867247007617</c:v>
                </c:pt>
                <c:pt idx="9">
                  <c:v>0.0917537746806039</c:v>
                </c:pt>
                <c:pt idx="10">
                  <c:v>0.0856832971800434</c:v>
                </c:pt>
                <c:pt idx="11">
                  <c:v>0.0828402366863905</c:v>
                </c:pt>
                <c:pt idx="12">
                  <c:v>0.0702446724546172</c:v>
                </c:pt>
                <c:pt idx="13">
                  <c:v>0.0549722050648548</c:v>
                </c:pt>
                <c:pt idx="14">
                  <c:v>0.0458207452165156</c:v>
                </c:pt>
                <c:pt idx="15">
                  <c:v>0.0423111919927207</c:v>
                </c:pt>
                <c:pt idx="16">
                  <c:v>0.0443946188340807</c:v>
                </c:pt>
                <c:pt idx="17">
                  <c:v>0.0490549054905491</c:v>
                </c:pt>
                <c:pt idx="18">
                  <c:v>0.051618189266694</c:v>
                </c:pt>
                <c:pt idx="19">
                  <c:v>0.055</c:v>
                </c:pt>
                <c:pt idx="20">
                  <c:v>0.058</c:v>
                </c:pt>
                <c:pt idx="21">
                  <c:v>0.062</c:v>
                </c:pt>
                <c:pt idx="22">
                  <c:v>0.059</c:v>
                </c:pt>
                <c:pt idx="23">
                  <c:v>0.059</c:v>
                </c:pt>
                <c:pt idx="24">
                  <c:v>0.06</c:v>
                </c:pt>
                <c:pt idx="25">
                  <c:v>0.063</c:v>
                </c:pt>
                <c:pt idx="26">
                  <c:v>0.064</c:v>
                </c:pt>
                <c:pt idx="27">
                  <c:v>0.066</c:v>
                </c:pt>
                <c:pt idx="28">
                  <c:v>0.068</c:v>
                </c:pt>
                <c:pt idx="29">
                  <c:v>0.071</c:v>
                </c:pt>
                <c:pt idx="30">
                  <c:v>0.071</c:v>
                </c:pt>
                <c:pt idx="31">
                  <c:v>0.074</c:v>
                </c:pt>
                <c:pt idx="32">
                  <c:v>0.078</c:v>
                </c:pt>
                <c:pt idx="33">
                  <c:v>0.079</c:v>
                </c:pt>
                <c:pt idx="34">
                  <c:v>0.08</c:v>
                </c:pt>
                <c:pt idx="35">
                  <c:v>0.081</c:v>
                </c:pt>
                <c:pt idx="36">
                  <c:v>0.081</c:v>
                </c:pt>
                <c:pt idx="37">
                  <c:v>0.081</c:v>
                </c:pt>
                <c:pt idx="38">
                  <c:v>0.081</c:v>
                </c:pt>
                <c:pt idx="39">
                  <c:v>0.086</c:v>
                </c:pt>
                <c:pt idx="40">
                  <c:v>0.088</c:v>
                </c:pt>
                <c:pt idx="41">
                  <c:v>0.092</c:v>
                </c:pt>
                <c:pt idx="42">
                  <c:v>0.094</c:v>
                </c:pt>
                <c:pt idx="43">
                  <c:v>0.099</c:v>
                </c:pt>
                <c:pt idx="44">
                  <c:v>0.098</c:v>
                </c:pt>
                <c:pt idx="45">
                  <c:v>0.097</c:v>
                </c:pt>
                <c:pt idx="46">
                  <c:v>0.096</c:v>
                </c:pt>
                <c:pt idx="47">
                  <c:v>0.095</c:v>
                </c:pt>
                <c:pt idx="48">
                  <c:v>0.096</c:v>
                </c:pt>
                <c:pt idx="49">
                  <c:v>0.094</c:v>
                </c:pt>
                <c:pt idx="50">
                  <c:v>0.088</c:v>
                </c:pt>
                <c:pt idx="51">
                  <c:v>0.088</c:v>
                </c:pt>
                <c:pt idx="52">
                  <c:v>0.086</c:v>
                </c:pt>
                <c:pt idx="53">
                  <c:v>0.089</c:v>
                </c:pt>
                <c:pt idx="54">
                  <c:v>0.091</c:v>
                </c:pt>
                <c:pt idx="55">
                  <c:v>0.092</c:v>
                </c:pt>
                <c:pt idx="56">
                  <c:v>0.093</c:v>
                </c:pt>
                <c:pt idx="57">
                  <c:v>0.094</c:v>
                </c:pt>
                <c:pt idx="58">
                  <c:v>0.097</c:v>
                </c:pt>
                <c:pt idx="59">
                  <c:v>0.097</c:v>
                </c:pt>
                <c:pt idx="60">
                  <c:v>0.097</c:v>
                </c:pt>
                <c:pt idx="61">
                  <c:v>0.097</c:v>
                </c:pt>
                <c:pt idx="62">
                  <c:v>0.099</c:v>
                </c:pt>
                <c:pt idx="63">
                  <c:v>0.101</c:v>
                </c:pt>
                <c:pt idx="64">
                  <c:v>0.101</c:v>
                </c:pt>
                <c:pt idx="65">
                  <c:v>0.101</c:v>
                </c:pt>
                <c:pt idx="66">
                  <c:v>0.101</c:v>
                </c:pt>
                <c:pt idx="67">
                  <c:v>0.101</c:v>
                </c:pt>
                <c:pt idx="68">
                  <c:v>0.1</c:v>
                </c:pt>
                <c:pt idx="69">
                  <c:v>0.1</c:v>
                </c:pt>
                <c:pt idx="70">
                  <c:v>0.1</c:v>
                </c:pt>
                <c:pt idx="71">
                  <c:v>0.1</c:v>
                </c:pt>
                <c:pt idx="72">
                  <c:v>0.1</c:v>
                </c:pt>
                <c:pt idx="73">
                  <c:v>0.098</c:v>
                </c:pt>
                <c:pt idx="74">
                  <c:v>0.098</c:v>
                </c:pt>
                <c:pt idx="75">
                  <c:v>0.1</c:v>
                </c:pt>
                <c:pt idx="76">
                  <c:v>0.102</c:v>
                </c:pt>
                <c:pt idx="77">
                  <c:v>0.103</c:v>
                </c:pt>
                <c:pt idx="78">
                  <c:v>0.103</c:v>
                </c:pt>
                <c:pt idx="79">
                  <c:v>0.102</c:v>
                </c:pt>
                <c:pt idx="80">
                  <c:v>0.1</c:v>
                </c:pt>
                <c:pt idx="81" c:formatCode="General">
                  <c:v>0.101</c:v>
                </c:pt>
                <c:pt idx="82" c:formatCode="General">
                  <c:v>0.101</c:v>
                </c:pt>
              </c:numCache>
            </c:numRef>
          </c:yVal>
          <c:smooth val="0"/>
        </c:ser>
        <c:dLbls>
          <c:showLegendKey val="0"/>
          <c:showVal val="0"/>
          <c:showCatName val="0"/>
          <c:showSerName val="0"/>
          <c:showPercent val="0"/>
          <c:showBubbleSize val="0"/>
        </c:dLbls>
        <c:axId val="469386880"/>
        <c:axId val="469377632"/>
      </c:scatterChart>
      <c:valAx>
        <c:axId val="469386880"/>
        <c:scaling>
          <c:orientation val="minMax"/>
          <c:max val="2013"/>
          <c:min val="1925"/>
        </c:scaling>
        <c:delete val="0"/>
        <c:axPos val="b"/>
        <c:numFmt formatCode="General" sourceLinked="1"/>
        <c:majorTickMark val="out"/>
        <c:minorTickMark val="none"/>
        <c:tickLblPos val="nextTo"/>
        <c:txPr>
          <a:bodyPr rot="-5400000" spcFirstLastPara="0" vertOverflow="ellipsis" vert="horz" wrap="square" anchor="ctr" anchorCtr="1"/>
          <a:lstStyle/>
          <a:p>
            <a:pPr>
              <a:defRPr lang="zh-CN" sz="1800" b="0" i="0" u="none" strike="noStrike" kern="1200" baseline="0">
                <a:solidFill>
                  <a:schemeClr val="tx1"/>
                </a:solidFill>
                <a:latin typeface="Arial" panose="020B0604020202020204" pitchFamily="34" charset="0"/>
                <a:ea typeface="+mn-ea"/>
                <a:cs typeface="Arial" panose="020B0604020202020204" pitchFamily="34" charset="0"/>
              </a:defRPr>
            </a:pPr>
          </a:p>
        </c:txPr>
        <c:crossAx val="469377632"/>
        <c:crosses val="autoZero"/>
        <c:crossBetween val="midCat"/>
        <c:majorUnit val="5"/>
        <c:minorUnit val="1"/>
      </c:valAx>
      <c:valAx>
        <c:axId val="469377632"/>
        <c:scaling>
          <c:orientation val="minMax"/>
        </c:scaling>
        <c:delete val="0"/>
        <c:axPos val="l"/>
        <c:majorGridlines>
          <c:spPr>
            <a:ln w="9525" cap="flat" cmpd="sng" algn="ctr">
              <a:solidFill>
                <a:schemeClr val="bg1">
                  <a:lumMod val="75000"/>
                </a:schemeClr>
              </a:solidFill>
              <a:prstDash val="solid"/>
              <a:round/>
            </a:ln>
          </c:spPr>
        </c:majorGridlines>
        <c:title>
          <c:tx>
            <c:rich>
              <a:bodyPr rot="-5400000" spcFirstLastPara="0" vertOverflow="ellipsis" vert="horz" wrap="square" anchor="ctr" anchorCtr="1"/>
              <a:lstStyle/>
              <a:p>
                <a:pPr>
                  <a:defRPr lang="zh-CN" sz="2400" b="1" i="0" u="none" strike="noStrike" kern="1200" baseline="0">
                    <a:solidFill>
                      <a:schemeClr val="tx1"/>
                    </a:solidFill>
                    <a:latin typeface="Arial" panose="020B0604020202020204"/>
                    <a:ea typeface="+mn-ea"/>
                    <a:cs typeface="Arial" panose="020B0604020202020204"/>
                  </a:defRPr>
                </a:pPr>
                <a:r>
                  <a:rPr lang="en-US" sz="2400" dirty="0">
                    <a:latin typeface="Arial" panose="020B0604020202020204"/>
                    <a:cs typeface="Arial" panose="020B0604020202020204"/>
                  </a:rPr>
                  <a:t>% of GDP</a:t>
                </a:r>
                <a:endParaRPr lang="en-US" sz="2400" dirty="0">
                  <a:latin typeface="Arial" panose="020B0604020202020204"/>
                  <a:cs typeface="Arial" panose="020B0604020202020204"/>
                </a:endParaRPr>
              </a:p>
            </c:rich>
          </c:tx>
          <c:layout>
            <c:manualLayout>
              <c:xMode val="edge"/>
              <c:yMode val="edge"/>
              <c:x val="0.0219374453193351"/>
              <c:y val="0.328811023622047"/>
            </c:manualLayout>
          </c:layout>
          <c:overlay val="0"/>
        </c:title>
        <c:numFmt formatCode="0%" sourceLinked="0"/>
        <c:majorTickMark val="out"/>
        <c:minorTickMark val="none"/>
        <c:tickLblPos val="nextTo"/>
        <c:txPr>
          <a:bodyPr rot="-60000000" spcFirstLastPara="0" vertOverflow="ellipsis" vert="horz" wrap="square" anchor="ctr" anchorCtr="1"/>
          <a:lstStyle/>
          <a:p>
            <a:pPr>
              <a:defRPr lang="zh-CN" sz="1800" b="0" i="0" u="none" strike="noStrike" kern="1200" baseline="0">
                <a:solidFill>
                  <a:schemeClr val="tx1"/>
                </a:solidFill>
                <a:latin typeface="Arial" panose="020B0604020202020204" pitchFamily="34" charset="0"/>
                <a:ea typeface="+mn-ea"/>
                <a:cs typeface="Arial" panose="020B0604020202020204" pitchFamily="34" charset="0"/>
              </a:defRPr>
            </a:pPr>
          </a:p>
        </c:txPr>
        <c:crossAx val="469386880"/>
        <c:crosses val="autoZero"/>
        <c:crossBetween val="midCat"/>
      </c:valAx>
      <c:spPr>
        <a:solidFill>
          <a:schemeClr val="bg1"/>
        </a:solidFill>
        <a:ln>
          <a:solidFill>
            <a:schemeClr val="tx1"/>
          </a:solidFill>
        </a:ln>
      </c:spPr>
    </c:plotArea>
    <c:plotVisOnly val="1"/>
    <c:dispBlanksAs val="gap"/>
    <c:showDLblsOverMax val="0"/>
    <c:extLst>
      <c:ext uri="{0b15fc19-7d7d-44ad-8c2d-2c3a37ce22c3}">
        <chartProps xmlns="https://web.wps.cn/et/2018/main" chartId="{c910256d-46b0-481c-b7ea-e5b9415e2bd0}"/>
      </c:ext>
    </c:extLst>
  </c:chart>
  <c:spPr>
    <a:noFill/>
    <a:ln>
      <a:noFill/>
    </a:ln>
  </c:spPr>
  <c:txPr>
    <a:bodyPr/>
    <a:lstStyle/>
    <a:p>
      <a:pPr>
        <a:defRPr lang="zh-CN"/>
      </a:pPr>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0443" y="0"/>
            <a:ext cx="2945659" cy="498135"/>
          </a:xfrm>
          <a:prstGeom prst="rect">
            <a:avLst/>
          </a:prstGeom>
        </p:spPr>
        <p:txBody>
          <a:bodyPr vert="horz" lIns="91440" tIns="45720" rIns="91440" bIns="45720" rtlCol="0"/>
          <a:lstStyle>
            <a:lvl1pPr algn="r">
              <a:defRPr sz="1200"/>
            </a:lvl1pPr>
          </a:lstStyle>
          <a:p>
            <a:fld id="{C8897596-BE18-48E6-B7E5-C723E4FF99F0}" type="datetimeFigureOut">
              <a:rPr lang="zh-CN" altLang="en-US" smtClean="0"/>
            </a:fld>
            <a:endParaRPr lang="zh-CN" altLang="en-US"/>
          </a:p>
        </p:txBody>
      </p:sp>
      <p:sp>
        <p:nvSpPr>
          <p:cNvPr id="4" name="页脚占位符 3"/>
          <p:cNvSpPr>
            <a:spLocks noGrp="1"/>
          </p:cNvSpPr>
          <p:nvPr>
            <p:ph type="ftr" sz="quarter" idx="2"/>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0443" y="9430091"/>
            <a:ext cx="2945659" cy="498134"/>
          </a:xfrm>
          <a:prstGeom prst="rect">
            <a:avLst/>
          </a:prstGeom>
        </p:spPr>
        <p:txBody>
          <a:bodyPr vert="horz" lIns="91440" tIns="45720" rIns="91440" bIns="45720" rtlCol="0" anchor="b"/>
          <a:lstStyle>
            <a:lvl1pPr algn="r">
              <a:defRPr sz="1200"/>
            </a:lvl1pPr>
          </a:lstStyle>
          <a:p>
            <a:fld id="{7C7877A8-551B-4C04-B3FA-8FC1A4325A38}"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161D4C77-742A-429E-850A-11BA0946D8B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66813" y="1241425"/>
            <a:ext cx="4464050"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13AA64FD-7149-435D-96E3-3ACA0174F57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思源黑体 CN Bold" panose="020B0800000000000000" pitchFamily="34" charset="-122"/>
                <a:ea typeface="思源黑体 CN Bold" panose="020B0800000000000000" pitchFamily="34" charset="-122"/>
              </a:defRPr>
            </a:lvl1p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4085590" cy="374015"/>
          </a:xfrm>
        </p:spPr>
        <p:txBody>
          <a:bodyPr/>
          <a:lstStyle>
            <a:lvl1pPr marL="0" indent="0">
              <a:buNone/>
              <a:defRPr sz="1400"/>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a:t>单击此处编辑母版文本样式</a:t>
            </a:r>
            <a:endParaRPr lang="zh-CN" altLang="en-US"/>
          </a:p>
        </p:txBody>
      </p:sp>
      <p:sp>
        <p:nvSpPr>
          <p:cNvPr id="8" name="内容占位符 7"/>
          <p:cNvSpPr>
            <a:spLocks noGrp="1"/>
          </p:cNvSpPr>
          <p:nvPr>
            <p:ph idx="13"/>
          </p:nvPr>
        </p:nvSpPr>
        <p:spPr>
          <a:xfrm>
            <a:off x="457200" y="2025015"/>
            <a:ext cx="4085590" cy="3931285"/>
          </a:xfrm>
        </p:spPr>
        <p:txBody>
          <a:bodyPr/>
          <a:lstStyle>
            <a:lvl1pPr marL="0" indent="0">
              <a:lnSpc>
                <a:spcPct val="150000"/>
              </a:lnSpc>
              <a:buNone/>
              <a:defRPr sz="1000">
                <a:latin typeface="思源黑体 CN Light" panose="020B0300000000000000" pitchFamily="34" charset="-122"/>
                <a:ea typeface="思源黑体 CN Light" panose="020B0300000000000000" pitchFamily="34" charset="-122"/>
              </a:defRPr>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dirty="0"/>
              <a:t>单击此处编辑母版文本样式</a:t>
            </a:r>
            <a:endParaRPr lang="zh-CN" altLang="en-US" dirty="0"/>
          </a:p>
        </p:txBody>
      </p:sp>
      <p:sp>
        <p:nvSpPr>
          <p:cNvPr id="9" name="内容占位符 8"/>
          <p:cNvSpPr>
            <a:spLocks noGrp="1"/>
          </p:cNvSpPr>
          <p:nvPr>
            <p:ph idx="14"/>
          </p:nvPr>
        </p:nvSpPr>
        <p:spPr>
          <a:xfrm>
            <a:off x="4601210" y="1600200"/>
            <a:ext cx="4085590" cy="374015"/>
          </a:xfrm>
        </p:spPr>
        <p:txBody>
          <a:bodyPr/>
          <a:lstStyle>
            <a:lvl1pPr marL="0" indent="0">
              <a:buNone/>
              <a:defRPr sz="1400"/>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a:t>单击此处编辑母版文本样式</a:t>
            </a:r>
            <a:endParaRPr lang="zh-CN" altLang="en-US"/>
          </a:p>
        </p:txBody>
      </p:sp>
      <p:sp>
        <p:nvSpPr>
          <p:cNvPr id="10" name="内容占位符 9"/>
          <p:cNvSpPr>
            <a:spLocks noGrp="1"/>
          </p:cNvSpPr>
          <p:nvPr>
            <p:ph idx="15"/>
          </p:nvPr>
        </p:nvSpPr>
        <p:spPr>
          <a:xfrm>
            <a:off x="4601210" y="2025015"/>
            <a:ext cx="4085590" cy="3931285"/>
          </a:xfrm>
        </p:spPr>
        <p:txBody>
          <a:bodyPr/>
          <a:lstStyle>
            <a:lvl1pPr marL="0" indent="0">
              <a:lnSpc>
                <a:spcPct val="150000"/>
              </a:lnSpc>
              <a:buNone/>
              <a:defRPr sz="1000">
                <a:latin typeface="思源黑体 CN Light" panose="020B0300000000000000" pitchFamily="34" charset="-122"/>
                <a:ea typeface="思源黑体 CN Light" panose="020B0300000000000000" pitchFamily="34" charset="-122"/>
              </a:defRPr>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dirty="0"/>
              <a:t>单击此处编辑母版文本样式</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722313" y="2906713"/>
            <a:ext cx="7772400" cy="1500187"/>
          </a:xfrm>
        </p:spPr>
        <p:txBody>
          <a:bodyPr anchor="b"/>
          <a:lstStyle>
            <a:lvl1pPr marL="0" indent="0">
              <a:buNone/>
              <a:defRPr sz="1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6356350"/>
            <a:ext cx="2133600" cy="365125"/>
          </a:xfrm>
        </p:spPr>
        <p:txBody>
          <a:bodyPr/>
          <a:lstStyle/>
          <a:p>
            <a:endParaRPr lang="zh-CN" altLang="en-US"/>
          </a:p>
        </p:txBody>
      </p:sp>
      <p:sp>
        <p:nvSpPr>
          <p:cNvPr id="3" name="页脚占位符 2"/>
          <p:cNvSpPr>
            <a:spLocks noGrp="1"/>
          </p:cNvSpPr>
          <p:nvPr>
            <p:ph type="ftr" sz="quarter" idx="11"/>
          </p:nvPr>
        </p:nvSpPr>
        <p:spPr>
          <a:xfrm>
            <a:off x="3124200" y="6356350"/>
            <a:ext cx="2895600" cy="365125"/>
          </a:xfrm>
        </p:spPr>
        <p:txBody>
          <a:bodyPr/>
          <a:lstStyle/>
          <a:p>
            <a:endParaRPr lang="zh-CN" altLang="en-US"/>
          </a:p>
        </p:txBody>
      </p:sp>
      <p:sp>
        <p:nvSpPr>
          <p:cNvPr id="4" name="灯片编号占位符 3"/>
          <p:cNvSpPr>
            <a:spLocks noGrp="1"/>
          </p:cNvSpPr>
          <p:nvPr>
            <p:ph type="sldNum" sz="quarter" idx="12"/>
          </p:nvPr>
        </p:nvSpPr>
        <p:spPr>
          <a:xfrm>
            <a:off x="6553200" y="6356350"/>
            <a:ext cx="2133600" cy="365125"/>
          </a:xfrm>
        </p:spPr>
        <p:txBody>
          <a:bodyPr/>
          <a:lstStyle/>
          <a:p>
            <a:fld id="{1A5C27E8-6C78-4FD2-80C7-0DA5228077D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3.jpeg"/><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600200"/>
            <a:ext cx="8229600" cy="1052195"/>
          </a:xfrm>
          <a:prstGeom prst="rect">
            <a:avLst/>
          </a:prstGeom>
        </p:spPr>
        <p:txBody>
          <a:bodyPr vert="horz" lIns="91440" tIns="45720" rIns="91440" bIns="45720" rtlCol="0">
            <a:normAutofit/>
          </a:bodyPr>
          <a:lstStyle/>
          <a:p>
            <a:pPr lvl="0"/>
            <a:r>
              <a:rPr lang="zh-CN" altLang="en-US" sz="1400">
                <a:sym typeface="+mn-ea"/>
              </a:rPr>
              <a:t>单击此处编辑母版文本样式</a:t>
            </a:r>
            <a:endParaRPr lang="zh-CN" altLang="en-US" sz="1400"/>
          </a:p>
          <a:p>
            <a:pPr lvl="1"/>
            <a:r>
              <a:rPr lang="zh-CN" altLang="en-US" sz="1400">
                <a:sym typeface="+mn-ea"/>
              </a:rPr>
              <a:t>第二级</a:t>
            </a:r>
            <a:endParaRPr lang="zh-CN" altLang="en-US" sz="1400"/>
          </a:p>
          <a:p>
            <a:pPr lvl="2"/>
            <a:r>
              <a:rPr lang="zh-CN" altLang="en-US" sz="1400">
                <a:sym typeface="+mn-ea"/>
              </a:rPr>
              <a:t>第三级</a:t>
            </a:r>
            <a:endParaRPr lang="zh-CN" altLang="en-US"/>
          </a:p>
        </p:txBody>
      </p:sp>
      <p:pic>
        <p:nvPicPr>
          <p:cNvPr id="7" name="图片 6" descr="logo-VI系统0630-PPT-12.png"/>
          <p:cNvPicPr>
            <a:picLocks noChangeAspect="1"/>
          </p:cNvPicPr>
          <p:nvPr userDrawn="1"/>
        </p:nvPicPr>
        <p:blipFill>
          <a:blip r:embed="rId13" cstate="print"/>
          <a:stretch>
            <a:fillRect/>
          </a:stretch>
        </p:blipFill>
        <p:spPr>
          <a:xfrm>
            <a:off x="428836" y="6286520"/>
            <a:ext cx="1495513" cy="288536"/>
          </a:xfrm>
          <a:prstGeom prst="rect">
            <a:avLst/>
          </a:prstGeom>
        </p:spPr>
      </p:pic>
      <p:pic>
        <p:nvPicPr>
          <p:cNvPr id="2050" name="Picture 2" descr="I:\BOBO Z\哈工大\JPG\2020\7月\0707-ppt\素材01\logo-VI系统0630-PPT-24.jpg"/>
          <p:cNvPicPr>
            <a:picLocks noChangeArrowheads="1"/>
          </p:cNvPicPr>
          <p:nvPr userDrawn="1"/>
        </p:nvPicPr>
        <p:blipFill>
          <a:blip r:embed="rId14" cstate="print"/>
          <a:srcRect t="-37500" b="-37500"/>
          <a:stretch>
            <a:fillRect/>
          </a:stretch>
        </p:blipFill>
        <p:spPr bwMode="auto">
          <a:xfrm flipV="1">
            <a:off x="571471" y="1273711"/>
            <a:ext cx="3960000" cy="36000"/>
          </a:xfrm>
          <a:prstGeom prst="rect">
            <a:avLst/>
          </a:prstGeom>
          <a:noFill/>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tags" Target="../tags/tag1.xml"/><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2.xml"/><Relationship Id="rId3" Type="http://schemas.openxmlformats.org/officeDocument/2006/relationships/image" Target="../media/image6.jpeg"/><Relationship Id="rId2" Type="http://schemas.openxmlformats.org/officeDocument/2006/relationships/tags" Target="../tags/tag2.xml"/><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logo-VI系统0709-PPT-24.jpg"/>
          <p:cNvPicPr>
            <a:picLocks noChangeAspect="1"/>
          </p:cNvPicPr>
          <p:nvPr/>
        </p:nvPicPr>
        <p:blipFill>
          <a:blip r:embed="rId1" cstate="print"/>
          <a:stretch>
            <a:fillRect/>
          </a:stretch>
        </p:blipFill>
        <p:spPr>
          <a:xfrm>
            <a:off x="871" y="-31802"/>
            <a:ext cx="9143129" cy="6858000"/>
          </a:xfrm>
          <a:prstGeom prst="rect">
            <a:avLst/>
          </a:prstGeom>
        </p:spPr>
      </p:pic>
      <p:pic>
        <p:nvPicPr>
          <p:cNvPr id="5" name="图片 4" descr="logo-VI系统0630-PPT-09.png"/>
          <p:cNvPicPr>
            <a:picLocks noChangeAspect="1"/>
          </p:cNvPicPr>
          <p:nvPr/>
        </p:nvPicPr>
        <p:blipFill>
          <a:blip r:embed="rId2" cstate="print"/>
          <a:stretch>
            <a:fillRect/>
          </a:stretch>
        </p:blipFill>
        <p:spPr>
          <a:xfrm>
            <a:off x="611560" y="546829"/>
            <a:ext cx="2714644" cy="523429"/>
          </a:xfrm>
          <a:prstGeom prst="rect">
            <a:avLst/>
          </a:prstGeom>
        </p:spPr>
      </p:pic>
      <p:sp>
        <p:nvSpPr>
          <p:cNvPr id="6" name="TextBox 5"/>
          <p:cNvSpPr txBox="1"/>
          <p:nvPr/>
        </p:nvSpPr>
        <p:spPr>
          <a:xfrm>
            <a:off x="467544" y="5218459"/>
            <a:ext cx="3957391" cy="830997"/>
          </a:xfrm>
          <a:prstGeom prst="rect">
            <a:avLst/>
          </a:prstGeom>
          <a:noFill/>
        </p:spPr>
        <p:txBody>
          <a:bodyPr wrap="square" rtlCol="0" anchor="b" anchorCtr="0">
            <a:spAutoFit/>
          </a:bodyPr>
          <a:lstStyle/>
          <a:p>
            <a:r>
              <a:rPr lang="zh-CN" altLang="en-US" sz="2400" dirty="0">
                <a:solidFill>
                  <a:schemeClr val="bg1"/>
                </a:solidFill>
                <a:latin typeface="华光中雅_CNKI" panose="02000500000000000000" pitchFamily="2" charset="-122"/>
                <a:ea typeface="华光中雅_CNKI" panose="02000500000000000000" pitchFamily="2" charset="-122"/>
              </a:rPr>
              <a:t>哈尔滨工业大学（深圳）</a:t>
            </a:r>
            <a:endParaRPr lang="en-US" altLang="zh-CN" sz="2400" dirty="0">
              <a:solidFill>
                <a:schemeClr val="bg1"/>
              </a:solidFill>
              <a:latin typeface="华光中雅_CNKI" panose="02000500000000000000" pitchFamily="2" charset="-122"/>
              <a:ea typeface="华光中雅_CNKI" panose="02000500000000000000" pitchFamily="2" charset="-122"/>
            </a:endParaRPr>
          </a:p>
          <a:p>
            <a:r>
              <a:rPr lang="zh-CN" altLang="en-US" sz="2400" dirty="0">
                <a:solidFill>
                  <a:schemeClr val="bg1"/>
                </a:solidFill>
                <a:latin typeface="华光中雅_CNKI" panose="02000500000000000000" pitchFamily="2" charset="-122"/>
                <a:ea typeface="华光中雅_CNKI" panose="02000500000000000000" pitchFamily="2" charset="-122"/>
              </a:rPr>
              <a:t>经济管理学院</a:t>
            </a:r>
            <a:endParaRPr lang="zh-CN" altLang="en-US" sz="2400" dirty="0">
              <a:solidFill>
                <a:schemeClr val="bg1"/>
              </a:solidFill>
              <a:latin typeface="华光中雅_CNKI" panose="02000500000000000000" pitchFamily="2" charset="-122"/>
              <a:ea typeface="华光中雅_CNKI" panose="02000500000000000000" pitchFamily="2" charset="-122"/>
            </a:endParaRPr>
          </a:p>
        </p:txBody>
      </p:sp>
      <p:sp>
        <p:nvSpPr>
          <p:cNvPr id="8" name="TextBox 7"/>
          <p:cNvSpPr txBox="1"/>
          <p:nvPr/>
        </p:nvSpPr>
        <p:spPr>
          <a:xfrm>
            <a:off x="467544" y="6055687"/>
            <a:ext cx="2736304" cy="461665"/>
          </a:xfrm>
          <a:prstGeom prst="rect">
            <a:avLst/>
          </a:prstGeom>
          <a:noFill/>
        </p:spPr>
        <p:txBody>
          <a:bodyPr wrap="square" rtlCol="0" anchor="b" anchorCtr="0">
            <a:spAutoFit/>
          </a:bodyPr>
          <a:lstStyle/>
          <a:p>
            <a:r>
              <a:rPr lang="en-US" altLang="zh-CN" sz="1200" dirty="0">
                <a:solidFill>
                  <a:srgbClr val="9D7B55"/>
                </a:solidFill>
                <a:latin typeface="华光中雅_CNKI" panose="02000500000000000000" pitchFamily="2" charset="-122"/>
                <a:ea typeface="华光中雅_CNKI" panose="02000500000000000000" pitchFamily="2" charset="-122"/>
              </a:rPr>
              <a:t>THE HITSZ SCHOOL OF ECONOMICS AND MANAGEMENT</a:t>
            </a:r>
            <a:endParaRPr lang="zh-CN" altLang="en-US" sz="1200" dirty="0">
              <a:solidFill>
                <a:srgbClr val="9D7B55"/>
              </a:solidFill>
              <a:latin typeface="华光中雅_CNKI" panose="02000500000000000000" pitchFamily="2" charset="-122"/>
              <a:ea typeface="华光中雅_CNKI" panose="02000500000000000000" pitchFamily="2" charset="-122"/>
            </a:endParaRPr>
          </a:p>
        </p:txBody>
      </p:sp>
      <p:sp>
        <p:nvSpPr>
          <p:cNvPr id="2" name="文本框 1"/>
          <p:cNvSpPr txBox="1"/>
          <p:nvPr/>
        </p:nvSpPr>
        <p:spPr>
          <a:xfrm>
            <a:off x="2267744" y="1412776"/>
            <a:ext cx="4450080" cy="2214880"/>
          </a:xfrm>
          <a:prstGeom prst="rect">
            <a:avLst/>
          </a:prstGeom>
          <a:noFill/>
        </p:spPr>
        <p:txBody>
          <a:bodyPr wrap="none" rtlCol="0">
            <a:spAutoFit/>
          </a:bodyPr>
          <a:lstStyle/>
          <a:p>
            <a:r>
              <a:rPr lang="en-US" altLang="zh-CN" sz="4800">
                <a:solidFill>
                  <a:schemeClr val="bg1"/>
                </a:solidFill>
                <a:latin typeface="华光中雅_CNKI" panose="02000500000000000000" pitchFamily="2" charset="-122"/>
                <a:ea typeface="华光中雅_CNKI" panose="02000500000000000000" pitchFamily="2" charset="-122"/>
              </a:rPr>
              <a:t>《</a:t>
            </a:r>
            <a:r>
              <a:rPr lang="zh-CN" altLang="en-US" sz="4800">
                <a:solidFill>
                  <a:schemeClr val="bg1"/>
                </a:solidFill>
                <a:latin typeface="华光中雅_CNKI" panose="02000500000000000000" pitchFamily="2" charset="-122"/>
                <a:ea typeface="华光中雅_CNKI" panose="02000500000000000000" pitchFamily="2" charset="-122"/>
              </a:rPr>
              <a:t>经济学原理</a:t>
            </a:r>
            <a:r>
              <a:rPr lang="en-US" altLang="zh-CN" sz="4800">
                <a:solidFill>
                  <a:schemeClr val="bg1"/>
                </a:solidFill>
                <a:latin typeface="华光中雅_CNKI" panose="02000500000000000000" pitchFamily="2" charset="-122"/>
                <a:ea typeface="华光中雅_CNKI" panose="02000500000000000000" pitchFamily="2" charset="-122"/>
              </a:rPr>
              <a:t>》</a:t>
            </a:r>
            <a:endParaRPr lang="en-US" altLang="zh-CN" sz="4800">
              <a:solidFill>
                <a:schemeClr val="bg1"/>
              </a:solidFill>
              <a:latin typeface="华光中雅_CNKI" panose="02000500000000000000" pitchFamily="2" charset="-122"/>
              <a:ea typeface="华光中雅_CNKI" panose="02000500000000000000" pitchFamily="2" charset="-122"/>
            </a:endParaRPr>
          </a:p>
          <a:p>
            <a:pPr algn="ctr"/>
            <a:r>
              <a:rPr lang="zh-CN" altLang="en-US" sz="3000">
                <a:solidFill>
                  <a:schemeClr val="bg1"/>
                </a:solidFill>
                <a:latin typeface="华光中雅_CNKI" panose="02000500000000000000" pitchFamily="2" charset="-122"/>
                <a:ea typeface="华光中雅_CNKI" panose="02000500000000000000" pitchFamily="2" charset="-122"/>
              </a:rPr>
              <a:t>（微观经济学原理部分）</a:t>
            </a:r>
            <a:endParaRPr lang="en-US" altLang="zh-CN" sz="3000">
              <a:solidFill>
                <a:schemeClr val="bg1"/>
              </a:solidFill>
              <a:latin typeface="华光中雅_CNKI" panose="02000500000000000000" pitchFamily="2" charset="-122"/>
              <a:ea typeface="华光中雅_CNKI" panose="02000500000000000000" pitchFamily="2" charset="-122"/>
            </a:endParaRPr>
          </a:p>
          <a:p>
            <a:pPr algn="ctr"/>
            <a:endParaRPr lang="en-US" altLang="zh-CN" sz="3000">
              <a:solidFill>
                <a:schemeClr val="bg1"/>
              </a:solidFill>
              <a:latin typeface="华光中雅_CNKI" panose="02000500000000000000" pitchFamily="2" charset="-122"/>
              <a:ea typeface="华光中雅_CNKI" panose="02000500000000000000" pitchFamily="2" charset="-122"/>
            </a:endParaRPr>
          </a:p>
          <a:p>
            <a:pPr algn="ctr"/>
            <a:r>
              <a:rPr lang="zh-CN" altLang="en-US" sz="3000">
                <a:solidFill>
                  <a:schemeClr val="bg1"/>
                </a:solidFill>
                <a:latin typeface="华光中雅_CNKI" panose="02000500000000000000" pitchFamily="2" charset="-122"/>
                <a:ea typeface="华光中雅_CNKI" panose="02000500000000000000" pitchFamily="2" charset="-122"/>
              </a:rPr>
              <a:t>主讲人：周豫</a:t>
            </a:r>
            <a:endParaRPr lang="zh-CN" altLang="en-US" sz="3000" dirty="0">
              <a:solidFill>
                <a:schemeClr val="bg1"/>
              </a:solidFill>
              <a:latin typeface="华光中雅_CNKI" panose="02000500000000000000" pitchFamily="2" charset="-122"/>
              <a:ea typeface="华光中雅_CNKI" panose="02000500000000000000" pitchFamily="2" charset="-122"/>
            </a:endParaRPr>
          </a:p>
        </p:txBody>
      </p:sp>
      <p:sp>
        <p:nvSpPr>
          <p:cNvPr id="4" name="文本框 3"/>
          <p:cNvSpPr txBox="1"/>
          <p:nvPr/>
        </p:nvSpPr>
        <p:spPr>
          <a:xfrm>
            <a:off x="1259632" y="3933056"/>
            <a:ext cx="7110260" cy="707886"/>
          </a:xfrm>
          <a:prstGeom prst="rect">
            <a:avLst/>
          </a:prstGeom>
          <a:noFill/>
        </p:spPr>
        <p:txBody>
          <a:bodyPr wrap="square" rtlCol="0">
            <a:spAutoFit/>
          </a:bodyPr>
          <a:lstStyle/>
          <a:p>
            <a:pPr algn="ctr"/>
            <a:r>
              <a:rPr lang="zh-CN" altLang="en-US" sz="4000" b="1" dirty="0">
                <a:solidFill>
                  <a:schemeClr val="bg1"/>
                </a:solidFill>
                <a:latin typeface="华光中雅_CNKI" panose="02000500000000000000" pitchFamily="2" charset="-122"/>
                <a:ea typeface="华光中雅_CNKI" panose="02000500000000000000" pitchFamily="2" charset="-122"/>
              </a:rPr>
              <a:t>第</a:t>
            </a:r>
            <a:r>
              <a:rPr lang="en-US" altLang="zh-CN" sz="4000" b="1" dirty="0">
                <a:solidFill>
                  <a:schemeClr val="bg1"/>
                </a:solidFill>
                <a:latin typeface="华光中雅_CNKI" panose="02000500000000000000" pitchFamily="2" charset="-122"/>
                <a:ea typeface="华光中雅_CNKI" panose="02000500000000000000" pitchFamily="2" charset="-122"/>
              </a:rPr>
              <a:t>12</a:t>
            </a:r>
            <a:r>
              <a:rPr lang="zh-CN" altLang="en-US" sz="4000" b="1" dirty="0">
                <a:solidFill>
                  <a:schemeClr val="bg1"/>
                </a:solidFill>
                <a:latin typeface="华光中雅_CNKI" panose="02000500000000000000" pitchFamily="2" charset="-122"/>
                <a:ea typeface="华光中雅_CNKI" panose="02000500000000000000" pitchFamily="2" charset="-122"/>
              </a:rPr>
              <a:t>章：税收系统设计</a:t>
            </a:r>
            <a:endParaRPr lang="zh-CN" altLang="en-US" sz="4000" b="1" dirty="0">
              <a:solidFill>
                <a:schemeClr val="bg1"/>
              </a:solidFill>
              <a:latin typeface="华光中雅_CNKI" panose="02000500000000000000" pitchFamily="2" charset="-122"/>
              <a:ea typeface="华光中雅_CNKI" panose="02000500000000000000"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7"/>
            <a:ext cx="4528804" cy="584775"/>
          </a:xfrm>
          <a:prstGeom prst="rect">
            <a:avLst/>
          </a:prstGeom>
          <a:noFill/>
        </p:spPr>
        <p:txBody>
          <a:bodyPr wrap="none" rtlCol="0">
            <a:spAutoFit/>
          </a:bodyPr>
          <a:lstStyle/>
          <a:p>
            <a:r>
              <a:rPr lang="zh-CN" altLang="en-US" sz="3200" dirty="0">
                <a:solidFill>
                  <a:srgbClr val="002060"/>
                </a:solidFill>
                <a:latin typeface="华光中雅_CNKI" panose="02000500000000000000" pitchFamily="2" charset="-122"/>
                <a:ea typeface="华光中雅_CNKI" panose="02000500000000000000" pitchFamily="2" charset="-122"/>
              </a:rPr>
              <a:t>本章回答如下</a:t>
            </a:r>
            <a:r>
              <a:rPr lang="en-US" altLang="zh-CN" sz="3200" dirty="0">
                <a:solidFill>
                  <a:srgbClr val="002060"/>
                </a:solidFill>
                <a:latin typeface="华光中雅_CNKI" panose="02000500000000000000" pitchFamily="2" charset="-122"/>
                <a:ea typeface="华光中雅_CNKI" panose="02000500000000000000" pitchFamily="2" charset="-122"/>
              </a:rPr>
              <a:t>3</a:t>
            </a:r>
            <a:r>
              <a:rPr lang="zh-CN" altLang="en-US" sz="3200" dirty="0">
                <a:solidFill>
                  <a:srgbClr val="002060"/>
                </a:solidFill>
                <a:latin typeface="华光中雅_CNKI" panose="02000500000000000000" pitchFamily="2" charset="-122"/>
                <a:ea typeface="华光中雅_CNKI" panose="02000500000000000000" pitchFamily="2" charset="-122"/>
              </a:rPr>
              <a:t>个问题：</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16" name="TextBox 15"/>
          <p:cNvSpPr txBox="1"/>
          <p:nvPr/>
        </p:nvSpPr>
        <p:spPr>
          <a:xfrm>
            <a:off x="755576" y="1700808"/>
            <a:ext cx="5054600" cy="1753235"/>
          </a:xfrm>
          <a:prstGeom prst="rect">
            <a:avLst/>
          </a:prstGeom>
          <a:noFill/>
        </p:spPr>
        <p:txBody>
          <a:bodyPr wrap="none" rtlCol="0">
            <a:spAutoFit/>
          </a:bodyPr>
          <a:lstStyle/>
          <a:p>
            <a:pPr marL="457200" indent="-457200">
              <a:lnSpc>
                <a:spcPct val="150000"/>
              </a:lnSpc>
              <a:buFont typeface="+mj-lt"/>
              <a:buAutoNum type="arabicPeriod"/>
            </a:pPr>
            <a:r>
              <a:rPr lang="zh-CN" altLang="en-US" sz="2400" dirty="0">
                <a:solidFill>
                  <a:srgbClr val="002060"/>
                </a:solidFill>
                <a:latin typeface="微软雅黑" panose="020B0503020204020204" pitchFamily="34" charset="-122"/>
                <a:ea typeface="微软雅黑" panose="020B0503020204020204" pitchFamily="34" charset="-122"/>
              </a:rPr>
              <a:t>税收收入的最大来源在哪里</a:t>
            </a:r>
            <a:r>
              <a:rPr lang="en-US" altLang="zh-CN" sz="2400" dirty="0">
                <a:solidFill>
                  <a:srgbClr val="002060"/>
                </a:solidFill>
                <a:latin typeface="微软雅黑" panose="020B0503020204020204" pitchFamily="34" charset="-122"/>
                <a:ea typeface="微软雅黑" panose="020B0503020204020204" pitchFamily="34" charset="-122"/>
              </a:rPr>
              <a:t>?</a:t>
            </a:r>
            <a:endParaRPr lang="en-US" altLang="zh-CN" sz="2400" dirty="0">
              <a:solidFill>
                <a:srgbClr val="002060"/>
              </a:solidFill>
              <a:latin typeface="微软雅黑" panose="020B0503020204020204" pitchFamily="34" charset="-122"/>
              <a:ea typeface="微软雅黑" panose="020B0503020204020204" pitchFamily="34" charset="-122"/>
            </a:endParaRPr>
          </a:p>
          <a:p>
            <a:pPr marL="457200" indent="-457200">
              <a:lnSpc>
                <a:spcPct val="150000"/>
              </a:lnSpc>
              <a:buFont typeface="+mj-lt"/>
              <a:buAutoNum type="arabicPeriod"/>
            </a:pPr>
            <a:r>
              <a:rPr lang="zh-CN" altLang="en-US" sz="2400" dirty="0">
                <a:solidFill>
                  <a:srgbClr val="002060"/>
                </a:solidFill>
                <a:latin typeface="微软雅黑" panose="020B0503020204020204" pitchFamily="34" charset="-122"/>
                <a:ea typeface="微软雅黑" panose="020B0503020204020204" pitchFamily="34" charset="-122"/>
              </a:rPr>
              <a:t>税收的效率和成本是什么</a:t>
            </a:r>
            <a:r>
              <a:rPr lang="en-US" altLang="zh-CN" sz="2400" dirty="0">
                <a:solidFill>
                  <a:srgbClr val="002060"/>
                </a:solidFill>
                <a:latin typeface="微软雅黑" panose="020B0503020204020204" pitchFamily="34" charset="-122"/>
                <a:ea typeface="微软雅黑" panose="020B0503020204020204" pitchFamily="34" charset="-122"/>
              </a:rPr>
              <a:t>? </a:t>
            </a:r>
            <a:endParaRPr lang="en-US" altLang="zh-CN" sz="2400" dirty="0">
              <a:solidFill>
                <a:srgbClr val="002060"/>
              </a:solidFill>
              <a:latin typeface="微软雅黑" panose="020B0503020204020204" pitchFamily="34" charset="-122"/>
              <a:ea typeface="微软雅黑" panose="020B0503020204020204" pitchFamily="34" charset="-122"/>
            </a:endParaRPr>
          </a:p>
          <a:p>
            <a:pPr marL="457200" indent="-457200">
              <a:lnSpc>
                <a:spcPct val="150000"/>
              </a:lnSpc>
              <a:buFont typeface="+mj-lt"/>
              <a:buAutoNum type="arabicPeriod"/>
            </a:pPr>
            <a:r>
              <a:rPr lang="zh-CN" altLang="en-US" sz="2400" dirty="0">
                <a:solidFill>
                  <a:srgbClr val="002060"/>
                </a:solidFill>
                <a:latin typeface="微软雅黑" panose="020B0503020204020204" pitchFamily="34" charset="-122"/>
                <a:ea typeface="微软雅黑" panose="020B0503020204020204" pitchFamily="34" charset="-122"/>
              </a:rPr>
              <a:t>如何评价一种税收制度的公平性</a:t>
            </a:r>
            <a:r>
              <a:rPr lang="en-US" altLang="zh-CN" sz="2400" dirty="0">
                <a:solidFill>
                  <a:srgbClr val="002060"/>
                </a:solidFill>
                <a:latin typeface="微软雅黑" panose="020B0503020204020204" pitchFamily="34" charset="-122"/>
                <a:ea typeface="微软雅黑" panose="020B0503020204020204" pitchFamily="34" charset="-122"/>
              </a:rPr>
              <a:t>?</a:t>
            </a:r>
            <a:endParaRPr lang="en-US" altLang="zh-CN"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14137" y="641967"/>
            <a:ext cx="995680" cy="583565"/>
          </a:xfrm>
          <a:prstGeom prst="rect">
            <a:avLst/>
          </a:prstGeom>
          <a:noFill/>
        </p:spPr>
        <p:txBody>
          <a:bodyPr wrap="none" rtlCol="0">
            <a:spAutoFit/>
          </a:bodyPr>
          <a:lstStyle/>
          <a:p>
            <a:r>
              <a:rPr lang="zh-CN" altLang="en-US" sz="3200" dirty="0">
                <a:solidFill>
                  <a:srgbClr val="002060"/>
                </a:solidFill>
                <a:latin typeface="华光中雅_CNKI" panose="02000500000000000000" pitchFamily="2" charset="-122"/>
                <a:ea typeface="华光中雅_CNKI" panose="02000500000000000000" pitchFamily="2" charset="-122"/>
              </a:rPr>
              <a:t>前言</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16" name="TextBox 15"/>
          <p:cNvSpPr txBox="1"/>
          <p:nvPr/>
        </p:nvSpPr>
        <p:spPr>
          <a:xfrm>
            <a:off x="683568" y="1340768"/>
            <a:ext cx="8064896" cy="2862322"/>
          </a:xfrm>
          <a:prstGeom prst="rect">
            <a:avLst/>
          </a:prstGeom>
          <a:noFill/>
        </p:spPr>
        <p:txBody>
          <a:bodyPr wrap="square" rtlCol="0">
            <a:spAutoFit/>
          </a:bodyPr>
          <a:lstStyle/>
          <a:p>
            <a:pPr marL="342900" indent="-342900">
              <a:lnSpc>
                <a:spcPts val="36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第一章的十条原则之一：</a:t>
            </a:r>
            <a:endParaRPr lang="en-US" altLang="zh-CN" sz="2400" dirty="0">
              <a:solidFill>
                <a:srgbClr val="002060"/>
              </a:solidFill>
              <a:latin typeface="微软雅黑" panose="020B0503020204020204" pitchFamily="34" charset="-122"/>
              <a:ea typeface="微软雅黑" panose="020B0503020204020204" pitchFamily="34" charset="-122"/>
            </a:endParaRPr>
          </a:p>
          <a:p>
            <a:pPr marL="360045">
              <a:lnSpc>
                <a:spcPts val="3600"/>
              </a:lnSpc>
            </a:pPr>
            <a:r>
              <a:rPr lang="zh-CN" altLang="en-US" sz="2400" b="1" i="1" dirty="0">
                <a:solidFill>
                  <a:srgbClr val="9F8453"/>
                </a:solidFill>
                <a:latin typeface="微软雅黑" panose="020B0503020204020204" pitchFamily="34" charset="-122"/>
                <a:ea typeface="微软雅黑" panose="020B0503020204020204" pitchFamily="34" charset="-122"/>
              </a:rPr>
              <a:t>政府有时可以改善市场结果</a:t>
            </a:r>
            <a:r>
              <a:rPr lang="zh-CN" altLang="en-US" sz="2400" dirty="0">
                <a:solidFill>
                  <a:srgbClr val="002060"/>
                </a:solidFill>
                <a:latin typeface="微软雅黑" panose="020B0503020204020204" pitchFamily="34" charset="-122"/>
                <a:ea typeface="微软雅黑" panose="020B0503020204020204" pitchFamily="34" charset="-122"/>
              </a:rPr>
              <a:t>。</a:t>
            </a:r>
            <a:endParaRPr lang="en-US" altLang="zh-CN" sz="2400" dirty="0">
              <a:solidFill>
                <a:srgbClr val="002060"/>
              </a:solidFill>
              <a:latin typeface="微软雅黑" panose="020B0503020204020204" pitchFamily="34" charset="-122"/>
              <a:ea typeface="微软雅黑" panose="020B0503020204020204" pitchFamily="34" charset="-122"/>
            </a:endParaRPr>
          </a:p>
          <a:p>
            <a:pPr marL="702945" indent="-342900">
              <a:lnSpc>
                <a:spcPts val="36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提供公共产品</a:t>
            </a:r>
            <a:endParaRPr lang="en-US" altLang="zh-CN" sz="2400" dirty="0">
              <a:solidFill>
                <a:srgbClr val="002060"/>
              </a:solidFill>
              <a:latin typeface="微软雅黑" panose="020B0503020204020204" pitchFamily="34" charset="-122"/>
              <a:ea typeface="微软雅黑" panose="020B0503020204020204" pitchFamily="34" charset="-122"/>
            </a:endParaRPr>
          </a:p>
          <a:p>
            <a:pPr marL="702945" indent="-342900">
              <a:lnSpc>
                <a:spcPts val="3600"/>
              </a:lnSpc>
              <a:buFont typeface="Arial" panose="020B0604020202020204" pitchFamily="34" charset="0"/>
              <a:buChar char="•"/>
            </a:pPr>
            <a:r>
              <a:rPr lang="zh-CN" altLang="en-US" sz="2400">
                <a:solidFill>
                  <a:srgbClr val="002060"/>
                </a:solidFill>
                <a:latin typeface="微软雅黑" panose="020B0503020204020204" pitchFamily="34" charset="-122"/>
                <a:ea typeface="微软雅黑" panose="020B0503020204020204" pitchFamily="34" charset="-122"/>
              </a:rPr>
              <a:t>管制公共资源</a:t>
            </a:r>
            <a:r>
              <a:rPr lang="zh-CN" altLang="en-US" sz="2400" dirty="0">
                <a:solidFill>
                  <a:srgbClr val="002060"/>
                </a:solidFill>
                <a:latin typeface="微软雅黑" panose="020B0503020204020204" pitchFamily="34" charset="-122"/>
                <a:ea typeface="微软雅黑" panose="020B0503020204020204" pitchFamily="34" charset="-122"/>
              </a:rPr>
              <a:t>的使用</a:t>
            </a:r>
            <a:endParaRPr lang="en-US" altLang="zh-CN" sz="2400" dirty="0">
              <a:solidFill>
                <a:srgbClr val="002060"/>
              </a:solidFill>
              <a:latin typeface="微软雅黑" panose="020B0503020204020204" pitchFamily="34" charset="-122"/>
              <a:ea typeface="微软雅黑" panose="020B0503020204020204" pitchFamily="34" charset="-122"/>
            </a:endParaRPr>
          </a:p>
          <a:p>
            <a:pPr marL="702945" indent="-342900">
              <a:lnSpc>
                <a:spcPts val="36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修复外部性的影响</a:t>
            </a:r>
            <a:endParaRPr lang="zh-CN" altLang="en-US" sz="2400" dirty="0">
              <a:solidFill>
                <a:srgbClr val="002060"/>
              </a:solidFill>
              <a:latin typeface="微软雅黑" panose="020B0503020204020204" pitchFamily="34" charset="-122"/>
              <a:ea typeface="微软雅黑" panose="020B0503020204020204" pitchFamily="34" charset="-122"/>
            </a:endParaRPr>
          </a:p>
          <a:p>
            <a:pPr marL="342900" indent="-342900">
              <a:lnSpc>
                <a:spcPts val="36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为履行包括如上的</a:t>
            </a:r>
            <a:r>
              <a:rPr lang="zh-CN" altLang="en-US" sz="2400">
                <a:solidFill>
                  <a:srgbClr val="002060"/>
                </a:solidFill>
                <a:latin typeface="微软雅黑" panose="020B0503020204020204" pitchFamily="34" charset="-122"/>
                <a:ea typeface="微软雅黑" panose="020B0503020204020204" pitchFamily="34" charset="-122"/>
              </a:rPr>
              <a:t>多项</a:t>
            </a:r>
            <a:r>
              <a:rPr lang="zh-CN" altLang="en-US" sz="2400" smtClean="0">
                <a:solidFill>
                  <a:srgbClr val="002060"/>
                </a:solidFill>
                <a:latin typeface="微软雅黑" panose="020B0503020204020204" pitchFamily="34" charset="-122"/>
                <a:ea typeface="微软雅黑" panose="020B0503020204020204" pitchFamily="34" charset="-122"/>
              </a:rPr>
              <a:t>职能，</a:t>
            </a:r>
            <a:r>
              <a:rPr lang="zh-CN" altLang="en-US" sz="2400" dirty="0">
                <a:solidFill>
                  <a:srgbClr val="002060"/>
                </a:solidFill>
                <a:latin typeface="微软雅黑" panose="020B0503020204020204" pitchFamily="34" charset="-122"/>
                <a:ea typeface="微软雅黑" panose="020B0503020204020204" pitchFamily="34" charset="-122"/>
              </a:rPr>
              <a:t>政府</a:t>
            </a:r>
            <a:r>
              <a:rPr lang="zh-CN" altLang="en-US" sz="2400">
                <a:solidFill>
                  <a:srgbClr val="002060"/>
                </a:solidFill>
                <a:latin typeface="微软雅黑" panose="020B0503020204020204" pitchFamily="34" charset="-122"/>
                <a:ea typeface="微软雅黑" panose="020B0503020204020204" pitchFamily="34" charset="-122"/>
              </a:rPr>
              <a:t>通过税收提供资金。</a:t>
            </a:r>
            <a:endParaRPr lang="en-US" altLang="zh-CN"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4968552" cy="468027"/>
          </a:xfrm>
        </p:spPr>
        <p:txBody>
          <a:bodyPr>
            <a:noAutofit/>
          </a:bodyPr>
          <a:lstStyle/>
          <a:p>
            <a:r>
              <a:rPr lang="zh-CN" altLang="en-US" sz="3200" dirty="0">
                <a:latin typeface="华光中雅_CNKI" panose="02000500000000000000" pitchFamily="2" charset="-122"/>
                <a:ea typeface="华光中雅_CNKI" panose="02000500000000000000" pitchFamily="2" charset="-122"/>
              </a:rPr>
              <a:t>前言</a:t>
            </a:r>
            <a:endParaRPr lang="zh-CN" altLang="en-US" sz="3200" dirty="0">
              <a:latin typeface="华光中雅_CNKI" panose="02000500000000000000" pitchFamily="2" charset="-122"/>
              <a:ea typeface="华光中雅_CNKI" panose="02000500000000000000" pitchFamily="2" charset="-122"/>
            </a:endParaRPr>
          </a:p>
        </p:txBody>
      </p:sp>
      <p:sp>
        <p:nvSpPr>
          <p:cNvPr id="8" name="TextBox 15"/>
          <p:cNvSpPr txBox="1"/>
          <p:nvPr/>
        </p:nvSpPr>
        <p:spPr>
          <a:xfrm>
            <a:off x="395536" y="1556792"/>
            <a:ext cx="8064896" cy="286131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前几章关于税收的内容：</a:t>
            </a:r>
            <a:endParaRPr lang="en-US" altLang="zh-CN" sz="2400" dirty="0">
              <a:solidFill>
                <a:srgbClr val="002060"/>
              </a:solidFill>
              <a:latin typeface="微软雅黑" panose="020B0503020204020204" pitchFamily="34" charset="-122"/>
              <a:ea typeface="微软雅黑" panose="020B0503020204020204" pitchFamily="34" charset="-122"/>
            </a:endParaRPr>
          </a:p>
          <a:p>
            <a:pPr marL="702945"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对一种商品征税会减少该商品的市场数量。</a:t>
            </a:r>
            <a:endParaRPr lang="en-US" altLang="zh-CN" sz="2400" dirty="0">
              <a:solidFill>
                <a:srgbClr val="002060"/>
              </a:solidFill>
              <a:latin typeface="微软雅黑" panose="020B0503020204020204" pitchFamily="34" charset="-122"/>
              <a:ea typeface="微软雅黑" panose="020B0503020204020204" pitchFamily="34" charset="-122"/>
            </a:endParaRPr>
          </a:p>
          <a:p>
            <a:pPr marL="702945"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税收负担由买家和</a:t>
            </a:r>
            <a:r>
              <a:rPr lang="zh-CN" altLang="en-US" sz="2400">
                <a:solidFill>
                  <a:srgbClr val="002060"/>
                </a:solidFill>
                <a:latin typeface="微软雅黑" panose="020B0503020204020204" pitchFamily="34" charset="-122"/>
                <a:ea typeface="微软雅黑" panose="020B0503020204020204" pitchFamily="34" charset="-122"/>
              </a:rPr>
              <a:t>卖</a:t>
            </a:r>
            <a:r>
              <a:rPr lang="zh-CN" altLang="en-US" sz="2400" smtClean="0">
                <a:solidFill>
                  <a:srgbClr val="002060"/>
                </a:solidFill>
                <a:latin typeface="微软雅黑" panose="020B0503020204020204" pitchFamily="34" charset="-122"/>
                <a:ea typeface="微软雅黑" panose="020B0503020204020204" pitchFamily="34" charset="-122"/>
              </a:rPr>
              <a:t>家的分担比例，取决于</a:t>
            </a:r>
            <a:r>
              <a:rPr lang="zh-CN" altLang="en-US" sz="2400" dirty="0">
                <a:solidFill>
                  <a:srgbClr val="002060"/>
                </a:solidFill>
                <a:latin typeface="微软雅黑" panose="020B0503020204020204" pitchFamily="34" charset="-122"/>
                <a:ea typeface="微软雅黑" panose="020B0503020204020204" pitchFamily="34" charset="-122"/>
              </a:rPr>
              <a:t>需求和供应的价格弹性。</a:t>
            </a:r>
            <a:endParaRPr lang="en-US" altLang="zh-CN" sz="2400" dirty="0">
              <a:solidFill>
                <a:srgbClr val="002060"/>
              </a:solidFill>
              <a:latin typeface="微软雅黑" panose="020B0503020204020204" pitchFamily="34" charset="-122"/>
              <a:ea typeface="微软雅黑" panose="020B0503020204020204" pitchFamily="34" charset="-122"/>
            </a:endParaRPr>
          </a:p>
          <a:p>
            <a:pPr marL="702945"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税收会造成无谓损失。</a:t>
            </a:r>
            <a:endParaRPr lang="en-US" altLang="zh-CN"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4968552" cy="468027"/>
          </a:xfrm>
        </p:spPr>
        <p:txBody>
          <a:bodyPr>
            <a:noAutofit/>
          </a:bodyPr>
          <a:lstStyle/>
          <a:p>
            <a:r>
              <a:rPr lang="zh-CN" altLang="en-US" sz="3200" dirty="0">
                <a:latin typeface="华光中雅_CNKI" panose="02000500000000000000" pitchFamily="2" charset="-122"/>
                <a:ea typeface="华光中雅_CNKI" panose="02000500000000000000" pitchFamily="2" charset="-122"/>
              </a:rPr>
              <a:t>看看美国的税收</a:t>
            </a:r>
            <a:endParaRPr lang="zh-CN" altLang="en-US" sz="3200" dirty="0">
              <a:latin typeface="华光中雅_CNKI" panose="02000500000000000000" pitchFamily="2" charset="-122"/>
              <a:ea typeface="华光中雅_CNKI" panose="02000500000000000000" pitchFamily="2" charset="-122"/>
            </a:endParaRPr>
          </a:p>
        </p:txBody>
      </p:sp>
      <p:sp>
        <p:nvSpPr>
          <p:cNvPr id="8" name="TextBox 15"/>
          <p:cNvSpPr txBox="1"/>
          <p:nvPr/>
        </p:nvSpPr>
        <p:spPr>
          <a:xfrm>
            <a:off x="395536" y="1556792"/>
            <a:ext cx="8064896" cy="2243050"/>
          </a:xfrm>
          <a:prstGeom prst="rect">
            <a:avLst/>
          </a:prstGeom>
          <a:noFill/>
        </p:spPr>
        <p:txBody>
          <a:bodyPr wrap="square" rtlCol="0">
            <a:spAutoFit/>
          </a:bodyPr>
          <a:lstStyle/>
          <a:p>
            <a:pPr>
              <a:lnSpc>
                <a:spcPct val="150000"/>
              </a:lnSpc>
            </a:pPr>
            <a:r>
              <a:rPr lang="zh-CN" altLang="en-US" sz="2400" dirty="0">
                <a:solidFill>
                  <a:srgbClr val="002060"/>
                </a:solidFill>
                <a:latin typeface="微软雅黑" panose="020B0503020204020204" pitchFamily="34" charset="-122"/>
                <a:ea typeface="微软雅黑" panose="020B0503020204020204" pitchFamily="34" charset="-122"/>
              </a:rPr>
              <a:t>首先，我们认为：</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税收在国民收入中所占份额如何随着时间的推移而变化。</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美国税收收入与其他国家相比如何。</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联邦、州和地方政府最重要的收入来源。</a:t>
            </a:r>
            <a:endParaRPr lang="en-US" altLang="zh-CN"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5544616" cy="468027"/>
          </a:xfrm>
        </p:spPr>
        <p:txBody>
          <a:bodyPr>
            <a:noAutofit/>
          </a:bodyPr>
          <a:lstStyle/>
          <a:p>
            <a:r>
              <a:rPr lang="en-US" altLang="zh-CN" sz="3200">
                <a:latin typeface="华光中雅_CNKI" panose="02000500000000000000" pitchFamily="2" charset="-122"/>
                <a:ea typeface="华光中雅_CNKI" panose="02000500000000000000" pitchFamily="2" charset="-122"/>
              </a:rPr>
              <a:t>1929–2011</a:t>
            </a:r>
            <a:r>
              <a:rPr lang="zh-CN" altLang="en-US" sz="3200">
                <a:latin typeface="华光中雅_CNKI" panose="02000500000000000000" pitchFamily="2" charset="-122"/>
                <a:ea typeface="华光中雅_CNKI" panose="02000500000000000000" pitchFamily="2" charset="-122"/>
              </a:rPr>
              <a:t>年美国政府收据</a:t>
            </a:r>
            <a:endParaRPr lang="zh-CN" altLang="en-US" sz="3200" dirty="0">
              <a:latin typeface="华光中雅_CNKI" panose="02000500000000000000" pitchFamily="2" charset="-122"/>
              <a:ea typeface="华光中雅_CNKI" panose="02000500000000000000" pitchFamily="2" charset="-122"/>
            </a:endParaRPr>
          </a:p>
        </p:txBody>
      </p:sp>
      <p:graphicFrame>
        <p:nvGraphicFramePr>
          <p:cNvPr id="4" name="Chart 7"/>
          <p:cNvGraphicFramePr>
            <a:graphicFrameLocks noGrp="1"/>
          </p:cNvGraphicFramePr>
          <p:nvPr/>
        </p:nvGraphicFramePr>
        <p:xfrm>
          <a:off x="36512" y="1268760"/>
          <a:ext cx="9144000" cy="5638800"/>
        </p:xfrm>
        <a:graphic>
          <a:graphicData uri="http://schemas.openxmlformats.org/drawingml/2006/chart">
            <c:chart xmlns:c="http://schemas.openxmlformats.org/drawingml/2006/chart" xmlns:r="http://schemas.openxmlformats.org/officeDocument/2006/relationships" r:id="rId1"/>
          </a:graphicData>
        </a:graphic>
      </p:graphicFrame>
      <p:sp>
        <p:nvSpPr>
          <p:cNvPr id="5" name="TextBox 3"/>
          <p:cNvSpPr txBox="1"/>
          <p:nvPr/>
        </p:nvSpPr>
        <p:spPr>
          <a:xfrm>
            <a:off x="6589712" y="3047673"/>
            <a:ext cx="1295400" cy="430887"/>
          </a:xfrm>
          <a:prstGeom prst="rect">
            <a:avLst/>
          </a:prstGeom>
          <a:noFill/>
        </p:spPr>
        <p:txBody>
          <a:bodyPr wrap="square" rtlCol="0">
            <a:spAutoFit/>
          </a:bodyPr>
          <a:lstStyle/>
          <a:p>
            <a:pPr algn="ctr"/>
            <a:r>
              <a:rPr lang="zh-CN" altLang="en-US" sz="2200" b="1" i="1" dirty="0">
                <a:solidFill>
                  <a:srgbClr val="A20000"/>
                </a:solidFill>
                <a:latin typeface="Arial" panose="020B0604020202020204"/>
                <a:cs typeface="Arial" panose="020B0604020202020204"/>
              </a:rPr>
              <a:t>联邦</a:t>
            </a:r>
            <a:endParaRPr lang="en-US" sz="2200" b="1" i="1" dirty="0">
              <a:solidFill>
                <a:srgbClr val="A20000"/>
              </a:solidFill>
              <a:latin typeface="Arial" panose="020B0604020202020204"/>
              <a:cs typeface="Arial" panose="020B0604020202020204"/>
            </a:endParaRPr>
          </a:p>
        </p:txBody>
      </p:sp>
      <p:sp>
        <p:nvSpPr>
          <p:cNvPr id="6" name="TextBox 4"/>
          <p:cNvSpPr txBox="1"/>
          <p:nvPr/>
        </p:nvSpPr>
        <p:spPr>
          <a:xfrm>
            <a:off x="5294312" y="4952673"/>
            <a:ext cx="1981200" cy="430887"/>
          </a:xfrm>
          <a:prstGeom prst="rect">
            <a:avLst/>
          </a:prstGeom>
          <a:noFill/>
        </p:spPr>
        <p:txBody>
          <a:bodyPr wrap="square" rtlCol="0">
            <a:spAutoFit/>
          </a:bodyPr>
          <a:lstStyle/>
          <a:p>
            <a:pPr algn="ctr"/>
            <a:r>
              <a:rPr lang="zh-CN" altLang="en-US" sz="2200" b="1" i="1" dirty="0">
                <a:solidFill>
                  <a:srgbClr val="588824"/>
                </a:solidFill>
                <a:latin typeface="Arial" panose="020B0604020202020204"/>
                <a:cs typeface="Arial" panose="020B0604020202020204"/>
              </a:rPr>
              <a:t>州</a:t>
            </a:r>
            <a:r>
              <a:rPr lang="en-US" altLang="zh-CN" sz="2200" b="1" i="1" dirty="0">
                <a:solidFill>
                  <a:srgbClr val="588824"/>
                </a:solidFill>
                <a:latin typeface="Arial" panose="020B0604020202020204"/>
                <a:cs typeface="Arial" panose="020B0604020202020204"/>
              </a:rPr>
              <a:t>&amp;</a:t>
            </a:r>
            <a:r>
              <a:rPr lang="zh-CN" altLang="en-US" sz="2200" b="1" i="1" dirty="0">
                <a:solidFill>
                  <a:srgbClr val="588824"/>
                </a:solidFill>
                <a:latin typeface="Arial" panose="020B0604020202020204"/>
                <a:cs typeface="Arial" panose="020B0604020202020204"/>
              </a:rPr>
              <a:t>地方</a:t>
            </a:r>
            <a:endParaRPr lang="en-US" sz="2200" b="1" i="1" dirty="0">
              <a:solidFill>
                <a:srgbClr val="588824"/>
              </a:solidFill>
              <a:latin typeface="Arial" panose="020B0604020202020204"/>
              <a:cs typeface="Arial" panose="020B0604020202020204"/>
            </a:endParaRPr>
          </a:p>
        </p:txBody>
      </p:sp>
      <p:sp>
        <p:nvSpPr>
          <p:cNvPr id="7" name="TextBox 5"/>
          <p:cNvSpPr txBox="1"/>
          <p:nvPr/>
        </p:nvSpPr>
        <p:spPr>
          <a:xfrm>
            <a:off x="7046912" y="1599873"/>
            <a:ext cx="1143000" cy="430887"/>
          </a:xfrm>
          <a:prstGeom prst="rect">
            <a:avLst/>
          </a:prstGeom>
          <a:noFill/>
        </p:spPr>
        <p:txBody>
          <a:bodyPr wrap="square" rtlCol="0">
            <a:spAutoFit/>
          </a:bodyPr>
          <a:lstStyle/>
          <a:p>
            <a:pPr algn="ctr"/>
            <a:r>
              <a:rPr lang="zh-CN" altLang="en-US" sz="2200" b="1" i="1" dirty="0">
                <a:solidFill>
                  <a:srgbClr val="275C9D"/>
                </a:solidFill>
                <a:latin typeface="Arial" panose="020B0604020202020204"/>
                <a:cs typeface="Arial" panose="020B0604020202020204"/>
              </a:rPr>
              <a:t>总额</a:t>
            </a:r>
            <a:endParaRPr lang="en-US" sz="2200" b="1" i="1" dirty="0">
              <a:solidFill>
                <a:srgbClr val="275C9D"/>
              </a:solidFill>
              <a:latin typeface="Arial" panose="020B0604020202020204"/>
              <a:cs typeface="Arial" panose="020B0604020202020204"/>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Rectangle 4"/>
          <p:cNvSpPr txBox="1">
            <a:spLocks noChangeArrowheads="1"/>
          </p:cNvSpPr>
          <p:nvPr/>
        </p:nvSpPr>
        <p:spPr>
          <a:xfrm>
            <a:off x="1331640" y="908720"/>
            <a:ext cx="2533650" cy="1939925"/>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a:lstStyle>
          <a:p>
            <a:pPr algn="r"/>
            <a:r>
              <a:rPr lang="zh-CN" altLang="en-US" sz="3200" dirty="0"/>
              <a:t>政府总收入</a:t>
            </a:r>
            <a:br>
              <a:rPr lang="en-US" sz="3200" dirty="0"/>
            </a:br>
            <a:r>
              <a:rPr lang="en-US" sz="2500" dirty="0"/>
              <a:t>(% of GDP)</a:t>
            </a:r>
            <a:endParaRPr lang="en-US" sz="2500" dirty="0"/>
          </a:p>
        </p:txBody>
      </p:sp>
      <p:graphicFrame>
        <p:nvGraphicFramePr>
          <p:cNvPr id="10" name="Group 145"/>
          <p:cNvGraphicFramePr/>
          <p:nvPr/>
        </p:nvGraphicFramePr>
        <p:xfrm>
          <a:off x="3995936" y="558170"/>
          <a:ext cx="5000625" cy="6320790"/>
        </p:xfrm>
        <a:graphic>
          <a:graphicData uri="http://schemas.openxmlformats.org/drawingml/2006/table">
            <a:tbl>
              <a:tblPr/>
              <a:tblGrid>
                <a:gridCol w="3319463"/>
                <a:gridCol w="1681162"/>
              </a:tblGrid>
              <a:tr h="441657">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250" b="0" i="0" u="none" strike="noStrike" cap="none" normalizeH="0" baseline="0" dirty="0">
                          <a:ln>
                            <a:noFill/>
                          </a:ln>
                          <a:solidFill>
                            <a:schemeClr val="tx1"/>
                          </a:solidFill>
                          <a:effectLst/>
                          <a:latin typeface="Arial" panose="020B0604020202020204" pitchFamily="34" charset="0"/>
                        </a:rPr>
                        <a:t>丹麦</a:t>
                      </a:r>
                      <a:endParaRPr kumimoji="0" lang="en-US" sz="2250" b="0" i="0" u="none" strike="noStrike" cap="none" normalizeH="0" baseline="0" dirty="0">
                        <a:ln>
                          <a:noFill/>
                        </a:ln>
                        <a:solidFill>
                          <a:schemeClr val="tx1"/>
                        </a:solidFill>
                        <a:effectLst/>
                        <a:latin typeface="Arial" panose="020B0604020202020204" pitchFamily="34" charset="0"/>
                      </a:endParaRPr>
                    </a:p>
                  </a:txBody>
                  <a:tcPr marL="1828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250" b="0" i="0" u="none" strike="noStrike" cap="none" normalizeH="0" baseline="0" dirty="0">
                          <a:ln>
                            <a:noFill/>
                          </a:ln>
                          <a:solidFill>
                            <a:schemeClr val="tx1"/>
                          </a:solidFill>
                          <a:effectLst/>
                          <a:latin typeface="Arial" panose="020B0604020202020204" pitchFamily="34" charset="0"/>
                        </a:rPr>
                        <a:t>48%</a:t>
                      </a:r>
                      <a:endParaRPr kumimoji="0" lang="en-US" sz="2250" b="0" i="0" u="none" strike="noStrike" cap="none" normalizeH="0" baseline="0" dirty="0">
                        <a:ln>
                          <a:noFill/>
                        </a:ln>
                        <a:solidFill>
                          <a:schemeClr val="tx1"/>
                        </a:solidFill>
                        <a:effectLst/>
                        <a:latin typeface="Arial" panose="020B0604020202020204" pitchFamily="34" charset="0"/>
                      </a:endParaRPr>
                    </a:p>
                  </a:txBody>
                  <a:tcPr marL="2743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r>
              <a:tr h="441657">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250" b="0" i="0" u="none" strike="noStrike" cap="none" normalizeH="0" baseline="0" dirty="0">
                          <a:ln>
                            <a:noFill/>
                          </a:ln>
                          <a:solidFill>
                            <a:schemeClr val="tx1"/>
                          </a:solidFill>
                          <a:effectLst/>
                          <a:latin typeface="Arial" panose="020B0604020202020204" pitchFamily="34" charset="0"/>
                        </a:rPr>
                        <a:t>瑞典</a:t>
                      </a:r>
                      <a:endParaRPr kumimoji="0" lang="en-US" sz="2250" b="0" i="0" u="none" strike="noStrike" cap="none" normalizeH="0" baseline="0" dirty="0">
                        <a:ln>
                          <a:noFill/>
                        </a:ln>
                        <a:solidFill>
                          <a:schemeClr val="tx1"/>
                        </a:solidFill>
                        <a:effectLst/>
                        <a:latin typeface="Arial" panose="020B0604020202020204" pitchFamily="34" charset="0"/>
                      </a:endParaRPr>
                    </a:p>
                  </a:txBody>
                  <a:tcPr marL="1828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250" b="0" i="0" u="none" strike="noStrike" cap="none" normalizeH="0" baseline="0" dirty="0">
                          <a:ln>
                            <a:noFill/>
                          </a:ln>
                          <a:solidFill>
                            <a:schemeClr val="tx1"/>
                          </a:solidFill>
                          <a:effectLst/>
                          <a:latin typeface="Arial" panose="020B0604020202020204" pitchFamily="34" charset="0"/>
                        </a:rPr>
                        <a:t>45</a:t>
                      </a:r>
                      <a:endParaRPr kumimoji="0" lang="en-US" sz="2250" b="0" i="0" u="none" strike="noStrike" cap="none" normalizeH="0" baseline="0" dirty="0">
                        <a:ln>
                          <a:noFill/>
                        </a:ln>
                        <a:solidFill>
                          <a:schemeClr val="tx1"/>
                        </a:solidFill>
                        <a:effectLst/>
                        <a:latin typeface="Arial" panose="020B0604020202020204" pitchFamily="34" charset="0"/>
                      </a:endParaRPr>
                    </a:p>
                  </a:txBody>
                  <a:tcPr marL="2743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r>
              <a:tr h="441657">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250" b="0" i="0" u="none" strike="noStrike" cap="none" normalizeH="0" baseline="0" dirty="0">
                          <a:ln>
                            <a:noFill/>
                          </a:ln>
                          <a:solidFill>
                            <a:schemeClr val="tx1"/>
                          </a:solidFill>
                          <a:effectLst/>
                          <a:latin typeface="Arial" panose="020B0604020202020204" pitchFamily="34" charset="0"/>
                        </a:rPr>
                        <a:t>法国</a:t>
                      </a:r>
                      <a:endParaRPr kumimoji="0" lang="en-US" sz="2250" b="0" i="0" u="none" strike="noStrike" cap="none" normalizeH="0" baseline="0" dirty="0">
                        <a:ln>
                          <a:noFill/>
                        </a:ln>
                        <a:solidFill>
                          <a:schemeClr val="tx1"/>
                        </a:solidFill>
                        <a:effectLst/>
                        <a:latin typeface="Arial" panose="020B0604020202020204" pitchFamily="34" charset="0"/>
                      </a:endParaRPr>
                    </a:p>
                  </a:txBody>
                  <a:tcPr marL="1828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250" b="0" i="0" u="none" strike="noStrike" cap="none" normalizeH="0" baseline="0" dirty="0">
                          <a:ln>
                            <a:noFill/>
                          </a:ln>
                          <a:solidFill>
                            <a:schemeClr val="tx1"/>
                          </a:solidFill>
                          <a:effectLst/>
                          <a:latin typeface="Arial" panose="020B0604020202020204" pitchFamily="34" charset="0"/>
                        </a:rPr>
                        <a:t>44</a:t>
                      </a:r>
                      <a:endParaRPr kumimoji="0" lang="en-US" sz="2250" b="0" i="0" u="none" strike="noStrike" cap="none" normalizeH="0" baseline="0" dirty="0">
                        <a:ln>
                          <a:noFill/>
                        </a:ln>
                        <a:solidFill>
                          <a:schemeClr val="tx1"/>
                        </a:solidFill>
                        <a:effectLst/>
                        <a:latin typeface="Arial" panose="020B0604020202020204" pitchFamily="34" charset="0"/>
                      </a:endParaRPr>
                    </a:p>
                  </a:txBody>
                  <a:tcPr marL="2743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r>
              <a:tr h="441657">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250" b="0" i="0" u="none" strike="noStrike" cap="none" normalizeH="0" baseline="0" dirty="0">
                          <a:ln>
                            <a:noFill/>
                          </a:ln>
                          <a:solidFill>
                            <a:schemeClr val="tx1"/>
                          </a:solidFill>
                          <a:effectLst/>
                          <a:latin typeface="Arial" panose="020B0604020202020204" pitchFamily="34" charset="0"/>
                        </a:rPr>
                        <a:t>意大利</a:t>
                      </a:r>
                      <a:endParaRPr kumimoji="0" lang="en-US" sz="2250" b="0" i="0" u="none" strike="noStrike" cap="none" normalizeH="0" baseline="0" dirty="0">
                        <a:ln>
                          <a:noFill/>
                        </a:ln>
                        <a:solidFill>
                          <a:schemeClr val="tx1"/>
                        </a:solidFill>
                        <a:effectLst/>
                        <a:latin typeface="Arial" panose="020B0604020202020204" pitchFamily="34" charset="0"/>
                      </a:endParaRPr>
                    </a:p>
                  </a:txBody>
                  <a:tcPr marL="1828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250" b="0" i="0" u="none" strike="noStrike" cap="none" normalizeH="0" baseline="0" dirty="0">
                          <a:ln>
                            <a:noFill/>
                          </a:ln>
                          <a:solidFill>
                            <a:schemeClr val="tx1"/>
                          </a:solidFill>
                          <a:effectLst/>
                          <a:latin typeface="Arial" panose="020B0604020202020204" pitchFamily="34" charset="0"/>
                        </a:rPr>
                        <a:t>43</a:t>
                      </a:r>
                      <a:endParaRPr kumimoji="0" lang="en-US" sz="2250" b="0" i="0" u="none" strike="noStrike" cap="none" normalizeH="0" baseline="0" dirty="0">
                        <a:ln>
                          <a:noFill/>
                        </a:ln>
                        <a:solidFill>
                          <a:schemeClr val="tx1"/>
                        </a:solidFill>
                        <a:effectLst/>
                        <a:latin typeface="Arial" panose="020B0604020202020204" pitchFamily="34" charset="0"/>
                      </a:endParaRPr>
                    </a:p>
                  </a:txBody>
                  <a:tcPr marL="2743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r>
              <a:tr h="441657">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250" b="0" i="0" u="none" strike="noStrike" cap="none" normalizeH="0" baseline="0" dirty="0">
                          <a:ln>
                            <a:noFill/>
                          </a:ln>
                          <a:solidFill>
                            <a:schemeClr val="tx1"/>
                          </a:solidFill>
                          <a:effectLst/>
                          <a:latin typeface="Arial" panose="020B0604020202020204" pitchFamily="34" charset="0"/>
                        </a:rPr>
                        <a:t>德国</a:t>
                      </a:r>
                      <a:endParaRPr kumimoji="0" lang="en-US" sz="2250" b="0" i="0" u="none" strike="noStrike" cap="none" normalizeH="0" baseline="0" dirty="0">
                        <a:ln>
                          <a:noFill/>
                        </a:ln>
                        <a:solidFill>
                          <a:schemeClr val="tx1"/>
                        </a:solidFill>
                        <a:effectLst/>
                        <a:latin typeface="Arial" panose="020B0604020202020204" pitchFamily="34" charset="0"/>
                      </a:endParaRPr>
                    </a:p>
                  </a:txBody>
                  <a:tcPr marL="1828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250" b="0" i="0" u="none" strike="noStrike" cap="none" normalizeH="0" baseline="0" dirty="0">
                          <a:ln>
                            <a:noFill/>
                          </a:ln>
                          <a:solidFill>
                            <a:schemeClr val="tx1"/>
                          </a:solidFill>
                          <a:effectLst/>
                          <a:latin typeface="Arial" panose="020B0604020202020204" pitchFamily="34" charset="0"/>
                        </a:rPr>
                        <a:t>37</a:t>
                      </a:r>
                      <a:endParaRPr kumimoji="0" lang="en-US" sz="2250" b="0" i="0" u="none" strike="noStrike" cap="none" normalizeH="0" baseline="0" dirty="0">
                        <a:ln>
                          <a:noFill/>
                        </a:ln>
                        <a:solidFill>
                          <a:schemeClr val="tx1"/>
                        </a:solidFill>
                        <a:effectLst/>
                        <a:latin typeface="Arial" panose="020B0604020202020204" pitchFamily="34" charset="0"/>
                      </a:endParaRPr>
                    </a:p>
                  </a:txBody>
                  <a:tcPr marL="2743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r>
              <a:tr h="441657">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250" b="0" i="0" u="none" strike="noStrike" cap="none" normalizeH="0" baseline="0" dirty="0">
                          <a:ln>
                            <a:noFill/>
                          </a:ln>
                          <a:solidFill>
                            <a:schemeClr val="tx1"/>
                          </a:solidFill>
                          <a:effectLst/>
                          <a:latin typeface="Arial" panose="020B0604020202020204" pitchFamily="34" charset="0"/>
                        </a:rPr>
                        <a:t>英国</a:t>
                      </a:r>
                      <a:endParaRPr kumimoji="0" lang="en-US" sz="2250" b="0" i="0" u="none" strike="noStrike" cap="none" normalizeH="0" baseline="0" dirty="0">
                        <a:ln>
                          <a:noFill/>
                        </a:ln>
                        <a:solidFill>
                          <a:schemeClr val="tx1"/>
                        </a:solidFill>
                        <a:effectLst/>
                        <a:latin typeface="Arial" panose="020B0604020202020204" pitchFamily="34" charset="0"/>
                      </a:endParaRPr>
                    </a:p>
                  </a:txBody>
                  <a:tcPr marL="1828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250" b="0" i="0" u="none" strike="noStrike" cap="none" normalizeH="0" baseline="0" dirty="0">
                          <a:ln>
                            <a:noFill/>
                          </a:ln>
                          <a:solidFill>
                            <a:schemeClr val="tx1"/>
                          </a:solidFill>
                          <a:effectLst/>
                          <a:latin typeface="Arial" panose="020B0604020202020204" pitchFamily="34" charset="0"/>
                        </a:rPr>
                        <a:t>36</a:t>
                      </a:r>
                      <a:endParaRPr kumimoji="0" lang="en-US" sz="2250" b="0" i="0" u="none" strike="noStrike" cap="none" normalizeH="0" baseline="0" dirty="0">
                        <a:ln>
                          <a:noFill/>
                        </a:ln>
                        <a:solidFill>
                          <a:schemeClr val="tx1"/>
                        </a:solidFill>
                        <a:effectLst/>
                        <a:latin typeface="Arial" panose="020B0604020202020204" pitchFamily="34" charset="0"/>
                      </a:endParaRPr>
                    </a:p>
                  </a:txBody>
                  <a:tcPr marL="2743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r>
              <a:tr h="441657">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250" b="0" i="0" u="none" strike="noStrike" cap="none" normalizeH="0" baseline="0" dirty="0">
                          <a:ln>
                            <a:noFill/>
                          </a:ln>
                          <a:solidFill>
                            <a:schemeClr val="tx1"/>
                          </a:solidFill>
                          <a:effectLst/>
                          <a:latin typeface="Arial" panose="020B0604020202020204" pitchFamily="34" charset="0"/>
                        </a:rPr>
                        <a:t>西班牙</a:t>
                      </a:r>
                      <a:endParaRPr kumimoji="0" lang="en-US" sz="2250" b="0" i="0" u="none" strike="noStrike" cap="none" normalizeH="0" baseline="0" dirty="0">
                        <a:ln>
                          <a:noFill/>
                        </a:ln>
                        <a:solidFill>
                          <a:schemeClr val="tx1"/>
                        </a:solidFill>
                        <a:effectLst/>
                        <a:latin typeface="Arial" panose="020B0604020202020204" pitchFamily="34" charset="0"/>
                      </a:endParaRPr>
                    </a:p>
                  </a:txBody>
                  <a:tcPr marL="1828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250" b="0" i="0" u="none" strike="noStrike" cap="none" normalizeH="0" baseline="0" dirty="0">
                          <a:ln>
                            <a:noFill/>
                          </a:ln>
                          <a:solidFill>
                            <a:schemeClr val="tx1"/>
                          </a:solidFill>
                          <a:effectLst/>
                          <a:latin typeface="Arial" panose="020B0604020202020204" pitchFamily="34" charset="0"/>
                        </a:rPr>
                        <a:t>32</a:t>
                      </a:r>
                      <a:endParaRPr kumimoji="0" lang="en-US" sz="2250" b="0" i="0" u="none" strike="noStrike" cap="none" normalizeH="0" baseline="0" dirty="0">
                        <a:ln>
                          <a:noFill/>
                        </a:ln>
                        <a:solidFill>
                          <a:schemeClr val="tx1"/>
                        </a:solidFill>
                        <a:effectLst/>
                        <a:latin typeface="Arial" panose="020B0604020202020204" pitchFamily="34" charset="0"/>
                      </a:endParaRPr>
                    </a:p>
                  </a:txBody>
                  <a:tcPr marL="2743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r>
              <a:tr h="441657">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250" b="0" i="0" u="none" strike="noStrike" cap="none" normalizeH="0" baseline="0" dirty="0">
                          <a:ln>
                            <a:noFill/>
                          </a:ln>
                          <a:solidFill>
                            <a:schemeClr val="tx1"/>
                          </a:solidFill>
                          <a:effectLst/>
                          <a:latin typeface="Arial" panose="020B0604020202020204" pitchFamily="34" charset="0"/>
                        </a:rPr>
                        <a:t>加拿大</a:t>
                      </a:r>
                      <a:endParaRPr kumimoji="0" lang="en-US" sz="2250" b="0" i="0" u="none" strike="noStrike" cap="none" normalizeH="0" baseline="0" dirty="0">
                        <a:ln>
                          <a:noFill/>
                        </a:ln>
                        <a:solidFill>
                          <a:schemeClr val="tx1"/>
                        </a:solidFill>
                        <a:effectLst/>
                        <a:latin typeface="Arial" panose="020B0604020202020204" pitchFamily="34" charset="0"/>
                      </a:endParaRPr>
                    </a:p>
                  </a:txBody>
                  <a:tcPr marL="1828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250" b="0" i="0" u="none" strike="noStrike" cap="none" normalizeH="0" baseline="0" dirty="0">
                          <a:ln>
                            <a:noFill/>
                          </a:ln>
                          <a:solidFill>
                            <a:schemeClr val="tx1"/>
                          </a:solidFill>
                          <a:effectLst/>
                          <a:latin typeface="Arial" panose="020B0604020202020204" pitchFamily="34" charset="0"/>
                        </a:rPr>
                        <a:t>31</a:t>
                      </a:r>
                      <a:endParaRPr kumimoji="0" lang="en-US" sz="2250" b="0" i="0" u="none" strike="noStrike" cap="none" normalizeH="0" baseline="0" dirty="0">
                        <a:ln>
                          <a:noFill/>
                        </a:ln>
                        <a:solidFill>
                          <a:schemeClr val="tx1"/>
                        </a:solidFill>
                        <a:effectLst/>
                        <a:latin typeface="Arial" panose="020B0604020202020204" pitchFamily="34" charset="0"/>
                      </a:endParaRPr>
                    </a:p>
                  </a:txBody>
                  <a:tcPr marL="2743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r>
              <a:tr h="441657">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250" b="0" i="0" u="none" strike="noStrike" cap="none" normalizeH="0" baseline="0" dirty="0">
                          <a:ln>
                            <a:noFill/>
                          </a:ln>
                          <a:solidFill>
                            <a:schemeClr val="tx1"/>
                          </a:solidFill>
                          <a:effectLst/>
                          <a:latin typeface="Arial" panose="020B0604020202020204" pitchFamily="34" charset="0"/>
                        </a:rPr>
                        <a:t>希腊</a:t>
                      </a:r>
                      <a:endParaRPr kumimoji="0" lang="en-US" sz="2250" b="0" i="0" u="none" strike="noStrike" cap="none" normalizeH="0" baseline="0" dirty="0">
                        <a:ln>
                          <a:noFill/>
                        </a:ln>
                        <a:solidFill>
                          <a:schemeClr val="tx1"/>
                        </a:solidFill>
                        <a:effectLst/>
                        <a:latin typeface="Arial" panose="020B0604020202020204" pitchFamily="34" charset="0"/>
                      </a:endParaRPr>
                    </a:p>
                  </a:txBody>
                  <a:tcPr marL="1828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250" b="0" i="0" u="none" strike="noStrike" cap="none" normalizeH="0" baseline="0" dirty="0">
                          <a:ln>
                            <a:noFill/>
                          </a:ln>
                          <a:solidFill>
                            <a:schemeClr val="tx1"/>
                          </a:solidFill>
                          <a:effectLst/>
                          <a:latin typeface="Arial" panose="020B0604020202020204" pitchFamily="34" charset="0"/>
                        </a:rPr>
                        <a:t>31</a:t>
                      </a:r>
                      <a:endParaRPr kumimoji="0" lang="en-US" sz="2250" b="0" i="0" u="none" strike="noStrike" cap="none" normalizeH="0" baseline="0" dirty="0">
                        <a:ln>
                          <a:noFill/>
                        </a:ln>
                        <a:solidFill>
                          <a:schemeClr val="tx1"/>
                        </a:solidFill>
                        <a:effectLst/>
                        <a:latin typeface="Arial" panose="020B0604020202020204" pitchFamily="34" charset="0"/>
                      </a:endParaRPr>
                    </a:p>
                  </a:txBody>
                  <a:tcPr marL="2743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r>
              <a:tr h="441657">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250" b="0" i="0" u="none" strike="noStrike" cap="none" normalizeH="0" baseline="0" dirty="0">
                          <a:ln>
                            <a:noFill/>
                          </a:ln>
                          <a:solidFill>
                            <a:schemeClr val="tx1"/>
                          </a:solidFill>
                          <a:effectLst/>
                          <a:latin typeface="Arial" panose="020B0604020202020204" pitchFamily="34" charset="0"/>
                        </a:rPr>
                        <a:t>日本</a:t>
                      </a:r>
                      <a:endParaRPr kumimoji="0" lang="en-US" sz="2250" b="0" i="0" u="none" strike="noStrike" cap="none" normalizeH="0" baseline="0" dirty="0">
                        <a:ln>
                          <a:noFill/>
                        </a:ln>
                        <a:solidFill>
                          <a:schemeClr val="tx1"/>
                        </a:solidFill>
                        <a:effectLst/>
                        <a:latin typeface="Arial" panose="020B0604020202020204" pitchFamily="34" charset="0"/>
                      </a:endParaRPr>
                    </a:p>
                  </a:txBody>
                  <a:tcPr marL="1828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250" b="0" i="0" u="none" strike="noStrike" cap="none" normalizeH="0" baseline="0" dirty="0">
                          <a:ln>
                            <a:noFill/>
                          </a:ln>
                          <a:solidFill>
                            <a:schemeClr val="tx1"/>
                          </a:solidFill>
                          <a:effectLst/>
                          <a:latin typeface="Arial" panose="020B0604020202020204" pitchFamily="34" charset="0"/>
                        </a:rPr>
                        <a:t>28</a:t>
                      </a:r>
                      <a:endParaRPr kumimoji="0" lang="en-US" sz="2250" b="0" i="0" u="none" strike="noStrike" cap="none" normalizeH="0" baseline="0" dirty="0">
                        <a:ln>
                          <a:noFill/>
                        </a:ln>
                        <a:solidFill>
                          <a:schemeClr val="tx1"/>
                        </a:solidFill>
                        <a:effectLst/>
                        <a:latin typeface="Arial" panose="020B0604020202020204" pitchFamily="34" charset="0"/>
                      </a:endParaRPr>
                    </a:p>
                  </a:txBody>
                  <a:tcPr marL="2743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r>
              <a:tr h="441657">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250" b="0" i="0" u="none" strike="noStrike" cap="none" normalizeH="0" baseline="0" dirty="0">
                          <a:ln>
                            <a:noFill/>
                          </a:ln>
                          <a:solidFill>
                            <a:schemeClr val="tx1"/>
                          </a:solidFill>
                          <a:effectLst/>
                          <a:latin typeface="Arial" panose="020B0604020202020204" pitchFamily="34" charset="0"/>
                        </a:rPr>
                        <a:t>澳大利亚</a:t>
                      </a:r>
                      <a:endParaRPr kumimoji="0" lang="en-US" sz="2250" b="0" i="0" u="none" strike="noStrike" cap="none" normalizeH="0" baseline="0" dirty="0">
                        <a:ln>
                          <a:noFill/>
                        </a:ln>
                        <a:solidFill>
                          <a:schemeClr val="tx1"/>
                        </a:solidFill>
                        <a:effectLst/>
                        <a:latin typeface="Arial" panose="020B0604020202020204" pitchFamily="34" charset="0"/>
                      </a:endParaRPr>
                    </a:p>
                  </a:txBody>
                  <a:tcPr marL="1828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250" b="0" i="0" u="none" strike="noStrike" cap="none" normalizeH="0" baseline="0" dirty="0">
                          <a:ln>
                            <a:noFill/>
                          </a:ln>
                          <a:solidFill>
                            <a:schemeClr val="tx1"/>
                          </a:solidFill>
                          <a:effectLst/>
                          <a:latin typeface="Arial" panose="020B0604020202020204" pitchFamily="34" charset="0"/>
                        </a:rPr>
                        <a:t>26</a:t>
                      </a:r>
                      <a:endParaRPr kumimoji="0" lang="en-US" sz="2250" b="0" i="0" u="none" strike="noStrike" cap="none" normalizeH="0" baseline="0" dirty="0">
                        <a:ln>
                          <a:noFill/>
                        </a:ln>
                        <a:solidFill>
                          <a:schemeClr val="tx1"/>
                        </a:solidFill>
                        <a:effectLst/>
                        <a:latin typeface="Arial" panose="020B0604020202020204" pitchFamily="34" charset="0"/>
                      </a:endParaRPr>
                    </a:p>
                  </a:txBody>
                  <a:tcPr marL="2743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r>
              <a:tr h="441657">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250" b="0" i="0" u="none" strike="noStrike" cap="none" normalizeH="0" baseline="0" dirty="0">
                          <a:ln>
                            <a:noFill/>
                          </a:ln>
                          <a:solidFill>
                            <a:schemeClr val="tx1"/>
                          </a:solidFill>
                          <a:effectLst/>
                          <a:latin typeface="Arial" panose="020B0604020202020204" pitchFamily="34" charset="0"/>
                        </a:rPr>
                        <a:t>美国</a:t>
                      </a:r>
                      <a:endParaRPr kumimoji="0" lang="en-US" sz="2250" b="0" i="0" u="none" strike="noStrike" cap="none" normalizeH="0" baseline="0" dirty="0">
                        <a:ln>
                          <a:noFill/>
                        </a:ln>
                        <a:solidFill>
                          <a:schemeClr val="tx1"/>
                        </a:solidFill>
                        <a:effectLst/>
                        <a:latin typeface="Arial" panose="020B0604020202020204" pitchFamily="34" charset="0"/>
                      </a:endParaRPr>
                    </a:p>
                  </a:txBody>
                  <a:tcPr marL="1828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250" b="0" i="0" u="none" strike="noStrike" cap="none" normalizeH="0" baseline="0" dirty="0">
                          <a:ln>
                            <a:noFill/>
                          </a:ln>
                          <a:solidFill>
                            <a:schemeClr val="tx1"/>
                          </a:solidFill>
                          <a:effectLst/>
                          <a:latin typeface="Arial" panose="020B0604020202020204" pitchFamily="34" charset="0"/>
                        </a:rPr>
                        <a:t>25</a:t>
                      </a:r>
                      <a:endParaRPr kumimoji="0" lang="en-US" sz="2250" b="0" i="0" u="none" strike="noStrike" cap="none" normalizeH="0" baseline="0" dirty="0">
                        <a:ln>
                          <a:noFill/>
                        </a:ln>
                        <a:solidFill>
                          <a:schemeClr val="tx1"/>
                        </a:solidFill>
                        <a:effectLst/>
                        <a:latin typeface="Arial" panose="020B0604020202020204" pitchFamily="34" charset="0"/>
                      </a:endParaRPr>
                    </a:p>
                  </a:txBody>
                  <a:tcPr marL="2743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r>
              <a:tr h="441657">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250" b="0" i="0" u="none" strike="noStrike" cap="none" normalizeH="0" baseline="0" dirty="0">
                          <a:ln>
                            <a:noFill/>
                          </a:ln>
                          <a:solidFill>
                            <a:schemeClr val="tx1"/>
                          </a:solidFill>
                          <a:effectLst/>
                          <a:latin typeface="Arial" panose="020B0604020202020204" pitchFamily="34" charset="0"/>
                        </a:rPr>
                        <a:t>智利</a:t>
                      </a:r>
                      <a:endParaRPr kumimoji="0" lang="en-US" sz="2250" b="0" i="0" u="none" strike="noStrike" cap="none" normalizeH="0" baseline="0" dirty="0">
                        <a:ln>
                          <a:noFill/>
                        </a:ln>
                        <a:solidFill>
                          <a:schemeClr val="tx1"/>
                        </a:solidFill>
                        <a:effectLst/>
                        <a:latin typeface="Arial" panose="020B0604020202020204" pitchFamily="34" charset="0"/>
                      </a:endParaRPr>
                    </a:p>
                  </a:txBody>
                  <a:tcPr marL="1828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250" b="0" i="0" u="none" strike="noStrike" cap="none" normalizeH="0" baseline="0" dirty="0">
                          <a:ln>
                            <a:noFill/>
                          </a:ln>
                          <a:solidFill>
                            <a:schemeClr val="tx1"/>
                          </a:solidFill>
                          <a:effectLst/>
                          <a:latin typeface="Arial" panose="020B0604020202020204" pitchFamily="34" charset="0"/>
                        </a:rPr>
                        <a:t>21</a:t>
                      </a:r>
                      <a:endParaRPr kumimoji="0" lang="en-US" sz="2250" b="0" i="0" u="none" strike="noStrike" cap="none" normalizeH="0" baseline="0" dirty="0">
                        <a:ln>
                          <a:noFill/>
                        </a:ln>
                        <a:solidFill>
                          <a:schemeClr val="tx1"/>
                        </a:solidFill>
                        <a:effectLst/>
                        <a:latin typeface="Arial" panose="020B0604020202020204" pitchFamily="34" charset="0"/>
                      </a:endParaRPr>
                    </a:p>
                  </a:txBody>
                  <a:tcPr marL="2743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r>
              <a:tr h="441657">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250" b="0" i="0" u="none" strike="noStrike" cap="none" normalizeH="0" baseline="0" dirty="0">
                          <a:ln>
                            <a:noFill/>
                          </a:ln>
                          <a:solidFill>
                            <a:schemeClr val="tx1"/>
                          </a:solidFill>
                          <a:effectLst/>
                          <a:latin typeface="Arial" panose="020B0604020202020204" pitchFamily="34" charset="0"/>
                        </a:rPr>
                        <a:t>墨西哥</a:t>
                      </a:r>
                      <a:endParaRPr kumimoji="0" lang="en-US" sz="2250" b="0" i="0" u="none" strike="noStrike" cap="none" normalizeH="0" baseline="0" dirty="0">
                        <a:ln>
                          <a:noFill/>
                        </a:ln>
                        <a:solidFill>
                          <a:schemeClr val="tx1"/>
                        </a:solidFill>
                        <a:effectLst/>
                        <a:latin typeface="Arial" panose="020B0604020202020204" pitchFamily="34" charset="0"/>
                      </a:endParaRPr>
                    </a:p>
                  </a:txBody>
                  <a:tcPr marL="1828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c>
                  <a:txBody>
                    <a:body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250" b="0" i="0" u="none" strike="noStrike" cap="none" normalizeH="0" baseline="0" dirty="0">
                          <a:ln>
                            <a:noFill/>
                          </a:ln>
                          <a:solidFill>
                            <a:schemeClr val="tx1"/>
                          </a:solidFill>
                          <a:effectLst/>
                          <a:latin typeface="Arial" panose="020B0604020202020204" pitchFamily="34" charset="0"/>
                        </a:rPr>
                        <a:t>20</a:t>
                      </a:r>
                      <a:endParaRPr kumimoji="0" lang="en-US" sz="2250" b="0" i="0" u="none" strike="noStrike" cap="none" normalizeH="0" baseline="0" dirty="0">
                        <a:ln>
                          <a:noFill/>
                        </a:ln>
                        <a:solidFill>
                          <a:schemeClr val="tx1"/>
                        </a:solidFill>
                        <a:effectLst/>
                        <a:latin typeface="Arial" panose="020B0604020202020204" pitchFamily="34" charset="0"/>
                      </a:endParaRPr>
                    </a:p>
                  </a:txBody>
                  <a:tcPr marL="27432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CC"/>
                    </a:solidFill>
                  </a:tcPr>
                </a:tc>
              </a:tr>
            </a:tbl>
          </a:graphicData>
        </a:graphic>
      </p:graphicFrame>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2" name="Group 183"/>
          <p:cNvGraphicFramePr/>
          <p:nvPr/>
        </p:nvGraphicFramePr>
        <p:xfrm>
          <a:off x="293688" y="1387747"/>
          <a:ext cx="8585200" cy="5294503"/>
        </p:xfrm>
        <a:graphic>
          <a:graphicData uri="http://schemas.openxmlformats.org/drawingml/2006/table">
            <a:tbl>
              <a:tblPr/>
              <a:tblGrid>
                <a:gridCol w="3352800"/>
                <a:gridCol w="1531937"/>
                <a:gridCol w="1887538"/>
                <a:gridCol w="1812925"/>
              </a:tblGrid>
              <a:tr h="1011238">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Arial" panose="020B0604020202020204" pitchFamily="34" charset="0"/>
                        </a:rPr>
                        <a:t>税收</a:t>
                      </a:r>
                      <a:endParaRPr kumimoji="0" lang="en-US" sz="2400" b="0" i="0" u="none" strike="noStrike" cap="none" normalizeH="0" baseline="0" dirty="0">
                        <a:ln>
                          <a:noFill/>
                        </a:ln>
                        <a:solidFill>
                          <a:schemeClr val="tx1"/>
                        </a:solidFill>
                        <a:effectLst/>
                        <a:latin typeface="Arial" panose="020B0604020202020204" pitchFamily="34" charset="0"/>
                      </a:endParaRP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Arial" panose="020B0604020202020204" pitchFamily="34" charset="0"/>
                        </a:rPr>
                        <a:t>金额</a:t>
                      </a:r>
                      <a:r>
                        <a:rPr kumimoji="0" lang="en-US" sz="2400" b="0" i="0" u="none" strike="noStrike" cap="none" normalizeH="0" baseline="0" dirty="0">
                          <a:ln>
                            <a:noFill/>
                          </a:ln>
                          <a:solidFill>
                            <a:schemeClr val="tx1"/>
                          </a:solidFill>
                          <a:effectLst/>
                          <a:latin typeface="Arial" panose="020B0604020202020204" pitchFamily="34" charset="0"/>
                        </a:rPr>
                        <a:t> </a:t>
                      </a:r>
                      <a:endParaRPr kumimoji="0" lang="en-US" sz="24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dirty="0">
                          <a:ln>
                            <a:noFill/>
                          </a:ln>
                          <a:solidFill>
                            <a:schemeClr val="tx1"/>
                          </a:solidFill>
                          <a:effectLst/>
                          <a:latin typeface="Arial" panose="020B0604020202020204" pitchFamily="34" charset="0"/>
                        </a:rPr>
                        <a:t>(</a:t>
                      </a:r>
                      <a:r>
                        <a:rPr kumimoji="0" lang="zh-CN" altLang="en-US" sz="2400" b="0" i="0" u="none" strike="noStrike" cap="none" normalizeH="0" baseline="0" dirty="0">
                          <a:ln>
                            <a:noFill/>
                          </a:ln>
                          <a:solidFill>
                            <a:schemeClr val="tx1"/>
                          </a:solidFill>
                          <a:effectLst/>
                          <a:latin typeface="Arial" panose="020B0604020202020204" pitchFamily="34" charset="0"/>
                        </a:rPr>
                        <a:t>十亿</a:t>
                      </a:r>
                      <a:r>
                        <a:rPr kumimoji="0" lang="en-US" sz="2400" b="0" i="0" u="none" strike="noStrike" cap="none" normalizeH="0" baseline="0" dirty="0">
                          <a:ln>
                            <a:noFill/>
                          </a:ln>
                          <a:solidFill>
                            <a:schemeClr val="tx1"/>
                          </a:solidFill>
                          <a:effectLst/>
                          <a:latin typeface="Arial" panose="020B0604020202020204" pitchFamily="34" charset="0"/>
                        </a:rPr>
                        <a:t>)</a:t>
                      </a:r>
                      <a:endParaRPr kumimoji="0" lang="en-US" sz="2400" b="0" i="0" u="none" strike="noStrike" cap="none" normalizeH="0" baseline="0" dirty="0">
                        <a:ln>
                          <a:noFill/>
                        </a:ln>
                        <a:solidFill>
                          <a:schemeClr val="tx1"/>
                        </a:solidFill>
                        <a:effectLst/>
                        <a:latin typeface="Arial" panose="020B0604020202020204" pitchFamily="34" charset="0"/>
                      </a:endParaRP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Arial" panose="020B0604020202020204" pitchFamily="34" charset="0"/>
                        </a:rPr>
                        <a:t>人均</a:t>
                      </a:r>
                      <a:endParaRPr kumimoji="0" lang="en-US" sz="2400" b="0" i="0" u="none" strike="noStrike" cap="none" normalizeH="0" baseline="0" dirty="0">
                        <a:ln>
                          <a:noFill/>
                        </a:ln>
                        <a:solidFill>
                          <a:schemeClr val="tx1"/>
                        </a:solidFill>
                        <a:effectLst/>
                        <a:latin typeface="Arial" panose="020B0604020202020204" pitchFamily="34" charset="0"/>
                      </a:endParaRP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Arial" panose="020B0604020202020204" pitchFamily="34" charset="0"/>
                        </a:rPr>
                        <a:t>百分比</a:t>
                      </a:r>
                      <a:endParaRPr kumimoji="0" lang="en-US" sz="2400" b="0" i="0" u="none" strike="noStrike" cap="none" normalizeH="0" baseline="0" dirty="0">
                        <a:ln>
                          <a:noFill/>
                        </a:ln>
                        <a:solidFill>
                          <a:schemeClr val="tx1"/>
                        </a:solidFill>
                        <a:effectLst/>
                        <a:latin typeface="Arial" panose="020B0604020202020204" pitchFamily="34" charset="0"/>
                      </a:endParaRP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r>
              <a:tr h="854075">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Arial" panose="020B0604020202020204" pitchFamily="34" charset="0"/>
                        </a:rPr>
                        <a:t>个人所得税</a:t>
                      </a:r>
                      <a:endParaRPr kumimoji="0" lang="en-US" sz="2400" b="0" i="0" u="none" strike="noStrike" cap="none" normalizeH="0" baseline="0" dirty="0">
                        <a:ln>
                          <a:noFill/>
                        </a:ln>
                        <a:solidFill>
                          <a:schemeClr val="tx1"/>
                        </a:solidFill>
                        <a:effectLst/>
                        <a:latin typeface="Arial" panose="020B0604020202020204" pitchFamily="34" charset="0"/>
                      </a:endParaRP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dirty="0">
                          <a:ln>
                            <a:noFill/>
                          </a:ln>
                          <a:solidFill>
                            <a:schemeClr val="tx1"/>
                          </a:solidFill>
                          <a:effectLst/>
                          <a:latin typeface="Arial" panose="020B0604020202020204" pitchFamily="34" charset="0"/>
                        </a:rPr>
                        <a:t>$  1,123</a:t>
                      </a:r>
                      <a:endParaRPr kumimoji="0" lang="en-US" sz="2400" b="0" i="0" u="none" strike="noStrike" cap="none" normalizeH="0" baseline="0" dirty="0">
                        <a:ln>
                          <a:noFill/>
                        </a:ln>
                        <a:solidFill>
                          <a:schemeClr val="tx1"/>
                        </a:solidFill>
                        <a:effectLst/>
                        <a:latin typeface="Arial" panose="020B0604020202020204" pitchFamily="34" charset="0"/>
                      </a:endParaRPr>
                    </a:p>
                  </a:txBody>
                  <a:tcPr marR="2743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dirty="0">
                          <a:ln>
                            <a:noFill/>
                          </a:ln>
                          <a:solidFill>
                            <a:schemeClr val="tx1"/>
                          </a:solidFill>
                          <a:effectLst/>
                          <a:latin typeface="Arial" panose="020B0604020202020204" pitchFamily="34" charset="0"/>
                        </a:rPr>
                        <a:t>$3,587</a:t>
                      </a:r>
                      <a:endParaRPr kumimoji="0" lang="en-US" sz="2400" b="0" i="0" u="none" strike="noStrike" cap="none" normalizeH="0" baseline="0" dirty="0">
                        <a:ln>
                          <a:noFill/>
                        </a:ln>
                        <a:solidFill>
                          <a:schemeClr val="tx1"/>
                        </a:solidFill>
                        <a:effectLst/>
                        <a:latin typeface="Arial" panose="020B0604020202020204" pitchFamily="34" charset="0"/>
                      </a:endParaRPr>
                    </a:p>
                  </a:txBody>
                  <a:tcPr marR="2743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dirty="0">
                          <a:ln>
                            <a:noFill/>
                          </a:ln>
                          <a:solidFill>
                            <a:schemeClr val="tx1"/>
                          </a:solidFill>
                          <a:effectLst/>
                          <a:latin typeface="Arial" panose="020B0604020202020204" pitchFamily="34" charset="0"/>
                        </a:rPr>
                        <a:t>42.2%</a:t>
                      </a:r>
                      <a:endParaRPr kumimoji="0" lang="en-US" sz="2400" b="0" i="0" u="none" strike="noStrike" cap="none" normalizeH="0" baseline="0" dirty="0">
                        <a:ln>
                          <a:noFill/>
                        </a:ln>
                        <a:solidFill>
                          <a:schemeClr val="tx1"/>
                        </a:solidFill>
                        <a:effectLst/>
                        <a:latin typeface="Arial" panose="020B0604020202020204" pitchFamily="34" charset="0"/>
                      </a:endParaRPr>
                    </a:p>
                  </a:txBody>
                  <a:tcPr marR="2743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r>
              <a:tr h="854075">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Arial" panose="020B0604020202020204" pitchFamily="34" charset="0"/>
                        </a:rPr>
                        <a:t>社会保险税</a:t>
                      </a:r>
                      <a:endParaRPr kumimoji="0" lang="en-US" sz="2400" b="0" i="0" u="none" strike="noStrike" cap="none" normalizeH="0" baseline="0" dirty="0">
                        <a:ln>
                          <a:noFill/>
                        </a:ln>
                        <a:solidFill>
                          <a:schemeClr val="tx1"/>
                        </a:solidFill>
                        <a:effectLst/>
                        <a:latin typeface="Arial" panose="020B0604020202020204" pitchFamily="34" charset="0"/>
                      </a:endParaRP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dirty="0">
                          <a:ln>
                            <a:noFill/>
                          </a:ln>
                          <a:solidFill>
                            <a:schemeClr val="tx1"/>
                          </a:solidFill>
                          <a:effectLst/>
                          <a:latin typeface="Arial" panose="020B0604020202020204" pitchFamily="34" charset="0"/>
                        </a:rPr>
                        <a:t>928</a:t>
                      </a:r>
                      <a:endParaRPr kumimoji="0" lang="en-US" sz="2400" b="0" i="0" u="none" strike="noStrike" cap="none" normalizeH="0" baseline="0" dirty="0">
                        <a:ln>
                          <a:noFill/>
                        </a:ln>
                        <a:solidFill>
                          <a:schemeClr val="tx1"/>
                        </a:solidFill>
                        <a:effectLst/>
                        <a:latin typeface="Arial" panose="020B0604020202020204" pitchFamily="34" charset="0"/>
                      </a:endParaRPr>
                    </a:p>
                  </a:txBody>
                  <a:tcPr marR="2743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dirty="0">
                          <a:ln>
                            <a:noFill/>
                          </a:ln>
                          <a:solidFill>
                            <a:schemeClr val="tx1"/>
                          </a:solidFill>
                          <a:effectLst/>
                          <a:latin typeface="Arial" panose="020B0604020202020204" pitchFamily="34" charset="0"/>
                        </a:rPr>
                        <a:t>2,965</a:t>
                      </a:r>
                      <a:endParaRPr kumimoji="0" lang="en-US" sz="2400" b="0" i="0" u="none" strike="noStrike" cap="none" normalizeH="0" baseline="0" dirty="0">
                        <a:ln>
                          <a:noFill/>
                        </a:ln>
                        <a:solidFill>
                          <a:schemeClr val="tx1"/>
                        </a:solidFill>
                        <a:effectLst/>
                        <a:latin typeface="Arial" panose="020B0604020202020204" pitchFamily="34" charset="0"/>
                      </a:endParaRPr>
                    </a:p>
                  </a:txBody>
                  <a:tcPr marR="2743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dirty="0">
                          <a:ln>
                            <a:noFill/>
                          </a:ln>
                          <a:solidFill>
                            <a:schemeClr val="tx1"/>
                          </a:solidFill>
                          <a:effectLst/>
                          <a:latin typeface="Arial" panose="020B0604020202020204" pitchFamily="34" charset="0"/>
                        </a:rPr>
                        <a:t>34.9</a:t>
                      </a:r>
                      <a:endParaRPr kumimoji="0" lang="en-US" sz="2400" b="0" i="0" u="none" strike="noStrike" cap="none" normalizeH="0" baseline="0" dirty="0">
                        <a:ln>
                          <a:noFill/>
                        </a:ln>
                        <a:solidFill>
                          <a:schemeClr val="tx1"/>
                        </a:solidFill>
                        <a:effectLst/>
                        <a:latin typeface="Arial" panose="020B0604020202020204" pitchFamily="34" charset="0"/>
                      </a:endParaRPr>
                    </a:p>
                  </a:txBody>
                  <a:tcPr marR="4572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r>
              <a:tr h="854075">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Arial" panose="020B0604020202020204" pitchFamily="34" charset="0"/>
                        </a:rPr>
                        <a:t>企业所得税</a:t>
                      </a:r>
                      <a:endParaRPr kumimoji="0" lang="en-US" sz="2400" b="0" i="0" u="none" strike="noStrike" cap="none" normalizeH="0" baseline="0" dirty="0">
                        <a:ln>
                          <a:noFill/>
                        </a:ln>
                        <a:solidFill>
                          <a:schemeClr val="tx1"/>
                        </a:solidFill>
                        <a:effectLst/>
                        <a:latin typeface="Arial" panose="020B0604020202020204" pitchFamily="34" charset="0"/>
                      </a:endParaRP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dirty="0">
                          <a:ln>
                            <a:noFill/>
                          </a:ln>
                          <a:solidFill>
                            <a:schemeClr val="tx1"/>
                          </a:solidFill>
                          <a:effectLst/>
                          <a:latin typeface="Arial" panose="020B0604020202020204" pitchFamily="34" charset="0"/>
                        </a:rPr>
                        <a:t>376</a:t>
                      </a:r>
                      <a:endParaRPr kumimoji="0" lang="en-US" sz="2400" b="0" i="0" u="none" strike="noStrike" cap="none" normalizeH="0" baseline="0" dirty="0">
                        <a:ln>
                          <a:noFill/>
                        </a:ln>
                        <a:solidFill>
                          <a:schemeClr val="tx1"/>
                        </a:solidFill>
                        <a:effectLst/>
                        <a:latin typeface="Arial" panose="020B0604020202020204" pitchFamily="34" charset="0"/>
                      </a:endParaRPr>
                    </a:p>
                  </a:txBody>
                  <a:tcPr marR="2743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dirty="0">
                          <a:ln>
                            <a:noFill/>
                          </a:ln>
                          <a:solidFill>
                            <a:schemeClr val="tx1"/>
                          </a:solidFill>
                          <a:effectLst/>
                          <a:latin typeface="Arial" panose="020B0604020202020204" pitchFamily="34" charset="0"/>
                        </a:rPr>
                        <a:t>1,200</a:t>
                      </a:r>
                      <a:endParaRPr kumimoji="0" lang="en-US" sz="2400" b="0" i="0" u="none" strike="noStrike" cap="none" normalizeH="0" baseline="0" dirty="0">
                        <a:ln>
                          <a:noFill/>
                        </a:ln>
                        <a:solidFill>
                          <a:schemeClr val="tx1"/>
                        </a:solidFill>
                        <a:effectLst/>
                        <a:latin typeface="Arial" panose="020B0604020202020204" pitchFamily="34" charset="0"/>
                      </a:endParaRPr>
                    </a:p>
                  </a:txBody>
                  <a:tcPr marR="2743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dirty="0">
                          <a:ln>
                            <a:noFill/>
                          </a:ln>
                          <a:solidFill>
                            <a:schemeClr val="tx1"/>
                          </a:solidFill>
                          <a:effectLst/>
                          <a:latin typeface="Arial" panose="020B0604020202020204" pitchFamily="34" charset="0"/>
                        </a:rPr>
                        <a:t>14.1</a:t>
                      </a:r>
                      <a:endParaRPr kumimoji="0" lang="en-US" sz="2400" b="0" i="0" u="none" strike="noStrike" cap="none" normalizeH="0" baseline="0" dirty="0">
                        <a:ln>
                          <a:noFill/>
                        </a:ln>
                        <a:solidFill>
                          <a:schemeClr val="tx1"/>
                        </a:solidFill>
                        <a:effectLst/>
                        <a:latin typeface="Arial" panose="020B0604020202020204" pitchFamily="34" charset="0"/>
                      </a:endParaRPr>
                    </a:p>
                  </a:txBody>
                  <a:tcPr marR="4572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r>
              <a:tr h="854075">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Arial" panose="020B0604020202020204" pitchFamily="34" charset="0"/>
                        </a:rPr>
                        <a:t>其他</a:t>
                      </a:r>
                      <a:endParaRPr kumimoji="0" lang="en-US" sz="2400" b="0" i="0" u="none" strike="noStrike" cap="none" normalizeH="0" baseline="0" dirty="0">
                        <a:ln>
                          <a:noFill/>
                        </a:ln>
                        <a:solidFill>
                          <a:schemeClr val="tx1"/>
                        </a:solidFill>
                        <a:effectLst/>
                        <a:latin typeface="Arial" panose="020B0604020202020204" pitchFamily="34" charset="0"/>
                      </a:endParaRP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dirty="0">
                          <a:ln>
                            <a:noFill/>
                          </a:ln>
                          <a:solidFill>
                            <a:schemeClr val="tx1"/>
                          </a:solidFill>
                          <a:effectLst/>
                          <a:latin typeface="Arial" panose="020B0604020202020204" pitchFamily="34" charset="0"/>
                        </a:rPr>
                        <a:t>235</a:t>
                      </a:r>
                      <a:endParaRPr kumimoji="0" lang="en-US" sz="2400" b="0" i="0" u="none" strike="noStrike" cap="none" normalizeH="0" baseline="0" dirty="0">
                        <a:ln>
                          <a:noFill/>
                        </a:ln>
                        <a:solidFill>
                          <a:schemeClr val="tx1"/>
                        </a:solidFill>
                        <a:effectLst/>
                        <a:latin typeface="Arial" panose="020B0604020202020204" pitchFamily="34" charset="0"/>
                      </a:endParaRPr>
                    </a:p>
                  </a:txBody>
                  <a:tcPr marR="2743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dirty="0">
                          <a:ln>
                            <a:noFill/>
                          </a:ln>
                          <a:solidFill>
                            <a:schemeClr val="tx1"/>
                          </a:solidFill>
                          <a:effectLst/>
                          <a:latin typeface="Arial" panose="020B0604020202020204" pitchFamily="34" charset="0"/>
                        </a:rPr>
                        <a:t>751</a:t>
                      </a:r>
                      <a:endParaRPr kumimoji="0" lang="en-US" sz="2400" b="0" i="0" u="none" strike="noStrike" cap="none" normalizeH="0" baseline="0" dirty="0">
                        <a:ln>
                          <a:noFill/>
                        </a:ln>
                        <a:solidFill>
                          <a:schemeClr val="tx1"/>
                        </a:solidFill>
                        <a:effectLst/>
                        <a:latin typeface="Arial" panose="020B0604020202020204" pitchFamily="34" charset="0"/>
                      </a:endParaRPr>
                    </a:p>
                  </a:txBody>
                  <a:tcPr marR="2743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dirty="0">
                          <a:ln>
                            <a:noFill/>
                          </a:ln>
                          <a:solidFill>
                            <a:schemeClr val="tx1"/>
                          </a:solidFill>
                          <a:effectLst/>
                          <a:latin typeface="Arial" panose="020B0604020202020204" pitchFamily="34" charset="0"/>
                        </a:rPr>
                        <a:t> 8.8</a:t>
                      </a:r>
                      <a:endParaRPr kumimoji="0" lang="en-US" sz="2400" b="0" i="0" u="none" strike="noStrike" cap="none" normalizeH="0" baseline="0" dirty="0">
                        <a:ln>
                          <a:noFill/>
                        </a:ln>
                        <a:solidFill>
                          <a:schemeClr val="tx1"/>
                        </a:solidFill>
                        <a:effectLst/>
                        <a:latin typeface="Arial" panose="020B0604020202020204" pitchFamily="34" charset="0"/>
                      </a:endParaRPr>
                    </a:p>
                  </a:txBody>
                  <a:tcPr marR="4572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r>
              <a:tr h="854075">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400" b="1" i="0" u="none" strike="noStrike" cap="none" normalizeH="0" baseline="0" dirty="0">
                          <a:ln>
                            <a:noFill/>
                          </a:ln>
                          <a:solidFill>
                            <a:schemeClr val="tx1"/>
                          </a:solidFill>
                          <a:effectLst/>
                          <a:latin typeface="Arial" panose="020B0604020202020204" pitchFamily="34" charset="0"/>
                        </a:rPr>
                        <a:t>共计</a:t>
                      </a:r>
                      <a:endParaRPr kumimoji="0" lang="en-US" sz="2400" b="1" i="0" u="none" strike="noStrike" cap="none" normalizeH="0" baseline="0" dirty="0">
                        <a:ln>
                          <a:noFill/>
                        </a:ln>
                        <a:solidFill>
                          <a:schemeClr val="tx1"/>
                        </a:solidFill>
                        <a:effectLst/>
                        <a:latin typeface="Arial" panose="020B0604020202020204" pitchFamily="34" charset="0"/>
                      </a:endParaRP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1" i="0" u="none" strike="noStrike" cap="none" normalizeH="0" baseline="0" dirty="0">
                          <a:ln>
                            <a:noFill/>
                          </a:ln>
                          <a:solidFill>
                            <a:schemeClr val="tx1"/>
                          </a:solidFill>
                          <a:effectLst/>
                          <a:latin typeface="Arial" panose="020B0604020202020204" pitchFamily="34" charset="0"/>
                        </a:rPr>
                        <a:t>$2,662</a:t>
                      </a:r>
                      <a:endParaRPr kumimoji="0" lang="en-US" sz="2400" b="1" i="0" u="none" strike="noStrike" cap="none" normalizeH="0" baseline="0" dirty="0">
                        <a:ln>
                          <a:noFill/>
                        </a:ln>
                        <a:solidFill>
                          <a:schemeClr val="tx1"/>
                        </a:solidFill>
                        <a:effectLst/>
                        <a:latin typeface="Arial" panose="020B0604020202020204" pitchFamily="34" charset="0"/>
                      </a:endParaRPr>
                    </a:p>
                  </a:txBody>
                  <a:tcPr marR="2743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1" i="0" u="none" strike="noStrike" cap="none" normalizeH="0" baseline="0" dirty="0">
                          <a:ln>
                            <a:noFill/>
                          </a:ln>
                          <a:solidFill>
                            <a:schemeClr val="tx1"/>
                          </a:solidFill>
                          <a:effectLst/>
                          <a:latin typeface="Arial" panose="020B0604020202020204" pitchFamily="34" charset="0"/>
                        </a:rPr>
                        <a:t>$8,503</a:t>
                      </a:r>
                      <a:endParaRPr kumimoji="0" lang="en-US" sz="2400" b="1" i="0" u="none" strike="noStrike" cap="none" normalizeH="0" baseline="0" dirty="0">
                        <a:ln>
                          <a:noFill/>
                        </a:ln>
                        <a:solidFill>
                          <a:schemeClr val="tx1"/>
                        </a:solidFill>
                        <a:effectLst/>
                        <a:latin typeface="Arial" panose="020B0604020202020204" pitchFamily="34" charset="0"/>
                      </a:endParaRPr>
                    </a:p>
                  </a:txBody>
                  <a:tcPr marR="2743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1" i="0" u="none" strike="noStrike" cap="none" normalizeH="0" baseline="0" dirty="0">
                          <a:ln>
                            <a:noFill/>
                          </a:ln>
                          <a:solidFill>
                            <a:schemeClr val="tx1"/>
                          </a:solidFill>
                          <a:effectLst/>
                          <a:latin typeface="Arial" panose="020B0604020202020204" pitchFamily="34" charset="0"/>
                        </a:rPr>
                        <a:t>100.0%</a:t>
                      </a:r>
                      <a:endParaRPr kumimoji="0" lang="en-US" sz="2400" b="1" i="0" u="none" strike="noStrike" cap="none" normalizeH="0" baseline="0" dirty="0">
                        <a:ln>
                          <a:noFill/>
                        </a:ln>
                        <a:solidFill>
                          <a:schemeClr val="tx1"/>
                        </a:solidFill>
                        <a:effectLst/>
                        <a:latin typeface="Arial" panose="020B0604020202020204" pitchFamily="34" charset="0"/>
                      </a:endParaRPr>
                    </a:p>
                  </a:txBody>
                  <a:tcPr marR="2743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r>
            </a:tbl>
          </a:graphicData>
        </a:graphic>
      </p:graphicFrame>
      <p:sp>
        <p:nvSpPr>
          <p:cNvPr id="5" name="标题 1"/>
          <p:cNvSpPr>
            <a:spLocks noGrp="1"/>
          </p:cNvSpPr>
          <p:nvPr>
            <p:ph type="title"/>
          </p:nvPr>
        </p:nvSpPr>
        <p:spPr>
          <a:xfrm>
            <a:off x="395536" y="692696"/>
            <a:ext cx="6462464" cy="468027"/>
          </a:xfrm>
        </p:spPr>
        <p:txBody>
          <a:bodyPr>
            <a:noAutofit/>
          </a:bodyPr>
          <a:lstStyle/>
          <a:p>
            <a:r>
              <a:rPr lang="zh-CN" altLang="en-US" sz="3200" dirty="0">
                <a:ea typeface="华光中雅_CNKI" panose="02000500000000000000" pitchFamily="2" charset="-122"/>
              </a:rPr>
              <a:t>美国联邦政府2012年第一季度收入</a:t>
            </a:r>
            <a:endParaRPr lang="zh-CN" altLang="en-US" sz="3200" dirty="0">
              <a:ea typeface="华光中雅_CNKI" panose="02000500000000000000" pitchFamily="2" charset="-122"/>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标题 1"/>
          <p:cNvSpPr>
            <a:spLocks noGrp="1"/>
          </p:cNvSpPr>
          <p:nvPr>
            <p:ph type="title"/>
          </p:nvPr>
        </p:nvSpPr>
        <p:spPr>
          <a:xfrm>
            <a:off x="395536" y="692696"/>
            <a:ext cx="6462464" cy="468027"/>
          </a:xfrm>
        </p:spPr>
        <p:txBody>
          <a:bodyPr>
            <a:noAutofit/>
          </a:bodyPr>
          <a:lstStyle/>
          <a:p>
            <a:r>
              <a:rPr lang="zh-CN" altLang="en-US" sz="3200" dirty="0">
                <a:ea typeface="华光中雅_CNKI" panose="02000500000000000000" pitchFamily="2" charset="-122"/>
              </a:rPr>
              <a:t>州和地方政府</a:t>
            </a:r>
            <a:r>
              <a:rPr lang="en-US" altLang="zh-CN" sz="3200" dirty="0">
                <a:ea typeface="华光中雅_CNKI" panose="02000500000000000000" pitchFamily="2" charset="-122"/>
              </a:rPr>
              <a:t>2012</a:t>
            </a:r>
            <a:r>
              <a:rPr lang="zh-CN" altLang="en-US" sz="3200" dirty="0">
                <a:ea typeface="华光中雅_CNKI" panose="02000500000000000000" pitchFamily="2" charset="-122"/>
              </a:rPr>
              <a:t>年第一季度收入，</a:t>
            </a:r>
            <a:endParaRPr lang="zh-CN" altLang="en-US" sz="3200" dirty="0">
              <a:ea typeface="华光中雅_CNKI" panose="02000500000000000000" pitchFamily="2" charset="-122"/>
            </a:endParaRPr>
          </a:p>
        </p:txBody>
      </p:sp>
      <p:graphicFrame>
        <p:nvGraphicFramePr>
          <p:cNvPr id="3" name="Group 59"/>
          <p:cNvGraphicFramePr/>
          <p:nvPr/>
        </p:nvGraphicFramePr>
        <p:xfrm>
          <a:off x="293688" y="1563710"/>
          <a:ext cx="8585200" cy="4802380"/>
        </p:xfrm>
        <a:graphic>
          <a:graphicData uri="http://schemas.openxmlformats.org/drawingml/2006/table">
            <a:tbl>
              <a:tblPr/>
              <a:tblGrid>
                <a:gridCol w="3352800"/>
                <a:gridCol w="1531937"/>
                <a:gridCol w="1887538"/>
                <a:gridCol w="1812925"/>
              </a:tblGrid>
              <a:tr h="895350">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Arial" panose="020B0604020202020204" pitchFamily="34" charset="0"/>
                        </a:rPr>
                        <a:t>税收</a:t>
                      </a:r>
                      <a:endParaRPr kumimoji="0" lang="en-US" sz="2400" b="0" i="0" u="none" strike="noStrike" cap="none" normalizeH="0" baseline="0" dirty="0">
                        <a:ln>
                          <a:noFill/>
                        </a:ln>
                        <a:solidFill>
                          <a:schemeClr val="tx1"/>
                        </a:solidFill>
                        <a:effectLst/>
                        <a:latin typeface="Arial" panose="020B0604020202020204" pitchFamily="34" charset="0"/>
                      </a:endParaRP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Arial" panose="020B0604020202020204" pitchFamily="34" charset="0"/>
                        </a:rPr>
                        <a:t>金额</a:t>
                      </a:r>
                      <a:endParaRPr kumimoji="0" lang="en-US" altLang="zh-CN" sz="24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dirty="0">
                          <a:ln>
                            <a:noFill/>
                          </a:ln>
                          <a:solidFill>
                            <a:schemeClr val="tx1"/>
                          </a:solidFill>
                          <a:effectLst/>
                          <a:latin typeface="Arial" panose="020B0604020202020204" pitchFamily="34" charset="0"/>
                        </a:rPr>
                        <a:t> (</a:t>
                      </a:r>
                      <a:r>
                        <a:rPr kumimoji="0" lang="zh-CN" altLang="en-US" sz="2400" b="0" i="0" u="none" strike="noStrike" cap="none" normalizeH="0" baseline="0" dirty="0">
                          <a:ln>
                            <a:noFill/>
                          </a:ln>
                          <a:solidFill>
                            <a:schemeClr val="tx1"/>
                          </a:solidFill>
                          <a:effectLst/>
                          <a:latin typeface="Arial" panose="020B0604020202020204" pitchFamily="34" charset="0"/>
                        </a:rPr>
                        <a:t>十亿</a:t>
                      </a:r>
                      <a:r>
                        <a:rPr kumimoji="0" lang="en-US" sz="2400" b="0" i="0" u="none" strike="noStrike" cap="none" normalizeH="0" baseline="0" dirty="0">
                          <a:ln>
                            <a:noFill/>
                          </a:ln>
                          <a:solidFill>
                            <a:schemeClr val="tx1"/>
                          </a:solidFill>
                          <a:effectLst/>
                          <a:latin typeface="Arial" panose="020B0604020202020204" pitchFamily="34" charset="0"/>
                        </a:rPr>
                        <a:t>)</a:t>
                      </a:r>
                      <a:endParaRPr kumimoji="0" lang="en-US" sz="2400" b="0" i="0" u="none" strike="noStrike" cap="none" normalizeH="0" baseline="0" dirty="0">
                        <a:ln>
                          <a:noFill/>
                        </a:ln>
                        <a:solidFill>
                          <a:schemeClr val="tx1"/>
                        </a:solidFill>
                        <a:effectLst/>
                        <a:latin typeface="Arial" panose="020B0604020202020204" pitchFamily="34" charset="0"/>
                      </a:endParaRP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Arial" panose="020B0604020202020204" pitchFamily="34" charset="0"/>
                        </a:rPr>
                        <a:t>人均</a:t>
                      </a:r>
                      <a:endParaRPr kumimoji="0" lang="en-US" sz="2400" b="0" i="0" u="none" strike="noStrike" cap="none" normalizeH="0" baseline="0" dirty="0">
                        <a:ln>
                          <a:noFill/>
                        </a:ln>
                        <a:solidFill>
                          <a:schemeClr val="tx1"/>
                        </a:solidFill>
                        <a:effectLst/>
                        <a:latin typeface="Arial" panose="020B0604020202020204" pitchFamily="34" charset="0"/>
                      </a:endParaRP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Arial" panose="020B0604020202020204" pitchFamily="34" charset="0"/>
                        </a:rPr>
                        <a:t>百分比</a:t>
                      </a:r>
                      <a:endParaRPr kumimoji="0" lang="en-US" sz="2400" b="0" i="0" u="none" strike="noStrike" cap="none" normalizeH="0" baseline="0" dirty="0">
                        <a:ln>
                          <a:noFill/>
                        </a:ln>
                        <a:solidFill>
                          <a:schemeClr val="tx1"/>
                        </a:solidFill>
                        <a:effectLst/>
                        <a:latin typeface="Arial" panose="020B0604020202020204" pitchFamily="34" charset="0"/>
                      </a:endParaRP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r>
              <a:tr h="628650">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Arial" panose="020B0604020202020204" pitchFamily="34" charset="0"/>
                        </a:rPr>
                        <a:t>销售税</a:t>
                      </a:r>
                      <a:endParaRPr kumimoji="0" lang="en-US" sz="2400" b="0" i="0" u="none" strike="noStrike" cap="none" normalizeH="0" baseline="0" dirty="0">
                        <a:ln>
                          <a:noFill/>
                        </a:ln>
                        <a:solidFill>
                          <a:schemeClr val="tx1"/>
                        </a:solidFill>
                        <a:effectLst/>
                        <a:latin typeface="Arial" panose="020B0604020202020204" pitchFamily="34" charset="0"/>
                      </a:endParaRP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dirty="0">
                          <a:ln>
                            <a:noFill/>
                          </a:ln>
                          <a:solidFill>
                            <a:schemeClr val="tx1"/>
                          </a:solidFill>
                          <a:effectLst/>
                          <a:latin typeface="Arial" panose="020B0604020202020204" pitchFamily="34" charset="0"/>
                        </a:rPr>
                        <a:t>$476.4</a:t>
                      </a:r>
                      <a:endParaRPr kumimoji="0" lang="en-US" sz="2400" b="0" i="0" u="none" strike="noStrike" cap="none" normalizeH="0" baseline="0" dirty="0">
                        <a:ln>
                          <a:noFill/>
                        </a:ln>
                        <a:solidFill>
                          <a:schemeClr val="tx1"/>
                        </a:solidFill>
                        <a:effectLst/>
                        <a:latin typeface="Arial" panose="020B0604020202020204" pitchFamily="34" charset="0"/>
                      </a:endParaRPr>
                    </a:p>
                  </a:txBody>
                  <a:tcPr marR="2743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dirty="0">
                          <a:ln>
                            <a:noFill/>
                          </a:ln>
                          <a:solidFill>
                            <a:schemeClr val="tx1"/>
                          </a:solidFill>
                          <a:effectLst/>
                          <a:latin typeface="Arial" panose="020B0604020202020204" pitchFamily="34" charset="0"/>
                        </a:rPr>
                        <a:t>$1,522</a:t>
                      </a:r>
                      <a:endParaRPr kumimoji="0" lang="en-US" sz="2400" b="0" i="0" u="none" strike="noStrike" cap="none" normalizeH="0" baseline="0" dirty="0">
                        <a:ln>
                          <a:noFill/>
                        </a:ln>
                        <a:solidFill>
                          <a:schemeClr val="tx1"/>
                        </a:solidFill>
                        <a:effectLst/>
                        <a:latin typeface="Arial" panose="020B0604020202020204" pitchFamily="34" charset="0"/>
                      </a:endParaRPr>
                    </a:p>
                  </a:txBody>
                  <a:tcPr marR="2743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dirty="0">
                          <a:ln>
                            <a:noFill/>
                          </a:ln>
                          <a:solidFill>
                            <a:schemeClr val="tx1"/>
                          </a:solidFill>
                          <a:effectLst/>
                          <a:latin typeface="Arial" panose="020B0604020202020204" pitchFamily="34" charset="0"/>
                        </a:rPr>
                        <a:t>34.2%</a:t>
                      </a:r>
                      <a:endParaRPr kumimoji="0" lang="en-US" sz="2400" b="0" i="0" u="none" strike="noStrike" cap="none" normalizeH="0" baseline="0" dirty="0">
                        <a:ln>
                          <a:noFill/>
                        </a:ln>
                        <a:solidFill>
                          <a:schemeClr val="tx1"/>
                        </a:solidFill>
                        <a:effectLst/>
                        <a:latin typeface="Arial" panose="020B0604020202020204" pitchFamily="34" charset="0"/>
                      </a:endParaRPr>
                    </a:p>
                  </a:txBody>
                  <a:tcPr marR="2743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r>
              <a:tr h="630238">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Arial" panose="020B0604020202020204" pitchFamily="34" charset="0"/>
                        </a:rPr>
                        <a:t>财产税</a:t>
                      </a:r>
                      <a:endParaRPr kumimoji="0" lang="en-US" sz="2400" b="0" i="0" u="none" strike="noStrike" cap="none" normalizeH="0" baseline="0" dirty="0">
                        <a:ln>
                          <a:noFill/>
                        </a:ln>
                        <a:solidFill>
                          <a:schemeClr val="tx1"/>
                        </a:solidFill>
                        <a:effectLst/>
                        <a:latin typeface="Arial" panose="020B0604020202020204" pitchFamily="34" charset="0"/>
                      </a:endParaRP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dirty="0">
                          <a:ln>
                            <a:noFill/>
                          </a:ln>
                          <a:solidFill>
                            <a:schemeClr val="tx1"/>
                          </a:solidFill>
                          <a:effectLst/>
                          <a:latin typeface="Arial" panose="020B0604020202020204" pitchFamily="34" charset="0"/>
                        </a:rPr>
                        <a:t>446.5</a:t>
                      </a:r>
                      <a:endParaRPr kumimoji="0" lang="en-US" sz="2400" b="0" i="0" u="none" strike="noStrike" cap="none" normalizeH="0" baseline="0" dirty="0">
                        <a:ln>
                          <a:noFill/>
                        </a:ln>
                        <a:solidFill>
                          <a:schemeClr val="tx1"/>
                        </a:solidFill>
                        <a:effectLst/>
                        <a:latin typeface="Arial" panose="020B0604020202020204" pitchFamily="34" charset="0"/>
                      </a:endParaRPr>
                    </a:p>
                  </a:txBody>
                  <a:tcPr marR="2743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dirty="0">
                          <a:ln>
                            <a:noFill/>
                          </a:ln>
                          <a:solidFill>
                            <a:schemeClr val="tx1"/>
                          </a:solidFill>
                          <a:effectLst/>
                          <a:latin typeface="Arial" panose="020B0604020202020204" pitchFamily="34" charset="0"/>
                        </a:rPr>
                        <a:t>1,426</a:t>
                      </a:r>
                      <a:endParaRPr kumimoji="0" lang="en-US" sz="2400" b="0" i="0" u="none" strike="noStrike" cap="none" normalizeH="0" baseline="0" dirty="0">
                        <a:ln>
                          <a:noFill/>
                        </a:ln>
                        <a:solidFill>
                          <a:schemeClr val="tx1"/>
                        </a:solidFill>
                        <a:effectLst/>
                        <a:latin typeface="Arial" panose="020B0604020202020204" pitchFamily="34" charset="0"/>
                      </a:endParaRPr>
                    </a:p>
                  </a:txBody>
                  <a:tcPr marR="2743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dirty="0">
                          <a:ln>
                            <a:noFill/>
                          </a:ln>
                          <a:solidFill>
                            <a:schemeClr val="tx1"/>
                          </a:solidFill>
                          <a:effectLst/>
                          <a:latin typeface="Arial" panose="020B0604020202020204" pitchFamily="34" charset="0"/>
                        </a:rPr>
                        <a:t>32.1</a:t>
                      </a:r>
                      <a:endParaRPr kumimoji="0" lang="en-US" sz="2400" b="0" i="0" u="none" strike="noStrike" cap="none" normalizeH="0" baseline="0" dirty="0">
                        <a:ln>
                          <a:noFill/>
                        </a:ln>
                        <a:solidFill>
                          <a:schemeClr val="tx1"/>
                        </a:solidFill>
                        <a:effectLst/>
                        <a:latin typeface="Arial" panose="020B0604020202020204" pitchFamily="34" charset="0"/>
                      </a:endParaRPr>
                    </a:p>
                  </a:txBody>
                  <a:tcPr marR="4572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r>
              <a:tr h="630238">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Arial" panose="020B0604020202020204" pitchFamily="34" charset="0"/>
                        </a:rPr>
                        <a:t>个人所得税</a:t>
                      </a:r>
                      <a:endParaRPr kumimoji="0" lang="en-US" sz="2400" b="0" i="0" u="none" strike="noStrike" cap="none" normalizeH="0" baseline="0" dirty="0">
                        <a:ln>
                          <a:noFill/>
                        </a:ln>
                        <a:solidFill>
                          <a:schemeClr val="tx1"/>
                        </a:solidFill>
                        <a:effectLst/>
                        <a:latin typeface="Arial" panose="020B0604020202020204" pitchFamily="34" charset="0"/>
                      </a:endParaRP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dirty="0">
                          <a:ln>
                            <a:noFill/>
                          </a:ln>
                          <a:solidFill>
                            <a:schemeClr val="tx1"/>
                          </a:solidFill>
                          <a:effectLst/>
                          <a:latin typeface="Arial" panose="020B0604020202020204" pitchFamily="34" charset="0"/>
                        </a:rPr>
                        <a:t>293.8</a:t>
                      </a:r>
                      <a:endParaRPr kumimoji="0" lang="en-US" sz="2400" b="0" i="0" u="none" strike="noStrike" cap="none" normalizeH="0" baseline="0" dirty="0">
                        <a:ln>
                          <a:noFill/>
                        </a:ln>
                        <a:solidFill>
                          <a:schemeClr val="tx1"/>
                        </a:solidFill>
                        <a:effectLst/>
                        <a:latin typeface="Arial" panose="020B0604020202020204" pitchFamily="34" charset="0"/>
                      </a:endParaRPr>
                    </a:p>
                  </a:txBody>
                  <a:tcPr marR="2743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dirty="0">
                          <a:ln>
                            <a:noFill/>
                          </a:ln>
                          <a:solidFill>
                            <a:schemeClr val="tx1"/>
                          </a:solidFill>
                          <a:effectLst/>
                          <a:latin typeface="Arial" panose="020B0604020202020204" pitchFamily="34" charset="0"/>
                        </a:rPr>
                        <a:t>938</a:t>
                      </a:r>
                      <a:endParaRPr kumimoji="0" lang="en-US" sz="2400" b="0" i="0" u="none" strike="noStrike" cap="none" normalizeH="0" baseline="0" dirty="0">
                        <a:ln>
                          <a:noFill/>
                        </a:ln>
                        <a:solidFill>
                          <a:schemeClr val="tx1"/>
                        </a:solidFill>
                        <a:effectLst/>
                        <a:latin typeface="Arial" panose="020B0604020202020204" pitchFamily="34" charset="0"/>
                      </a:endParaRPr>
                    </a:p>
                  </a:txBody>
                  <a:tcPr marR="2743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dirty="0">
                          <a:ln>
                            <a:noFill/>
                          </a:ln>
                          <a:solidFill>
                            <a:schemeClr val="tx1"/>
                          </a:solidFill>
                          <a:effectLst/>
                          <a:latin typeface="Arial" panose="020B0604020202020204" pitchFamily="34" charset="0"/>
                        </a:rPr>
                        <a:t>21.1</a:t>
                      </a:r>
                      <a:endParaRPr kumimoji="0" lang="en-US" sz="2400" b="0" i="0" u="none" strike="noStrike" cap="none" normalizeH="0" baseline="0" dirty="0">
                        <a:ln>
                          <a:noFill/>
                        </a:ln>
                        <a:solidFill>
                          <a:schemeClr val="tx1"/>
                        </a:solidFill>
                        <a:effectLst/>
                        <a:latin typeface="Arial" panose="020B0604020202020204" pitchFamily="34" charset="0"/>
                      </a:endParaRPr>
                    </a:p>
                  </a:txBody>
                  <a:tcPr marR="4572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r>
              <a:tr h="630238">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Arial" panose="020B0604020202020204" pitchFamily="34" charset="0"/>
                        </a:rPr>
                        <a:t>企业所得税</a:t>
                      </a:r>
                      <a:endParaRPr kumimoji="0" lang="en-US" sz="2400" b="0" i="0" u="none" strike="noStrike" cap="none" normalizeH="0" baseline="0" dirty="0">
                        <a:ln>
                          <a:noFill/>
                        </a:ln>
                        <a:solidFill>
                          <a:schemeClr val="tx1"/>
                        </a:solidFill>
                        <a:effectLst/>
                        <a:latin typeface="Arial" panose="020B0604020202020204" pitchFamily="34" charset="0"/>
                      </a:endParaRP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dirty="0">
                          <a:ln>
                            <a:noFill/>
                          </a:ln>
                          <a:solidFill>
                            <a:schemeClr val="tx1"/>
                          </a:solidFill>
                          <a:effectLst/>
                          <a:latin typeface="Arial" panose="020B0604020202020204" pitchFamily="34" charset="0"/>
                        </a:rPr>
                        <a:t>50.1</a:t>
                      </a:r>
                      <a:endParaRPr kumimoji="0" lang="en-US" sz="2400" b="0" i="0" u="none" strike="noStrike" cap="none" normalizeH="0" baseline="0" dirty="0">
                        <a:ln>
                          <a:noFill/>
                        </a:ln>
                        <a:solidFill>
                          <a:schemeClr val="tx1"/>
                        </a:solidFill>
                        <a:effectLst/>
                        <a:latin typeface="Arial" panose="020B0604020202020204" pitchFamily="34" charset="0"/>
                      </a:endParaRPr>
                    </a:p>
                  </a:txBody>
                  <a:tcPr marR="2743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dirty="0">
                          <a:ln>
                            <a:noFill/>
                          </a:ln>
                          <a:solidFill>
                            <a:schemeClr val="tx1"/>
                          </a:solidFill>
                          <a:effectLst/>
                          <a:latin typeface="Arial" panose="020B0604020202020204" pitchFamily="34" charset="0"/>
                        </a:rPr>
                        <a:t>160</a:t>
                      </a:r>
                      <a:endParaRPr kumimoji="0" lang="en-US" sz="2400" b="0" i="0" u="none" strike="noStrike" cap="none" normalizeH="0" baseline="0" dirty="0">
                        <a:ln>
                          <a:noFill/>
                        </a:ln>
                        <a:solidFill>
                          <a:schemeClr val="tx1"/>
                        </a:solidFill>
                        <a:effectLst/>
                        <a:latin typeface="Arial" panose="020B0604020202020204" pitchFamily="34" charset="0"/>
                      </a:endParaRPr>
                    </a:p>
                  </a:txBody>
                  <a:tcPr marR="2743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dirty="0">
                          <a:ln>
                            <a:noFill/>
                          </a:ln>
                          <a:solidFill>
                            <a:schemeClr val="tx1"/>
                          </a:solidFill>
                          <a:effectLst/>
                          <a:latin typeface="Arial" panose="020B0604020202020204" pitchFamily="34" charset="0"/>
                        </a:rPr>
                        <a:t>3.6</a:t>
                      </a:r>
                      <a:endParaRPr kumimoji="0" lang="en-US" sz="2400" b="0" i="0" u="none" strike="noStrike" cap="none" normalizeH="0" baseline="0" dirty="0">
                        <a:ln>
                          <a:noFill/>
                        </a:ln>
                        <a:solidFill>
                          <a:schemeClr val="tx1"/>
                        </a:solidFill>
                        <a:effectLst/>
                        <a:latin typeface="Arial" panose="020B0604020202020204" pitchFamily="34" charset="0"/>
                      </a:endParaRPr>
                    </a:p>
                  </a:txBody>
                  <a:tcPr marR="4572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r>
              <a:tr h="628650">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400" b="0" i="0" u="none" strike="noStrike" cap="none" normalizeH="0" baseline="0" dirty="0">
                          <a:ln>
                            <a:noFill/>
                          </a:ln>
                          <a:solidFill>
                            <a:schemeClr val="tx1"/>
                          </a:solidFill>
                          <a:effectLst/>
                          <a:latin typeface="Arial" panose="020B0604020202020204" pitchFamily="34" charset="0"/>
                        </a:rPr>
                        <a:t>其他</a:t>
                      </a:r>
                      <a:endParaRPr kumimoji="0" lang="en-US" sz="2400" b="0" i="0" u="none" strike="noStrike" cap="none" normalizeH="0" baseline="0" dirty="0">
                        <a:ln>
                          <a:noFill/>
                        </a:ln>
                        <a:solidFill>
                          <a:schemeClr val="tx1"/>
                        </a:solidFill>
                        <a:effectLst/>
                        <a:latin typeface="Arial" panose="020B0604020202020204" pitchFamily="34" charset="0"/>
                      </a:endParaRP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dirty="0">
                          <a:ln>
                            <a:noFill/>
                          </a:ln>
                          <a:solidFill>
                            <a:schemeClr val="tx1"/>
                          </a:solidFill>
                          <a:effectLst/>
                          <a:latin typeface="Arial" panose="020B0604020202020204" pitchFamily="34" charset="0"/>
                        </a:rPr>
                        <a:t>124.4</a:t>
                      </a:r>
                      <a:endParaRPr kumimoji="0" lang="en-US" sz="2400" b="0" i="0" u="none" strike="noStrike" cap="none" normalizeH="0" baseline="0" dirty="0">
                        <a:ln>
                          <a:noFill/>
                        </a:ln>
                        <a:solidFill>
                          <a:schemeClr val="tx1"/>
                        </a:solidFill>
                        <a:effectLst/>
                        <a:latin typeface="Arial" panose="020B0604020202020204" pitchFamily="34" charset="0"/>
                      </a:endParaRPr>
                    </a:p>
                  </a:txBody>
                  <a:tcPr marR="2743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dirty="0">
                          <a:ln>
                            <a:noFill/>
                          </a:ln>
                          <a:solidFill>
                            <a:schemeClr val="tx1"/>
                          </a:solidFill>
                          <a:effectLst/>
                          <a:latin typeface="Arial" panose="020B0604020202020204" pitchFamily="34" charset="0"/>
                        </a:rPr>
                        <a:t>397</a:t>
                      </a:r>
                      <a:endParaRPr kumimoji="0" lang="en-US" sz="2400" b="0" i="0" u="none" strike="noStrike" cap="none" normalizeH="0" baseline="0" dirty="0">
                        <a:ln>
                          <a:noFill/>
                        </a:ln>
                        <a:solidFill>
                          <a:schemeClr val="tx1"/>
                        </a:solidFill>
                        <a:effectLst/>
                        <a:latin typeface="Arial" panose="020B0604020202020204" pitchFamily="34" charset="0"/>
                      </a:endParaRPr>
                    </a:p>
                  </a:txBody>
                  <a:tcPr marR="2743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dirty="0">
                          <a:ln>
                            <a:noFill/>
                          </a:ln>
                          <a:solidFill>
                            <a:schemeClr val="tx1"/>
                          </a:solidFill>
                          <a:effectLst/>
                          <a:latin typeface="Arial" panose="020B0604020202020204" pitchFamily="34" charset="0"/>
                        </a:rPr>
                        <a:t>8.9</a:t>
                      </a:r>
                      <a:endParaRPr kumimoji="0" lang="en-US" sz="2400" b="0" i="0" u="none" strike="noStrike" cap="none" normalizeH="0" baseline="0" dirty="0">
                        <a:ln>
                          <a:noFill/>
                        </a:ln>
                        <a:solidFill>
                          <a:schemeClr val="tx1"/>
                        </a:solidFill>
                        <a:effectLst/>
                        <a:latin typeface="Arial" panose="020B0604020202020204" pitchFamily="34" charset="0"/>
                      </a:endParaRPr>
                    </a:p>
                  </a:txBody>
                  <a:tcPr marR="4572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r>
              <a:tr h="630238">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400" b="1" i="0" u="none" strike="noStrike" cap="none" normalizeH="0" baseline="0" dirty="0">
                          <a:ln>
                            <a:noFill/>
                          </a:ln>
                          <a:solidFill>
                            <a:schemeClr val="tx1"/>
                          </a:solidFill>
                          <a:effectLst/>
                          <a:latin typeface="Arial" panose="020B0604020202020204" pitchFamily="34" charset="0"/>
                        </a:rPr>
                        <a:t>共计</a:t>
                      </a:r>
                      <a:endParaRPr kumimoji="0" lang="en-US" sz="2400" b="1" i="0" u="none" strike="noStrike" cap="none" normalizeH="0" baseline="0" dirty="0">
                        <a:ln>
                          <a:noFill/>
                        </a:ln>
                        <a:solidFill>
                          <a:schemeClr val="tx1"/>
                        </a:solidFill>
                        <a:effectLst/>
                        <a:latin typeface="Arial" panose="020B0604020202020204" pitchFamily="34" charset="0"/>
                      </a:endParaRPr>
                    </a:p>
                  </a:txBody>
                  <a:tcPr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1" i="0" u="none" strike="noStrike" cap="none" normalizeH="0" baseline="0" dirty="0">
                          <a:ln>
                            <a:noFill/>
                          </a:ln>
                          <a:solidFill>
                            <a:schemeClr val="tx1"/>
                          </a:solidFill>
                          <a:effectLst/>
                          <a:latin typeface="Arial" panose="020B0604020202020204" pitchFamily="34" charset="0"/>
                        </a:rPr>
                        <a:t>$1,391</a:t>
                      </a:r>
                      <a:endParaRPr kumimoji="0" lang="en-US" sz="2400" b="1" i="0" u="none" strike="noStrike" cap="none" normalizeH="0" baseline="0" dirty="0">
                        <a:ln>
                          <a:noFill/>
                        </a:ln>
                        <a:solidFill>
                          <a:schemeClr val="tx1"/>
                        </a:solidFill>
                        <a:effectLst/>
                        <a:latin typeface="Arial" panose="020B0604020202020204" pitchFamily="34" charset="0"/>
                      </a:endParaRPr>
                    </a:p>
                  </a:txBody>
                  <a:tcPr marR="2743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1" i="0" u="none" strike="noStrike" cap="none" normalizeH="0" baseline="0" dirty="0">
                          <a:ln>
                            <a:noFill/>
                          </a:ln>
                          <a:solidFill>
                            <a:schemeClr val="tx1"/>
                          </a:solidFill>
                          <a:effectLst/>
                          <a:latin typeface="Arial" panose="020B0604020202020204" pitchFamily="34" charset="0"/>
                        </a:rPr>
                        <a:t>$4,323</a:t>
                      </a:r>
                      <a:endParaRPr kumimoji="0" lang="en-US" sz="2400" b="1" i="0" u="none" strike="noStrike" cap="none" normalizeH="0" baseline="0" dirty="0">
                        <a:ln>
                          <a:noFill/>
                        </a:ln>
                        <a:solidFill>
                          <a:schemeClr val="tx1"/>
                        </a:solidFill>
                        <a:effectLst/>
                        <a:latin typeface="Arial" panose="020B0604020202020204" pitchFamily="34" charset="0"/>
                      </a:endParaRPr>
                    </a:p>
                  </a:txBody>
                  <a:tcPr marR="2743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1" i="0" u="none" strike="noStrike" cap="none" normalizeH="0" baseline="0" dirty="0">
                          <a:ln>
                            <a:noFill/>
                          </a:ln>
                          <a:solidFill>
                            <a:schemeClr val="tx1"/>
                          </a:solidFill>
                          <a:effectLst/>
                          <a:latin typeface="Arial" panose="020B0604020202020204" pitchFamily="34" charset="0"/>
                        </a:rPr>
                        <a:t>100.0%</a:t>
                      </a:r>
                      <a:endParaRPr kumimoji="0" lang="en-US" sz="2400" b="1" i="0" u="none" strike="noStrike" cap="none" normalizeH="0" baseline="0" dirty="0">
                        <a:ln>
                          <a:noFill/>
                        </a:ln>
                        <a:solidFill>
                          <a:schemeClr val="tx1"/>
                        </a:solidFill>
                        <a:effectLst/>
                        <a:latin typeface="Arial" panose="020B0604020202020204" pitchFamily="34" charset="0"/>
                      </a:endParaRPr>
                    </a:p>
                  </a:txBody>
                  <a:tcPr marR="2743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r>
            </a:tbl>
          </a:graphicData>
        </a:graphic>
      </p:graphicFrame>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6"/>
            <a:ext cx="2236510" cy="584775"/>
          </a:xfrm>
          <a:prstGeom prst="rect">
            <a:avLst/>
          </a:prstGeom>
          <a:noFill/>
        </p:spPr>
        <p:txBody>
          <a:bodyPr wrap="none" rtlCol="0">
            <a:spAutoFit/>
          </a:bodyPr>
          <a:lstStyle/>
          <a:p>
            <a:r>
              <a:rPr lang="zh-CN" altLang="en-US" sz="3200" dirty="0">
                <a:solidFill>
                  <a:srgbClr val="002060"/>
                </a:solidFill>
                <a:latin typeface="华光中雅_CNKI" panose="02000500000000000000" pitchFamily="2" charset="-122"/>
                <a:ea typeface="华光中雅_CNKI" panose="02000500000000000000" pitchFamily="2" charset="-122"/>
              </a:rPr>
              <a:t>税收与</a:t>
            </a:r>
            <a:r>
              <a:rPr lang="zh-CN" altLang="en-US" sz="3200" dirty="0">
                <a:solidFill>
                  <a:srgbClr val="002060"/>
                </a:solidFill>
                <a:highlight>
                  <a:srgbClr val="FFFF00"/>
                </a:highlight>
                <a:latin typeface="华光中雅_CNKI" panose="02000500000000000000" pitchFamily="2" charset="-122"/>
                <a:ea typeface="华光中雅_CNKI" panose="02000500000000000000" pitchFamily="2" charset="-122"/>
              </a:rPr>
              <a:t>效率</a:t>
            </a:r>
            <a:endParaRPr lang="zh-CN" altLang="en-US" sz="3200" dirty="0">
              <a:solidFill>
                <a:srgbClr val="002060"/>
              </a:solidFill>
              <a:highlight>
                <a:srgbClr val="FFFF00"/>
              </a:highlight>
              <a:latin typeface="华光中雅_CNKI" panose="02000500000000000000" pitchFamily="2" charset="-122"/>
              <a:ea typeface="华光中雅_CNKI" panose="02000500000000000000" pitchFamily="2" charset="-122"/>
            </a:endParaRPr>
          </a:p>
        </p:txBody>
      </p:sp>
      <p:sp>
        <p:nvSpPr>
          <p:cNvPr id="16" name="TextBox 15"/>
          <p:cNvSpPr txBox="1"/>
          <p:nvPr/>
        </p:nvSpPr>
        <p:spPr>
          <a:xfrm>
            <a:off x="539552" y="1412776"/>
            <a:ext cx="7920880" cy="341503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如果一种税收系统以较小的纳税人成本增加相同的税收收入，那么这种税收系统比另一种更有效率。</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纳税人的成本包括：</a:t>
            </a:r>
            <a:endParaRPr lang="en-US" altLang="zh-CN" sz="2400" dirty="0">
              <a:solidFill>
                <a:srgbClr val="002060"/>
              </a:solidFill>
              <a:latin typeface="微软雅黑" panose="020B0503020204020204" pitchFamily="34" charset="-122"/>
              <a:ea typeface="微软雅黑" panose="020B0503020204020204" pitchFamily="34" charset="-122"/>
            </a:endParaRPr>
          </a:p>
          <a:p>
            <a:pPr marL="702945"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纳税额本身</a:t>
            </a:r>
            <a:endParaRPr lang="en-US" altLang="zh-CN" sz="2400" dirty="0">
              <a:solidFill>
                <a:srgbClr val="002060"/>
              </a:solidFill>
              <a:latin typeface="微软雅黑" panose="020B0503020204020204" pitchFamily="34" charset="-122"/>
              <a:ea typeface="微软雅黑" panose="020B0503020204020204" pitchFamily="34" charset="-122"/>
            </a:endParaRPr>
          </a:p>
          <a:p>
            <a:pPr marL="702945"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无谓损失</a:t>
            </a:r>
            <a:endParaRPr lang="en-US" altLang="zh-CN" sz="2400" dirty="0">
              <a:solidFill>
                <a:srgbClr val="002060"/>
              </a:solidFill>
              <a:latin typeface="微软雅黑" panose="020B0503020204020204" pitchFamily="34" charset="-122"/>
              <a:ea typeface="微软雅黑" panose="020B0503020204020204" pitchFamily="34" charset="-122"/>
            </a:endParaRPr>
          </a:p>
          <a:p>
            <a:pPr marL="702945"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管理负担</a:t>
            </a:r>
            <a:endParaRPr lang="en-US" altLang="zh-CN"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6"/>
            <a:ext cx="1826141" cy="584775"/>
          </a:xfrm>
          <a:prstGeom prst="rect">
            <a:avLst/>
          </a:prstGeom>
          <a:noFill/>
        </p:spPr>
        <p:txBody>
          <a:bodyPr wrap="none" rtlCol="0">
            <a:spAutoFit/>
          </a:bodyPr>
          <a:lstStyle/>
          <a:p>
            <a:r>
              <a:rPr lang="zh-CN" altLang="en-US" sz="3200" dirty="0">
                <a:solidFill>
                  <a:srgbClr val="002060"/>
                </a:solidFill>
                <a:latin typeface="华光中雅_CNKI" panose="02000500000000000000" pitchFamily="2" charset="-122"/>
                <a:ea typeface="华光中雅_CNKI" panose="02000500000000000000" pitchFamily="2" charset="-122"/>
              </a:rPr>
              <a:t>无谓损失</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16" name="TextBox 15"/>
          <p:cNvSpPr txBox="1"/>
          <p:nvPr/>
        </p:nvSpPr>
        <p:spPr>
          <a:xfrm>
            <a:off x="539552" y="1412776"/>
            <a:ext cx="7920880" cy="396938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十大原则之一：</a:t>
            </a:r>
            <a:endParaRPr lang="en-US" altLang="zh-CN" sz="2400" dirty="0">
              <a:solidFill>
                <a:srgbClr val="002060"/>
              </a:solidFill>
              <a:latin typeface="微软雅黑" panose="020B0503020204020204" pitchFamily="34" charset="-122"/>
              <a:ea typeface="微软雅黑" panose="020B0503020204020204" pitchFamily="34" charset="-122"/>
            </a:endParaRPr>
          </a:p>
          <a:p>
            <a:pPr marL="360045">
              <a:lnSpc>
                <a:spcPct val="150000"/>
              </a:lnSpc>
            </a:pPr>
            <a:r>
              <a:rPr lang="zh-CN" altLang="en-US" sz="2400" b="1" i="1" dirty="0">
                <a:solidFill>
                  <a:srgbClr val="9F8453"/>
                </a:solidFill>
                <a:latin typeface="微软雅黑" panose="020B0503020204020204" pitchFamily="34" charset="-122"/>
                <a:ea typeface="微软雅黑" panose="020B0503020204020204" pitchFamily="34" charset="-122"/>
              </a:rPr>
              <a:t>人们会响应激励。</a:t>
            </a:r>
            <a:endParaRPr lang="en-US" altLang="zh-CN" sz="2400" b="1" i="1" dirty="0">
              <a:solidFill>
                <a:srgbClr val="9F8453"/>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回忆第</a:t>
            </a:r>
            <a:r>
              <a:rPr lang="en-US" altLang="zh-CN" sz="2400" dirty="0">
                <a:solidFill>
                  <a:srgbClr val="002060"/>
                </a:solidFill>
                <a:latin typeface="微软雅黑" panose="020B0503020204020204" pitchFamily="34" charset="-122"/>
                <a:ea typeface="微软雅黑" panose="020B0503020204020204" pitchFamily="34" charset="-122"/>
              </a:rPr>
              <a:t>8</a:t>
            </a:r>
            <a:r>
              <a:rPr lang="zh-CN" altLang="en-US" sz="2400" dirty="0">
                <a:solidFill>
                  <a:srgbClr val="002060"/>
                </a:solidFill>
                <a:latin typeface="微软雅黑" panose="020B0503020204020204" pitchFamily="34" charset="-122"/>
                <a:ea typeface="微软雅黑" panose="020B0503020204020204" pitchFamily="34" charset="-122"/>
              </a:rPr>
              <a:t>章：</a:t>
            </a:r>
            <a:endParaRPr lang="en-US" altLang="zh-CN" sz="2400" dirty="0">
              <a:solidFill>
                <a:srgbClr val="002060"/>
              </a:solidFill>
              <a:latin typeface="微软雅黑" panose="020B0503020204020204" pitchFamily="34" charset="-122"/>
              <a:ea typeface="微软雅黑" panose="020B0503020204020204" pitchFamily="34" charset="-122"/>
            </a:endParaRPr>
          </a:p>
          <a:p>
            <a:pPr marL="360045">
              <a:lnSpc>
                <a:spcPct val="150000"/>
              </a:lnSpc>
            </a:pPr>
            <a:r>
              <a:rPr lang="zh-CN" altLang="en-US" sz="2400" dirty="0">
                <a:solidFill>
                  <a:srgbClr val="002060"/>
                </a:solidFill>
                <a:latin typeface="微软雅黑" panose="020B0503020204020204" pitchFamily="34" charset="-122"/>
                <a:ea typeface="微软雅黑" panose="020B0503020204020204" pitchFamily="34" charset="-122"/>
              </a:rPr>
              <a:t>税收扭曲了激励机制，导致人们根据税收激励而不是根据真实的成本和收益来分配资源。</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结果就是：形成无谓损失，即纳税人福利的下降超过了政府的税收收入。</a:t>
            </a:r>
            <a:endParaRPr lang="en-US" altLang="zh-CN"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6"/>
            <a:ext cx="3637280" cy="583565"/>
          </a:xfrm>
          <a:prstGeom prst="rect">
            <a:avLst/>
          </a:prstGeom>
          <a:noFill/>
        </p:spPr>
        <p:txBody>
          <a:bodyPr wrap="none" rtlCol="0">
            <a:spAutoFit/>
          </a:bodyPr>
          <a:lstStyle/>
          <a:p>
            <a:r>
              <a:rPr lang="zh-CN" altLang="en-US" sz="3200" dirty="0">
                <a:solidFill>
                  <a:srgbClr val="002060"/>
                </a:solidFill>
                <a:latin typeface="华光中雅_CNKI" panose="02000500000000000000" pitchFamily="2" charset="-122"/>
                <a:ea typeface="华光中雅_CNKI" panose="02000500000000000000" pitchFamily="2" charset="-122"/>
              </a:rPr>
              <a:t>收入税 </a:t>
            </a:r>
            <a:r>
              <a:rPr lang="en-US" altLang="zh-CN" sz="3200" dirty="0">
                <a:solidFill>
                  <a:srgbClr val="002060"/>
                </a:solidFill>
                <a:latin typeface="华光中雅_CNKI" panose="02000500000000000000" pitchFamily="2" charset="-122"/>
                <a:ea typeface="华光中雅_CNKI" panose="02000500000000000000" pitchFamily="2" charset="-122"/>
              </a:rPr>
              <a:t>vs.</a:t>
            </a:r>
            <a:r>
              <a:rPr lang="zh-CN" altLang="en-US" sz="3200" dirty="0">
                <a:solidFill>
                  <a:srgbClr val="002060"/>
                </a:solidFill>
                <a:latin typeface="华光中雅_CNKI" panose="02000500000000000000" pitchFamily="2" charset="-122"/>
                <a:ea typeface="华光中雅_CNKI" panose="02000500000000000000" pitchFamily="2" charset="-122"/>
              </a:rPr>
              <a:t> 消费税</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16" name="TextBox 15"/>
          <p:cNvSpPr txBox="1"/>
          <p:nvPr/>
        </p:nvSpPr>
        <p:spPr>
          <a:xfrm>
            <a:off x="539750" y="1412875"/>
            <a:ext cx="8374380" cy="396938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收入税降低了储蓄的动机：</a:t>
            </a:r>
            <a:endParaRPr lang="en-US" altLang="zh-CN" sz="2400" dirty="0">
              <a:solidFill>
                <a:srgbClr val="002060"/>
              </a:solidFill>
              <a:latin typeface="微软雅黑" panose="020B0503020204020204" pitchFamily="34" charset="-122"/>
              <a:ea typeface="微软雅黑" panose="020B0503020204020204" pitchFamily="34" charset="-122"/>
            </a:endParaRPr>
          </a:p>
          <a:p>
            <a:pPr marL="702945"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如果收入税的税率为</a:t>
            </a:r>
            <a:r>
              <a:rPr lang="en-US" altLang="zh-CN" sz="2400" dirty="0">
                <a:solidFill>
                  <a:srgbClr val="002060"/>
                </a:solidFill>
                <a:latin typeface="微软雅黑" panose="020B0503020204020204" pitchFamily="34" charset="-122"/>
                <a:ea typeface="微软雅黑" panose="020B0503020204020204" pitchFamily="34" charset="-122"/>
              </a:rPr>
              <a:t>25%</a:t>
            </a:r>
            <a:r>
              <a:rPr lang="zh-CN" altLang="en-US" sz="2400" dirty="0">
                <a:solidFill>
                  <a:srgbClr val="002060"/>
                </a:solidFill>
                <a:latin typeface="微软雅黑" panose="020B0503020204020204" pitchFamily="34" charset="-122"/>
                <a:ea typeface="微软雅黑" panose="020B0503020204020204" pitchFamily="34" charset="-122"/>
              </a:rPr>
              <a:t>，则</a:t>
            </a:r>
            <a:r>
              <a:rPr lang="en-US" altLang="zh-CN" sz="2400" dirty="0">
                <a:solidFill>
                  <a:srgbClr val="002060"/>
                </a:solidFill>
                <a:latin typeface="微软雅黑" panose="020B0503020204020204" pitchFamily="34" charset="-122"/>
                <a:ea typeface="微软雅黑" panose="020B0503020204020204" pitchFamily="34" charset="-122"/>
              </a:rPr>
              <a:t>8%</a:t>
            </a:r>
            <a:r>
              <a:rPr lang="zh-CN" altLang="en-US" sz="2400" dirty="0">
                <a:solidFill>
                  <a:srgbClr val="002060"/>
                </a:solidFill>
                <a:latin typeface="微软雅黑" panose="020B0503020204020204" pitchFamily="34" charset="-122"/>
                <a:ea typeface="微软雅黑" panose="020B0503020204020204" pitchFamily="34" charset="-122"/>
              </a:rPr>
              <a:t>的利率收入</a:t>
            </a:r>
            <a:r>
              <a:rPr lang="en-US" altLang="zh-CN" sz="2400" dirty="0">
                <a:solidFill>
                  <a:srgbClr val="002060"/>
                </a:solidFill>
                <a:latin typeface="微软雅黑" panose="020B0503020204020204" pitchFamily="34" charset="-122"/>
                <a:ea typeface="微软雅黑" panose="020B0503020204020204" pitchFamily="34" charset="-122"/>
              </a:rPr>
              <a:t>=6%</a:t>
            </a:r>
            <a:r>
              <a:rPr lang="zh-CN" altLang="en-US" sz="2400" dirty="0">
                <a:solidFill>
                  <a:srgbClr val="002060"/>
                </a:solidFill>
                <a:latin typeface="微软雅黑" panose="020B0503020204020204" pitchFamily="34" charset="-122"/>
                <a:ea typeface="微软雅黑" panose="020B0503020204020204" pitchFamily="34" charset="-122"/>
              </a:rPr>
              <a:t>的税后利率收入。</a:t>
            </a:r>
            <a:endParaRPr lang="en-US" altLang="zh-CN" sz="2400" dirty="0">
              <a:solidFill>
                <a:srgbClr val="002060"/>
              </a:solidFill>
              <a:latin typeface="微软雅黑" panose="020B0503020204020204" pitchFamily="34" charset="-122"/>
              <a:ea typeface="微软雅黑" panose="020B0503020204020204" pitchFamily="34" charset="-122"/>
            </a:endParaRPr>
          </a:p>
          <a:p>
            <a:pPr marL="702945"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由于复利，收入的损失随着时间的推移而加剧。</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一些经济学家主张对消费而非对收入征税，因为。</a:t>
            </a:r>
            <a:endParaRPr lang="en-US" altLang="zh-CN" sz="2400" dirty="0">
              <a:solidFill>
                <a:srgbClr val="002060"/>
              </a:solidFill>
              <a:latin typeface="微软雅黑" panose="020B0503020204020204" pitchFamily="34" charset="-122"/>
              <a:ea typeface="微软雅黑" panose="020B0503020204020204" pitchFamily="34" charset="-122"/>
            </a:endParaRPr>
          </a:p>
          <a:p>
            <a:pPr marL="702945"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将恢复储蓄动机。</a:t>
            </a:r>
            <a:endParaRPr lang="en-US" altLang="zh-CN" sz="2400" dirty="0">
              <a:solidFill>
                <a:srgbClr val="002060"/>
              </a:solidFill>
              <a:latin typeface="微软雅黑" panose="020B0503020204020204" pitchFamily="34" charset="-122"/>
              <a:ea typeface="微软雅黑" panose="020B0503020204020204" pitchFamily="34" charset="-122"/>
            </a:endParaRPr>
          </a:p>
          <a:p>
            <a:pPr marL="702945"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有利于个人的退休收入保障和长期经济增长。</a:t>
            </a:r>
            <a:endParaRPr lang="en-US" altLang="zh-CN"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6"/>
            <a:ext cx="3637280" cy="583565"/>
          </a:xfrm>
          <a:prstGeom prst="rect">
            <a:avLst/>
          </a:prstGeom>
          <a:noFill/>
        </p:spPr>
        <p:txBody>
          <a:bodyPr wrap="none" rtlCol="0">
            <a:spAutoFit/>
          </a:bodyPr>
          <a:lstStyle/>
          <a:p>
            <a:r>
              <a:rPr lang="zh-CN" altLang="en-US" sz="3200" dirty="0">
                <a:solidFill>
                  <a:srgbClr val="002060"/>
                </a:solidFill>
                <a:latin typeface="华光中雅_CNKI" panose="02000500000000000000" pitchFamily="2" charset="-122"/>
                <a:ea typeface="华光中雅_CNKI" panose="02000500000000000000" pitchFamily="2" charset="-122"/>
              </a:rPr>
              <a:t>收入税 </a:t>
            </a:r>
            <a:r>
              <a:rPr lang="en-US" altLang="zh-CN" sz="3200" dirty="0">
                <a:solidFill>
                  <a:srgbClr val="002060"/>
                </a:solidFill>
                <a:latin typeface="华光中雅_CNKI" panose="02000500000000000000" pitchFamily="2" charset="-122"/>
                <a:ea typeface="华光中雅_CNKI" panose="02000500000000000000" pitchFamily="2" charset="-122"/>
              </a:rPr>
              <a:t>vs.</a:t>
            </a:r>
            <a:r>
              <a:rPr lang="zh-CN" altLang="en-US" sz="3200" dirty="0">
                <a:solidFill>
                  <a:srgbClr val="002060"/>
                </a:solidFill>
                <a:latin typeface="华光中雅_CNKI" panose="02000500000000000000" pitchFamily="2" charset="-122"/>
                <a:ea typeface="华光中雅_CNKI" panose="02000500000000000000" pitchFamily="2" charset="-122"/>
              </a:rPr>
              <a:t> 消费税</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16" name="TextBox 15"/>
          <p:cNvSpPr txBox="1"/>
          <p:nvPr/>
        </p:nvSpPr>
        <p:spPr>
          <a:xfrm>
            <a:off x="539750" y="1556385"/>
            <a:ext cx="8427085" cy="230695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税法中类似消费税的条款包括个人养老金账户。</a:t>
            </a:r>
            <a:endParaRPr lang="en-US" altLang="zh-CN" sz="2400" dirty="0">
              <a:solidFill>
                <a:srgbClr val="002060"/>
              </a:solidFill>
              <a:latin typeface="微软雅黑" panose="020B0503020204020204" pitchFamily="34" charset="-122"/>
              <a:ea typeface="微软雅黑" panose="020B0503020204020204" pitchFamily="34" charset="-122"/>
            </a:endParaRPr>
          </a:p>
          <a:p>
            <a:pPr marL="702945"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人们每月把一点点资金存入自己的养老金账户。</a:t>
            </a:r>
            <a:endParaRPr lang="en-US" altLang="zh-CN" sz="2400" dirty="0">
              <a:solidFill>
                <a:srgbClr val="002060"/>
              </a:solidFill>
              <a:latin typeface="微软雅黑" panose="020B0503020204020204" pitchFamily="34" charset="-122"/>
              <a:ea typeface="微软雅黑" panose="020B0503020204020204" pitchFamily="34" charset="-122"/>
            </a:endParaRPr>
          </a:p>
          <a:p>
            <a:pPr marL="702945"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这些资金在退休提取之前不征税。</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欧洲的增值税（</a:t>
            </a:r>
            <a:r>
              <a:rPr lang="en-US" altLang="zh-CN" sz="2400" dirty="0">
                <a:solidFill>
                  <a:srgbClr val="002060"/>
                </a:solidFill>
                <a:latin typeface="微软雅黑" panose="020B0503020204020204" pitchFamily="34" charset="-122"/>
                <a:ea typeface="微软雅黑" panose="020B0503020204020204" pitchFamily="34" charset="-122"/>
              </a:rPr>
              <a:t>VAT</a:t>
            </a:r>
            <a:r>
              <a:rPr lang="zh-CN" altLang="en-US" sz="2400" dirty="0">
                <a:solidFill>
                  <a:srgbClr val="002060"/>
                </a:solidFill>
                <a:latin typeface="微软雅黑" panose="020B0503020204020204" pitchFamily="34" charset="-122"/>
                <a:ea typeface="微软雅黑" panose="020B0503020204020204" pitchFamily="34" charset="-122"/>
              </a:rPr>
              <a:t>：</a:t>
            </a:r>
            <a:r>
              <a:rPr lang="en-US" sz="2400" smtClean="0">
                <a:sym typeface="+mn-ea"/>
              </a:rPr>
              <a:t>Value-Added Tax</a:t>
            </a:r>
            <a:r>
              <a:rPr lang="zh-CN" altLang="en-US" sz="2400" dirty="0">
                <a:solidFill>
                  <a:srgbClr val="002060"/>
                </a:solidFill>
                <a:latin typeface="微软雅黑" panose="020B0503020204020204" pitchFamily="34" charset="-122"/>
                <a:ea typeface="微软雅黑" panose="020B0503020204020204" pitchFamily="34" charset="-122"/>
              </a:rPr>
              <a:t>）就是一种消费税。</a:t>
            </a:r>
            <a:endParaRPr lang="en-US" altLang="zh-CN"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6"/>
            <a:ext cx="1808480" cy="583565"/>
          </a:xfrm>
          <a:prstGeom prst="rect">
            <a:avLst/>
          </a:prstGeom>
          <a:noFill/>
        </p:spPr>
        <p:txBody>
          <a:bodyPr wrap="none" rtlCol="0">
            <a:spAutoFit/>
          </a:bodyPr>
          <a:lstStyle/>
          <a:p>
            <a:r>
              <a:rPr lang="zh-CN" altLang="en-US" sz="3200" dirty="0">
                <a:solidFill>
                  <a:srgbClr val="002060"/>
                </a:solidFill>
                <a:latin typeface="华光中雅_CNKI" panose="02000500000000000000" pitchFamily="2" charset="-122"/>
                <a:ea typeface="华光中雅_CNKI" panose="02000500000000000000" pitchFamily="2" charset="-122"/>
              </a:rPr>
              <a:t>管理负担</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16" name="TextBox 15"/>
          <p:cNvSpPr txBox="1"/>
          <p:nvPr/>
        </p:nvSpPr>
        <p:spPr>
          <a:xfrm>
            <a:off x="539750" y="1412875"/>
            <a:ext cx="8374380" cy="341503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包括人们为遵守税法所花费的时间和金钱。</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鼓励将资源用于合法避税。</a:t>
            </a:r>
            <a:endParaRPr lang="en-US" altLang="zh-CN" sz="2400" dirty="0">
              <a:solidFill>
                <a:srgbClr val="002060"/>
              </a:solidFill>
              <a:latin typeface="微软雅黑" panose="020B0503020204020204" pitchFamily="34" charset="-122"/>
              <a:ea typeface="微软雅黑" panose="020B0503020204020204" pitchFamily="34" charset="-122"/>
            </a:endParaRPr>
          </a:p>
          <a:p>
            <a:pPr marL="702945"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例如，雇佣会计师利用“漏洞”来减轻税收负担</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是一种无谓损失。</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如果简化税法，可以减少无谓损失，但这需要消除</a:t>
            </a:r>
            <a:r>
              <a:rPr lang="en-US" altLang="zh-CN" sz="2400" dirty="0">
                <a:solidFill>
                  <a:srgbClr val="002060"/>
                </a:solidFill>
                <a:latin typeface="微软雅黑" panose="020B0503020204020204" pitchFamily="34" charset="-122"/>
                <a:ea typeface="微软雅黑" panose="020B0503020204020204" pitchFamily="34" charset="-122"/>
              </a:rPr>
              <a:t>“</a:t>
            </a:r>
            <a:r>
              <a:rPr lang="zh-CN" altLang="en-US" sz="2400" dirty="0">
                <a:solidFill>
                  <a:srgbClr val="002060"/>
                </a:solidFill>
                <a:latin typeface="微软雅黑" panose="020B0503020204020204" pitchFamily="34" charset="-122"/>
                <a:ea typeface="微软雅黑" panose="020B0503020204020204" pitchFamily="34" charset="-122"/>
              </a:rPr>
              <a:t>漏洞</a:t>
            </a:r>
            <a:r>
              <a:rPr lang="en-US" altLang="zh-CN" sz="2400" dirty="0">
                <a:solidFill>
                  <a:srgbClr val="002060"/>
                </a:solidFill>
                <a:latin typeface="微软雅黑" panose="020B0503020204020204" pitchFamily="34" charset="-122"/>
                <a:ea typeface="微软雅黑" panose="020B0503020204020204" pitchFamily="34" charset="-122"/>
              </a:rPr>
              <a:t>”</a:t>
            </a:r>
            <a:r>
              <a:rPr lang="zh-CN" altLang="en-US" sz="2400" dirty="0">
                <a:solidFill>
                  <a:srgbClr val="002060"/>
                </a:solidFill>
                <a:latin typeface="微软雅黑" panose="020B0503020204020204" pitchFamily="34" charset="-122"/>
                <a:ea typeface="微软雅黑" panose="020B0503020204020204" pitchFamily="34" charset="-122"/>
              </a:rPr>
              <a:t>，这个很困难。</a:t>
            </a:r>
            <a:endParaRPr lang="en-US" altLang="zh-CN"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6"/>
            <a:ext cx="4216219" cy="584775"/>
          </a:xfrm>
          <a:prstGeom prst="rect">
            <a:avLst/>
          </a:prstGeom>
          <a:noFill/>
        </p:spPr>
        <p:txBody>
          <a:bodyPr wrap="none" rtlCol="0">
            <a:spAutoFit/>
          </a:bodyPr>
          <a:lstStyle/>
          <a:p>
            <a:r>
              <a:rPr lang="zh-CN" altLang="en-US" sz="3200" dirty="0">
                <a:solidFill>
                  <a:srgbClr val="002060"/>
                </a:solidFill>
                <a:latin typeface="华光中雅_CNKI" panose="02000500000000000000" pitchFamily="2" charset="-122"/>
                <a:ea typeface="华光中雅_CNKI" panose="02000500000000000000" pitchFamily="2" charset="-122"/>
              </a:rPr>
              <a:t>边际税率 </a:t>
            </a:r>
            <a:r>
              <a:rPr lang="en-US" altLang="zh-CN" sz="3200" dirty="0">
                <a:solidFill>
                  <a:srgbClr val="002060"/>
                </a:solidFill>
                <a:latin typeface="华光中雅_CNKI" panose="02000500000000000000" pitchFamily="2" charset="-122"/>
                <a:ea typeface="华光中雅_CNKI" panose="02000500000000000000" pitchFamily="2" charset="-122"/>
              </a:rPr>
              <a:t>vs. </a:t>
            </a:r>
            <a:r>
              <a:rPr lang="zh-CN" altLang="en-US" sz="3200" dirty="0">
                <a:solidFill>
                  <a:srgbClr val="002060"/>
                </a:solidFill>
                <a:latin typeface="华光中雅_CNKI" panose="02000500000000000000" pitchFamily="2" charset="-122"/>
                <a:ea typeface="华光中雅_CNKI" panose="02000500000000000000" pitchFamily="2" charset="-122"/>
              </a:rPr>
              <a:t>平均税率</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16" name="TextBox 15"/>
          <p:cNvSpPr txBox="1"/>
          <p:nvPr/>
        </p:nvSpPr>
        <p:spPr>
          <a:xfrm>
            <a:off x="539552" y="1412776"/>
            <a:ext cx="7920880" cy="341503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b="1" dirty="0">
                <a:solidFill>
                  <a:srgbClr val="C00000"/>
                </a:solidFill>
                <a:latin typeface="微软雅黑" panose="020B0503020204020204" pitchFamily="34" charset="-122"/>
                <a:ea typeface="微软雅黑" panose="020B0503020204020204" pitchFamily="34" charset="-122"/>
              </a:rPr>
              <a:t>平均税率</a:t>
            </a:r>
            <a:endParaRPr lang="en-US" altLang="zh-CN" sz="2400" b="1" dirty="0">
              <a:solidFill>
                <a:srgbClr val="C00000"/>
              </a:solidFill>
              <a:latin typeface="微软雅黑" panose="020B0503020204020204" pitchFamily="34" charset="-122"/>
              <a:ea typeface="微软雅黑" panose="020B0503020204020204" pitchFamily="34" charset="-122"/>
            </a:endParaRPr>
          </a:p>
          <a:p>
            <a:pPr marL="702945"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缴纳的税款总额除以总收入</a:t>
            </a:r>
            <a:endParaRPr lang="en-US" altLang="zh-CN" sz="2400" dirty="0">
              <a:solidFill>
                <a:srgbClr val="002060"/>
              </a:solidFill>
              <a:latin typeface="微软雅黑" panose="020B0503020204020204" pitchFamily="34" charset="-122"/>
              <a:ea typeface="微软雅黑" panose="020B0503020204020204" pitchFamily="34" charset="-122"/>
            </a:endParaRPr>
          </a:p>
          <a:p>
            <a:pPr marL="702945"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衡量纳税人做出的牺牲</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b="1" dirty="0">
                <a:solidFill>
                  <a:srgbClr val="C00000"/>
                </a:solidFill>
                <a:latin typeface="微软雅黑" panose="020B0503020204020204" pitchFamily="34" charset="-122"/>
                <a:ea typeface="微软雅黑" panose="020B0503020204020204" pitchFamily="34" charset="-122"/>
              </a:rPr>
              <a:t>边际税率 </a:t>
            </a:r>
            <a:endParaRPr lang="en-US" altLang="zh-CN" sz="2400" b="1" dirty="0">
              <a:solidFill>
                <a:srgbClr val="C00000"/>
              </a:solidFill>
              <a:latin typeface="微软雅黑" panose="020B0503020204020204" pitchFamily="34" charset="-122"/>
              <a:ea typeface="微软雅黑" panose="020B0503020204020204" pitchFamily="34" charset="-122"/>
            </a:endParaRPr>
          </a:p>
          <a:p>
            <a:pPr marL="702945"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为额外的一元收入支付的额外税款</a:t>
            </a:r>
            <a:endParaRPr lang="en-US" altLang="zh-CN" sz="2400" dirty="0">
              <a:solidFill>
                <a:srgbClr val="002060"/>
              </a:solidFill>
              <a:latin typeface="微软雅黑" panose="020B0503020204020204" pitchFamily="34" charset="-122"/>
              <a:ea typeface="微软雅黑" panose="020B0503020204020204" pitchFamily="34" charset="-122"/>
            </a:endParaRPr>
          </a:p>
          <a:p>
            <a:pPr marL="702945"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衡量税收对工作努力、储蓄等方面的激励作用。</a:t>
            </a:r>
            <a:endParaRPr lang="en-US" altLang="zh-CN"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6"/>
            <a:ext cx="1402080" cy="583565"/>
          </a:xfrm>
          <a:prstGeom prst="rect">
            <a:avLst/>
          </a:prstGeom>
          <a:noFill/>
        </p:spPr>
        <p:txBody>
          <a:bodyPr wrap="none" rtlCol="0">
            <a:spAutoFit/>
          </a:bodyPr>
          <a:lstStyle/>
          <a:p>
            <a:r>
              <a:rPr lang="zh-CN" altLang="en-US" sz="3200" dirty="0">
                <a:solidFill>
                  <a:srgbClr val="002060"/>
                </a:solidFill>
                <a:latin typeface="华光中雅_CNKI" panose="02000500000000000000" pitchFamily="2" charset="-122"/>
                <a:ea typeface="华光中雅_CNKI" panose="02000500000000000000" pitchFamily="2" charset="-122"/>
              </a:rPr>
              <a:t>定额税</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16" name="TextBox 15"/>
          <p:cNvSpPr txBox="1"/>
          <p:nvPr/>
        </p:nvSpPr>
        <p:spPr>
          <a:xfrm>
            <a:off x="539552" y="1412776"/>
            <a:ext cx="7920880" cy="175323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b="1" dirty="0">
                <a:solidFill>
                  <a:srgbClr val="C00000"/>
                </a:solidFill>
                <a:latin typeface="微软雅黑" panose="020B0503020204020204" pitchFamily="34" charset="-122"/>
                <a:ea typeface="微软雅黑" panose="020B0503020204020204" pitchFamily="34" charset="-122"/>
              </a:rPr>
              <a:t>定额税</a:t>
            </a:r>
            <a:r>
              <a:rPr lang="zh-CN" altLang="en-US" sz="2400" dirty="0">
                <a:solidFill>
                  <a:srgbClr val="002060"/>
                </a:solidFill>
                <a:latin typeface="微软雅黑" panose="020B0503020204020204" pitchFamily="34" charset="-122"/>
                <a:ea typeface="微软雅黑" panose="020B0503020204020204" pitchFamily="34" charset="-122"/>
              </a:rPr>
              <a:t>对每个人都是一样的</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示例：定额税</a:t>
            </a:r>
            <a:r>
              <a:rPr lang="en-US" altLang="zh-CN" sz="2400" dirty="0">
                <a:solidFill>
                  <a:srgbClr val="002060"/>
                </a:solidFill>
                <a:latin typeface="微软雅黑" panose="020B0503020204020204" pitchFamily="34" charset="-122"/>
                <a:ea typeface="微软雅黑" panose="020B0503020204020204" pitchFamily="34" charset="-122"/>
              </a:rPr>
              <a:t>=4000</a:t>
            </a:r>
            <a:r>
              <a:rPr lang="zh-CN" altLang="en-US" sz="2400" dirty="0">
                <a:solidFill>
                  <a:srgbClr val="002060"/>
                </a:solidFill>
                <a:latin typeface="微软雅黑" panose="020B0503020204020204" pitchFamily="34" charset="-122"/>
                <a:ea typeface="微软雅黑" panose="020B0503020204020204" pitchFamily="34" charset="-122"/>
              </a:rPr>
              <a:t>元</a:t>
            </a:r>
            <a:r>
              <a:rPr lang="en-US" altLang="zh-CN" sz="2400" dirty="0">
                <a:solidFill>
                  <a:srgbClr val="002060"/>
                </a:solidFill>
                <a:latin typeface="微软雅黑" panose="020B0503020204020204" pitchFamily="34" charset="-122"/>
                <a:ea typeface="微软雅黑" panose="020B0503020204020204" pitchFamily="34" charset="-122"/>
              </a:rPr>
              <a:t>/</a:t>
            </a:r>
            <a:r>
              <a:rPr lang="zh-CN" altLang="en-US" sz="2400" dirty="0">
                <a:solidFill>
                  <a:srgbClr val="002060"/>
                </a:solidFill>
                <a:latin typeface="微软雅黑" panose="020B0503020204020204" pitchFamily="34" charset="-122"/>
                <a:ea typeface="微软雅黑" panose="020B0503020204020204" pitchFamily="34" charset="-122"/>
              </a:rPr>
              <a:t>人</a:t>
            </a:r>
            <a:endParaRPr lang="en-US" altLang="zh-CN" sz="2400" dirty="0">
              <a:solidFill>
                <a:srgbClr val="002060"/>
              </a:solidFill>
              <a:latin typeface="微软雅黑" panose="020B0503020204020204" pitchFamily="34" charset="-122"/>
              <a:ea typeface="微软雅黑" panose="020B0503020204020204" pitchFamily="34" charset="-122"/>
            </a:endParaRPr>
          </a:p>
          <a:p>
            <a:pPr marL="702945" indent="-342900">
              <a:lnSpc>
                <a:spcPct val="150000"/>
              </a:lnSpc>
              <a:buFont typeface="Arial" panose="020B0604020202020204" pitchFamily="34" charset="0"/>
              <a:buChar char="•"/>
            </a:pPr>
            <a:endParaRPr lang="en-US" altLang="zh-CN" sz="2400" dirty="0">
              <a:solidFill>
                <a:srgbClr val="002060"/>
              </a:solidFill>
              <a:latin typeface="微软雅黑" panose="020B0503020204020204" pitchFamily="34" charset="-122"/>
              <a:ea typeface="微软雅黑" panose="020B0503020204020204" pitchFamily="34" charset="-122"/>
            </a:endParaRPr>
          </a:p>
        </p:txBody>
      </p:sp>
      <p:grpSp>
        <p:nvGrpSpPr>
          <p:cNvPr id="2" name="Group 30"/>
          <p:cNvGrpSpPr/>
          <p:nvPr/>
        </p:nvGrpSpPr>
        <p:grpSpPr bwMode="auto">
          <a:xfrm>
            <a:off x="469900" y="2708920"/>
            <a:ext cx="8105775" cy="2174875"/>
            <a:chOff x="296" y="1574"/>
            <a:chExt cx="5106" cy="1370"/>
          </a:xfrm>
        </p:grpSpPr>
        <p:grpSp>
          <p:nvGrpSpPr>
            <p:cNvPr id="3" name="Group 28"/>
            <p:cNvGrpSpPr/>
            <p:nvPr/>
          </p:nvGrpSpPr>
          <p:grpSpPr bwMode="auto">
            <a:xfrm>
              <a:off x="296" y="1574"/>
              <a:ext cx="5106" cy="1370"/>
              <a:chOff x="460" y="1357"/>
              <a:chExt cx="4830" cy="996"/>
            </a:xfrm>
          </p:grpSpPr>
          <p:sp>
            <p:nvSpPr>
              <p:cNvPr id="10" name="Rectangle 5"/>
              <p:cNvSpPr>
                <a:spLocks noChangeArrowheads="1"/>
              </p:cNvSpPr>
              <p:nvPr/>
            </p:nvSpPr>
            <p:spPr bwMode="auto">
              <a:xfrm>
                <a:off x="460" y="1359"/>
                <a:ext cx="4829" cy="992"/>
              </a:xfrm>
              <a:prstGeom prst="rect">
                <a:avLst/>
              </a:prstGeom>
              <a:solidFill>
                <a:srgbClr val="FFFFCC"/>
              </a:solidFill>
              <a:ln w="9525">
                <a:noFill/>
                <a:miter lim="800000"/>
              </a:ln>
            </p:spPr>
            <p:txBody>
              <a:bodyPr wrap="none" anchor="ctr"/>
              <a:lstStyle/>
              <a:p>
                <a:endParaRPr lang="en-US" dirty="0">
                  <a:latin typeface="Arial" panose="020B0604020202020204"/>
                  <a:cs typeface="Arial" panose="020B0604020202020204"/>
                </a:endParaRPr>
              </a:p>
            </p:txBody>
          </p:sp>
          <p:sp>
            <p:nvSpPr>
              <p:cNvPr id="11" name="Line 10"/>
              <p:cNvSpPr>
                <a:spLocks noChangeShapeType="1"/>
              </p:cNvSpPr>
              <p:nvPr/>
            </p:nvSpPr>
            <p:spPr bwMode="auto">
              <a:xfrm>
                <a:off x="461" y="1357"/>
                <a:ext cx="4829" cy="0"/>
              </a:xfrm>
              <a:prstGeom prst="line">
                <a:avLst/>
              </a:prstGeom>
              <a:noFill/>
              <a:ln w="12700" cap="sq">
                <a:solidFill>
                  <a:schemeClr val="tx1"/>
                </a:solidFill>
                <a:round/>
              </a:ln>
            </p:spPr>
            <p:txBody>
              <a:bodyPr/>
              <a:lstStyle/>
              <a:p>
                <a:endParaRPr lang="en-US">
                  <a:latin typeface="Arial" panose="020B0604020202020204"/>
                  <a:cs typeface="Arial" panose="020B0604020202020204"/>
                </a:endParaRPr>
              </a:p>
            </p:txBody>
          </p:sp>
          <p:sp>
            <p:nvSpPr>
              <p:cNvPr id="12" name="Line 11"/>
              <p:cNvSpPr>
                <a:spLocks noChangeShapeType="1"/>
              </p:cNvSpPr>
              <p:nvPr/>
            </p:nvSpPr>
            <p:spPr bwMode="auto">
              <a:xfrm>
                <a:off x="461" y="1688"/>
                <a:ext cx="4829"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13" name="Line 12"/>
              <p:cNvSpPr>
                <a:spLocks noChangeShapeType="1"/>
              </p:cNvSpPr>
              <p:nvPr/>
            </p:nvSpPr>
            <p:spPr bwMode="auto">
              <a:xfrm>
                <a:off x="461" y="2021"/>
                <a:ext cx="4829"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14" name="Line 13"/>
              <p:cNvSpPr>
                <a:spLocks noChangeShapeType="1"/>
              </p:cNvSpPr>
              <p:nvPr/>
            </p:nvSpPr>
            <p:spPr bwMode="auto">
              <a:xfrm>
                <a:off x="461" y="2353"/>
                <a:ext cx="4829" cy="0"/>
              </a:xfrm>
              <a:prstGeom prst="line">
                <a:avLst/>
              </a:prstGeom>
              <a:noFill/>
              <a:ln w="12700" cap="sq">
                <a:solidFill>
                  <a:schemeClr val="tx1"/>
                </a:solidFill>
                <a:round/>
              </a:ln>
            </p:spPr>
            <p:txBody>
              <a:bodyPr/>
              <a:lstStyle/>
              <a:p>
                <a:endParaRPr lang="en-US">
                  <a:latin typeface="Arial" panose="020B0604020202020204"/>
                  <a:cs typeface="Arial" panose="020B0604020202020204"/>
                </a:endParaRPr>
              </a:p>
            </p:txBody>
          </p:sp>
          <p:sp>
            <p:nvSpPr>
              <p:cNvPr id="15" name="Line 14"/>
              <p:cNvSpPr>
                <a:spLocks noChangeShapeType="1"/>
              </p:cNvSpPr>
              <p:nvPr/>
            </p:nvSpPr>
            <p:spPr bwMode="auto">
              <a:xfrm>
                <a:off x="1953" y="1357"/>
                <a:ext cx="0" cy="996"/>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17" name="Line 15"/>
              <p:cNvSpPr>
                <a:spLocks noChangeShapeType="1"/>
              </p:cNvSpPr>
              <p:nvPr/>
            </p:nvSpPr>
            <p:spPr bwMode="auto">
              <a:xfrm>
                <a:off x="3600" y="1357"/>
                <a:ext cx="0" cy="996"/>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18" name="Line 16"/>
              <p:cNvSpPr>
                <a:spLocks noChangeShapeType="1"/>
              </p:cNvSpPr>
              <p:nvPr/>
            </p:nvSpPr>
            <p:spPr bwMode="auto">
              <a:xfrm>
                <a:off x="461" y="1357"/>
                <a:ext cx="0" cy="996"/>
              </a:xfrm>
              <a:prstGeom prst="line">
                <a:avLst/>
              </a:prstGeom>
              <a:noFill/>
              <a:ln w="12700" cap="sq">
                <a:solidFill>
                  <a:schemeClr val="tx1"/>
                </a:solidFill>
                <a:round/>
              </a:ln>
            </p:spPr>
            <p:txBody>
              <a:bodyPr/>
              <a:lstStyle/>
              <a:p>
                <a:endParaRPr lang="en-US">
                  <a:latin typeface="Arial" panose="020B0604020202020204"/>
                  <a:cs typeface="Arial" panose="020B0604020202020204"/>
                </a:endParaRPr>
              </a:p>
            </p:txBody>
          </p:sp>
          <p:sp>
            <p:nvSpPr>
              <p:cNvPr id="19" name="Line 17"/>
              <p:cNvSpPr>
                <a:spLocks noChangeShapeType="1"/>
              </p:cNvSpPr>
              <p:nvPr/>
            </p:nvSpPr>
            <p:spPr bwMode="auto">
              <a:xfrm>
                <a:off x="5290" y="1357"/>
                <a:ext cx="0" cy="996"/>
              </a:xfrm>
              <a:prstGeom prst="line">
                <a:avLst/>
              </a:prstGeom>
              <a:noFill/>
              <a:ln w="12700" cap="sq">
                <a:solidFill>
                  <a:schemeClr val="tx1"/>
                </a:solidFill>
                <a:round/>
              </a:ln>
            </p:spPr>
            <p:txBody>
              <a:bodyPr/>
              <a:lstStyle/>
              <a:p>
                <a:endParaRPr lang="en-US">
                  <a:latin typeface="Arial" panose="020B0604020202020204"/>
                  <a:cs typeface="Arial" panose="020B0604020202020204"/>
                </a:endParaRPr>
              </a:p>
            </p:txBody>
          </p:sp>
        </p:grpSp>
        <p:grpSp>
          <p:nvGrpSpPr>
            <p:cNvPr id="4" name="Group 29"/>
            <p:cNvGrpSpPr/>
            <p:nvPr/>
          </p:nvGrpSpPr>
          <p:grpSpPr bwMode="auto">
            <a:xfrm>
              <a:off x="297" y="1574"/>
              <a:ext cx="5105" cy="455"/>
              <a:chOff x="297" y="1574"/>
              <a:chExt cx="5105" cy="455"/>
            </a:xfrm>
          </p:grpSpPr>
          <p:sp>
            <p:nvSpPr>
              <p:cNvPr id="7" name="Rectangle 7"/>
              <p:cNvSpPr>
                <a:spLocks noChangeArrowheads="1"/>
              </p:cNvSpPr>
              <p:nvPr/>
            </p:nvSpPr>
            <p:spPr bwMode="auto">
              <a:xfrm>
                <a:off x="3615" y="1574"/>
                <a:ext cx="1787" cy="455"/>
              </a:xfrm>
              <a:prstGeom prst="rect">
                <a:avLst/>
              </a:prstGeom>
              <a:noFill/>
              <a:ln w="9525">
                <a:noFill/>
                <a:miter lim="800000"/>
              </a:ln>
            </p:spPr>
            <p:txBody>
              <a:bodyPr anchor="ctr"/>
              <a:lstStyle/>
              <a:p>
                <a:pPr algn="ctr">
                  <a:lnSpc>
                    <a:spcPct val="105000"/>
                  </a:lnSpc>
                  <a:spcBef>
                    <a:spcPct val="45000"/>
                  </a:spcBef>
                  <a:buClr>
                    <a:srgbClr val="00B85C"/>
                  </a:buClr>
                  <a:buSzPct val="120000"/>
                  <a:buFont typeface="Wingdings" panose="05000000000000000000" pitchFamily="2" charset="2"/>
                  <a:buNone/>
                </a:pPr>
                <a:r>
                  <a:rPr lang="zh-CN" altLang="en-US" sz="2700" dirty="0">
                    <a:latin typeface="Arial" panose="020B0604020202020204"/>
                    <a:cs typeface="Arial" panose="020B0604020202020204"/>
                  </a:rPr>
                  <a:t>边际税率</a:t>
                </a:r>
                <a:endParaRPr lang="en-US" sz="2700" dirty="0">
                  <a:latin typeface="Arial" panose="020B0604020202020204"/>
                  <a:cs typeface="Arial" panose="020B0604020202020204"/>
                </a:endParaRPr>
              </a:p>
            </p:txBody>
          </p:sp>
          <p:sp>
            <p:nvSpPr>
              <p:cNvPr id="8" name="Rectangle 8"/>
              <p:cNvSpPr>
                <a:spLocks noChangeArrowheads="1"/>
              </p:cNvSpPr>
              <p:nvPr/>
            </p:nvSpPr>
            <p:spPr bwMode="auto">
              <a:xfrm>
                <a:off x="1874" y="1574"/>
                <a:ext cx="1741" cy="455"/>
              </a:xfrm>
              <a:prstGeom prst="rect">
                <a:avLst/>
              </a:prstGeom>
              <a:noFill/>
              <a:ln w="9525">
                <a:noFill/>
                <a:miter lim="800000"/>
              </a:ln>
            </p:spPr>
            <p:txBody>
              <a:bodyPr anchor="ctr"/>
              <a:lstStyle/>
              <a:p>
                <a:pPr algn="ctr">
                  <a:lnSpc>
                    <a:spcPct val="105000"/>
                  </a:lnSpc>
                  <a:spcBef>
                    <a:spcPct val="45000"/>
                  </a:spcBef>
                  <a:buClr>
                    <a:srgbClr val="00B85C"/>
                  </a:buClr>
                  <a:buSzPct val="120000"/>
                  <a:buFont typeface="Wingdings" panose="05000000000000000000" pitchFamily="2" charset="2"/>
                  <a:buNone/>
                </a:pPr>
                <a:r>
                  <a:rPr lang="zh-CN" altLang="en-US" sz="2700" dirty="0">
                    <a:latin typeface="Arial" panose="020B0604020202020204"/>
                    <a:cs typeface="Arial" panose="020B0604020202020204"/>
                  </a:rPr>
                  <a:t>平均税率</a:t>
                </a:r>
                <a:endParaRPr lang="en-US" sz="2700" dirty="0">
                  <a:latin typeface="Arial" panose="020B0604020202020204"/>
                  <a:cs typeface="Arial" panose="020B0604020202020204"/>
                </a:endParaRPr>
              </a:p>
            </p:txBody>
          </p:sp>
          <p:sp>
            <p:nvSpPr>
              <p:cNvPr id="9" name="Rectangle 9"/>
              <p:cNvSpPr>
                <a:spLocks noChangeArrowheads="1"/>
              </p:cNvSpPr>
              <p:nvPr/>
            </p:nvSpPr>
            <p:spPr bwMode="auto">
              <a:xfrm>
                <a:off x="297" y="1574"/>
                <a:ext cx="1577" cy="455"/>
              </a:xfrm>
              <a:prstGeom prst="rect">
                <a:avLst/>
              </a:prstGeom>
              <a:noFill/>
              <a:ln w="9525">
                <a:noFill/>
                <a:miter lim="800000"/>
              </a:ln>
            </p:spPr>
            <p:txBody>
              <a:bodyPr anchor="ctr"/>
              <a:lstStyle/>
              <a:p>
                <a:pPr algn="ctr">
                  <a:lnSpc>
                    <a:spcPct val="105000"/>
                  </a:lnSpc>
                  <a:spcBef>
                    <a:spcPct val="45000"/>
                  </a:spcBef>
                  <a:buClr>
                    <a:srgbClr val="00B85C"/>
                  </a:buClr>
                  <a:buSzPct val="120000"/>
                  <a:buFont typeface="Wingdings" panose="05000000000000000000" pitchFamily="2" charset="2"/>
                  <a:buNone/>
                </a:pPr>
                <a:r>
                  <a:rPr lang="zh-CN" altLang="en-US" sz="2700" dirty="0">
                    <a:latin typeface="Arial" panose="020B0604020202020204"/>
                    <a:cs typeface="Arial" panose="020B0604020202020204"/>
                  </a:rPr>
                  <a:t>收入</a:t>
                </a:r>
                <a:endParaRPr lang="en-US" sz="2700" dirty="0">
                  <a:latin typeface="Arial" panose="020B0604020202020204"/>
                  <a:cs typeface="Arial" panose="020B0604020202020204"/>
                </a:endParaRPr>
              </a:p>
            </p:txBody>
          </p:sp>
        </p:grpSp>
      </p:grpSp>
      <p:sp>
        <p:nvSpPr>
          <p:cNvPr id="20" name="Rectangle 21"/>
          <p:cNvSpPr>
            <a:spLocks noChangeArrowheads="1"/>
          </p:cNvSpPr>
          <p:nvPr/>
        </p:nvSpPr>
        <p:spPr bwMode="auto">
          <a:xfrm>
            <a:off x="5738813" y="4158308"/>
            <a:ext cx="2836862" cy="725487"/>
          </a:xfrm>
          <a:prstGeom prst="rect">
            <a:avLst/>
          </a:prstGeom>
          <a:noFill/>
          <a:ln w="9525">
            <a:noFill/>
            <a:miter lim="800000"/>
          </a:ln>
        </p:spPr>
        <p:txBody>
          <a:bodyPr anchor="ctr"/>
          <a:lstStyle/>
          <a:p>
            <a:pPr algn="ctr">
              <a:lnSpc>
                <a:spcPct val="105000"/>
              </a:lnSpc>
              <a:spcBef>
                <a:spcPct val="45000"/>
              </a:spcBef>
              <a:buClr>
                <a:srgbClr val="00B85C"/>
              </a:buClr>
              <a:buSzPct val="120000"/>
              <a:buFont typeface="Wingdings" panose="05000000000000000000" pitchFamily="2" charset="2"/>
              <a:buNone/>
            </a:pPr>
            <a:r>
              <a:rPr lang="en-US" sz="2700">
                <a:latin typeface="Arial" panose="020B0604020202020204"/>
                <a:cs typeface="Arial" panose="020B0604020202020204"/>
              </a:rPr>
              <a:t>0%</a:t>
            </a:r>
            <a:endParaRPr lang="en-US" sz="2700">
              <a:latin typeface="Arial" panose="020B0604020202020204"/>
              <a:cs typeface="Arial" panose="020B0604020202020204"/>
            </a:endParaRPr>
          </a:p>
        </p:txBody>
      </p:sp>
      <p:sp>
        <p:nvSpPr>
          <p:cNvPr id="21" name="Rectangle 22"/>
          <p:cNvSpPr>
            <a:spLocks noChangeArrowheads="1"/>
          </p:cNvSpPr>
          <p:nvPr/>
        </p:nvSpPr>
        <p:spPr bwMode="auto">
          <a:xfrm>
            <a:off x="2974975" y="4158308"/>
            <a:ext cx="2763838" cy="725487"/>
          </a:xfrm>
          <a:prstGeom prst="rect">
            <a:avLst/>
          </a:prstGeom>
          <a:noFill/>
          <a:ln w="9525">
            <a:noFill/>
            <a:miter lim="800000"/>
          </a:ln>
        </p:spPr>
        <p:txBody>
          <a:bodyPr anchor="ctr"/>
          <a:lstStyle/>
          <a:p>
            <a:pPr algn="ctr">
              <a:lnSpc>
                <a:spcPct val="105000"/>
              </a:lnSpc>
              <a:spcBef>
                <a:spcPct val="45000"/>
              </a:spcBef>
              <a:buClr>
                <a:srgbClr val="00B85C"/>
              </a:buClr>
              <a:buSzPct val="120000"/>
              <a:buFont typeface="Wingdings" panose="05000000000000000000" pitchFamily="2" charset="2"/>
              <a:buNone/>
            </a:pPr>
            <a:r>
              <a:rPr lang="en-US" sz="2700">
                <a:latin typeface="Arial" panose="020B0604020202020204"/>
                <a:cs typeface="Arial" panose="020B0604020202020204"/>
              </a:rPr>
              <a:t>10%</a:t>
            </a:r>
            <a:endParaRPr lang="en-US" sz="2700">
              <a:latin typeface="Arial" panose="020B0604020202020204"/>
              <a:cs typeface="Arial" panose="020B0604020202020204"/>
            </a:endParaRPr>
          </a:p>
        </p:txBody>
      </p:sp>
      <p:sp>
        <p:nvSpPr>
          <p:cNvPr id="22" name="Rectangle 23"/>
          <p:cNvSpPr>
            <a:spLocks noChangeArrowheads="1"/>
          </p:cNvSpPr>
          <p:nvPr/>
        </p:nvSpPr>
        <p:spPr bwMode="auto">
          <a:xfrm>
            <a:off x="471488" y="4158308"/>
            <a:ext cx="2503487" cy="725487"/>
          </a:xfrm>
          <a:prstGeom prst="rect">
            <a:avLst/>
          </a:prstGeom>
          <a:noFill/>
          <a:ln w="9525">
            <a:noFill/>
            <a:miter lim="800000"/>
          </a:ln>
        </p:spPr>
        <p:txBody>
          <a:bodyPr anchor="ctr"/>
          <a:lstStyle/>
          <a:p>
            <a:pPr algn="ctr">
              <a:lnSpc>
                <a:spcPct val="105000"/>
              </a:lnSpc>
              <a:spcBef>
                <a:spcPct val="45000"/>
              </a:spcBef>
              <a:buClr>
                <a:srgbClr val="00B85C"/>
              </a:buClr>
              <a:buSzPct val="120000"/>
              <a:buFont typeface="Wingdings" panose="05000000000000000000" pitchFamily="2" charset="2"/>
              <a:buNone/>
            </a:pPr>
            <a:r>
              <a:rPr lang="en-US" sz="2700">
                <a:latin typeface="Arial" panose="020B0604020202020204"/>
                <a:cs typeface="Arial" panose="020B0604020202020204"/>
              </a:rPr>
              <a:t>40,000</a:t>
            </a:r>
            <a:r>
              <a:rPr lang="zh-CN" altLang="en-US" sz="2700">
                <a:latin typeface="Arial" panose="020B0604020202020204"/>
                <a:cs typeface="Arial" panose="020B0604020202020204"/>
              </a:rPr>
              <a:t>元</a:t>
            </a:r>
            <a:endParaRPr lang="zh-CN" altLang="en-US" sz="2700">
              <a:latin typeface="Arial" panose="020B0604020202020204"/>
              <a:cs typeface="Arial" panose="020B0604020202020204"/>
            </a:endParaRPr>
          </a:p>
        </p:txBody>
      </p:sp>
      <p:sp>
        <p:nvSpPr>
          <p:cNvPr id="23" name="Rectangle 24"/>
          <p:cNvSpPr>
            <a:spLocks noChangeArrowheads="1"/>
          </p:cNvSpPr>
          <p:nvPr/>
        </p:nvSpPr>
        <p:spPr bwMode="auto">
          <a:xfrm>
            <a:off x="5738813" y="3431233"/>
            <a:ext cx="2836862" cy="727075"/>
          </a:xfrm>
          <a:prstGeom prst="rect">
            <a:avLst/>
          </a:prstGeom>
          <a:noFill/>
          <a:ln w="9525">
            <a:noFill/>
            <a:miter lim="800000"/>
          </a:ln>
        </p:spPr>
        <p:txBody>
          <a:bodyPr anchor="ctr"/>
          <a:lstStyle/>
          <a:p>
            <a:pPr algn="ctr">
              <a:lnSpc>
                <a:spcPct val="105000"/>
              </a:lnSpc>
              <a:spcBef>
                <a:spcPct val="45000"/>
              </a:spcBef>
              <a:buClr>
                <a:srgbClr val="00B85C"/>
              </a:buClr>
              <a:buSzPct val="120000"/>
              <a:buFont typeface="Wingdings" panose="05000000000000000000" pitchFamily="2" charset="2"/>
              <a:buNone/>
            </a:pPr>
            <a:r>
              <a:rPr lang="en-US" sz="2700">
                <a:latin typeface="Arial" panose="020B0604020202020204"/>
                <a:cs typeface="Arial" panose="020B0604020202020204"/>
              </a:rPr>
              <a:t>0%</a:t>
            </a:r>
            <a:endParaRPr lang="en-US" sz="2700">
              <a:latin typeface="Arial" panose="020B0604020202020204"/>
              <a:cs typeface="Arial" panose="020B0604020202020204"/>
            </a:endParaRPr>
          </a:p>
        </p:txBody>
      </p:sp>
      <p:sp>
        <p:nvSpPr>
          <p:cNvPr id="24" name="Rectangle 25"/>
          <p:cNvSpPr>
            <a:spLocks noChangeArrowheads="1"/>
          </p:cNvSpPr>
          <p:nvPr/>
        </p:nvSpPr>
        <p:spPr bwMode="auto">
          <a:xfrm>
            <a:off x="2974975" y="3431233"/>
            <a:ext cx="2763838" cy="727075"/>
          </a:xfrm>
          <a:prstGeom prst="rect">
            <a:avLst/>
          </a:prstGeom>
          <a:noFill/>
          <a:ln w="9525">
            <a:noFill/>
            <a:miter lim="800000"/>
          </a:ln>
        </p:spPr>
        <p:txBody>
          <a:bodyPr anchor="ctr"/>
          <a:lstStyle/>
          <a:p>
            <a:pPr algn="ctr">
              <a:lnSpc>
                <a:spcPct val="105000"/>
              </a:lnSpc>
              <a:spcBef>
                <a:spcPct val="45000"/>
              </a:spcBef>
              <a:buClr>
                <a:srgbClr val="00B85C"/>
              </a:buClr>
              <a:buSzPct val="120000"/>
              <a:buFont typeface="Wingdings" panose="05000000000000000000" pitchFamily="2" charset="2"/>
              <a:buNone/>
            </a:pPr>
            <a:r>
              <a:rPr lang="en-US" sz="2700">
                <a:latin typeface="Arial" panose="020B0604020202020204"/>
                <a:cs typeface="Arial" panose="020B0604020202020204"/>
              </a:rPr>
              <a:t>20%</a:t>
            </a:r>
            <a:endParaRPr lang="en-US" sz="2700">
              <a:latin typeface="Arial" panose="020B0604020202020204"/>
              <a:cs typeface="Arial" panose="020B0604020202020204"/>
            </a:endParaRPr>
          </a:p>
        </p:txBody>
      </p:sp>
      <p:sp>
        <p:nvSpPr>
          <p:cNvPr id="25" name="Rectangle 26"/>
          <p:cNvSpPr>
            <a:spLocks noChangeArrowheads="1"/>
          </p:cNvSpPr>
          <p:nvPr/>
        </p:nvSpPr>
        <p:spPr bwMode="auto">
          <a:xfrm>
            <a:off x="471488" y="3431233"/>
            <a:ext cx="2503487" cy="727075"/>
          </a:xfrm>
          <a:prstGeom prst="rect">
            <a:avLst/>
          </a:prstGeom>
          <a:noFill/>
          <a:ln w="9525">
            <a:noFill/>
            <a:miter lim="800000"/>
          </a:ln>
        </p:spPr>
        <p:txBody>
          <a:bodyPr anchor="ctr"/>
          <a:lstStyle/>
          <a:p>
            <a:pPr algn="ctr">
              <a:lnSpc>
                <a:spcPct val="105000"/>
              </a:lnSpc>
              <a:spcBef>
                <a:spcPct val="45000"/>
              </a:spcBef>
              <a:buClr>
                <a:srgbClr val="00B85C"/>
              </a:buClr>
              <a:buSzPct val="120000"/>
              <a:buFont typeface="Wingdings" panose="05000000000000000000" pitchFamily="2" charset="2"/>
              <a:buNone/>
            </a:pPr>
            <a:r>
              <a:rPr lang="en-US" sz="2700">
                <a:latin typeface="Arial" panose="020B0604020202020204"/>
                <a:cs typeface="Arial" panose="020B0604020202020204"/>
              </a:rPr>
              <a:t>20,000</a:t>
            </a:r>
            <a:r>
              <a:rPr lang="zh-CN" altLang="en-US" sz="2700">
                <a:latin typeface="Arial" panose="020B0604020202020204"/>
                <a:cs typeface="Arial" panose="020B0604020202020204"/>
              </a:rPr>
              <a:t>元</a:t>
            </a:r>
            <a:endParaRPr lang="zh-CN" altLang="en-US" sz="2700">
              <a:latin typeface="Arial" panose="020B0604020202020204"/>
              <a:cs typeface="Arial" panose="020B0604020202020204"/>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5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500"/>
                                        <p:tgtEl>
                                          <p:spTgt spid="2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50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24" grpId="0"/>
      <p:bldP spid="25" grpId="0"/>
    </p:bld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6"/>
            <a:ext cx="1402080" cy="583565"/>
          </a:xfrm>
          <a:prstGeom prst="rect">
            <a:avLst/>
          </a:prstGeom>
          <a:noFill/>
        </p:spPr>
        <p:txBody>
          <a:bodyPr wrap="none" rtlCol="0">
            <a:spAutoFit/>
          </a:bodyPr>
          <a:lstStyle/>
          <a:p>
            <a:r>
              <a:rPr lang="zh-CN" altLang="en-US" sz="3200" dirty="0">
                <a:solidFill>
                  <a:srgbClr val="002060"/>
                </a:solidFill>
                <a:latin typeface="华光中雅_CNKI" panose="02000500000000000000" pitchFamily="2" charset="-122"/>
                <a:ea typeface="华光中雅_CNKI" panose="02000500000000000000" pitchFamily="2" charset="-122"/>
              </a:rPr>
              <a:t>定额税</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16" name="TextBox 15"/>
          <p:cNvSpPr txBox="1"/>
          <p:nvPr/>
        </p:nvSpPr>
        <p:spPr>
          <a:xfrm>
            <a:off x="539552" y="1268760"/>
            <a:ext cx="7920880" cy="3970318"/>
          </a:xfrm>
          <a:prstGeom prst="rect">
            <a:avLst/>
          </a:prstGeom>
          <a:noFill/>
        </p:spPr>
        <p:txBody>
          <a:bodyPr wrap="square" rtlCol="0">
            <a:spAutoFit/>
          </a:bodyPr>
          <a:lstStyle/>
          <a:p>
            <a:pPr>
              <a:lnSpc>
                <a:spcPct val="150000"/>
              </a:lnSpc>
            </a:pPr>
            <a:r>
              <a:rPr lang="zh-CN" altLang="en-US" sz="2400" dirty="0">
                <a:solidFill>
                  <a:srgbClr val="002060"/>
                </a:solidFill>
                <a:latin typeface="微软雅黑" panose="020B0503020204020204" pitchFamily="34" charset="-122"/>
                <a:ea typeface="微软雅黑" panose="020B0503020204020204" pitchFamily="34" charset="-122"/>
              </a:rPr>
              <a:t>定额税是最有效的税收：</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不会导致无谓损失：不会扭曲激励机制。</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最小的管理负担：无需雇佣会计师，无需保存或者记录各种票据等。</a:t>
            </a:r>
            <a:endParaRPr lang="en-US" altLang="zh-CN" sz="2400" dirty="0">
              <a:solidFill>
                <a:srgbClr val="002060"/>
              </a:solidFill>
              <a:latin typeface="微软雅黑" panose="020B0503020204020204" pitchFamily="34" charset="-122"/>
              <a:ea typeface="微软雅黑" panose="020B0503020204020204" pitchFamily="34" charset="-122"/>
            </a:endParaRPr>
          </a:p>
          <a:p>
            <a:pPr>
              <a:lnSpc>
                <a:spcPct val="150000"/>
              </a:lnSpc>
            </a:pPr>
            <a:r>
              <a:rPr lang="zh-CN" altLang="en-US" sz="2400" smtClean="0">
                <a:solidFill>
                  <a:srgbClr val="002060"/>
                </a:solidFill>
                <a:latin typeface="微软雅黑" panose="020B0503020204020204" pitchFamily="34" charset="-122"/>
                <a:ea typeface="微软雅黑" panose="020B0503020204020204" pitchFamily="34" charset="-122"/>
              </a:rPr>
              <a:t>然而</a:t>
            </a:r>
            <a:r>
              <a:rPr lang="zh-CN" altLang="en-US" sz="2400" dirty="0">
                <a:solidFill>
                  <a:srgbClr val="002060"/>
                </a:solidFill>
                <a:latin typeface="微软雅黑" panose="020B0503020204020204" pitchFamily="34" charset="-122"/>
                <a:ea typeface="微软雅黑" panose="020B0503020204020204" pitchFamily="34" charset="-122"/>
              </a:rPr>
              <a:t>，被认为是不公平的：</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以绝对数额（元）计算，穷人支付的税费和富人一样多。</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相对于收入，穷人比富人付出的要多得多。</a:t>
            </a:r>
            <a:endParaRPr lang="en-US" altLang="zh-CN"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6"/>
            <a:ext cx="2236510" cy="584775"/>
          </a:xfrm>
          <a:prstGeom prst="rect">
            <a:avLst/>
          </a:prstGeom>
          <a:noFill/>
        </p:spPr>
        <p:txBody>
          <a:bodyPr wrap="none" rtlCol="0">
            <a:spAutoFit/>
          </a:bodyPr>
          <a:lstStyle/>
          <a:p>
            <a:r>
              <a:rPr lang="zh-CN" altLang="en-US" sz="3200" dirty="0">
                <a:solidFill>
                  <a:srgbClr val="002060"/>
                </a:solidFill>
                <a:latin typeface="华光中雅_CNKI" panose="02000500000000000000" pitchFamily="2" charset="-122"/>
                <a:ea typeface="华光中雅_CNKI" panose="02000500000000000000" pitchFamily="2" charset="-122"/>
              </a:rPr>
              <a:t>税收和</a:t>
            </a:r>
            <a:r>
              <a:rPr lang="zh-CN" altLang="en-US" sz="3200" dirty="0">
                <a:solidFill>
                  <a:srgbClr val="002060"/>
                </a:solidFill>
                <a:highlight>
                  <a:srgbClr val="FFFF00"/>
                </a:highlight>
                <a:latin typeface="华光中雅_CNKI" panose="02000500000000000000" pitchFamily="2" charset="-122"/>
                <a:ea typeface="华光中雅_CNKI" panose="02000500000000000000" pitchFamily="2" charset="-122"/>
              </a:rPr>
              <a:t>公平</a:t>
            </a:r>
            <a:endParaRPr lang="zh-CN" altLang="en-US" sz="3200" dirty="0">
              <a:solidFill>
                <a:srgbClr val="002060"/>
              </a:solidFill>
              <a:highlight>
                <a:srgbClr val="FFFF00"/>
              </a:highlight>
              <a:latin typeface="华光中雅_CNKI" panose="02000500000000000000" pitchFamily="2" charset="-122"/>
              <a:ea typeface="华光中雅_CNKI" panose="02000500000000000000" pitchFamily="2" charset="-122"/>
            </a:endParaRPr>
          </a:p>
        </p:txBody>
      </p:sp>
      <p:sp>
        <p:nvSpPr>
          <p:cNvPr id="16" name="TextBox 15"/>
          <p:cNvSpPr txBox="1"/>
          <p:nvPr/>
        </p:nvSpPr>
        <p:spPr>
          <a:xfrm>
            <a:off x="539750" y="1268730"/>
            <a:ext cx="7992690" cy="2987675"/>
          </a:xfrm>
          <a:prstGeom prst="rect">
            <a:avLst/>
          </a:prstGeom>
          <a:noFill/>
        </p:spPr>
        <p:txBody>
          <a:bodyPr wrap="square" rtlCol="0">
            <a:noAutofit/>
          </a:bodyPr>
          <a:lstStyle/>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税收政策的另一个目标是</a:t>
            </a:r>
            <a:r>
              <a:rPr lang="zh-CN" altLang="en-US" sz="2400">
                <a:solidFill>
                  <a:srgbClr val="002060"/>
                </a:solidFill>
                <a:latin typeface="微软雅黑" panose="020B0503020204020204" pitchFamily="34" charset="-122"/>
                <a:ea typeface="微软雅黑" panose="020B0503020204020204" pitchFamily="34" charset="-122"/>
              </a:rPr>
              <a:t>：</a:t>
            </a:r>
            <a:r>
              <a:rPr lang="zh-CN" altLang="en-US" sz="2400" smtClean="0">
                <a:solidFill>
                  <a:srgbClr val="002060"/>
                </a:solidFill>
                <a:latin typeface="微软雅黑" panose="020B0503020204020204" pitchFamily="34" charset="-122"/>
                <a:ea typeface="微软雅黑" panose="020B0503020204020204" pitchFamily="34" charset="-122"/>
              </a:rPr>
              <a:t>公平，</a:t>
            </a:r>
            <a:r>
              <a:rPr lang="en-US" altLang="zh-CN" sz="2400" smtClean="0">
                <a:solidFill>
                  <a:srgbClr val="002060"/>
                </a:solidFill>
                <a:latin typeface="微软雅黑" panose="020B0503020204020204" pitchFamily="34" charset="-122"/>
                <a:ea typeface="微软雅黑" panose="020B0503020204020204" pitchFamily="34" charset="-122"/>
              </a:rPr>
              <a:t>“</a:t>
            </a:r>
            <a:r>
              <a:rPr lang="zh-CN" altLang="en-US" sz="2400" dirty="0">
                <a:solidFill>
                  <a:srgbClr val="002060"/>
                </a:solidFill>
                <a:latin typeface="微软雅黑" panose="020B0503020204020204" pitchFamily="34" charset="-122"/>
                <a:ea typeface="微软雅黑" panose="020B0503020204020204" pitchFamily="34" charset="-122"/>
              </a:rPr>
              <a:t>公平”地分配税收负担。</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就什么是“公平的”达成一致，比就什么是</a:t>
            </a:r>
            <a:r>
              <a:rPr lang="en-US" altLang="zh-CN" sz="2400" dirty="0">
                <a:solidFill>
                  <a:srgbClr val="002060"/>
                </a:solidFill>
                <a:latin typeface="微软雅黑" panose="020B0503020204020204" pitchFamily="34" charset="-122"/>
                <a:ea typeface="微软雅黑" panose="020B0503020204020204" pitchFamily="34" charset="-122"/>
              </a:rPr>
              <a:t>“</a:t>
            </a:r>
            <a:r>
              <a:rPr lang="zh-CN" altLang="en-US" sz="2400" dirty="0">
                <a:solidFill>
                  <a:srgbClr val="002060"/>
                </a:solidFill>
                <a:latin typeface="微软雅黑" panose="020B0503020204020204" pitchFamily="34" charset="-122"/>
                <a:ea typeface="微软雅黑" panose="020B0503020204020204" pitchFamily="34" charset="-122"/>
              </a:rPr>
              <a:t>有效的</a:t>
            </a:r>
            <a:r>
              <a:rPr lang="en-US" altLang="zh-CN" sz="2400" dirty="0">
                <a:solidFill>
                  <a:srgbClr val="002060"/>
                </a:solidFill>
                <a:latin typeface="微软雅黑" panose="020B0503020204020204" pitchFamily="34" charset="-122"/>
                <a:ea typeface="微软雅黑" panose="020B0503020204020204" pitchFamily="34" charset="-122"/>
              </a:rPr>
              <a:t>”</a:t>
            </a:r>
            <a:r>
              <a:rPr lang="zh-CN" altLang="en-US" sz="2400" dirty="0">
                <a:solidFill>
                  <a:srgbClr val="002060"/>
                </a:solidFill>
                <a:latin typeface="微软雅黑" panose="020B0503020204020204" pitchFamily="34" charset="-122"/>
                <a:ea typeface="微软雅黑" panose="020B0503020204020204" pitchFamily="34" charset="-122"/>
              </a:rPr>
              <a:t>达成一致要困难得多。</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然而，人们有</a:t>
            </a:r>
            <a:r>
              <a:rPr lang="en-US" altLang="zh-CN" sz="2400" dirty="0">
                <a:solidFill>
                  <a:srgbClr val="002060"/>
                </a:solidFill>
                <a:latin typeface="微软雅黑" panose="020B0503020204020204" pitchFamily="34" charset="-122"/>
                <a:ea typeface="微软雅黑" panose="020B0503020204020204" pitchFamily="34" charset="-122"/>
              </a:rPr>
              <a:t>2</a:t>
            </a:r>
            <a:r>
              <a:rPr lang="zh-CN" altLang="en-US" sz="2400" dirty="0">
                <a:solidFill>
                  <a:srgbClr val="002060"/>
                </a:solidFill>
                <a:latin typeface="微软雅黑" panose="020B0503020204020204" pitchFamily="34" charset="-122"/>
                <a:ea typeface="微软雅黑" panose="020B0503020204020204" pitchFamily="34" charset="-122"/>
              </a:rPr>
              <a:t>个原则可以用来评估税收制度的公平性。</a:t>
            </a:r>
            <a:endParaRPr lang="en-US" altLang="zh-CN" sz="2400" dirty="0">
              <a:solidFill>
                <a:srgbClr val="002060"/>
              </a:solidFill>
              <a:latin typeface="微软雅黑" panose="020B0503020204020204" pitchFamily="34" charset="-122"/>
              <a:ea typeface="微软雅黑" panose="020B0503020204020204" pitchFamily="34" charset="-122"/>
            </a:endParaRPr>
          </a:p>
          <a:p>
            <a:pPr>
              <a:lnSpc>
                <a:spcPct val="150000"/>
              </a:lnSpc>
            </a:pPr>
            <a:endParaRPr lang="en-US" altLang="zh-CN"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6"/>
            <a:ext cx="1808480" cy="583565"/>
          </a:xfrm>
          <a:prstGeom prst="rect">
            <a:avLst/>
          </a:prstGeom>
          <a:noFill/>
        </p:spPr>
        <p:txBody>
          <a:bodyPr wrap="none" rtlCol="0">
            <a:spAutoFit/>
          </a:bodyPr>
          <a:lstStyle/>
          <a:p>
            <a:r>
              <a:rPr lang="zh-CN" altLang="en-US" sz="3200" dirty="0">
                <a:solidFill>
                  <a:srgbClr val="002060"/>
                </a:solidFill>
                <a:latin typeface="华光中雅_CNKI" panose="02000500000000000000" pitchFamily="2" charset="-122"/>
                <a:ea typeface="华光中雅_CNKI" panose="02000500000000000000" pitchFamily="2" charset="-122"/>
              </a:rPr>
              <a:t>收益原则</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16" name="TextBox 15"/>
          <p:cNvSpPr txBox="1"/>
          <p:nvPr/>
        </p:nvSpPr>
        <p:spPr>
          <a:xfrm>
            <a:off x="539552" y="1268760"/>
            <a:ext cx="7920880" cy="396938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b="1" dirty="0">
                <a:solidFill>
                  <a:srgbClr val="C00000"/>
                </a:solidFill>
                <a:latin typeface="微软雅黑" panose="020B0503020204020204" pitchFamily="34" charset="-122"/>
                <a:ea typeface="微软雅黑" panose="020B0503020204020204" pitchFamily="34" charset="-122"/>
              </a:rPr>
              <a:t>收益原则：</a:t>
            </a:r>
            <a:r>
              <a:rPr lang="zh-CN" altLang="en-US" sz="2400" dirty="0">
                <a:solidFill>
                  <a:srgbClr val="002060"/>
                </a:solidFill>
                <a:latin typeface="微软雅黑" panose="020B0503020204020204" pitchFamily="34" charset="-122"/>
                <a:ea typeface="微软雅黑" panose="020B0503020204020204" pitchFamily="34" charset="-122"/>
              </a:rPr>
              <a:t>人们应该根据从政府服务中获得的收益多少来纳税。</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努力使公共产品类似于私人产品</a:t>
            </a:r>
            <a:r>
              <a:rPr lang="en-US" altLang="zh-CN" sz="2400" dirty="0">
                <a:solidFill>
                  <a:srgbClr val="002060"/>
                </a:solidFill>
                <a:latin typeface="微软雅黑" panose="020B0503020204020204" pitchFamily="34" charset="-122"/>
                <a:ea typeface="微软雅黑" panose="020B0503020204020204" pitchFamily="34" charset="-122"/>
              </a:rPr>
              <a:t>——</a:t>
            </a:r>
            <a:r>
              <a:rPr lang="zh-CN" altLang="en-US" sz="2400" dirty="0">
                <a:solidFill>
                  <a:srgbClr val="002060"/>
                </a:solidFill>
                <a:latin typeface="微软雅黑" panose="020B0503020204020204" pitchFamily="34" charset="-122"/>
                <a:ea typeface="微软雅黑" panose="020B0503020204020204" pitchFamily="34" charset="-122"/>
              </a:rPr>
              <a:t>你用得越多，你付的钱就越多。</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比如：汽油税</a:t>
            </a:r>
            <a:endParaRPr lang="en-US" altLang="zh-CN" sz="2400" dirty="0">
              <a:solidFill>
                <a:srgbClr val="002060"/>
              </a:solidFill>
              <a:latin typeface="微软雅黑" panose="020B0503020204020204" pitchFamily="34" charset="-122"/>
              <a:ea typeface="微软雅黑" panose="020B0503020204020204" pitchFamily="34" charset="-122"/>
            </a:endParaRPr>
          </a:p>
          <a:p>
            <a:pPr marL="702945"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缴纳的税款与一个人使用公共道路的程度有关。</a:t>
            </a:r>
            <a:endParaRPr lang="en-US" altLang="zh-CN" sz="2400" dirty="0">
              <a:solidFill>
                <a:srgbClr val="002060"/>
              </a:solidFill>
              <a:latin typeface="微软雅黑" panose="020B0503020204020204" pitchFamily="34" charset="-122"/>
              <a:ea typeface="微软雅黑" panose="020B0503020204020204" pitchFamily="34" charset="-122"/>
            </a:endParaRPr>
          </a:p>
          <a:p>
            <a:pPr>
              <a:lnSpc>
                <a:spcPct val="150000"/>
              </a:lnSpc>
            </a:pPr>
            <a:endParaRPr lang="en-US" altLang="zh-CN"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6"/>
            <a:ext cx="2646878" cy="584775"/>
          </a:xfrm>
          <a:prstGeom prst="rect">
            <a:avLst/>
          </a:prstGeom>
          <a:noFill/>
        </p:spPr>
        <p:txBody>
          <a:bodyPr wrap="none" rtlCol="0">
            <a:spAutoFit/>
          </a:bodyPr>
          <a:lstStyle/>
          <a:p>
            <a:r>
              <a:rPr lang="zh-CN" altLang="en-US" sz="3200" dirty="0">
                <a:solidFill>
                  <a:srgbClr val="002060"/>
                </a:solidFill>
                <a:latin typeface="华光中雅_CNKI" panose="02000500000000000000" pitchFamily="2" charset="-122"/>
                <a:ea typeface="华光中雅_CNKI" panose="02000500000000000000" pitchFamily="2" charset="-122"/>
              </a:rPr>
              <a:t>支付能力原则</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16" name="TextBox 15"/>
          <p:cNvSpPr txBox="1"/>
          <p:nvPr/>
        </p:nvSpPr>
        <p:spPr>
          <a:xfrm>
            <a:off x="539552" y="1268760"/>
            <a:ext cx="7920880" cy="341503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b="1" dirty="0">
                <a:solidFill>
                  <a:srgbClr val="C00000"/>
                </a:solidFill>
                <a:latin typeface="微软雅黑" panose="020B0503020204020204" pitchFamily="34" charset="-122"/>
                <a:ea typeface="微软雅黑" panose="020B0503020204020204" pitchFamily="34" charset="-122"/>
              </a:rPr>
              <a:t>支付能力原则：</a:t>
            </a:r>
            <a:r>
              <a:rPr lang="zh-CN" altLang="en-US" sz="2400" dirty="0">
                <a:solidFill>
                  <a:srgbClr val="002060"/>
                </a:solidFill>
                <a:latin typeface="微软雅黑" panose="020B0503020204020204" pitchFamily="34" charset="-122"/>
                <a:ea typeface="微软雅黑" panose="020B0503020204020204" pitchFamily="34" charset="-122"/>
              </a:rPr>
              <a:t>应根据个人负担能力对其征税。</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所有纳税人都应该做出“相等的牺牲”。</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en-US" altLang="zh-CN" sz="2400" dirty="0">
                <a:solidFill>
                  <a:srgbClr val="002060"/>
                </a:solidFill>
                <a:latin typeface="微软雅黑" panose="020B0503020204020204" pitchFamily="34" charset="-122"/>
                <a:ea typeface="微软雅黑" panose="020B0503020204020204" pitchFamily="34" charset="-122"/>
              </a:rPr>
              <a:t>“</a:t>
            </a:r>
            <a:r>
              <a:rPr lang="zh-CN" altLang="en-US" sz="2400" dirty="0">
                <a:solidFill>
                  <a:srgbClr val="002060"/>
                </a:solidFill>
                <a:latin typeface="微软雅黑" panose="020B0503020204020204" pitchFamily="34" charset="-122"/>
                <a:ea typeface="微软雅黑" panose="020B0503020204020204" pitchFamily="34" charset="-122"/>
              </a:rPr>
              <a:t>牺牲</a:t>
            </a:r>
            <a:r>
              <a:rPr lang="en-US" altLang="zh-CN" sz="2400" dirty="0">
                <a:solidFill>
                  <a:srgbClr val="002060"/>
                </a:solidFill>
                <a:latin typeface="微软雅黑" panose="020B0503020204020204" pitchFamily="34" charset="-122"/>
                <a:ea typeface="微软雅黑" panose="020B0503020204020204" pitchFamily="34" charset="-122"/>
              </a:rPr>
              <a:t>”</a:t>
            </a:r>
            <a:r>
              <a:rPr lang="zh-CN" altLang="en-US" sz="2400" dirty="0">
                <a:solidFill>
                  <a:srgbClr val="002060"/>
                </a:solidFill>
                <a:latin typeface="微软雅黑" panose="020B0503020204020204" pitchFamily="34" charset="-122"/>
                <a:ea typeface="微软雅黑" panose="020B0503020204020204" pitchFamily="34" charset="-122"/>
              </a:rPr>
              <a:t>的程度不仅取决于税款的多少，还取决于个人的收入和其他情况。</a:t>
            </a:r>
            <a:endParaRPr lang="en-US" altLang="zh-CN" sz="2400" dirty="0">
              <a:solidFill>
                <a:srgbClr val="002060"/>
              </a:solidFill>
              <a:latin typeface="微软雅黑" panose="020B0503020204020204" pitchFamily="34" charset="-122"/>
              <a:ea typeface="微软雅黑" panose="020B0503020204020204" pitchFamily="34" charset="-122"/>
            </a:endParaRPr>
          </a:p>
          <a:p>
            <a:pPr marL="702945" indent="-342900">
              <a:lnSpc>
                <a:spcPct val="150000"/>
              </a:lnSpc>
              <a:buFont typeface="Arial" panose="020B0604020202020204" pitchFamily="34" charset="0"/>
              <a:buChar char="•"/>
            </a:pPr>
            <a:r>
              <a:rPr lang="en-US" altLang="zh-CN" sz="2400" dirty="0">
                <a:solidFill>
                  <a:srgbClr val="002060"/>
                </a:solidFill>
                <a:latin typeface="微软雅黑" panose="020B0503020204020204" pitchFamily="34" charset="-122"/>
                <a:ea typeface="微软雅黑" panose="020B0503020204020204" pitchFamily="34" charset="-122"/>
              </a:rPr>
              <a:t>1</a:t>
            </a:r>
            <a:r>
              <a:rPr lang="zh-CN" altLang="en-US" sz="2400" dirty="0">
                <a:solidFill>
                  <a:srgbClr val="002060"/>
                </a:solidFill>
                <a:latin typeface="微软雅黑" panose="020B0503020204020204" pitchFamily="34" charset="-122"/>
                <a:ea typeface="微软雅黑" panose="020B0503020204020204" pitchFamily="34" charset="-122"/>
              </a:rPr>
              <a:t>万元的税单对穷人来说，是比富人更大的牺牲。</a:t>
            </a:r>
            <a:endParaRPr lang="en-US" altLang="zh-CN" sz="2400" dirty="0">
              <a:solidFill>
                <a:srgbClr val="002060"/>
              </a:solidFill>
              <a:latin typeface="微软雅黑" panose="020B0503020204020204" pitchFamily="34" charset="-122"/>
              <a:ea typeface="微软雅黑" panose="020B0503020204020204" pitchFamily="34" charset="-122"/>
            </a:endParaRPr>
          </a:p>
          <a:p>
            <a:pPr>
              <a:lnSpc>
                <a:spcPct val="150000"/>
              </a:lnSpc>
            </a:pPr>
            <a:endParaRPr lang="zh-CN" altLang="en-US" sz="2400" dirty="0">
              <a:solidFill>
                <a:srgbClr val="002060"/>
              </a:solidFill>
              <a:latin typeface="微软雅黑" panose="020B0503020204020204" pitchFamily="34" charset="-122"/>
              <a:ea typeface="微软雅黑" panose="020B0503020204020204" pitchFamily="34" charset="-122"/>
            </a:endParaRPr>
          </a:p>
        </p:txBody>
      </p:sp>
      <p:sp>
        <p:nvSpPr>
          <p:cNvPr id="2" name="TextBox 15"/>
          <p:cNvSpPr txBox="1"/>
          <p:nvPr>
            <p:custDataLst>
              <p:tags r:id="rId2"/>
            </p:custDataLst>
          </p:nvPr>
        </p:nvSpPr>
        <p:spPr>
          <a:xfrm>
            <a:off x="611505" y="4004945"/>
            <a:ext cx="8230870" cy="1838960"/>
          </a:xfrm>
          <a:prstGeom prst="rect">
            <a:avLst/>
          </a:prstGeom>
          <a:noFill/>
        </p:spPr>
        <p:txBody>
          <a:bodyPr wrap="square" rtlCol="0">
            <a:noAutofit/>
          </a:bodyPr>
          <a:lstStyle/>
          <a:p>
            <a:pPr marL="342900" indent="-342900">
              <a:lnSpc>
                <a:spcPct val="150000"/>
              </a:lnSpc>
              <a:buFont typeface="Arial" panose="020B0604020202020204" pitchFamily="34" charset="0"/>
              <a:buChar char="•"/>
            </a:pPr>
            <a:r>
              <a:rPr lang="zh-CN" altLang="en-US" sz="2400" i="1" dirty="0">
                <a:solidFill>
                  <a:srgbClr val="002060"/>
                </a:solidFill>
                <a:latin typeface="微软雅黑" panose="020B0503020204020204" pitchFamily="34" charset="-122"/>
                <a:ea typeface="微软雅黑" panose="020B0503020204020204" pitchFamily="34" charset="-122"/>
              </a:rPr>
              <a:t>垂直公平</a:t>
            </a:r>
            <a:r>
              <a:rPr lang="zh-CN" altLang="en-US" sz="2400" dirty="0">
                <a:solidFill>
                  <a:srgbClr val="002060"/>
                </a:solidFill>
                <a:latin typeface="微软雅黑" panose="020B0503020204020204" pitchFamily="34" charset="-122"/>
                <a:ea typeface="微软雅黑" panose="020B0503020204020204" pitchFamily="34" charset="-122"/>
              </a:rPr>
              <a:t>：纳税能力更强的纳税人应该支付更大的金额。</a:t>
            </a:r>
            <a:endParaRPr lang="zh-CN" altLang="en-US"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i="1" dirty="0">
                <a:solidFill>
                  <a:srgbClr val="002060"/>
                </a:solidFill>
                <a:latin typeface="微软雅黑" panose="020B0503020204020204" pitchFamily="34" charset="-122"/>
                <a:ea typeface="微软雅黑" panose="020B0503020204020204" pitchFamily="34" charset="-122"/>
                <a:sym typeface="+mn-ea"/>
              </a:rPr>
              <a:t>横向公平：</a:t>
            </a:r>
            <a:r>
              <a:rPr lang="zh-CN" altLang="en-US" sz="2400" dirty="0">
                <a:solidFill>
                  <a:srgbClr val="002060"/>
                </a:solidFill>
                <a:latin typeface="微软雅黑" panose="020B0503020204020204" pitchFamily="34" charset="-122"/>
                <a:ea typeface="微软雅黑" panose="020B0503020204020204" pitchFamily="34" charset="-122"/>
                <a:sym typeface="+mn-ea"/>
              </a:rPr>
              <a:t>纳税能力相似的纳税人应该支付相同税款。问题是除了收入之外，很难就</a:t>
            </a:r>
            <a:r>
              <a:rPr lang="zh-CN" altLang="en-US" sz="2400" u="sng" dirty="0">
                <a:solidFill>
                  <a:srgbClr val="002060"/>
                </a:solidFill>
                <a:latin typeface="微软雅黑" panose="020B0503020204020204" pitchFamily="34" charset="-122"/>
                <a:ea typeface="微软雅黑" panose="020B0503020204020204" pitchFamily="34" charset="-122"/>
                <a:sym typeface="+mn-ea"/>
              </a:rPr>
              <a:t>决定支付能力的因</a:t>
            </a:r>
            <a:r>
              <a:rPr lang="zh-CN" altLang="en-US" sz="2400" dirty="0">
                <a:solidFill>
                  <a:srgbClr val="002060"/>
                </a:solidFill>
                <a:latin typeface="微软雅黑" panose="020B0503020204020204" pitchFamily="34" charset="-122"/>
                <a:ea typeface="微软雅黑" panose="020B0503020204020204" pitchFamily="34" charset="-122"/>
                <a:sym typeface="+mn-ea"/>
              </a:rPr>
              <a:t>素达成一致。</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endParaRPr lang="en-US" altLang="zh-CN" sz="2400" dirty="0">
              <a:solidFill>
                <a:srgbClr val="002060"/>
              </a:solidFill>
              <a:latin typeface="微软雅黑" panose="020B0503020204020204" pitchFamily="34" charset="-122"/>
              <a:ea typeface="微软雅黑" panose="020B0503020204020204" pitchFamily="34" charset="-122"/>
            </a:endParaRPr>
          </a:p>
          <a:p>
            <a:pPr>
              <a:lnSpc>
                <a:spcPct val="150000"/>
              </a:lnSpc>
            </a:pPr>
            <a:endParaRPr lang="en-US" altLang="zh-CN"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6"/>
            <a:ext cx="2646878" cy="584775"/>
          </a:xfrm>
          <a:prstGeom prst="rect">
            <a:avLst/>
          </a:prstGeom>
          <a:noFill/>
        </p:spPr>
        <p:txBody>
          <a:bodyPr wrap="none" rtlCol="0">
            <a:spAutoFit/>
          </a:bodyPr>
          <a:lstStyle/>
          <a:p>
            <a:r>
              <a:rPr lang="zh-CN" altLang="en-US" sz="3200" dirty="0">
                <a:solidFill>
                  <a:srgbClr val="002060"/>
                </a:solidFill>
                <a:latin typeface="华光中雅_CNKI" panose="02000500000000000000" pitchFamily="2" charset="-122"/>
                <a:ea typeface="华光中雅_CNKI" panose="02000500000000000000" pitchFamily="2" charset="-122"/>
              </a:rPr>
              <a:t>三种税收制度</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16" name="TextBox 15"/>
          <p:cNvSpPr txBox="1"/>
          <p:nvPr/>
        </p:nvSpPr>
        <p:spPr>
          <a:xfrm>
            <a:off x="539552" y="1268760"/>
            <a:ext cx="7920880" cy="341503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b="1" dirty="0">
                <a:solidFill>
                  <a:srgbClr val="C00000"/>
                </a:solidFill>
                <a:latin typeface="微软雅黑" panose="020B0503020204020204" pitchFamily="34" charset="-122"/>
                <a:ea typeface="微软雅黑" panose="020B0503020204020204" pitchFamily="34" charset="-122"/>
              </a:rPr>
              <a:t>比例税： </a:t>
            </a:r>
            <a:endParaRPr lang="en-US" altLang="zh-CN" sz="2400" b="1" dirty="0">
              <a:solidFill>
                <a:srgbClr val="C00000"/>
              </a:solidFill>
              <a:latin typeface="微软雅黑" panose="020B0503020204020204" pitchFamily="34" charset="-122"/>
              <a:ea typeface="微软雅黑" panose="020B0503020204020204" pitchFamily="34" charset="-122"/>
            </a:endParaRPr>
          </a:p>
          <a:p>
            <a:pPr marL="360045">
              <a:lnSpc>
                <a:spcPct val="150000"/>
              </a:lnSpc>
            </a:pPr>
            <a:r>
              <a:rPr lang="zh-CN" altLang="en-US" sz="2400" dirty="0">
                <a:solidFill>
                  <a:srgbClr val="002060"/>
                </a:solidFill>
                <a:latin typeface="微软雅黑" panose="020B0503020204020204" pitchFamily="34" charset="-122"/>
                <a:ea typeface="微软雅黑" panose="020B0503020204020204" pitchFamily="34" charset="-122"/>
              </a:rPr>
              <a:t>无论收入如何，纳税人都要支付相同比例的税款。</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b="1" dirty="0">
                <a:solidFill>
                  <a:srgbClr val="C00000"/>
                </a:solidFill>
                <a:latin typeface="微软雅黑" panose="020B0503020204020204" pitchFamily="34" charset="-122"/>
                <a:ea typeface="微软雅黑" panose="020B0503020204020204" pitchFamily="34" charset="-122"/>
              </a:rPr>
              <a:t>累退税：</a:t>
            </a:r>
            <a:endParaRPr lang="en-US" altLang="zh-CN" sz="2400" b="1" dirty="0">
              <a:solidFill>
                <a:srgbClr val="C00000"/>
              </a:solidFill>
              <a:latin typeface="微软雅黑" panose="020B0503020204020204" pitchFamily="34" charset="-122"/>
              <a:ea typeface="微软雅黑" panose="020B0503020204020204" pitchFamily="34" charset="-122"/>
            </a:endParaRPr>
          </a:p>
          <a:p>
            <a:pPr marL="360045">
              <a:lnSpc>
                <a:spcPct val="150000"/>
              </a:lnSpc>
            </a:pPr>
            <a:r>
              <a:rPr lang="zh-CN" altLang="en-US" sz="2400" dirty="0">
                <a:solidFill>
                  <a:srgbClr val="002060"/>
                </a:solidFill>
                <a:latin typeface="微软雅黑" panose="020B0503020204020204" pitchFamily="34" charset="-122"/>
                <a:ea typeface="微软雅黑" panose="020B0503020204020204" pitchFamily="34" charset="-122"/>
              </a:rPr>
              <a:t>高收入纳税人支付的税款比例，低于低收入纳税人。</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b="1" dirty="0">
                <a:solidFill>
                  <a:srgbClr val="C00000"/>
                </a:solidFill>
                <a:latin typeface="微软雅黑" panose="020B0503020204020204" pitchFamily="34" charset="-122"/>
                <a:ea typeface="微软雅黑" panose="020B0503020204020204" pitchFamily="34" charset="-122"/>
              </a:rPr>
              <a:t>累进税：</a:t>
            </a:r>
            <a:endParaRPr lang="en-US" altLang="zh-CN" sz="2400" b="1" dirty="0">
              <a:solidFill>
                <a:srgbClr val="C00000"/>
              </a:solidFill>
              <a:latin typeface="微软雅黑" panose="020B0503020204020204" pitchFamily="34" charset="-122"/>
              <a:ea typeface="微软雅黑" panose="020B0503020204020204" pitchFamily="34" charset="-122"/>
            </a:endParaRPr>
          </a:p>
          <a:p>
            <a:pPr marL="360045">
              <a:lnSpc>
                <a:spcPct val="150000"/>
              </a:lnSpc>
            </a:pPr>
            <a:r>
              <a:rPr lang="zh-CN" altLang="en-US" sz="2400" dirty="0">
                <a:solidFill>
                  <a:srgbClr val="002060"/>
                </a:solidFill>
                <a:latin typeface="微软雅黑" panose="020B0503020204020204" pitchFamily="34" charset="-122"/>
                <a:ea typeface="微软雅黑" panose="020B0503020204020204" pitchFamily="34" charset="-122"/>
              </a:rPr>
              <a:t>高收入纳税人支付的税款比例，高于低收入纳税人。</a:t>
            </a:r>
            <a:endParaRPr lang="en-US" altLang="zh-CN"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7"/>
            <a:ext cx="3877985" cy="584775"/>
          </a:xfrm>
          <a:prstGeom prst="rect">
            <a:avLst/>
          </a:prstGeom>
          <a:noFill/>
        </p:spPr>
        <p:txBody>
          <a:bodyPr wrap="none" rtlCol="0">
            <a:spAutoFit/>
          </a:bodyPr>
          <a:lstStyle/>
          <a:p>
            <a:r>
              <a:rPr lang="zh-CN" altLang="en-US" sz="3200" dirty="0">
                <a:solidFill>
                  <a:srgbClr val="002060"/>
                </a:solidFill>
                <a:latin typeface="华光中雅_CNKI" panose="02000500000000000000" pitchFamily="2" charset="-122"/>
                <a:ea typeface="华光中雅_CNKI" panose="02000500000000000000" pitchFamily="2" charset="-122"/>
              </a:rPr>
              <a:t>三种税收制度的例子</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2" name="Rectangle 186"/>
          <p:cNvSpPr>
            <a:spLocks noChangeArrowheads="1"/>
          </p:cNvSpPr>
          <p:nvPr/>
        </p:nvSpPr>
        <p:spPr bwMode="auto">
          <a:xfrm>
            <a:off x="331788" y="1822549"/>
            <a:ext cx="8489950" cy="3619500"/>
          </a:xfrm>
          <a:prstGeom prst="rect">
            <a:avLst/>
          </a:prstGeom>
          <a:solidFill>
            <a:srgbClr val="CCFFCC"/>
          </a:solidFill>
          <a:ln w="9525">
            <a:noFill/>
            <a:miter lim="800000"/>
          </a:ln>
        </p:spPr>
        <p:txBody>
          <a:bodyPr wrap="none" anchor="ctr"/>
          <a:lstStyle/>
          <a:p>
            <a:endParaRPr lang="en-US">
              <a:latin typeface="Arial" panose="020B0604020202020204"/>
              <a:cs typeface="Arial" panose="020B0604020202020204"/>
            </a:endParaRPr>
          </a:p>
        </p:txBody>
      </p:sp>
      <p:sp>
        <p:nvSpPr>
          <p:cNvPr id="3" name="Rectangle 33"/>
          <p:cNvSpPr>
            <a:spLocks noChangeArrowheads="1"/>
          </p:cNvSpPr>
          <p:nvPr/>
        </p:nvSpPr>
        <p:spPr bwMode="auto">
          <a:xfrm>
            <a:off x="327025" y="4754662"/>
            <a:ext cx="1233488" cy="690562"/>
          </a:xfrm>
          <a:prstGeom prst="rect">
            <a:avLst/>
          </a:prstGeom>
          <a:noFill/>
          <a:ln w="9525">
            <a:noFill/>
            <a:miter lim="800000"/>
          </a:ln>
        </p:spPr>
        <p:txBody>
          <a:bodyPr anchor="ctr"/>
          <a:lstStyle/>
          <a:p>
            <a:pPr>
              <a:lnSpc>
                <a:spcPct val="105000"/>
              </a:lnSpc>
              <a:spcBef>
                <a:spcPct val="45000"/>
              </a:spcBef>
              <a:buClr>
                <a:srgbClr val="00B85C"/>
              </a:buClr>
              <a:buSzPct val="120000"/>
              <a:buFont typeface="Wingdings" panose="05000000000000000000" pitchFamily="2" charset="2"/>
              <a:buNone/>
            </a:pPr>
            <a:r>
              <a:rPr lang="en-US" sz="2200">
                <a:latin typeface="Arial" panose="020B0604020202020204"/>
                <a:cs typeface="Arial" panose="020B0604020202020204"/>
              </a:rPr>
              <a:t>200,000</a:t>
            </a:r>
            <a:endParaRPr lang="en-US" sz="2200">
              <a:latin typeface="Arial" panose="020B0604020202020204"/>
              <a:cs typeface="Arial" panose="020B0604020202020204"/>
            </a:endParaRPr>
          </a:p>
        </p:txBody>
      </p:sp>
      <p:sp>
        <p:nvSpPr>
          <p:cNvPr id="4" name="Rectangle 26"/>
          <p:cNvSpPr>
            <a:spLocks noChangeArrowheads="1"/>
          </p:cNvSpPr>
          <p:nvPr/>
        </p:nvSpPr>
        <p:spPr bwMode="auto">
          <a:xfrm>
            <a:off x="327025" y="4065687"/>
            <a:ext cx="1233488" cy="688975"/>
          </a:xfrm>
          <a:prstGeom prst="rect">
            <a:avLst/>
          </a:prstGeom>
          <a:noFill/>
          <a:ln w="9525">
            <a:noFill/>
            <a:miter lim="800000"/>
          </a:ln>
        </p:spPr>
        <p:txBody>
          <a:bodyPr anchor="ctr"/>
          <a:lstStyle/>
          <a:p>
            <a:pPr>
              <a:lnSpc>
                <a:spcPct val="105000"/>
              </a:lnSpc>
              <a:spcBef>
                <a:spcPct val="45000"/>
              </a:spcBef>
              <a:buClr>
                <a:srgbClr val="00B85C"/>
              </a:buClr>
              <a:buSzPct val="120000"/>
              <a:buFont typeface="Wingdings" panose="05000000000000000000" pitchFamily="2" charset="2"/>
              <a:buNone/>
            </a:pPr>
            <a:r>
              <a:rPr lang="en-US" sz="2200">
                <a:latin typeface="Arial" panose="020B0604020202020204"/>
                <a:cs typeface="Arial" panose="020B0604020202020204"/>
              </a:rPr>
              <a:t>100,000</a:t>
            </a:r>
            <a:endParaRPr lang="en-US" sz="2200">
              <a:latin typeface="Arial" panose="020B0604020202020204"/>
              <a:cs typeface="Arial" panose="020B0604020202020204"/>
            </a:endParaRPr>
          </a:p>
        </p:txBody>
      </p:sp>
      <p:sp>
        <p:nvSpPr>
          <p:cNvPr id="7" name="Rectangle 19"/>
          <p:cNvSpPr>
            <a:spLocks noChangeArrowheads="1"/>
          </p:cNvSpPr>
          <p:nvPr/>
        </p:nvSpPr>
        <p:spPr bwMode="auto">
          <a:xfrm>
            <a:off x="327025" y="3378200"/>
            <a:ext cx="1363980" cy="687705"/>
          </a:xfrm>
          <a:prstGeom prst="rect">
            <a:avLst/>
          </a:prstGeom>
          <a:noFill/>
          <a:ln w="9525">
            <a:noFill/>
            <a:miter lim="800000"/>
          </a:ln>
        </p:spPr>
        <p:txBody>
          <a:bodyPr anchor="ctr"/>
          <a:lstStyle/>
          <a:p>
            <a:pPr>
              <a:lnSpc>
                <a:spcPct val="105000"/>
              </a:lnSpc>
              <a:spcBef>
                <a:spcPct val="45000"/>
              </a:spcBef>
              <a:buClr>
                <a:srgbClr val="00B85C"/>
              </a:buClr>
              <a:buSzPct val="120000"/>
              <a:buFont typeface="Wingdings" panose="05000000000000000000" pitchFamily="2" charset="2"/>
              <a:buNone/>
            </a:pPr>
            <a:r>
              <a:rPr lang="en-US" sz="2200">
                <a:latin typeface="Arial" panose="020B0604020202020204"/>
                <a:cs typeface="Arial" panose="020B0604020202020204"/>
              </a:rPr>
              <a:t>50,000</a:t>
            </a:r>
            <a:r>
              <a:rPr lang="zh-CN" altLang="en-US" sz="2200">
                <a:latin typeface="Arial" panose="020B0604020202020204"/>
                <a:cs typeface="Arial" panose="020B0604020202020204"/>
              </a:rPr>
              <a:t>元</a:t>
            </a:r>
            <a:endParaRPr lang="zh-CN" altLang="en-US" sz="2200">
              <a:latin typeface="Arial" panose="020B0604020202020204"/>
              <a:cs typeface="Arial" panose="020B0604020202020204"/>
            </a:endParaRPr>
          </a:p>
        </p:txBody>
      </p:sp>
      <p:sp>
        <p:nvSpPr>
          <p:cNvPr id="8" name="Rectangle 18"/>
          <p:cNvSpPr>
            <a:spLocks noChangeArrowheads="1"/>
          </p:cNvSpPr>
          <p:nvPr/>
        </p:nvSpPr>
        <p:spPr bwMode="auto">
          <a:xfrm>
            <a:off x="7724775" y="2506762"/>
            <a:ext cx="1098550" cy="871537"/>
          </a:xfrm>
          <a:prstGeom prst="rect">
            <a:avLst/>
          </a:prstGeom>
          <a:noFill/>
          <a:ln w="9525">
            <a:noFill/>
            <a:miter lim="800000"/>
          </a:ln>
        </p:spPr>
        <p:txBody>
          <a:bodyPr anchor="ctr"/>
          <a:lstStyle/>
          <a:p>
            <a:pPr algn="ctr">
              <a:lnSpc>
                <a:spcPct val="105000"/>
              </a:lnSpc>
              <a:spcBef>
                <a:spcPct val="45000"/>
              </a:spcBef>
              <a:buClr>
                <a:srgbClr val="00B85C"/>
              </a:buClr>
              <a:buSzPct val="120000"/>
              <a:buFont typeface="Wingdings" panose="05000000000000000000" pitchFamily="2" charset="2"/>
              <a:buNone/>
            </a:pPr>
            <a:r>
              <a:rPr lang="en-US" sz="2200" dirty="0">
                <a:latin typeface="Arial" panose="020B0604020202020204"/>
                <a:cs typeface="Arial" panose="020B0604020202020204"/>
              </a:rPr>
              <a:t>%</a:t>
            </a:r>
            <a:endParaRPr lang="en-US" sz="2200" dirty="0">
              <a:latin typeface="Arial" panose="020B0604020202020204"/>
              <a:cs typeface="Arial" panose="020B0604020202020204"/>
            </a:endParaRPr>
          </a:p>
        </p:txBody>
      </p:sp>
      <p:sp>
        <p:nvSpPr>
          <p:cNvPr id="9" name="Rectangle 17"/>
          <p:cNvSpPr>
            <a:spLocks noChangeArrowheads="1"/>
          </p:cNvSpPr>
          <p:nvPr/>
        </p:nvSpPr>
        <p:spPr bwMode="auto">
          <a:xfrm>
            <a:off x="6386513" y="2506762"/>
            <a:ext cx="1338262" cy="871537"/>
          </a:xfrm>
          <a:prstGeom prst="rect">
            <a:avLst/>
          </a:prstGeom>
          <a:noFill/>
          <a:ln w="9525">
            <a:noFill/>
            <a:miter lim="800000"/>
          </a:ln>
        </p:spPr>
        <p:txBody>
          <a:bodyPr anchor="ctr"/>
          <a:lstStyle/>
          <a:p>
            <a:pPr algn="ctr">
              <a:lnSpc>
                <a:spcPct val="105000"/>
              </a:lnSpc>
              <a:spcBef>
                <a:spcPct val="45000"/>
              </a:spcBef>
              <a:buClr>
                <a:srgbClr val="00B85C"/>
              </a:buClr>
              <a:buSzPct val="120000"/>
              <a:buFont typeface="Wingdings" panose="05000000000000000000" pitchFamily="2" charset="2"/>
              <a:buNone/>
            </a:pPr>
            <a:r>
              <a:rPr lang="zh-CN" altLang="en-US" sz="2200" dirty="0">
                <a:latin typeface="Arial" panose="020B0604020202020204"/>
                <a:cs typeface="Arial" panose="020B0604020202020204"/>
              </a:rPr>
              <a:t>税收</a:t>
            </a:r>
            <a:endParaRPr lang="en-US" altLang="zh-CN" sz="2200" dirty="0">
              <a:latin typeface="Arial" panose="020B0604020202020204"/>
              <a:cs typeface="Arial" panose="020B0604020202020204"/>
            </a:endParaRPr>
          </a:p>
        </p:txBody>
      </p:sp>
      <p:sp>
        <p:nvSpPr>
          <p:cNvPr id="10" name="Rectangle 16"/>
          <p:cNvSpPr>
            <a:spLocks noChangeArrowheads="1"/>
          </p:cNvSpPr>
          <p:nvPr/>
        </p:nvSpPr>
        <p:spPr bwMode="auto">
          <a:xfrm>
            <a:off x="5257800" y="2506762"/>
            <a:ext cx="1128713" cy="871537"/>
          </a:xfrm>
          <a:prstGeom prst="rect">
            <a:avLst/>
          </a:prstGeom>
          <a:noFill/>
          <a:ln w="9525">
            <a:noFill/>
            <a:miter lim="800000"/>
          </a:ln>
        </p:spPr>
        <p:txBody>
          <a:bodyPr anchor="ctr"/>
          <a:lstStyle/>
          <a:p>
            <a:pPr algn="ctr">
              <a:lnSpc>
                <a:spcPct val="105000"/>
              </a:lnSpc>
              <a:spcBef>
                <a:spcPct val="45000"/>
              </a:spcBef>
              <a:buClr>
                <a:srgbClr val="00B85C"/>
              </a:buClr>
              <a:buSzPct val="120000"/>
              <a:buFont typeface="Wingdings" panose="05000000000000000000" pitchFamily="2" charset="2"/>
              <a:buNone/>
            </a:pPr>
            <a:r>
              <a:rPr lang="en-US" sz="2200" dirty="0">
                <a:latin typeface="Arial" panose="020B0604020202020204"/>
                <a:cs typeface="Arial" panose="020B0604020202020204"/>
              </a:rPr>
              <a:t>% </a:t>
            </a:r>
            <a:endParaRPr lang="en-US" sz="2200" dirty="0">
              <a:latin typeface="Arial" panose="020B0604020202020204"/>
              <a:cs typeface="Arial" panose="020B0604020202020204"/>
            </a:endParaRPr>
          </a:p>
        </p:txBody>
      </p:sp>
      <p:sp>
        <p:nvSpPr>
          <p:cNvPr id="11" name="Rectangle 15"/>
          <p:cNvSpPr>
            <a:spLocks noChangeArrowheads="1"/>
          </p:cNvSpPr>
          <p:nvPr/>
        </p:nvSpPr>
        <p:spPr bwMode="auto">
          <a:xfrm>
            <a:off x="3890963" y="2506762"/>
            <a:ext cx="1366837" cy="871537"/>
          </a:xfrm>
          <a:prstGeom prst="rect">
            <a:avLst/>
          </a:prstGeom>
          <a:noFill/>
          <a:ln w="9525">
            <a:noFill/>
            <a:miter lim="800000"/>
          </a:ln>
        </p:spPr>
        <p:txBody>
          <a:bodyPr anchor="ctr"/>
          <a:lstStyle/>
          <a:p>
            <a:pPr algn="ctr">
              <a:lnSpc>
                <a:spcPct val="105000"/>
              </a:lnSpc>
              <a:spcBef>
                <a:spcPct val="45000"/>
              </a:spcBef>
              <a:buClr>
                <a:srgbClr val="00B85C"/>
              </a:buClr>
              <a:buSzPct val="120000"/>
              <a:buFont typeface="Wingdings" panose="05000000000000000000" pitchFamily="2" charset="2"/>
              <a:buNone/>
            </a:pPr>
            <a:r>
              <a:rPr lang="zh-CN" altLang="en-US" sz="2200" dirty="0">
                <a:latin typeface="Arial" panose="020B0604020202020204"/>
                <a:cs typeface="Arial" panose="020B0604020202020204"/>
              </a:rPr>
              <a:t>税收</a:t>
            </a:r>
            <a:endParaRPr lang="en-US" altLang="zh-CN" sz="2200" dirty="0">
              <a:latin typeface="Arial" panose="020B0604020202020204"/>
              <a:cs typeface="Arial" panose="020B0604020202020204"/>
            </a:endParaRPr>
          </a:p>
        </p:txBody>
      </p:sp>
      <p:sp>
        <p:nvSpPr>
          <p:cNvPr id="12" name="Rectangle 14"/>
          <p:cNvSpPr>
            <a:spLocks noChangeArrowheads="1"/>
          </p:cNvSpPr>
          <p:nvPr/>
        </p:nvSpPr>
        <p:spPr bwMode="auto">
          <a:xfrm>
            <a:off x="2794000" y="2506762"/>
            <a:ext cx="1096963" cy="871537"/>
          </a:xfrm>
          <a:prstGeom prst="rect">
            <a:avLst/>
          </a:prstGeom>
          <a:noFill/>
          <a:ln w="9525">
            <a:noFill/>
            <a:miter lim="800000"/>
          </a:ln>
        </p:spPr>
        <p:txBody>
          <a:bodyPr anchor="ctr"/>
          <a:lstStyle/>
          <a:p>
            <a:pPr algn="ctr">
              <a:lnSpc>
                <a:spcPct val="105000"/>
              </a:lnSpc>
              <a:spcBef>
                <a:spcPct val="45000"/>
              </a:spcBef>
              <a:buClr>
                <a:srgbClr val="00B85C"/>
              </a:buClr>
              <a:buSzPct val="120000"/>
              <a:buFont typeface="Wingdings" panose="05000000000000000000" pitchFamily="2" charset="2"/>
              <a:buNone/>
            </a:pPr>
            <a:r>
              <a:rPr lang="en-US" sz="2200" dirty="0">
                <a:latin typeface="Arial" panose="020B0604020202020204"/>
                <a:cs typeface="Arial" panose="020B0604020202020204"/>
              </a:rPr>
              <a:t>% </a:t>
            </a:r>
            <a:endParaRPr lang="en-US" sz="2200" dirty="0">
              <a:latin typeface="Arial" panose="020B0604020202020204"/>
              <a:cs typeface="Arial" panose="020B0604020202020204"/>
            </a:endParaRPr>
          </a:p>
        </p:txBody>
      </p:sp>
      <p:sp>
        <p:nvSpPr>
          <p:cNvPr id="13" name="Rectangle 13"/>
          <p:cNvSpPr>
            <a:spLocks noChangeArrowheads="1"/>
          </p:cNvSpPr>
          <p:nvPr/>
        </p:nvSpPr>
        <p:spPr bwMode="auto">
          <a:xfrm>
            <a:off x="1560513" y="2506762"/>
            <a:ext cx="1233487" cy="871537"/>
          </a:xfrm>
          <a:prstGeom prst="rect">
            <a:avLst/>
          </a:prstGeom>
          <a:noFill/>
          <a:ln w="9525">
            <a:noFill/>
            <a:miter lim="800000"/>
          </a:ln>
        </p:spPr>
        <p:txBody>
          <a:bodyPr anchor="ctr"/>
          <a:lstStyle/>
          <a:p>
            <a:pPr algn="ctr">
              <a:lnSpc>
                <a:spcPct val="105000"/>
              </a:lnSpc>
              <a:spcBef>
                <a:spcPct val="45000"/>
              </a:spcBef>
              <a:buClr>
                <a:srgbClr val="00B85C"/>
              </a:buClr>
              <a:buSzPct val="120000"/>
              <a:buFont typeface="Wingdings" panose="05000000000000000000" pitchFamily="2" charset="2"/>
              <a:buNone/>
            </a:pPr>
            <a:r>
              <a:rPr lang="zh-CN" altLang="en-US" sz="2200" dirty="0">
                <a:latin typeface="Arial" panose="020B0604020202020204"/>
                <a:cs typeface="Arial" panose="020B0604020202020204"/>
              </a:rPr>
              <a:t>税收</a:t>
            </a:r>
            <a:endParaRPr lang="en-US" sz="2200" dirty="0">
              <a:latin typeface="Arial" panose="020B0604020202020204"/>
              <a:cs typeface="Arial" panose="020B0604020202020204"/>
            </a:endParaRPr>
          </a:p>
        </p:txBody>
      </p:sp>
      <p:sp>
        <p:nvSpPr>
          <p:cNvPr id="14" name="Rectangle 12"/>
          <p:cNvSpPr>
            <a:spLocks noChangeArrowheads="1"/>
          </p:cNvSpPr>
          <p:nvPr/>
        </p:nvSpPr>
        <p:spPr bwMode="auto">
          <a:xfrm>
            <a:off x="327025" y="2506762"/>
            <a:ext cx="1233488" cy="871537"/>
          </a:xfrm>
          <a:prstGeom prst="rect">
            <a:avLst/>
          </a:prstGeom>
          <a:noFill/>
          <a:ln w="9525">
            <a:noFill/>
            <a:miter lim="800000"/>
          </a:ln>
        </p:spPr>
        <p:txBody>
          <a:bodyPr anchor="ctr"/>
          <a:lstStyle/>
          <a:p>
            <a:pPr algn="ctr">
              <a:lnSpc>
                <a:spcPct val="105000"/>
              </a:lnSpc>
              <a:spcBef>
                <a:spcPct val="45000"/>
              </a:spcBef>
              <a:buClr>
                <a:srgbClr val="00B85C"/>
              </a:buClr>
              <a:buSzPct val="120000"/>
              <a:buFont typeface="Wingdings" panose="05000000000000000000" pitchFamily="2" charset="2"/>
              <a:buNone/>
            </a:pPr>
            <a:r>
              <a:rPr lang="zh-CN" altLang="en-US" sz="2200" dirty="0">
                <a:latin typeface="Arial" panose="020B0604020202020204"/>
                <a:cs typeface="Arial" panose="020B0604020202020204"/>
              </a:rPr>
              <a:t>收入</a:t>
            </a:r>
            <a:endParaRPr lang="en-US" sz="2200" dirty="0">
              <a:latin typeface="Arial" panose="020B0604020202020204"/>
              <a:cs typeface="Arial" panose="020B0604020202020204"/>
            </a:endParaRPr>
          </a:p>
        </p:txBody>
      </p:sp>
      <p:grpSp>
        <p:nvGrpSpPr>
          <p:cNvPr id="15" name="Group 216"/>
          <p:cNvGrpSpPr/>
          <p:nvPr/>
        </p:nvGrpSpPr>
        <p:grpSpPr bwMode="auto">
          <a:xfrm>
            <a:off x="6386513" y="1816199"/>
            <a:ext cx="2436812" cy="3629025"/>
            <a:chOff x="4023" y="750"/>
            <a:chExt cx="1535" cy="2286"/>
          </a:xfrm>
        </p:grpSpPr>
        <p:sp>
          <p:nvSpPr>
            <p:cNvPr id="17" name="Rectangle 39"/>
            <p:cNvSpPr>
              <a:spLocks noChangeArrowheads="1"/>
            </p:cNvSpPr>
            <p:nvPr/>
          </p:nvSpPr>
          <p:spPr bwMode="auto">
            <a:xfrm>
              <a:off x="4866" y="2601"/>
              <a:ext cx="692" cy="435"/>
            </a:xfrm>
            <a:prstGeom prst="rect">
              <a:avLst/>
            </a:prstGeom>
            <a:noFill/>
            <a:ln w="9525">
              <a:noFill/>
              <a:miter lim="800000"/>
            </a:ln>
          </p:spPr>
          <p:txBody>
            <a:bodyPr lIns="182880" anchor="ctr"/>
            <a:lstStyle/>
            <a:p>
              <a:pPr>
                <a:lnSpc>
                  <a:spcPct val="105000"/>
                </a:lnSpc>
                <a:spcBef>
                  <a:spcPct val="45000"/>
                </a:spcBef>
                <a:buClr>
                  <a:srgbClr val="00B85C"/>
                </a:buClr>
                <a:buSzPct val="120000"/>
                <a:buFont typeface="Wingdings" panose="05000000000000000000" pitchFamily="2" charset="2"/>
                <a:buNone/>
              </a:pPr>
              <a:r>
                <a:rPr lang="en-US" sz="2200">
                  <a:latin typeface="Arial" panose="020B0604020202020204"/>
                  <a:cs typeface="Arial" panose="020B0604020202020204"/>
                </a:rPr>
                <a:t>30</a:t>
              </a:r>
              <a:endParaRPr lang="en-US" sz="2200">
                <a:latin typeface="Arial" panose="020B0604020202020204"/>
                <a:cs typeface="Arial" panose="020B0604020202020204"/>
              </a:endParaRPr>
            </a:p>
          </p:txBody>
        </p:sp>
        <p:sp>
          <p:nvSpPr>
            <p:cNvPr id="18" name="Rectangle 38"/>
            <p:cNvSpPr>
              <a:spLocks noChangeArrowheads="1"/>
            </p:cNvSpPr>
            <p:nvPr/>
          </p:nvSpPr>
          <p:spPr bwMode="auto">
            <a:xfrm>
              <a:off x="4023" y="2601"/>
              <a:ext cx="843" cy="43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200">
                  <a:latin typeface="Arial" panose="020B0604020202020204"/>
                  <a:cs typeface="Arial" panose="020B0604020202020204"/>
                </a:rPr>
                <a:t>60,000</a:t>
              </a:r>
              <a:endParaRPr lang="en-US" sz="2200">
                <a:latin typeface="Arial" panose="020B0604020202020204"/>
                <a:cs typeface="Arial" panose="020B0604020202020204"/>
              </a:endParaRPr>
            </a:p>
          </p:txBody>
        </p:sp>
        <p:sp>
          <p:nvSpPr>
            <p:cNvPr id="19" name="Rectangle 32"/>
            <p:cNvSpPr>
              <a:spLocks noChangeArrowheads="1"/>
            </p:cNvSpPr>
            <p:nvPr/>
          </p:nvSpPr>
          <p:spPr bwMode="auto">
            <a:xfrm>
              <a:off x="4866" y="2167"/>
              <a:ext cx="692" cy="434"/>
            </a:xfrm>
            <a:prstGeom prst="rect">
              <a:avLst/>
            </a:prstGeom>
            <a:noFill/>
            <a:ln w="9525">
              <a:noFill/>
              <a:miter lim="800000"/>
            </a:ln>
          </p:spPr>
          <p:txBody>
            <a:bodyPr lIns="182880" anchor="ctr"/>
            <a:lstStyle/>
            <a:p>
              <a:pPr>
                <a:lnSpc>
                  <a:spcPct val="105000"/>
                </a:lnSpc>
                <a:spcBef>
                  <a:spcPct val="45000"/>
                </a:spcBef>
                <a:buClr>
                  <a:srgbClr val="00B85C"/>
                </a:buClr>
                <a:buSzPct val="120000"/>
                <a:buFont typeface="Wingdings" panose="05000000000000000000" pitchFamily="2" charset="2"/>
                <a:buNone/>
              </a:pPr>
              <a:r>
                <a:rPr lang="en-US" sz="2200">
                  <a:latin typeface="Arial" panose="020B0604020202020204"/>
                  <a:cs typeface="Arial" panose="020B0604020202020204"/>
                </a:rPr>
                <a:t>25</a:t>
              </a:r>
              <a:endParaRPr lang="en-US" sz="2200">
                <a:latin typeface="Arial" panose="020B0604020202020204"/>
                <a:cs typeface="Arial" panose="020B0604020202020204"/>
              </a:endParaRPr>
            </a:p>
          </p:txBody>
        </p:sp>
        <p:sp>
          <p:nvSpPr>
            <p:cNvPr id="20" name="Rectangle 31"/>
            <p:cNvSpPr>
              <a:spLocks noChangeArrowheads="1"/>
            </p:cNvSpPr>
            <p:nvPr/>
          </p:nvSpPr>
          <p:spPr bwMode="auto">
            <a:xfrm>
              <a:off x="4023" y="2167"/>
              <a:ext cx="843" cy="434"/>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200">
                  <a:latin typeface="Arial" panose="020B0604020202020204"/>
                  <a:cs typeface="Arial" panose="020B0604020202020204"/>
                </a:rPr>
                <a:t>25,000</a:t>
              </a:r>
              <a:endParaRPr lang="en-US" sz="2200">
                <a:latin typeface="Arial" panose="020B0604020202020204"/>
                <a:cs typeface="Arial" panose="020B0604020202020204"/>
              </a:endParaRPr>
            </a:p>
          </p:txBody>
        </p:sp>
        <p:sp>
          <p:nvSpPr>
            <p:cNvPr id="21" name="Rectangle 25"/>
            <p:cNvSpPr>
              <a:spLocks noChangeArrowheads="1"/>
            </p:cNvSpPr>
            <p:nvPr/>
          </p:nvSpPr>
          <p:spPr bwMode="auto">
            <a:xfrm>
              <a:off x="4866" y="1734"/>
              <a:ext cx="692" cy="433"/>
            </a:xfrm>
            <a:prstGeom prst="rect">
              <a:avLst/>
            </a:prstGeom>
            <a:noFill/>
            <a:ln w="9525">
              <a:noFill/>
              <a:miter lim="800000"/>
            </a:ln>
          </p:spPr>
          <p:txBody>
            <a:bodyPr lIns="182880" anchor="ctr"/>
            <a:lstStyle/>
            <a:p>
              <a:pPr>
                <a:lnSpc>
                  <a:spcPct val="105000"/>
                </a:lnSpc>
                <a:spcBef>
                  <a:spcPct val="45000"/>
                </a:spcBef>
                <a:buClr>
                  <a:srgbClr val="00B85C"/>
                </a:buClr>
                <a:buSzPct val="120000"/>
                <a:buFont typeface="Wingdings" panose="05000000000000000000" pitchFamily="2" charset="2"/>
                <a:buNone/>
              </a:pPr>
              <a:r>
                <a:rPr lang="en-US" sz="2200">
                  <a:latin typeface="Arial" panose="020B0604020202020204"/>
                  <a:cs typeface="Arial" panose="020B0604020202020204"/>
                </a:rPr>
                <a:t>20%</a:t>
              </a:r>
              <a:endParaRPr lang="en-US" sz="2200">
                <a:latin typeface="Arial" panose="020B0604020202020204"/>
                <a:cs typeface="Arial" panose="020B0604020202020204"/>
              </a:endParaRPr>
            </a:p>
          </p:txBody>
        </p:sp>
        <p:sp>
          <p:nvSpPr>
            <p:cNvPr id="22" name="Rectangle 24"/>
            <p:cNvSpPr>
              <a:spLocks noChangeArrowheads="1"/>
            </p:cNvSpPr>
            <p:nvPr/>
          </p:nvSpPr>
          <p:spPr bwMode="auto">
            <a:xfrm>
              <a:off x="4023" y="1734"/>
              <a:ext cx="843" cy="43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200">
                  <a:latin typeface="Arial" panose="020B0604020202020204"/>
                  <a:cs typeface="Arial" panose="020B0604020202020204"/>
                </a:rPr>
                <a:t>10,000</a:t>
              </a:r>
              <a:r>
                <a:rPr lang="zh-CN" altLang="en-US" sz="2200">
                  <a:latin typeface="Arial" panose="020B0604020202020204"/>
                  <a:cs typeface="Arial" panose="020B0604020202020204"/>
                </a:rPr>
                <a:t>元</a:t>
              </a:r>
              <a:endParaRPr lang="zh-CN" altLang="en-US" sz="2200">
                <a:latin typeface="Arial" panose="020B0604020202020204"/>
                <a:cs typeface="Arial" panose="020B0604020202020204"/>
              </a:endParaRPr>
            </a:p>
          </p:txBody>
        </p:sp>
        <p:sp>
          <p:nvSpPr>
            <p:cNvPr id="23" name="Rectangle 10"/>
            <p:cNvSpPr>
              <a:spLocks noChangeArrowheads="1"/>
            </p:cNvSpPr>
            <p:nvPr/>
          </p:nvSpPr>
          <p:spPr bwMode="auto">
            <a:xfrm>
              <a:off x="4023" y="750"/>
              <a:ext cx="1535" cy="435"/>
            </a:xfrm>
            <a:prstGeom prst="rect">
              <a:avLst/>
            </a:prstGeom>
            <a:noFill/>
            <a:ln w="9525">
              <a:noFill/>
              <a:miter lim="800000"/>
            </a:ln>
          </p:spPr>
          <p:txBody>
            <a:bodyPr anchor="ctr"/>
            <a:lstStyle/>
            <a:p>
              <a:pPr algn="ctr">
                <a:lnSpc>
                  <a:spcPct val="105000"/>
                </a:lnSpc>
                <a:spcBef>
                  <a:spcPct val="45000"/>
                </a:spcBef>
                <a:buClr>
                  <a:srgbClr val="00B85C"/>
                </a:buClr>
                <a:buSzPct val="120000"/>
                <a:buFont typeface="Wingdings" panose="05000000000000000000" pitchFamily="2" charset="2"/>
                <a:buNone/>
              </a:pPr>
              <a:r>
                <a:rPr lang="zh-CN" altLang="en-US" sz="2400" b="1" dirty="0">
                  <a:latin typeface="Arial" panose="020B0604020202020204"/>
                  <a:cs typeface="Arial" panose="020B0604020202020204"/>
                </a:rPr>
                <a:t>累进税</a:t>
              </a:r>
              <a:endParaRPr lang="en-US" sz="2400" b="1" dirty="0">
                <a:latin typeface="Arial" panose="020B0604020202020204"/>
                <a:cs typeface="Arial" panose="020B0604020202020204"/>
              </a:endParaRPr>
            </a:p>
          </p:txBody>
        </p:sp>
      </p:grpSp>
      <p:grpSp>
        <p:nvGrpSpPr>
          <p:cNvPr id="24" name="Group 215"/>
          <p:cNvGrpSpPr/>
          <p:nvPr/>
        </p:nvGrpSpPr>
        <p:grpSpPr bwMode="auto">
          <a:xfrm>
            <a:off x="3890963" y="1816199"/>
            <a:ext cx="2495550" cy="3629025"/>
            <a:chOff x="2451" y="750"/>
            <a:chExt cx="1572" cy="2286"/>
          </a:xfrm>
        </p:grpSpPr>
        <p:sp>
          <p:nvSpPr>
            <p:cNvPr id="25" name="Rectangle 37"/>
            <p:cNvSpPr>
              <a:spLocks noChangeArrowheads="1"/>
            </p:cNvSpPr>
            <p:nvPr/>
          </p:nvSpPr>
          <p:spPr bwMode="auto">
            <a:xfrm>
              <a:off x="3312" y="2601"/>
              <a:ext cx="711" cy="435"/>
            </a:xfrm>
            <a:prstGeom prst="rect">
              <a:avLst/>
            </a:prstGeom>
            <a:noFill/>
            <a:ln w="9525">
              <a:noFill/>
              <a:miter lim="800000"/>
            </a:ln>
          </p:spPr>
          <p:txBody>
            <a:bodyPr lIns="182880" anchor="ctr"/>
            <a:lstStyle/>
            <a:p>
              <a:pPr>
                <a:lnSpc>
                  <a:spcPct val="105000"/>
                </a:lnSpc>
                <a:spcBef>
                  <a:spcPct val="45000"/>
                </a:spcBef>
                <a:buClr>
                  <a:srgbClr val="00B85C"/>
                </a:buClr>
                <a:buSzPct val="120000"/>
                <a:buFont typeface="Wingdings" panose="05000000000000000000" pitchFamily="2" charset="2"/>
                <a:buNone/>
              </a:pPr>
              <a:r>
                <a:rPr lang="en-US" sz="2200">
                  <a:latin typeface="Arial" panose="020B0604020202020204"/>
                  <a:cs typeface="Arial" panose="020B0604020202020204"/>
                </a:rPr>
                <a:t>25</a:t>
              </a:r>
              <a:endParaRPr lang="en-US" sz="2200">
                <a:latin typeface="Arial" panose="020B0604020202020204"/>
                <a:cs typeface="Arial" panose="020B0604020202020204"/>
              </a:endParaRPr>
            </a:p>
          </p:txBody>
        </p:sp>
        <p:sp>
          <p:nvSpPr>
            <p:cNvPr id="26" name="Rectangle 36"/>
            <p:cNvSpPr>
              <a:spLocks noChangeArrowheads="1"/>
            </p:cNvSpPr>
            <p:nvPr/>
          </p:nvSpPr>
          <p:spPr bwMode="auto">
            <a:xfrm>
              <a:off x="2451" y="2601"/>
              <a:ext cx="861" cy="43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200">
                  <a:latin typeface="Arial" panose="020B0604020202020204"/>
                  <a:cs typeface="Arial" panose="020B0604020202020204"/>
                </a:rPr>
                <a:t>50,000</a:t>
              </a:r>
              <a:endParaRPr lang="en-US" sz="2200">
                <a:latin typeface="Arial" panose="020B0604020202020204"/>
                <a:cs typeface="Arial" panose="020B0604020202020204"/>
              </a:endParaRPr>
            </a:p>
          </p:txBody>
        </p:sp>
        <p:sp>
          <p:nvSpPr>
            <p:cNvPr id="27" name="Rectangle 30"/>
            <p:cNvSpPr>
              <a:spLocks noChangeArrowheads="1"/>
            </p:cNvSpPr>
            <p:nvPr/>
          </p:nvSpPr>
          <p:spPr bwMode="auto">
            <a:xfrm>
              <a:off x="3312" y="2167"/>
              <a:ext cx="711" cy="434"/>
            </a:xfrm>
            <a:prstGeom prst="rect">
              <a:avLst/>
            </a:prstGeom>
            <a:noFill/>
            <a:ln w="9525">
              <a:noFill/>
              <a:miter lim="800000"/>
            </a:ln>
          </p:spPr>
          <p:txBody>
            <a:bodyPr lIns="182880" anchor="ctr"/>
            <a:lstStyle/>
            <a:p>
              <a:pPr>
                <a:lnSpc>
                  <a:spcPct val="105000"/>
                </a:lnSpc>
                <a:spcBef>
                  <a:spcPct val="45000"/>
                </a:spcBef>
                <a:buClr>
                  <a:srgbClr val="00B85C"/>
                </a:buClr>
                <a:buSzPct val="120000"/>
                <a:buFont typeface="Wingdings" panose="05000000000000000000" pitchFamily="2" charset="2"/>
                <a:buNone/>
              </a:pPr>
              <a:r>
                <a:rPr lang="en-US" sz="2200">
                  <a:latin typeface="Arial" panose="020B0604020202020204"/>
                  <a:cs typeface="Arial" panose="020B0604020202020204"/>
                </a:rPr>
                <a:t>25</a:t>
              </a:r>
              <a:endParaRPr lang="en-US" sz="2200">
                <a:latin typeface="Arial" panose="020B0604020202020204"/>
                <a:cs typeface="Arial" panose="020B0604020202020204"/>
              </a:endParaRPr>
            </a:p>
          </p:txBody>
        </p:sp>
        <p:sp>
          <p:nvSpPr>
            <p:cNvPr id="28" name="Rectangle 29"/>
            <p:cNvSpPr>
              <a:spLocks noChangeArrowheads="1"/>
            </p:cNvSpPr>
            <p:nvPr/>
          </p:nvSpPr>
          <p:spPr bwMode="auto">
            <a:xfrm>
              <a:off x="2451" y="2167"/>
              <a:ext cx="861" cy="434"/>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200">
                  <a:latin typeface="Arial" panose="020B0604020202020204"/>
                  <a:cs typeface="Arial" panose="020B0604020202020204"/>
                </a:rPr>
                <a:t>25,000</a:t>
              </a:r>
              <a:endParaRPr lang="en-US" sz="2200">
                <a:latin typeface="Arial" panose="020B0604020202020204"/>
                <a:cs typeface="Arial" panose="020B0604020202020204"/>
              </a:endParaRPr>
            </a:p>
          </p:txBody>
        </p:sp>
        <p:sp>
          <p:nvSpPr>
            <p:cNvPr id="29" name="Rectangle 23"/>
            <p:cNvSpPr>
              <a:spLocks noChangeArrowheads="1"/>
            </p:cNvSpPr>
            <p:nvPr/>
          </p:nvSpPr>
          <p:spPr bwMode="auto">
            <a:xfrm>
              <a:off x="3312" y="1734"/>
              <a:ext cx="711" cy="433"/>
            </a:xfrm>
            <a:prstGeom prst="rect">
              <a:avLst/>
            </a:prstGeom>
            <a:noFill/>
            <a:ln w="9525">
              <a:noFill/>
              <a:miter lim="800000"/>
            </a:ln>
          </p:spPr>
          <p:txBody>
            <a:bodyPr lIns="182880" anchor="ctr"/>
            <a:lstStyle/>
            <a:p>
              <a:pPr>
                <a:lnSpc>
                  <a:spcPct val="105000"/>
                </a:lnSpc>
                <a:spcBef>
                  <a:spcPct val="45000"/>
                </a:spcBef>
                <a:buClr>
                  <a:srgbClr val="00B85C"/>
                </a:buClr>
                <a:buSzPct val="120000"/>
                <a:buFont typeface="Wingdings" panose="05000000000000000000" pitchFamily="2" charset="2"/>
                <a:buNone/>
              </a:pPr>
              <a:r>
                <a:rPr lang="en-US" sz="2200">
                  <a:latin typeface="Arial" panose="020B0604020202020204"/>
                  <a:cs typeface="Arial" panose="020B0604020202020204"/>
                </a:rPr>
                <a:t>25%</a:t>
              </a:r>
              <a:endParaRPr lang="en-US" sz="2200">
                <a:latin typeface="Arial" panose="020B0604020202020204"/>
                <a:cs typeface="Arial" panose="020B0604020202020204"/>
              </a:endParaRPr>
            </a:p>
          </p:txBody>
        </p:sp>
        <p:sp>
          <p:nvSpPr>
            <p:cNvPr id="30" name="Rectangle 22"/>
            <p:cNvSpPr>
              <a:spLocks noChangeArrowheads="1"/>
            </p:cNvSpPr>
            <p:nvPr/>
          </p:nvSpPr>
          <p:spPr bwMode="auto">
            <a:xfrm>
              <a:off x="2451" y="1734"/>
              <a:ext cx="861" cy="43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200">
                  <a:latin typeface="Arial" panose="020B0604020202020204"/>
                  <a:cs typeface="Arial" panose="020B0604020202020204"/>
                </a:rPr>
                <a:t>12,500</a:t>
              </a:r>
              <a:r>
                <a:rPr lang="zh-CN" altLang="en-US" sz="2200">
                  <a:latin typeface="Arial" panose="020B0604020202020204"/>
                  <a:cs typeface="Arial" panose="020B0604020202020204"/>
                </a:rPr>
                <a:t>元</a:t>
              </a:r>
              <a:endParaRPr lang="zh-CN" altLang="en-US" sz="2200">
                <a:latin typeface="Arial" panose="020B0604020202020204"/>
                <a:cs typeface="Arial" panose="020B0604020202020204"/>
              </a:endParaRPr>
            </a:p>
          </p:txBody>
        </p:sp>
        <p:sp>
          <p:nvSpPr>
            <p:cNvPr id="31" name="Rectangle 8"/>
            <p:cNvSpPr>
              <a:spLocks noChangeArrowheads="1"/>
            </p:cNvSpPr>
            <p:nvPr/>
          </p:nvSpPr>
          <p:spPr bwMode="auto">
            <a:xfrm>
              <a:off x="2451" y="750"/>
              <a:ext cx="1572" cy="435"/>
            </a:xfrm>
            <a:prstGeom prst="rect">
              <a:avLst/>
            </a:prstGeom>
            <a:noFill/>
            <a:ln w="9525">
              <a:noFill/>
              <a:miter lim="800000"/>
            </a:ln>
          </p:spPr>
          <p:txBody>
            <a:bodyPr anchor="ctr"/>
            <a:lstStyle/>
            <a:p>
              <a:pPr algn="ctr">
                <a:lnSpc>
                  <a:spcPct val="105000"/>
                </a:lnSpc>
                <a:spcBef>
                  <a:spcPct val="45000"/>
                </a:spcBef>
                <a:buClr>
                  <a:srgbClr val="00B85C"/>
                </a:buClr>
                <a:buSzPct val="120000"/>
                <a:buFont typeface="Wingdings" panose="05000000000000000000" pitchFamily="2" charset="2"/>
                <a:buNone/>
              </a:pPr>
              <a:r>
                <a:rPr lang="zh-CN" altLang="en-US" sz="2400" b="1" dirty="0">
                  <a:latin typeface="Arial" panose="020B0604020202020204"/>
                  <a:cs typeface="Arial" panose="020B0604020202020204"/>
                </a:rPr>
                <a:t>比例税</a:t>
              </a:r>
              <a:endParaRPr lang="en-US" sz="2400" b="1" dirty="0">
                <a:latin typeface="Arial" panose="020B0604020202020204"/>
                <a:cs typeface="Arial" panose="020B0604020202020204"/>
              </a:endParaRPr>
            </a:p>
          </p:txBody>
        </p:sp>
      </p:grpSp>
      <p:grpSp>
        <p:nvGrpSpPr>
          <p:cNvPr id="32" name="Group 214"/>
          <p:cNvGrpSpPr/>
          <p:nvPr/>
        </p:nvGrpSpPr>
        <p:grpSpPr bwMode="auto">
          <a:xfrm>
            <a:off x="1560513" y="1816199"/>
            <a:ext cx="2330450" cy="3629025"/>
            <a:chOff x="983" y="750"/>
            <a:chExt cx="1468" cy="2286"/>
          </a:xfrm>
        </p:grpSpPr>
        <p:sp>
          <p:nvSpPr>
            <p:cNvPr id="33" name="Rectangle 35"/>
            <p:cNvSpPr>
              <a:spLocks noChangeArrowheads="1"/>
            </p:cNvSpPr>
            <p:nvPr/>
          </p:nvSpPr>
          <p:spPr bwMode="auto">
            <a:xfrm>
              <a:off x="1760" y="2601"/>
              <a:ext cx="691" cy="435"/>
            </a:xfrm>
            <a:prstGeom prst="rect">
              <a:avLst/>
            </a:prstGeom>
            <a:noFill/>
            <a:ln w="9525">
              <a:noFill/>
              <a:miter lim="800000"/>
            </a:ln>
          </p:spPr>
          <p:txBody>
            <a:bodyPr lIns="182880" anchor="ctr"/>
            <a:lstStyle/>
            <a:p>
              <a:pPr>
                <a:lnSpc>
                  <a:spcPct val="105000"/>
                </a:lnSpc>
                <a:spcBef>
                  <a:spcPct val="45000"/>
                </a:spcBef>
                <a:buClr>
                  <a:srgbClr val="00B85C"/>
                </a:buClr>
                <a:buSzPct val="120000"/>
                <a:buFont typeface="Wingdings" panose="05000000000000000000" pitchFamily="2" charset="2"/>
                <a:buNone/>
              </a:pPr>
              <a:r>
                <a:rPr lang="en-US" sz="2200">
                  <a:latin typeface="Arial" panose="020B0604020202020204"/>
                  <a:cs typeface="Arial" panose="020B0604020202020204"/>
                </a:rPr>
                <a:t>20</a:t>
              </a:r>
              <a:endParaRPr lang="en-US" sz="2200">
                <a:latin typeface="Arial" panose="020B0604020202020204"/>
                <a:cs typeface="Arial" panose="020B0604020202020204"/>
              </a:endParaRPr>
            </a:p>
          </p:txBody>
        </p:sp>
        <p:sp>
          <p:nvSpPr>
            <p:cNvPr id="34" name="Rectangle 34"/>
            <p:cNvSpPr>
              <a:spLocks noChangeArrowheads="1"/>
            </p:cNvSpPr>
            <p:nvPr/>
          </p:nvSpPr>
          <p:spPr bwMode="auto">
            <a:xfrm>
              <a:off x="983" y="2601"/>
              <a:ext cx="777" cy="435"/>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200">
                  <a:latin typeface="Arial" panose="020B0604020202020204"/>
                  <a:cs typeface="Arial" panose="020B0604020202020204"/>
                </a:rPr>
                <a:t>40,000</a:t>
              </a:r>
              <a:endParaRPr lang="en-US" sz="2200">
                <a:latin typeface="Arial" panose="020B0604020202020204"/>
                <a:cs typeface="Arial" panose="020B0604020202020204"/>
              </a:endParaRPr>
            </a:p>
          </p:txBody>
        </p:sp>
        <p:sp>
          <p:nvSpPr>
            <p:cNvPr id="35" name="Rectangle 28"/>
            <p:cNvSpPr>
              <a:spLocks noChangeArrowheads="1"/>
            </p:cNvSpPr>
            <p:nvPr/>
          </p:nvSpPr>
          <p:spPr bwMode="auto">
            <a:xfrm>
              <a:off x="1760" y="2167"/>
              <a:ext cx="691" cy="434"/>
            </a:xfrm>
            <a:prstGeom prst="rect">
              <a:avLst/>
            </a:prstGeom>
            <a:noFill/>
            <a:ln w="9525">
              <a:noFill/>
              <a:miter lim="800000"/>
            </a:ln>
          </p:spPr>
          <p:txBody>
            <a:bodyPr lIns="182880" anchor="ctr"/>
            <a:lstStyle/>
            <a:p>
              <a:pPr>
                <a:lnSpc>
                  <a:spcPct val="105000"/>
                </a:lnSpc>
                <a:spcBef>
                  <a:spcPct val="45000"/>
                </a:spcBef>
                <a:buClr>
                  <a:srgbClr val="00B85C"/>
                </a:buClr>
                <a:buSzPct val="120000"/>
                <a:buFont typeface="Wingdings" panose="05000000000000000000" pitchFamily="2" charset="2"/>
                <a:buNone/>
              </a:pPr>
              <a:r>
                <a:rPr lang="en-US" sz="2200">
                  <a:latin typeface="Arial" panose="020B0604020202020204"/>
                  <a:cs typeface="Arial" panose="020B0604020202020204"/>
                </a:rPr>
                <a:t>25</a:t>
              </a:r>
              <a:endParaRPr lang="en-US" sz="2200">
                <a:latin typeface="Arial" panose="020B0604020202020204"/>
                <a:cs typeface="Arial" panose="020B0604020202020204"/>
              </a:endParaRPr>
            </a:p>
          </p:txBody>
        </p:sp>
        <p:sp>
          <p:nvSpPr>
            <p:cNvPr id="36" name="Rectangle 27"/>
            <p:cNvSpPr>
              <a:spLocks noChangeArrowheads="1"/>
            </p:cNvSpPr>
            <p:nvPr/>
          </p:nvSpPr>
          <p:spPr bwMode="auto">
            <a:xfrm>
              <a:off x="983" y="2167"/>
              <a:ext cx="777" cy="434"/>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200">
                  <a:latin typeface="Arial" panose="020B0604020202020204"/>
                  <a:cs typeface="Arial" panose="020B0604020202020204"/>
                </a:rPr>
                <a:t>25,000</a:t>
              </a:r>
              <a:endParaRPr lang="en-US" sz="2200">
                <a:latin typeface="Arial" panose="020B0604020202020204"/>
                <a:cs typeface="Arial" panose="020B0604020202020204"/>
              </a:endParaRPr>
            </a:p>
          </p:txBody>
        </p:sp>
        <p:sp>
          <p:nvSpPr>
            <p:cNvPr id="37" name="Rectangle 21"/>
            <p:cNvSpPr>
              <a:spLocks noChangeArrowheads="1"/>
            </p:cNvSpPr>
            <p:nvPr/>
          </p:nvSpPr>
          <p:spPr bwMode="auto">
            <a:xfrm>
              <a:off x="1760" y="1734"/>
              <a:ext cx="691" cy="433"/>
            </a:xfrm>
            <a:prstGeom prst="rect">
              <a:avLst/>
            </a:prstGeom>
            <a:noFill/>
            <a:ln w="9525">
              <a:noFill/>
              <a:miter lim="800000"/>
            </a:ln>
          </p:spPr>
          <p:txBody>
            <a:bodyPr lIns="182880" anchor="ctr"/>
            <a:lstStyle/>
            <a:p>
              <a:pPr>
                <a:lnSpc>
                  <a:spcPct val="105000"/>
                </a:lnSpc>
                <a:spcBef>
                  <a:spcPct val="45000"/>
                </a:spcBef>
                <a:buClr>
                  <a:srgbClr val="00B85C"/>
                </a:buClr>
                <a:buSzPct val="120000"/>
                <a:buFont typeface="Wingdings" panose="05000000000000000000" pitchFamily="2" charset="2"/>
                <a:buNone/>
              </a:pPr>
              <a:r>
                <a:rPr lang="en-US" sz="2200">
                  <a:latin typeface="Arial" panose="020B0604020202020204"/>
                  <a:cs typeface="Arial" panose="020B0604020202020204"/>
                </a:rPr>
                <a:t>30%</a:t>
              </a:r>
              <a:endParaRPr lang="en-US" sz="2200">
                <a:latin typeface="Arial" panose="020B0604020202020204"/>
                <a:cs typeface="Arial" panose="020B0604020202020204"/>
              </a:endParaRPr>
            </a:p>
          </p:txBody>
        </p:sp>
        <p:sp>
          <p:nvSpPr>
            <p:cNvPr id="38" name="Rectangle 20"/>
            <p:cNvSpPr>
              <a:spLocks noChangeArrowheads="1"/>
            </p:cNvSpPr>
            <p:nvPr/>
          </p:nvSpPr>
          <p:spPr bwMode="auto">
            <a:xfrm>
              <a:off x="983" y="1734"/>
              <a:ext cx="862" cy="433"/>
            </a:xfrm>
            <a:prstGeom prst="rect">
              <a:avLst/>
            </a:prstGeom>
            <a:noFill/>
            <a:ln w="9525">
              <a:noFill/>
              <a:miter lim="800000"/>
            </a:ln>
          </p:spPr>
          <p:txBody>
            <a:bodyPr anchor="ctr"/>
            <a:lstStyle/>
            <a:p>
              <a:pPr algn="r">
                <a:lnSpc>
                  <a:spcPct val="105000"/>
                </a:lnSpc>
                <a:spcBef>
                  <a:spcPct val="45000"/>
                </a:spcBef>
                <a:buClr>
                  <a:srgbClr val="00B85C"/>
                </a:buClr>
                <a:buSzPct val="120000"/>
                <a:buFont typeface="Wingdings" panose="05000000000000000000" pitchFamily="2" charset="2"/>
                <a:buNone/>
              </a:pPr>
              <a:r>
                <a:rPr lang="en-US" sz="2200">
                  <a:latin typeface="Arial" panose="020B0604020202020204"/>
                  <a:cs typeface="Arial" panose="020B0604020202020204"/>
                </a:rPr>
                <a:t>15,000</a:t>
              </a:r>
              <a:r>
                <a:rPr lang="zh-CN" altLang="en-US" sz="2200">
                  <a:latin typeface="Arial" panose="020B0604020202020204"/>
                  <a:cs typeface="Arial" panose="020B0604020202020204"/>
                </a:rPr>
                <a:t>元</a:t>
              </a:r>
              <a:endParaRPr lang="zh-CN" altLang="en-US" sz="2200">
                <a:latin typeface="Arial" panose="020B0604020202020204"/>
                <a:cs typeface="Arial" panose="020B0604020202020204"/>
              </a:endParaRPr>
            </a:p>
          </p:txBody>
        </p:sp>
        <p:sp>
          <p:nvSpPr>
            <p:cNvPr id="39" name="Rectangle 6"/>
            <p:cNvSpPr>
              <a:spLocks noChangeArrowheads="1"/>
            </p:cNvSpPr>
            <p:nvPr/>
          </p:nvSpPr>
          <p:spPr bwMode="auto">
            <a:xfrm>
              <a:off x="983" y="750"/>
              <a:ext cx="1468" cy="435"/>
            </a:xfrm>
            <a:prstGeom prst="rect">
              <a:avLst/>
            </a:prstGeom>
            <a:noFill/>
            <a:ln w="9525">
              <a:noFill/>
              <a:miter lim="800000"/>
            </a:ln>
          </p:spPr>
          <p:txBody>
            <a:bodyPr anchor="ctr"/>
            <a:lstStyle/>
            <a:p>
              <a:pPr algn="ctr">
                <a:lnSpc>
                  <a:spcPct val="105000"/>
                </a:lnSpc>
                <a:spcBef>
                  <a:spcPct val="45000"/>
                </a:spcBef>
                <a:buClr>
                  <a:srgbClr val="00B85C"/>
                </a:buClr>
                <a:buSzPct val="120000"/>
                <a:buFont typeface="Wingdings" panose="05000000000000000000" pitchFamily="2" charset="2"/>
                <a:buNone/>
              </a:pPr>
              <a:r>
                <a:rPr lang="zh-CN" altLang="en-US" sz="2400" b="1" dirty="0">
                  <a:latin typeface="Arial" panose="020B0604020202020204"/>
                  <a:cs typeface="Arial" panose="020B0604020202020204"/>
                </a:rPr>
                <a:t>累退税</a:t>
              </a:r>
              <a:endParaRPr lang="en-US" sz="2400" b="1" dirty="0">
                <a:latin typeface="Arial" panose="020B0604020202020204"/>
                <a:cs typeface="Arial" panose="020B0604020202020204"/>
              </a:endParaRPr>
            </a:p>
          </p:txBody>
        </p:sp>
      </p:grpSp>
      <p:sp>
        <p:nvSpPr>
          <p:cNvPr id="40" name="Rectangle 5"/>
          <p:cNvSpPr>
            <a:spLocks noChangeArrowheads="1"/>
          </p:cNvSpPr>
          <p:nvPr/>
        </p:nvSpPr>
        <p:spPr bwMode="auto">
          <a:xfrm>
            <a:off x="327025" y="1816199"/>
            <a:ext cx="1233488" cy="690563"/>
          </a:xfrm>
          <a:prstGeom prst="rect">
            <a:avLst/>
          </a:prstGeom>
          <a:noFill/>
          <a:ln w="9525">
            <a:noFill/>
            <a:miter lim="800000"/>
          </a:ln>
        </p:spPr>
        <p:txBody>
          <a:bodyPr anchor="ctr"/>
          <a:lstStyle/>
          <a:p>
            <a:pPr>
              <a:lnSpc>
                <a:spcPct val="105000"/>
              </a:lnSpc>
              <a:spcBef>
                <a:spcPct val="45000"/>
              </a:spcBef>
              <a:buClr>
                <a:srgbClr val="00B85C"/>
              </a:buClr>
              <a:buSzPct val="120000"/>
              <a:buFont typeface="Wingdings" panose="05000000000000000000" pitchFamily="2" charset="2"/>
              <a:buNone/>
            </a:pPr>
            <a:endParaRPr lang="en-US" sz="2200">
              <a:latin typeface="Arial" panose="020B0604020202020204"/>
              <a:cs typeface="Arial" panose="020B0604020202020204"/>
            </a:endParaRPr>
          </a:p>
        </p:txBody>
      </p:sp>
      <p:sp>
        <p:nvSpPr>
          <p:cNvPr id="41" name="Line 40"/>
          <p:cNvSpPr>
            <a:spLocks noChangeShapeType="1"/>
          </p:cNvSpPr>
          <p:nvPr/>
        </p:nvSpPr>
        <p:spPr bwMode="auto">
          <a:xfrm>
            <a:off x="327025" y="1816199"/>
            <a:ext cx="8496300" cy="0"/>
          </a:xfrm>
          <a:prstGeom prst="line">
            <a:avLst/>
          </a:prstGeom>
          <a:noFill/>
          <a:ln w="12700" cap="sq">
            <a:solidFill>
              <a:schemeClr val="tx1"/>
            </a:solidFill>
            <a:round/>
          </a:ln>
        </p:spPr>
        <p:txBody>
          <a:bodyPr/>
          <a:lstStyle/>
          <a:p>
            <a:endParaRPr lang="en-US">
              <a:latin typeface="Arial" panose="020B0604020202020204"/>
              <a:cs typeface="Arial" panose="020B0604020202020204"/>
            </a:endParaRPr>
          </a:p>
        </p:txBody>
      </p:sp>
      <p:sp>
        <p:nvSpPr>
          <p:cNvPr id="42" name="Line 41"/>
          <p:cNvSpPr>
            <a:spLocks noChangeShapeType="1"/>
          </p:cNvSpPr>
          <p:nvPr/>
        </p:nvSpPr>
        <p:spPr bwMode="auto">
          <a:xfrm>
            <a:off x="327025" y="2506762"/>
            <a:ext cx="8496300"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43" name="Line 42"/>
          <p:cNvSpPr>
            <a:spLocks noChangeShapeType="1"/>
          </p:cNvSpPr>
          <p:nvPr/>
        </p:nvSpPr>
        <p:spPr bwMode="auto">
          <a:xfrm>
            <a:off x="327025" y="3378299"/>
            <a:ext cx="8496300"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44" name="Line 43"/>
          <p:cNvSpPr>
            <a:spLocks noChangeShapeType="1"/>
          </p:cNvSpPr>
          <p:nvPr/>
        </p:nvSpPr>
        <p:spPr bwMode="auto">
          <a:xfrm>
            <a:off x="327025" y="4065687"/>
            <a:ext cx="8496300"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45" name="Line 44"/>
          <p:cNvSpPr>
            <a:spLocks noChangeShapeType="1"/>
          </p:cNvSpPr>
          <p:nvPr/>
        </p:nvSpPr>
        <p:spPr bwMode="auto">
          <a:xfrm>
            <a:off x="327025" y="4754662"/>
            <a:ext cx="8496300" cy="0"/>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46" name="Line 45"/>
          <p:cNvSpPr>
            <a:spLocks noChangeShapeType="1"/>
          </p:cNvSpPr>
          <p:nvPr/>
        </p:nvSpPr>
        <p:spPr bwMode="auto">
          <a:xfrm>
            <a:off x="327025" y="5445224"/>
            <a:ext cx="8496300" cy="0"/>
          </a:xfrm>
          <a:prstGeom prst="line">
            <a:avLst/>
          </a:prstGeom>
          <a:noFill/>
          <a:ln w="12700" cap="sq">
            <a:solidFill>
              <a:schemeClr val="tx1"/>
            </a:solidFill>
            <a:round/>
          </a:ln>
        </p:spPr>
        <p:txBody>
          <a:bodyPr/>
          <a:lstStyle/>
          <a:p>
            <a:endParaRPr lang="en-US">
              <a:latin typeface="Arial" panose="020B0604020202020204"/>
              <a:cs typeface="Arial" panose="020B0604020202020204"/>
            </a:endParaRPr>
          </a:p>
        </p:txBody>
      </p:sp>
      <p:sp>
        <p:nvSpPr>
          <p:cNvPr id="47" name="Line 46"/>
          <p:cNvSpPr>
            <a:spLocks noChangeShapeType="1"/>
          </p:cNvSpPr>
          <p:nvPr/>
        </p:nvSpPr>
        <p:spPr bwMode="auto">
          <a:xfrm>
            <a:off x="252095" y="1816199"/>
            <a:ext cx="0" cy="3629025"/>
          </a:xfrm>
          <a:prstGeom prst="line">
            <a:avLst/>
          </a:prstGeom>
          <a:noFill/>
          <a:ln w="12700" cap="sq">
            <a:solidFill>
              <a:schemeClr val="tx1"/>
            </a:solidFill>
            <a:round/>
          </a:ln>
        </p:spPr>
        <p:txBody>
          <a:bodyPr/>
          <a:lstStyle/>
          <a:p>
            <a:endParaRPr lang="en-US">
              <a:latin typeface="Arial" panose="020B0604020202020204"/>
              <a:cs typeface="Arial" panose="020B0604020202020204"/>
            </a:endParaRPr>
          </a:p>
        </p:txBody>
      </p:sp>
      <p:sp>
        <p:nvSpPr>
          <p:cNvPr id="48" name="Line 47"/>
          <p:cNvSpPr>
            <a:spLocks noChangeShapeType="1"/>
          </p:cNvSpPr>
          <p:nvPr/>
        </p:nvSpPr>
        <p:spPr bwMode="auto">
          <a:xfrm flipH="1">
            <a:off x="1557655" y="1816100"/>
            <a:ext cx="3175" cy="362902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49" name="Line 49"/>
          <p:cNvSpPr>
            <a:spLocks noChangeShapeType="1"/>
          </p:cNvSpPr>
          <p:nvPr/>
        </p:nvSpPr>
        <p:spPr bwMode="auto">
          <a:xfrm>
            <a:off x="3890963" y="1816199"/>
            <a:ext cx="0" cy="362902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50" name="Line 51"/>
          <p:cNvSpPr>
            <a:spLocks noChangeShapeType="1"/>
          </p:cNvSpPr>
          <p:nvPr/>
        </p:nvSpPr>
        <p:spPr bwMode="auto">
          <a:xfrm>
            <a:off x="6386513" y="1816199"/>
            <a:ext cx="0" cy="3629025"/>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51" name="Line 53"/>
          <p:cNvSpPr>
            <a:spLocks noChangeShapeType="1"/>
          </p:cNvSpPr>
          <p:nvPr/>
        </p:nvSpPr>
        <p:spPr bwMode="auto">
          <a:xfrm>
            <a:off x="8823325" y="1816199"/>
            <a:ext cx="0" cy="3629025"/>
          </a:xfrm>
          <a:prstGeom prst="line">
            <a:avLst/>
          </a:prstGeom>
          <a:noFill/>
          <a:ln w="12700" cap="sq">
            <a:solidFill>
              <a:schemeClr val="tx1"/>
            </a:solidFill>
            <a:round/>
          </a:ln>
        </p:spPr>
        <p:txBody>
          <a:bodyPr/>
          <a:lstStyle/>
          <a:p>
            <a:endParaRPr lang="en-US">
              <a:latin typeface="Arial" panose="020B0604020202020204"/>
              <a:cs typeface="Arial" panose="020B0604020202020204"/>
            </a:endParaRPr>
          </a:p>
        </p:txBody>
      </p:sp>
      <p:sp>
        <p:nvSpPr>
          <p:cNvPr id="52" name="Line 57"/>
          <p:cNvSpPr>
            <a:spLocks noChangeShapeType="1"/>
          </p:cNvSpPr>
          <p:nvPr/>
        </p:nvSpPr>
        <p:spPr bwMode="auto">
          <a:xfrm>
            <a:off x="2794000" y="2506762"/>
            <a:ext cx="0" cy="2938462"/>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53" name="Line 59"/>
          <p:cNvSpPr>
            <a:spLocks noChangeShapeType="1"/>
          </p:cNvSpPr>
          <p:nvPr/>
        </p:nvSpPr>
        <p:spPr bwMode="auto">
          <a:xfrm>
            <a:off x="5257800" y="2506762"/>
            <a:ext cx="0" cy="2938462"/>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
        <p:nvSpPr>
          <p:cNvPr id="54" name="Line 61"/>
          <p:cNvSpPr>
            <a:spLocks noChangeShapeType="1"/>
          </p:cNvSpPr>
          <p:nvPr/>
        </p:nvSpPr>
        <p:spPr bwMode="auto">
          <a:xfrm>
            <a:off x="7724775" y="2506762"/>
            <a:ext cx="0" cy="2938462"/>
          </a:xfrm>
          <a:prstGeom prst="line">
            <a:avLst/>
          </a:prstGeom>
          <a:noFill/>
          <a:ln w="12700">
            <a:solidFill>
              <a:schemeClr val="tx1"/>
            </a:solidFill>
            <a:round/>
          </a:ln>
        </p:spPr>
        <p:txBody>
          <a:bodyPr/>
          <a:lstStyle/>
          <a:p>
            <a:endParaRPr lang="en-US">
              <a:latin typeface="Arial" panose="020B0604020202020204"/>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7"/>
            <a:ext cx="2236510" cy="584775"/>
          </a:xfrm>
          <a:prstGeom prst="rect">
            <a:avLst/>
          </a:prstGeom>
          <a:noFill/>
        </p:spPr>
        <p:txBody>
          <a:bodyPr wrap="none" rtlCol="0">
            <a:spAutoFit/>
          </a:bodyPr>
          <a:lstStyle/>
          <a:p>
            <a:r>
              <a:rPr lang="zh-CN" altLang="en-US" sz="3200" smtClean="0">
                <a:solidFill>
                  <a:srgbClr val="002060"/>
                </a:solidFill>
                <a:latin typeface="华光中雅_CNKI" panose="02000500000000000000" pitchFamily="2" charset="-122"/>
                <a:ea typeface="华光中雅_CNKI" panose="02000500000000000000" pitchFamily="2" charset="-122"/>
              </a:rPr>
              <a:t>所得税</a:t>
            </a:r>
            <a:r>
              <a:rPr lang="zh-CN" altLang="en-US" sz="3200" dirty="0">
                <a:solidFill>
                  <a:srgbClr val="002060"/>
                </a:solidFill>
                <a:latin typeface="华光中雅_CNKI" panose="02000500000000000000" pitchFamily="2" charset="-122"/>
                <a:ea typeface="华光中雅_CNKI" panose="02000500000000000000" pitchFamily="2" charset="-122"/>
              </a:rPr>
              <a:t>税率</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graphicFrame>
        <p:nvGraphicFramePr>
          <p:cNvPr id="16" name="Group 86"/>
          <p:cNvGraphicFramePr/>
          <p:nvPr/>
        </p:nvGraphicFramePr>
        <p:xfrm>
          <a:off x="3680147" y="1475504"/>
          <a:ext cx="5140325" cy="5049840"/>
        </p:xfrm>
        <a:graphic>
          <a:graphicData uri="http://schemas.openxmlformats.org/drawingml/2006/table">
            <a:tbl>
              <a:tblPr/>
              <a:tblGrid>
                <a:gridCol w="3184525"/>
                <a:gridCol w="1955800"/>
              </a:tblGrid>
              <a:tr h="949325">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600" b="0" i="0" u="none" strike="noStrike" cap="none" normalizeH="0" baseline="0" dirty="0">
                          <a:ln>
                            <a:noFill/>
                          </a:ln>
                          <a:solidFill>
                            <a:schemeClr val="tx1"/>
                          </a:solidFill>
                          <a:effectLst/>
                          <a:latin typeface="Arial" panose="020B0604020202020204" pitchFamily="34" charset="0"/>
                        </a:rPr>
                        <a:t>应纳税所得额</a:t>
                      </a:r>
                      <a:r>
                        <a:rPr kumimoji="0" lang="en-US" sz="2600" b="0" i="0" u="none" strike="noStrike" cap="none" normalizeH="0" baseline="0" dirty="0">
                          <a:ln>
                            <a:noFill/>
                          </a:ln>
                          <a:solidFill>
                            <a:schemeClr val="tx1"/>
                          </a:solidFill>
                          <a:effectLst/>
                          <a:latin typeface="Arial" panose="020B0604020202020204" pitchFamily="34" charset="0"/>
                        </a:rPr>
                        <a:t>…</a:t>
                      </a:r>
                      <a:endParaRPr kumimoji="0" lang="en-US" sz="2600" b="0" i="0" u="none" strike="noStrike" cap="none" normalizeH="0" baseline="0" dirty="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600" b="0" i="0" u="none" strike="noStrike" cap="none" normalizeH="0" baseline="0" dirty="0">
                          <a:ln>
                            <a:noFill/>
                          </a:ln>
                          <a:solidFill>
                            <a:schemeClr val="tx1"/>
                          </a:solidFill>
                          <a:effectLst/>
                          <a:latin typeface="Arial" panose="020B0604020202020204" pitchFamily="34" charset="0"/>
                        </a:rPr>
                        <a:t>税率</a:t>
                      </a:r>
                      <a:r>
                        <a:rPr kumimoji="0" lang="en-US" sz="2600" b="0" i="0" u="none" strike="noStrike" cap="none" normalizeH="0" baseline="0" dirty="0">
                          <a:ln>
                            <a:noFill/>
                          </a:ln>
                          <a:solidFill>
                            <a:schemeClr val="tx1"/>
                          </a:solidFill>
                          <a:effectLst/>
                          <a:latin typeface="Arial" panose="020B0604020202020204" pitchFamily="34" charset="0"/>
                        </a:rPr>
                        <a:t>…</a:t>
                      </a:r>
                      <a:endParaRPr kumimoji="0" lang="en-US" sz="2600" b="0" i="0" u="none" strike="noStrike" cap="none" normalizeH="0" baseline="0" dirty="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r>
              <a:tr h="684213">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0" u="none" strike="noStrike" cap="none" normalizeH="0" baseline="0" dirty="0">
                          <a:ln>
                            <a:noFill/>
                          </a:ln>
                          <a:solidFill>
                            <a:schemeClr val="tx1"/>
                          </a:solidFill>
                          <a:effectLst/>
                          <a:latin typeface="Arial" panose="020B0604020202020204" pitchFamily="34" charset="0"/>
                        </a:rPr>
                        <a:t>0 – 8,700</a:t>
                      </a:r>
                      <a:r>
                        <a:rPr kumimoji="0" lang="zh-CN" altLang="en-US" sz="2600" b="0" i="0" u="none" strike="noStrike" cap="none" normalizeH="0" baseline="0" dirty="0">
                          <a:ln>
                            <a:noFill/>
                          </a:ln>
                          <a:solidFill>
                            <a:schemeClr val="tx1"/>
                          </a:solidFill>
                          <a:effectLst/>
                          <a:latin typeface="Arial" panose="020B0604020202020204" pitchFamily="34" charset="0"/>
                        </a:rPr>
                        <a:t>美元</a:t>
                      </a:r>
                      <a:endParaRPr kumimoji="0" lang="zh-CN" altLang="en-US" sz="2600" b="0" i="0" u="none" strike="noStrike" cap="none" normalizeH="0" baseline="0" dirty="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0" u="none" strike="noStrike" cap="none" normalizeH="0" baseline="0">
                          <a:ln>
                            <a:noFill/>
                          </a:ln>
                          <a:solidFill>
                            <a:schemeClr val="tx1"/>
                          </a:solidFill>
                          <a:effectLst/>
                          <a:latin typeface="Arial" panose="020B0604020202020204" pitchFamily="34" charset="0"/>
                        </a:rPr>
                        <a:t>10%</a:t>
                      </a:r>
                      <a:endParaRPr kumimoji="0" lang="en-US" sz="26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r>
              <a:tr h="682625">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0" u="none" strike="noStrike" cap="none" normalizeH="0" baseline="0" dirty="0">
                          <a:ln>
                            <a:noFill/>
                          </a:ln>
                          <a:solidFill>
                            <a:schemeClr val="tx1"/>
                          </a:solidFill>
                          <a:effectLst/>
                          <a:latin typeface="Arial" panose="020B0604020202020204" pitchFamily="34" charset="0"/>
                        </a:rPr>
                        <a:t>8,701 – 35,350</a:t>
                      </a:r>
                      <a:endParaRPr kumimoji="0" lang="en-US" sz="2600" b="0" i="0" u="none" strike="noStrike" cap="none" normalizeH="0" baseline="0" dirty="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0" u="none" strike="noStrike" cap="none" normalizeH="0" baseline="0">
                          <a:ln>
                            <a:noFill/>
                          </a:ln>
                          <a:solidFill>
                            <a:schemeClr val="tx1"/>
                          </a:solidFill>
                          <a:effectLst/>
                          <a:latin typeface="Arial" panose="020B0604020202020204" pitchFamily="34" charset="0"/>
                        </a:rPr>
                        <a:t>15%</a:t>
                      </a:r>
                      <a:endParaRPr kumimoji="0" lang="en-US" sz="26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r>
              <a:tr h="684213">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0" u="none" strike="noStrike" cap="none" normalizeH="0" baseline="0" dirty="0">
                          <a:ln>
                            <a:noFill/>
                          </a:ln>
                          <a:solidFill>
                            <a:schemeClr val="tx1"/>
                          </a:solidFill>
                          <a:effectLst/>
                          <a:latin typeface="Arial" panose="020B0604020202020204" pitchFamily="34" charset="0"/>
                        </a:rPr>
                        <a:t>35,351 – 85,650</a:t>
                      </a:r>
                      <a:endParaRPr kumimoji="0" lang="en-US" sz="2600" b="0" i="0" u="none" strike="noStrike" cap="none" normalizeH="0" baseline="0" dirty="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0" u="none" strike="noStrike" cap="none" normalizeH="0" baseline="0">
                          <a:ln>
                            <a:noFill/>
                          </a:ln>
                          <a:solidFill>
                            <a:schemeClr val="tx1"/>
                          </a:solidFill>
                          <a:effectLst/>
                          <a:latin typeface="Arial" panose="020B0604020202020204" pitchFamily="34" charset="0"/>
                        </a:rPr>
                        <a:t>25%</a:t>
                      </a:r>
                      <a:endParaRPr kumimoji="0" lang="en-US" sz="26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r>
              <a:tr h="684213">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0" u="none" strike="noStrike" cap="none" normalizeH="0" baseline="0" dirty="0">
                          <a:ln>
                            <a:noFill/>
                          </a:ln>
                          <a:solidFill>
                            <a:schemeClr val="tx1"/>
                          </a:solidFill>
                          <a:effectLst/>
                          <a:latin typeface="Arial" panose="020B0604020202020204" pitchFamily="34" charset="0"/>
                        </a:rPr>
                        <a:t>85,651 – 178,650</a:t>
                      </a:r>
                      <a:endParaRPr kumimoji="0" lang="en-US" sz="2600" b="0" i="0" u="none" strike="noStrike" cap="none" normalizeH="0" baseline="0" dirty="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0" u="none" strike="noStrike" cap="none" normalizeH="0" baseline="0" dirty="0">
                          <a:ln>
                            <a:noFill/>
                          </a:ln>
                          <a:solidFill>
                            <a:schemeClr val="tx1"/>
                          </a:solidFill>
                          <a:effectLst/>
                          <a:latin typeface="Arial" panose="020B0604020202020204" pitchFamily="34" charset="0"/>
                        </a:rPr>
                        <a:t>28%</a:t>
                      </a:r>
                      <a:endParaRPr kumimoji="0" lang="en-US" sz="2600" b="0" i="0" u="none" strike="noStrike" cap="none" normalizeH="0" baseline="0" dirty="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r>
              <a:tr h="681038">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0" u="none" strike="noStrike" cap="none" normalizeH="0" baseline="0" dirty="0">
                          <a:ln>
                            <a:noFill/>
                          </a:ln>
                          <a:solidFill>
                            <a:schemeClr val="tx1"/>
                          </a:solidFill>
                          <a:effectLst/>
                          <a:latin typeface="Arial" panose="020B0604020202020204" pitchFamily="34" charset="0"/>
                        </a:rPr>
                        <a:t>178,651 – 388,350</a:t>
                      </a:r>
                      <a:endParaRPr kumimoji="0" lang="en-US" sz="2600" b="0" i="0" u="none" strike="noStrike" cap="none" normalizeH="0" baseline="0" dirty="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0" u="none" strike="noStrike" cap="none" normalizeH="0" baseline="0">
                          <a:ln>
                            <a:noFill/>
                          </a:ln>
                          <a:solidFill>
                            <a:schemeClr val="tx1"/>
                          </a:solidFill>
                          <a:effectLst/>
                          <a:latin typeface="Arial" panose="020B0604020202020204" pitchFamily="34" charset="0"/>
                        </a:rPr>
                        <a:t>33%</a:t>
                      </a:r>
                      <a:endParaRPr kumimoji="0" lang="en-US" sz="26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r>
              <a:tr h="684213">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zh-CN" altLang="en-US" sz="2600" b="0" i="0" u="none" strike="noStrike" cap="none" normalizeH="0" baseline="0" dirty="0">
                          <a:ln>
                            <a:noFill/>
                          </a:ln>
                          <a:solidFill>
                            <a:schemeClr val="tx1"/>
                          </a:solidFill>
                          <a:effectLst/>
                          <a:latin typeface="Arial" panose="020B0604020202020204" pitchFamily="34" charset="0"/>
                        </a:rPr>
                        <a:t>大于</a:t>
                      </a:r>
                      <a:r>
                        <a:rPr kumimoji="0" lang="en-US" sz="2600" b="0" i="0" u="none" strike="noStrike" cap="none" normalizeH="0" baseline="0" dirty="0">
                          <a:ln>
                            <a:noFill/>
                          </a:ln>
                          <a:solidFill>
                            <a:schemeClr val="tx1"/>
                          </a:solidFill>
                          <a:effectLst/>
                          <a:latin typeface="Arial" panose="020B0604020202020204" pitchFamily="34" charset="0"/>
                        </a:rPr>
                        <a:t>388,350 </a:t>
                      </a:r>
                      <a:r>
                        <a:rPr kumimoji="0" lang="zh-CN" altLang="en-US" sz="2600" b="0" i="0" u="none" strike="noStrike" cap="none" normalizeH="0" baseline="0" dirty="0">
                          <a:ln>
                            <a:noFill/>
                          </a:ln>
                          <a:solidFill>
                            <a:schemeClr val="tx1"/>
                          </a:solidFill>
                          <a:effectLst/>
                          <a:latin typeface="Arial" panose="020B0604020202020204" pitchFamily="34" charset="0"/>
                        </a:rPr>
                        <a:t>美元</a:t>
                      </a:r>
                      <a:endParaRPr kumimoji="0" lang="zh-CN" altLang="en-US" sz="2600" b="0" i="0" u="none" strike="noStrike" cap="none" normalizeH="0" baseline="0" dirty="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600" b="0" i="0" u="none" strike="noStrike" cap="none" normalizeH="0" baseline="0" dirty="0">
                          <a:ln>
                            <a:noFill/>
                          </a:ln>
                          <a:solidFill>
                            <a:schemeClr val="tx1"/>
                          </a:solidFill>
                          <a:effectLst/>
                          <a:latin typeface="Arial" panose="020B0604020202020204" pitchFamily="34" charset="0"/>
                        </a:rPr>
                        <a:t>35%</a:t>
                      </a:r>
                      <a:endParaRPr kumimoji="0" lang="en-US" sz="2600" b="0" i="0" u="none" strike="noStrike" cap="none" normalizeH="0" baseline="0" dirty="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r>
            </a:tbl>
          </a:graphicData>
        </a:graphic>
      </p:graphicFrame>
      <p:sp>
        <p:nvSpPr>
          <p:cNvPr id="55" name="Text Box 84"/>
          <p:cNvSpPr txBox="1">
            <a:spLocks noChangeArrowheads="1"/>
          </p:cNvSpPr>
          <p:nvPr/>
        </p:nvSpPr>
        <p:spPr bwMode="auto">
          <a:xfrm>
            <a:off x="414137" y="1844824"/>
            <a:ext cx="2516187" cy="930910"/>
          </a:xfrm>
          <a:prstGeom prst="rect">
            <a:avLst/>
          </a:prstGeom>
          <a:noFill/>
          <a:ln w="9525">
            <a:noFill/>
            <a:miter lim="800000"/>
          </a:ln>
        </p:spPr>
        <p:txBody>
          <a:bodyPr>
            <a:spAutoFit/>
          </a:bodyPr>
          <a:lstStyle/>
          <a:p>
            <a:pPr>
              <a:lnSpc>
                <a:spcPct val="105000"/>
              </a:lnSpc>
              <a:spcBef>
                <a:spcPct val="50000"/>
              </a:spcBef>
            </a:pPr>
            <a:r>
              <a:rPr lang="zh-CN" altLang="en-US" sz="2600" dirty="0">
                <a:solidFill>
                  <a:srgbClr val="002060"/>
                </a:solidFill>
                <a:latin typeface="微软雅黑" panose="020B0503020204020204" pitchFamily="34" charset="-122"/>
                <a:ea typeface="微软雅黑" panose="020B0503020204020204" pitchFamily="34" charset="-122"/>
                <a:cs typeface="Arial" panose="020B0604020202020204"/>
              </a:rPr>
              <a:t>美国实行累进所得税税率。</a:t>
            </a:r>
            <a:endParaRPr lang="en-US" sz="2600" dirty="0">
              <a:solidFill>
                <a:srgbClr val="002060"/>
              </a:solidFill>
              <a:latin typeface="微软雅黑" panose="020B0503020204020204" pitchFamily="34" charset="-122"/>
              <a:ea typeface="微软雅黑" panose="020B0503020204020204" pitchFamily="34" charset="-122"/>
              <a:cs typeface="Arial" panose="020B0604020202020204"/>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7"/>
            <a:ext cx="2236510" cy="584775"/>
          </a:xfrm>
          <a:prstGeom prst="rect">
            <a:avLst/>
          </a:prstGeom>
          <a:noFill/>
        </p:spPr>
        <p:txBody>
          <a:bodyPr wrap="none" rtlCol="0">
            <a:spAutoFit/>
          </a:bodyPr>
          <a:lstStyle/>
          <a:p>
            <a:r>
              <a:rPr lang="zh-CN" altLang="en-US" sz="3200" smtClean="0">
                <a:solidFill>
                  <a:srgbClr val="002060"/>
                </a:solidFill>
                <a:latin typeface="华光中雅_CNKI" panose="02000500000000000000" pitchFamily="2" charset="-122"/>
                <a:ea typeface="华光中雅_CNKI" panose="02000500000000000000" pitchFamily="2" charset="-122"/>
              </a:rPr>
              <a:t>所得税</a:t>
            </a:r>
            <a:r>
              <a:rPr lang="zh-CN" altLang="en-US" sz="3200" dirty="0">
                <a:solidFill>
                  <a:srgbClr val="002060"/>
                </a:solidFill>
                <a:latin typeface="华光中雅_CNKI" panose="02000500000000000000" pitchFamily="2" charset="-122"/>
                <a:ea typeface="华光中雅_CNKI" panose="02000500000000000000" pitchFamily="2" charset="-122"/>
              </a:rPr>
              <a:t>税率</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55" name="Text Box 84"/>
          <p:cNvSpPr txBox="1">
            <a:spLocks noChangeArrowheads="1"/>
          </p:cNvSpPr>
          <p:nvPr/>
        </p:nvSpPr>
        <p:spPr bwMode="auto">
          <a:xfrm>
            <a:off x="539750" y="1412240"/>
            <a:ext cx="8256270" cy="511175"/>
          </a:xfrm>
          <a:prstGeom prst="rect">
            <a:avLst/>
          </a:prstGeom>
          <a:noFill/>
          <a:ln w="9525">
            <a:noFill/>
            <a:miter lim="800000"/>
          </a:ln>
        </p:spPr>
        <p:txBody>
          <a:bodyPr wrap="square">
            <a:spAutoFit/>
          </a:bodyPr>
          <a:lstStyle/>
          <a:p>
            <a:pPr>
              <a:lnSpc>
                <a:spcPct val="105000"/>
              </a:lnSpc>
              <a:spcBef>
                <a:spcPct val="50000"/>
              </a:spcBef>
            </a:pPr>
            <a:r>
              <a:rPr lang="zh-CN" altLang="en-US" sz="2600" dirty="0">
                <a:solidFill>
                  <a:srgbClr val="002060"/>
                </a:solidFill>
                <a:latin typeface="微软雅黑" panose="020B0503020204020204" pitchFamily="34" charset="-122"/>
                <a:ea typeface="微软雅黑" panose="020B0503020204020204" pitchFamily="34" charset="-122"/>
                <a:cs typeface="Arial" panose="020B0604020202020204"/>
              </a:rPr>
              <a:t>我国也是实行累进所得税税率。</a:t>
            </a:r>
            <a:endParaRPr lang="en-US" sz="2600" dirty="0">
              <a:solidFill>
                <a:srgbClr val="002060"/>
              </a:solidFill>
              <a:latin typeface="微软雅黑" panose="020B0503020204020204" pitchFamily="34" charset="-122"/>
              <a:ea typeface="微软雅黑" panose="020B0503020204020204" pitchFamily="34" charset="-122"/>
              <a:cs typeface="Arial" panose="020B0604020202020204"/>
            </a:endParaRPr>
          </a:p>
        </p:txBody>
      </p:sp>
      <p:pic>
        <p:nvPicPr>
          <p:cNvPr id="100" name="图片 99"/>
          <p:cNvPicPr/>
          <p:nvPr>
            <p:custDataLst>
              <p:tags r:id="rId2"/>
            </p:custDataLst>
          </p:nvPr>
        </p:nvPicPr>
        <p:blipFill>
          <a:blip r:embed="rId3"/>
          <a:stretch>
            <a:fillRect/>
          </a:stretch>
        </p:blipFill>
        <p:spPr>
          <a:xfrm>
            <a:off x="190500" y="2078355"/>
            <a:ext cx="8728710" cy="4067175"/>
          </a:xfrm>
          <a:prstGeom prst="rect">
            <a:avLst/>
          </a:prstGeom>
          <a:noFill/>
          <a:ln w="9525">
            <a:noFill/>
          </a:ln>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6"/>
            <a:ext cx="5262880" cy="583565"/>
          </a:xfrm>
          <a:prstGeom prst="rect">
            <a:avLst/>
          </a:prstGeom>
          <a:noFill/>
        </p:spPr>
        <p:txBody>
          <a:bodyPr wrap="none" rtlCol="0">
            <a:spAutoFit/>
          </a:bodyPr>
          <a:lstStyle/>
          <a:p>
            <a:r>
              <a:rPr lang="zh-CN" sz="3200" dirty="0">
                <a:solidFill>
                  <a:srgbClr val="002060"/>
                </a:solidFill>
                <a:latin typeface="华光中雅_CNKI" panose="02000500000000000000" pitchFamily="2" charset="-122"/>
                <a:ea typeface="华光中雅_CNKI" panose="02000500000000000000" pitchFamily="2" charset="-122"/>
              </a:rPr>
              <a:t>习题</a:t>
            </a:r>
            <a:r>
              <a:rPr lang="zh-CN" altLang="en-US" sz="3200" dirty="0">
                <a:solidFill>
                  <a:srgbClr val="002060"/>
                </a:solidFill>
                <a:latin typeface="华光中雅_CNKI" panose="02000500000000000000" pitchFamily="2" charset="-122"/>
                <a:ea typeface="华光中雅_CNKI" panose="02000500000000000000" pitchFamily="2" charset="-122"/>
              </a:rPr>
              <a:t>：税收和婚姻，第</a:t>
            </a:r>
            <a:r>
              <a:rPr lang="en-US" altLang="zh-CN" sz="3200" dirty="0">
                <a:solidFill>
                  <a:srgbClr val="002060"/>
                </a:solidFill>
                <a:latin typeface="华光中雅_CNKI" panose="02000500000000000000" pitchFamily="2" charset="-122"/>
                <a:ea typeface="华光中雅_CNKI" panose="02000500000000000000" pitchFamily="2" charset="-122"/>
              </a:rPr>
              <a:t>1</a:t>
            </a:r>
            <a:r>
              <a:rPr lang="zh-CN" altLang="en-US" sz="3200" dirty="0">
                <a:solidFill>
                  <a:srgbClr val="002060"/>
                </a:solidFill>
                <a:latin typeface="华光中雅_CNKI" panose="02000500000000000000" pitchFamily="2" charset="-122"/>
                <a:ea typeface="华光中雅_CNKI" panose="02000500000000000000" pitchFamily="2" charset="-122"/>
              </a:rPr>
              <a:t>部分</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16" name="TextBox 15"/>
          <p:cNvSpPr txBox="1"/>
          <p:nvPr/>
        </p:nvSpPr>
        <p:spPr>
          <a:xfrm>
            <a:off x="539552" y="1268760"/>
            <a:ext cx="7920880" cy="3769360"/>
          </a:xfrm>
          <a:prstGeom prst="rect">
            <a:avLst/>
          </a:prstGeom>
          <a:noFill/>
        </p:spPr>
        <p:txBody>
          <a:bodyPr wrap="square" rtlCol="0">
            <a:spAutoFit/>
          </a:bodyPr>
          <a:lstStyle/>
          <a:p>
            <a:pPr>
              <a:lnSpc>
                <a:spcPct val="150000"/>
              </a:lnSpc>
            </a:pPr>
            <a:r>
              <a:rPr lang="zh-CN" altLang="en-US" sz="2400" dirty="0">
                <a:solidFill>
                  <a:srgbClr val="002060"/>
                </a:solidFill>
                <a:latin typeface="微软雅黑" panose="020B0503020204020204" pitchFamily="34" charset="-122"/>
                <a:ea typeface="微软雅黑" panose="020B0503020204020204" pitchFamily="34" charset="-122"/>
              </a:rPr>
              <a:t>假如：所得税税率为</a:t>
            </a:r>
            <a:r>
              <a:rPr lang="en-US" altLang="zh-CN" sz="2400" dirty="0">
                <a:solidFill>
                  <a:srgbClr val="002060"/>
                </a:solidFill>
                <a:latin typeface="微软雅黑" panose="020B0503020204020204" pitchFamily="34" charset="-122"/>
                <a:ea typeface="微软雅黑" panose="020B0503020204020204" pitchFamily="34" charset="-122"/>
              </a:rPr>
              <a:t>25</a:t>
            </a:r>
            <a:r>
              <a:rPr lang="en-US" altLang="zh-CN" sz="2400">
                <a:solidFill>
                  <a:srgbClr val="002060"/>
                </a:solidFill>
                <a:latin typeface="微软雅黑" panose="020B0503020204020204" pitchFamily="34" charset="-122"/>
                <a:ea typeface="微软雅黑" panose="020B0503020204020204" pitchFamily="34" charset="-122"/>
              </a:rPr>
              <a:t>%</a:t>
            </a:r>
            <a:r>
              <a:rPr lang="zh-CN" altLang="en-US" sz="2400" smtClean="0">
                <a:solidFill>
                  <a:srgbClr val="002060"/>
                </a:solidFill>
                <a:latin typeface="微软雅黑" panose="020B0503020204020204" pitchFamily="34" charset="-122"/>
                <a:ea typeface="微软雅黑" panose="020B0503020204020204" pitchFamily="34" charset="-122"/>
              </a:rPr>
              <a:t>。</a:t>
            </a:r>
            <a:r>
              <a:rPr lang="zh-CN" altLang="en-US" sz="2400">
                <a:solidFill>
                  <a:srgbClr val="002060"/>
                </a:solidFill>
                <a:latin typeface="微软雅黑" panose="020B0503020204020204" pitchFamily="34" charset="-122"/>
                <a:ea typeface="微软雅黑" panose="020B0503020204020204" pitchFamily="34" charset="-122"/>
              </a:rPr>
              <a:t>前</a:t>
            </a:r>
            <a:r>
              <a:rPr lang="en-US" altLang="zh-CN" sz="2400" smtClean="0">
                <a:solidFill>
                  <a:srgbClr val="002060"/>
                </a:solidFill>
                <a:latin typeface="微软雅黑" panose="020B0503020204020204" pitchFamily="34" charset="-122"/>
                <a:ea typeface="微软雅黑" panose="020B0503020204020204" pitchFamily="34" charset="-122"/>
              </a:rPr>
              <a:t>2</a:t>
            </a:r>
            <a:r>
              <a:rPr lang="zh-CN" altLang="en-US" sz="2400" smtClean="0">
                <a:solidFill>
                  <a:srgbClr val="002060"/>
                </a:solidFill>
                <a:latin typeface="微软雅黑" panose="020B0503020204020204" pitchFamily="34" charset="-122"/>
                <a:ea typeface="微软雅黑" panose="020B0503020204020204" pitchFamily="34" charset="-122"/>
              </a:rPr>
              <a:t>万元</a:t>
            </a:r>
            <a:r>
              <a:rPr lang="zh-CN" altLang="en-US" sz="2400" dirty="0">
                <a:solidFill>
                  <a:srgbClr val="002060"/>
                </a:solidFill>
                <a:latin typeface="微软雅黑" panose="020B0503020204020204" pitchFamily="34" charset="-122"/>
                <a:ea typeface="微软雅黑" panose="020B0503020204020204" pitchFamily="34" charset="-122"/>
              </a:rPr>
              <a:t>的收入是免税的。税法将已婚夫妇视为单身纳税人。</a:t>
            </a:r>
            <a:endParaRPr lang="en-US" altLang="zh-CN" sz="2400" dirty="0">
              <a:solidFill>
                <a:srgbClr val="002060"/>
              </a:solidFill>
              <a:latin typeface="微软雅黑" panose="020B0503020204020204" pitchFamily="34" charset="-122"/>
              <a:ea typeface="微软雅黑" panose="020B0503020204020204" pitchFamily="34" charset="-122"/>
            </a:endParaRPr>
          </a:p>
          <a:p>
            <a:pPr>
              <a:lnSpc>
                <a:spcPct val="150000"/>
              </a:lnSpc>
            </a:pPr>
            <a:r>
              <a:rPr lang="zh-CN" altLang="en-US" sz="2400" dirty="0">
                <a:solidFill>
                  <a:srgbClr val="002060"/>
                </a:solidFill>
                <a:latin typeface="微软雅黑" panose="020B0503020204020204" pitchFamily="34" charset="-122"/>
                <a:ea typeface="微软雅黑" panose="020B0503020204020204" pitchFamily="34" charset="-122"/>
              </a:rPr>
              <a:t>甲和乙各赚</a:t>
            </a:r>
            <a:r>
              <a:rPr lang="en-US" altLang="zh-CN" sz="2400" dirty="0">
                <a:solidFill>
                  <a:srgbClr val="002060"/>
                </a:solidFill>
                <a:latin typeface="微软雅黑" panose="020B0503020204020204" pitchFamily="34" charset="-122"/>
                <a:ea typeface="微软雅黑" panose="020B0503020204020204" pitchFamily="34" charset="-122"/>
              </a:rPr>
              <a:t>5</a:t>
            </a:r>
            <a:r>
              <a:rPr lang="zh-CN" altLang="en-US" sz="2400" dirty="0">
                <a:solidFill>
                  <a:srgbClr val="002060"/>
                </a:solidFill>
                <a:latin typeface="微软雅黑" panose="020B0503020204020204" pitchFamily="34" charset="-122"/>
                <a:ea typeface="微软雅黑" panose="020B0503020204020204" pitchFamily="34" charset="-122"/>
              </a:rPr>
              <a:t>万元。</a:t>
            </a:r>
            <a:endParaRPr lang="en-US" altLang="zh-CN" sz="2400" dirty="0">
              <a:solidFill>
                <a:srgbClr val="002060"/>
              </a:solidFill>
              <a:latin typeface="微软雅黑" panose="020B0503020204020204" pitchFamily="34" charset="-122"/>
              <a:ea typeface="微软雅黑" panose="020B0503020204020204" pitchFamily="34" charset="-122"/>
            </a:endParaRPr>
          </a:p>
          <a:p>
            <a:pPr marL="0" lvl="1" indent="-398780">
              <a:lnSpc>
                <a:spcPct val="150000"/>
              </a:lnSpc>
              <a:spcBef>
                <a:spcPct val="40000"/>
              </a:spcBef>
              <a:buClr>
                <a:srgbClr val="669900"/>
              </a:buClr>
              <a:buNone/>
            </a:pPr>
            <a:r>
              <a:rPr lang="en-US" altLang="zh-CN" sz="2500" b="1" i="1" dirty="0" err="1">
                <a:solidFill>
                  <a:srgbClr val="800000"/>
                </a:solidFill>
              </a:rPr>
              <a:t>i</a:t>
            </a:r>
            <a:r>
              <a:rPr lang="en-US" altLang="zh-CN" sz="2500" b="1" dirty="0">
                <a:solidFill>
                  <a:srgbClr val="800000"/>
                </a:solidFill>
              </a:rPr>
              <a:t>.</a:t>
            </a:r>
            <a:r>
              <a:rPr lang="en-US" altLang="zh-CN" sz="2500" dirty="0">
                <a:solidFill>
                  <a:srgbClr val="800000"/>
                </a:solidFill>
              </a:rPr>
              <a:t>  </a:t>
            </a:r>
            <a:r>
              <a:rPr lang="zh-CN" altLang="en-US" sz="2400" dirty="0">
                <a:solidFill>
                  <a:srgbClr val="002060"/>
                </a:solidFill>
                <a:latin typeface="微软雅黑" panose="020B0503020204020204" pitchFamily="34" charset="-122"/>
                <a:ea typeface="微软雅黑" panose="020B0503020204020204" pitchFamily="34" charset="-122"/>
              </a:rPr>
              <a:t>如果甲和乙未婚同居，他们的综合税单是多少？</a:t>
            </a:r>
            <a:endParaRPr lang="en-US" altLang="zh-CN" sz="2400" dirty="0">
              <a:solidFill>
                <a:srgbClr val="002060"/>
              </a:solidFill>
              <a:latin typeface="微软雅黑" panose="020B0503020204020204" pitchFamily="34" charset="-122"/>
              <a:ea typeface="微软雅黑" panose="020B0503020204020204" pitchFamily="34" charset="-122"/>
            </a:endParaRPr>
          </a:p>
          <a:p>
            <a:pPr marL="0" lvl="1" indent="-398780">
              <a:lnSpc>
                <a:spcPct val="150000"/>
              </a:lnSpc>
              <a:spcBef>
                <a:spcPct val="40000"/>
              </a:spcBef>
              <a:buClr>
                <a:srgbClr val="669900"/>
              </a:buClr>
              <a:buNone/>
            </a:pPr>
            <a:r>
              <a:rPr lang="en-US" altLang="zh-CN" sz="2500" b="1" i="1" dirty="0">
                <a:solidFill>
                  <a:srgbClr val="800000"/>
                </a:solidFill>
              </a:rPr>
              <a:t>ii</a:t>
            </a:r>
            <a:r>
              <a:rPr lang="en-US" altLang="zh-CN" sz="2500" b="1" dirty="0">
                <a:solidFill>
                  <a:srgbClr val="800000"/>
                </a:solidFill>
              </a:rPr>
              <a:t>.</a:t>
            </a:r>
            <a:r>
              <a:rPr lang="en-US" altLang="zh-CN" sz="2500" dirty="0">
                <a:solidFill>
                  <a:srgbClr val="CC0000"/>
                </a:solidFill>
              </a:rPr>
              <a:t>  </a:t>
            </a:r>
            <a:r>
              <a:rPr lang="zh-CN" altLang="en-US" sz="2400" dirty="0">
                <a:solidFill>
                  <a:srgbClr val="002060"/>
                </a:solidFill>
                <a:latin typeface="微软雅黑" panose="020B0503020204020204" pitchFamily="34" charset="-122"/>
                <a:ea typeface="微软雅黑" panose="020B0503020204020204" pitchFamily="34" charset="-122"/>
              </a:rPr>
              <a:t>如果甲和乙结婚了，他们的税单是多少？</a:t>
            </a:r>
            <a:endParaRPr lang="en-US" altLang="zh-CN" sz="2400" dirty="0">
              <a:solidFill>
                <a:srgbClr val="002060"/>
              </a:solidFill>
              <a:latin typeface="微软雅黑" panose="020B0503020204020204" pitchFamily="34" charset="-122"/>
              <a:ea typeface="微软雅黑" panose="020B0503020204020204" pitchFamily="34" charset="-122"/>
            </a:endParaRPr>
          </a:p>
          <a:p>
            <a:pPr>
              <a:lnSpc>
                <a:spcPct val="150000"/>
              </a:lnSpc>
            </a:pPr>
            <a:endParaRPr lang="en-US" altLang="zh-CN"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6"/>
            <a:ext cx="5262880" cy="583565"/>
          </a:xfrm>
          <a:prstGeom prst="rect">
            <a:avLst/>
          </a:prstGeom>
          <a:noFill/>
        </p:spPr>
        <p:txBody>
          <a:bodyPr wrap="none" rtlCol="0">
            <a:spAutoFit/>
          </a:bodyPr>
          <a:lstStyle/>
          <a:p>
            <a:r>
              <a:rPr lang="zh-CN" altLang="en-US" sz="3200" dirty="0">
                <a:solidFill>
                  <a:srgbClr val="002060"/>
                </a:solidFill>
                <a:latin typeface="华光中雅_CNKI" panose="02000500000000000000" pitchFamily="2" charset="-122"/>
                <a:ea typeface="华光中雅_CNKI" panose="02000500000000000000" pitchFamily="2" charset="-122"/>
              </a:rPr>
              <a:t>习题：税收和婚姻，第</a:t>
            </a:r>
            <a:r>
              <a:rPr lang="en-US" altLang="zh-CN" sz="3200" dirty="0">
                <a:solidFill>
                  <a:srgbClr val="002060"/>
                </a:solidFill>
                <a:latin typeface="华光中雅_CNKI" panose="02000500000000000000" pitchFamily="2" charset="-122"/>
                <a:ea typeface="华光中雅_CNKI" panose="02000500000000000000" pitchFamily="2" charset="-122"/>
              </a:rPr>
              <a:t>1</a:t>
            </a:r>
            <a:r>
              <a:rPr lang="zh-CN" altLang="en-US" sz="3200" dirty="0">
                <a:solidFill>
                  <a:srgbClr val="002060"/>
                </a:solidFill>
                <a:latin typeface="华光中雅_CNKI" panose="02000500000000000000" pitchFamily="2" charset="-122"/>
                <a:ea typeface="华光中雅_CNKI" panose="02000500000000000000" pitchFamily="2" charset="-122"/>
              </a:rPr>
              <a:t>部分</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16" name="TextBox 15"/>
          <p:cNvSpPr txBox="1"/>
          <p:nvPr/>
        </p:nvSpPr>
        <p:spPr>
          <a:xfrm>
            <a:off x="539552" y="1268760"/>
            <a:ext cx="7920880" cy="4523105"/>
          </a:xfrm>
          <a:prstGeom prst="rect">
            <a:avLst/>
          </a:prstGeom>
          <a:noFill/>
        </p:spPr>
        <p:txBody>
          <a:bodyPr wrap="square" rtlCol="0">
            <a:spAutoFit/>
          </a:bodyPr>
          <a:lstStyle/>
          <a:p>
            <a:pPr>
              <a:lnSpc>
                <a:spcPct val="150000"/>
              </a:lnSpc>
            </a:pPr>
            <a:r>
              <a:rPr lang="zh-CN" altLang="en-US" sz="2400" dirty="0">
                <a:solidFill>
                  <a:srgbClr val="002060"/>
                </a:solidFill>
                <a:latin typeface="微软雅黑" panose="020B0503020204020204" pitchFamily="34" charset="-122"/>
                <a:ea typeface="微软雅黑" panose="020B0503020204020204" pitchFamily="34" charset="-122"/>
              </a:rPr>
              <a:t>如果未婚，甲和乙各付</a:t>
            </a:r>
            <a:endParaRPr lang="en-US" altLang="zh-CN" sz="2400" dirty="0">
              <a:solidFill>
                <a:srgbClr val="002060"/>
              </a:solidFill>
              <a:latin typeface="微软雅黑" panose="020B0503020204020204" pitchFamily="34" charset="-122"/>
              <a:ea typeface="微软雅黑" panose="020B0503020204020204" pitchFamily="34" charset="-122"/>
            </a:endParaRPr>
          </a:p>
          <a:p>
            <a:pPr marL="360045">
              <a:lnSpc>
                <a:spcPct val="150000"/>
              </a:lnSpc>
            </a:pPr>
            <a:r>
              <a:rPr lang="en-US" altLang="zh-CN" sz="2400" dirty="0">
                <a:solidFill>
                  <a:srgbClr val="002060"/>
                </a:solidFill>
                <a:latin typeface="微软雅黑" panose="020B0503020204020204" pitchFamily="34" charset="-122"/>
                <a:ea typeface="微软雅黑" panose="020B0503020204020204" pitchFamily="34" charset="-122"/>
              </a:rPr>
              <a:t>0.25 x</a:t>
            </a:r>
            <a:r>
              <a:rPr lang="zh-CN" altLang="en-US" sz="2400" dirty="0">
                <a:solidFill>
                  <a:srgbClr val="002060"/>
                </a:solidFill>
                <a:latin typeface="微软雅黑" panose="020B0503020204020204" pitchFamily="34" charset="-122"/>
                <a:ea typeface="微软雅黑" panose="020B0503020204020204" pitchFamily="34" charset="-122"/>
              </a:rPr>
              <a:t>（</a:t>
            </a:r>
            <a:r>
              <a:rPr lang="en-US" altLang="zh-CN" sz="2400" dirty="0">
                <a:solidFill>
                  <a:srgbClr val="002060"/>
                </a:solidFill>
                <a:latin typeface="微软雅黑" panose="020B0503020204020204" pitchFamily="34" charset="-122"/>
                <a:ea typeface="微软雅黑" panose="020B0503020204020204" pitchFamily="34" charset="-122"/>
              </a:rPr>
              <a:t>50000–20000</a:t>
            </a:r>
            <a:r>
              <a:rPr lang="zh-CN" altLang="en-US" sz="2400" dirty="0">
                <a:solidFill>
                  <a:srgbClr val="002060"/>
                </a:solidFill>
                <a:latin typeface="微软雅黑" panose="020B0503020204020204" pitchFamily="34" charset="-122"/>
                <a:ea typeface="微软雅黑" panose="020B0503020204020204" pitchFamily="34" charset="-122"/>
              </a:rPr>
              <a:t>）</a:t>
            </a:r>
            <a:r>
              <a:rPr lang="en-US" altLang="zh-CN" sz="2400" dirty="0">
                <a:solidFill>
                  <a:srgbClr val="002060"/>
                </a:solidFill>
                <a:latin typeface="微软雅黑" panose="020B0503020204020204" pitchFamily="34" charset="-122"/>
                <a:ea typeface="微软雅黑" panose="020B0503020204020204" pitchFamily="34" charset="-122"/>
              </a:rPr>
              <a:t>=7500</a:t>
            </a:r>
            <a:r>
              <a:rPr lang="zh-CN" altLang="en-US" sz="2400" dirty="0">
                <a:solidFill>
                  <a:srgbClr val="002060"/>
                </a:solidFill>
                <a:latin typeface="微软雅黑" panose="020B0503020204020204" pitchFamily="34" charset="-122"/>
                <a:ea typeface="微软雅黑" panose="020B0503020204020204" pitchFamily="34" charset="-122"/>
              </a:rPr>
              <a:t>元</a:t>
            </a:r>
            <a:endParaRPr lang="en-US" altLang="zh-CN" sz="2400" dirty="0">
              <a:solidFill>
                <a:srgbClr val="002060"/>
              </a:solidFill>
              <a:latin typeface="微软雅黑" panose="020B0503020204020204" pitchFamily="34" charset="-122"/>
              <a:ea typeface="微软雅黑" panose="020B0503020204020204" pitchFamily="34" charset="-122"/>
            </a:endParaRPr>
          </a:p>
          <a:p>
            <a:pPr marL="360045">
              <a:lnSpc>
                <a:spcPct val="150000"/>
              </a:lnSpc>
            </a:pPr>
            <a:r>
              <a:rPr lang="zh-CN" altLang="en-US" sz="2400" dirty="0">
                <a:solidFill>
                  <a:srgbClr val="002060"/>
                </a:solidFill>
                <a:latin typeface="微软雅黑" panose="020B0503020204020204" pitchFamily="34" charset="-122"/>
                <a:ea typeface="微软雅黑" panose="020B0503020204020204" pitchFamily="34" charset="-122"/>
              </a:rPr>
              <a:t>税款总额</a:t>
            </a:r>
            <a:r>
              <a:rPr lang="en-US" altLang="zh-CN" sz="2400" dirty="0">
                <a:solidFill>
                  <a:srgbClr val="002060"/>
                </a:solidFill>
                <a:latin typeface="微软雅黑" panose="020B0503020204020204" pitchFamily="34" charset="-122"/>
                <a:ea typeface="微软雅黑" panose="020B0503020204020204" pitchFamily="34" charset="-122"/>
              </a:rPr>
              <a:t>=15000=</a:t>
            </a:r>
            <a:r>
              <a:rPr lang="zh-CN" altLang="en-US" sz="2400" dirty="0">
                <a:solidFill>
                  <a:srgbClr val="002060"/>
                </a:solidFill>
                <a:latin typeface="微软雅黑" panose="020B0503020204020204" pitchFamily="34" charset="-122"/>
                <a:ea typeface="微软雅黑" panose="020B0503020204020204" pitchFamily="34" charset="-122"/>
              </a:rPr>
              <a:t>他们共同收入的</a:t>
            </a:r>
            <a:r>
              <a:rPr lang="en-US" altLang="zh-CN" sz="2400" dirty="0">
                <a:solidFill>
                  <a:srgbClr val="002060"/>
                </a:solidFill>
                <a:latin typeface="微软雅黑" panose="020B0503020204020204" pitchFamily="34" charset="-122"/>
                <a:ea typeface="微软雅黑" panose="020B0503020204020204" pitchFamily="34" charset="-122"/>
              </a:rPr>
              <a:t>15%</a:t>
            </a:r>
            <a:r>
              <a:rPr lang="zh-CN" altLang="en-US" sz="2400" dirty="0">
                <a:solidFill>
                  <a:srgbClr val="002060"/>
                </a:solidFill>
                <a:latin typeface="微软雅黑" panose="020B0503020204020204" pitchFamily="34" charset="-122"/>
                <a:ea typeface="微软雅黑" panose="020B0503020204020204" pitchFamily="34" charset="-122"/>
              </a:rPr>
              <a:t>。</a:t>
            </a:r>
            <a:endParaRPr lang="en-US" altLang="zh-CN" sz="2400" dirty="0">
              <a:solidFill>
                <a:srgbClr val="002060"/>
              </a:solidFill>
              <a:latin typeface="微软雅黑" panose="020B0503020204020204" pitchFamily="34" charset="-122"/>
              <a:ea typeface="微软雅黑" panose="020B0503020204020204" pitchFamily="34" charset="-122"/>
            </a:endParaRPr>
          </a:p>
          <a:p>
            <a:pPr>
              <a:lnSpc>
                <a:spcPct val="150000"/>
              </a:lnSpc>
            </a:pPr>
            <a:r>
              <a:rPr lang="zh-CN" altLang="en-US" sz="2400" dirty="0">
                <a:solidFill>
                  <a:srgbClr val="002060"/>
                </a:solidFill>
                <a:latin typeface="微软雅黑" panose="020B0503020204020204" pitchFamily="34" charset="-122"/>
                <a:ea typeface="微软雅黑" panose="020B0503020204020204" pitchFamily="34" charset="-122"/>
              </a:rPr>
              <a:t>如果结婚，甲和乙支付</a:t>
            </a:r>
            <a:endParaRPr lang="en-US" altLang="zh-CN" sz="2400" dirty="0">
              <a:solidFill>
                <a:srgbClr val="002060"/>
              </a:solidFill>
              <a:latin typeface="微软雅黑" panose="020B0503020204020204" pitchFamily="34" charset="-122"/>
              <a:ea typeface="微软雅黑" panose="020B0503020204020204" pitchFamily="34" charset="-122"/>
            </a:endParaRPr>
          </a:p>
          <a:p>
            <a:pPr marL="360045">
              <a:lnSpc>
                <a:spcPct val="150000"/>
              </a:lnSpc>
            </a:pPr>
            <a:r>
              <a:rPr lang="en-US" altLang="zh-CN" sz="2400" dirty="0">
                <a:solidFill>
                  <a:srgbClr val="002060"/>
                </a:solidFill>
                <a:latin typeface="微软雅黑" panose="020B0503020204020204" pitchFamily="34" charset="-122"/>
                <a:ea typeface="微软雅黑" panose="020B0503020204020204" pitchFamily="34" charset="-122"/>
              </a:rPr>
              <a:t>0.25 x (100,000 – 20,000) = 20,000</a:t>
            </a:r>
            <a:r>
              <a:rPr lang="zh-CN" altLang="en-US" sz="2400" dirty="0">
                <a:solidFill>
                  <a:srgbClr val="002060"/>
                </a:solidFill>
                <a:latin typeface="微软雅黑" panose="020B0503020204020204" pitchFamily="34" charset="-122"/>
                <a:ea typeface="微软雅黑" panose="020B0503020204020204" pitchFamily="34" charset="-122"/>
              </a:rPr>
              <a:t>元</a:t>
            </a:r>
            <a:r>
              <a:rPr lang="en-US" altLang="zh-CN" sz="2400" dirty="0">
                <a:solidFill>
                  <a:srgbClr val="002060"/>
                </a:solidFill>
                <a:latin typeface="微软雅黑" panose="020B0503020204020204" pitchFamily="34" charset="-122"/>
                <a:ea typeface="微软雅黑" panose="020B0503020204020204" pitchFamily="34" charset="-122"/>
              </a:rPr>
              <a:t>  </a:t>
            </a:r>
            <a:endParaRPr lang="en-US" altLang="zh-CN" sz="2400" dirty="0">
              <a:solidFill>
                <a:srgbClr val="002060"/>
              </a:solidFill>
              <a:latin typeface="微软雅黑" panose="020B0503020204020204" pitchFamily="34" charset="-122"/>
              <a:ea typeface="微软雅黑" panose="020B0503020204020204" pitchFamily="34" charset="-122"/>
            </a:endParaRPr>
          </a:p>
          <a:p>
            <a:pPr marL="360045">
              <a:lnSpc>
                <a:spcPct val="150000"/>
              </a:lnSpc>
            </a:pPr>
            <a:r>
              <a:rPr lang="zh-CN" altLang="en-US" sz="2400" dirty="0">
                <a:solidFill>
                  <a:srgbClr val="002060"/>
                </a:solidFill>
                <a:latin typeface="微软雅黑" panose="020B0503020204020204" pitchFamily="34" charset="-122"/>
                <a:ea typeface="微软雅黑" panose="020B0503020204020204" pitchFamily="34" charset="-122"/>
              </a:rPr>
              <a:t>税款总额</a:t>
            </a:r>
            <a:r>
              <a:rPr lang="en-US" altLang="zh-CN" sz="2400" dirty="0">
                <a:solidFill>
                  <a:srgbClr val="002060"/>
                </a:solidFill>
                <a:latin typeface="微软雅黑" panose="020B0503020204020204" pitchFamily="34" charset="-122"/>
                <a:ea typeface="微软雅黑" panose="020B0503020204020204" pitchFamily="34" charset="-122"/>
              </a:rPr>
              <a:t>=</a:t>
            </a:r>
            <a:r>
              <a:rPr lang="zh-CN" altLang="en-US" sz="2400" dirty="0">
                <a:solidFill>
                  <a:srgbClr val="002060"/>
                </a:solidFill>
                <a:latin typeface="微软雅黑" panose="020B0503020204020204" pitchFamily="34" charset="-122"/>
                <a:ea typeface="微软雅黑" panose="020B0503020204020204" pitchFamily="34" charset="-122"/>
              </a:rPr>
              <a:t>他们共同收入的</a:t>
            </a:r>
            <a:r>
              <a:rPr lang="en-US" altLang="zh-CN" sz="2400" dirty="0">
                <a:solidFill>
                  <a:srgbClr val="002060"/>
                </a:solidFill>
                <a:latin typeface="微软雅黑" panose="020B0503020204020204" pitchFamily="34" charset="-122"/>
                <a:ea typeface="微软雅黑" panose="020B0503020204020204" pitchFamily="34" charset="-122"/>
              </a:rPr>
              <a:t>20% </a:t>
            </a:r>
            <a:endParaRPr lang="en-US" altLang="zh-CN" sz="2400" dirty="0">
              <a:solidFill>
                <a:srgbClr val="002060"/>
              </a:solidFill>
              <a:latin typeface="微软雅黑" panose="020B0503020204020204" pitchFamily="34" charset="-122"/>
              <a:ea typeface="微软雅黑" panose="020B0503020204020204" pitchFamily="34" charset="-122"/>
            </a:endParaRPr>
          </a:p>
          <a:p>
            <a:pPr>
              <a:lnSpc>
                <a:spcPct val="150000"/>
              </a:lnSpc>
            </a:pPr>
            <a:r>
              <a:rPr lang="zh-CN" altLang="en-US" sz="2400" dirty="0">
                <a:solidFill>
                  <a:srgbClr val="002060"/>
                </a:solidFill>
                <a:latin typeface="微软雅黑" panose="020B0503020204020204" pitchFamily="34" charset="-122"/>
                <a:ea typeface="微软雅黑" panose="020B0503020204020204" pitchFamily="34" charset="-122"/>
              </a:rPr>
              <a:t>增加</a:t>
            </a:r>
            <a:r>
              <a:rPr lang="en-US" altLang="zh-CN" sz="2400" dirty="0">
                <a:solidFill>
                  <a:srgbClr val="002060"/>
                </a:solidFill>
                <a:latin typeface="微软雅黑" panose="020B0503020204020204" pitchFamily="34" charset="-122"/>
                <a:ea typeface="微软雅黑" panose="020B0503020204020204" pitchFamily="34" charset="-122"/>
              </a:rPr>
              <a:t>5000</a:t>
            </a:r>
            <a:r>
              <a:rPr lang="zh-CN" altLang="en-US" sz="2400" dirty="0">
                <a:solidFill>
                  <a:srgbClr val="002060"/>
                </a:solidFill>
                <a:latin typeface="微软雅黑" panose="020B0503020204020204" pitchFamily="34" charset="-122"/>
                <a:ea typeface="微软雅黑" panose="020B0503020204020204" pitchFamily="34" charset="-122"/>
              </a:rPr>
              <a:t>元的税单：被称为“婚姻税”或“婚姻罚款”</a:t>
            </a:r>
            <a:endParaRPr lang="en-US" altLang="zh-CN" sz="2400" dirty="0">
              <a:solidFill>
                <a:srgbClr val="002060"/>
              </a:solidFill>
              <a:latin typeface="微软雅黑" panose="020B0503020204020204" pitchFamily="34" charset="-122"/>
              <a:ea typeface="微软雅黑" panose="020B0503020204020204" pitchFamily="34" charset="-122"/>
            </a:endParaRPr>
          </a:p>
          <a:p>
            <a:pPr>
              <a:lnSpc>
                <a:spcPct val="150000"/>
              </a:lnSpc>
            </a:pPr>
            <a:endParaRPr lang="en-US" altLang="zh-CN"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6"/>
            <a:ext cx="5262880" cy="583565"/>
          </a:xfrm>
          <a:prstGeom prst="rect">
            <a:avLst/>
          </a:prstGeom>
          <a:noFill/>
        </p:spPr>
        <p:txBody>
          <a:bodyPr wrap="none" rtlCol="0">
            <a:spAutoFit/>
          </a:bodyPr>
          <a:lstStyle/>
          <a:p>
            <a:r>
              <a:rPr lang="zh-CN" altLang="en-US" sz="3200" dirty="0">
                <a:solidFill>
                  <a:srgbClr val="002060"/>
                </a:solidFill>
                <a:latin typeface="华光中雅_CNKI" panose="02000500000000000000" pitchFamily="2" charset="-122"/>
                <a:ea typeface="华光中雅_CNKI" panose="02000500000000000000" pitchFamily="2" charset="-122"/>
              </a:rPr>
              <a:t>习题：税收和婚姻，第</a:t>
            </a:r>
            <a:r>
              <a:rPr lang="en-US" altLang="zh-CN" sz="3200" dirty="0">
                <a:solidFill>
                  <a:srgbClr val="002060"/>
                </a:solidFill>
                <a:latin typeface="华光中雅_CNKI" panose="02000500000000000000" pitchFamily="2" charset="-122"/>
                <a:ea typeface="华光中雅_CNKI" panose="02000500000000000000" pitchFamily="2" charset="-122"/>
              </a:rPr>
              <a:t>2</a:t>
            </a:r>
            <a:r>
              <a:rPr lang="zh-CN" altLang="en-US" sz="3200" dirty="0">
                <a:solidFill>
                  <a:srgbClr val="002060"/>
                </a:solidFill>
                <a:latin typeface="华光中雅_CNKI" panose="02000500000000000000" pitchFamily="2" charset="-122"/>
                <a:ea typeface="华光中雅_CNKI" panose="02000500000000000000" pitchFamily="2" charset="-122"/>
              </a:rPr>
              <a:t>部分</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16" name="TextBox 15"/>
          <p:cNvSpPr txBox="1"/>
          <p:nvPr/>
        </p:nvSpPr>
        <p:spPr>
          <a:xfrm>
            <a:off x="539552" y="1268760"/>
            <a:ext cx="7920880" cy="4323080"/>
          </a:xfrm>
          <a:prstGeom prst="rect">
            <a:avLst/>
          </a:prstGeom>
          <a:noFill/>
        </p:spPr>
        <p:txBody>
          <a:bodyPr wrap="square" rtlCol="0">
            <a:spAutoFit/>
          </a:bodyPr>
          <a:lstStyle/>
          <a:p>
            <a:pPr>
              <a:lnSpc>
                <a:spcPct val="150000"/>
              </a:lnSpc>
            </a:pPr>
            <a:r>
              <a:rPr lang="zh-CN" altLang="en-US" sz="2400" dirty="0">
                <a:solidFill>
                  <a:srgbClr val="002060"/>
                </a:solidFill>
                <a:latin typeface="微软雅黑" panose="020B0503020204020204" pitchFamily="34" charset="-122"/>
                <a:ea typeface="微软雅黑" panose="020B0503020204020204" pitchFamily="34" charset="-122"/>
              </a:rPr>
              <a:t>假如：所得税税率为</a:t>
            </a:r>
            <a:r>
              <a:rPr lang="en-US" altLang="zh-CN" sz="2400" dirty="0">
                <a:solidFill>
                  <a:srgbClr val="002060"/>
                </a:solidFill>
                <a:latin typeface="微软雅黑" panose="020B0503020204020204" pitchFamily="34" charset="-122"/>
                <a:ea typeface="微软雅黑" panose="020B0503020204020204" pitchFamily="34" charset="-122"/>
              </a:rPr>
              <a:t>25%</a:t>
            </a:r>
            <a:r>
              <a:rPr lang="zh-CN" altLang="en-US" sz="2400" dirty="0">
                <a:solidFill>
                  <a:srgbClr val="002060"/>
                </a:solidFill>
                <a:latin typeface="微软雅黑" panose="020B0503020204020204" pitchFamily="34" charset="-122"/>
                <a:ea typeface="微软雅黑" panose="020B0503020204020204" pitchFamily="34" charset="-122"/>
              </a:rPr>
              <a:t>。对于单身人士来说，前</a:t>
            </a:r>
            <a:r>
              <a:rPr lang="en-US" altLang="zh-CN" sz="2400" dirty="0">
                <a:solidFill>
                  <a:srgbClr val="002060"/>
                </a:solidFill>
                <a:latin typeface="微软雅黑" panose="020B0503020204020204" pitchFamily="34" charset="-122"/>
                <a:ea typeface="微软雅黑" panose="020B0503020204020204" pitchFamily="34" charset="-122"/>
              </a:rPr>
              <a:t>2</a:t>
            </a:r>
            <a:r>
              <a:rPr lang="zh-CN" altLang="en-US" sz="2400" dirty="0">
                <a:solidFill>
                  <a:srgbClr val="002060"/>
                </a:solidFill>
                <a:latin typeface="微软雅黑" panose="020B0503020204020204" pitchFamily="34" charset="-122"/>
                <a:ea typeface="微软雅黑" panose="020B0503020204020204" pitchFamily="34" charset="-122"/>
              </a:rPr>
              <a:t>万元的收入是免税的。对于已婚夫妇来说，前</a:t>
            </a:r>
            <a:r>
              <a:rPr lang="en-US" altLang="zh-CN" sz="2400" dirty="0">
                <a:solidFill>
                  <a:srgbClr val="002060"/>
                </a:solidFill>
                <a:latin typeface="微软雅黑" panose="020B0503020204020204" pitchFamily="34" charset="-122"/>
                <a:ea typeface="微软雅黑" panose="020B0503020204020204" pitchFamily="34" charset="-122"/>
              </a:rPr>
              <a:t>4</a:t>
            </a:r>
            <a:r>
              <a:rPr lang="zh-CN" altLang="en-US" sz="2400" dirty="0">
                <a:solidFill>
                  <a:srgbClr val="002060"/>
                </a:solidFill>
                <a:latin typeface="微软雅黑" panose="020B0503020204020204" pitchFamily="34" charset="-122"/>
                <a:ea typeface="微软雅黑" panose="020B0503020204020204" pitchFamily="34" charset="-122"/>
              </a:rPr>
              <a:t>万元是免税的。</a:t>
            </a:r>
            <a:endParaRPr lang="en-US" altLang="zh-CN" sz="2400" dirty="0">
              <a:solidFill>
                <a:srgbClr val="002060"/>
              </a:solidFill>
              <a:latin typeface="微软雅黑" panose="020B0503020204020204" pitchFamily="34" charset="-122"/>
              <a:ea typeface="微软雅黑" panose="020B0503020204020204" pitchFamily="34" charset="-122"/>
            </a:endParaRPr>
          </a:p>
          <a:p>
            <a:pPr>
              <a:lnSpc>
                <a:spcPct val="150000"/>
              </a:lnSpc>
            </a:pPr>
            <a:r>
              <a:rPr lang="zh-CN" altLang="en-US" sz="2400" dirty="0">
                <a:solidFill>
                  <a:srgbClr val="002060"/>
                </a:solidFill>
                <a:latin typeface="微软雅黑" panose="020B0503020204020204" pitchFamily="34" charset="-122"/>
                <a:ea typeface="微软雅黑" panose="020B0503020204020204" pitchFamily="34" charset="-122"/>
              </a:rPr>
              <a:t>甲挣</a:t>
            </a:r>
            <a:r>
              <a:rPr lang="en-US" altLang="zh-CN" sz="2400" dirty="0">
                <a:solidFill>
                  <a:srgbClr val="002060"/>
                </a:solidFill>
                <a:latin typeface="微软雅黑" panose="020B0503020204020204" pitchFamily="34" charset="-122"/>
                <a:ea typeface="微软雅黑" panose="020B0503020204020204" pitchFamily="34" charset="-122"/>
              </a:rPr>
              <a:t>0</a:t>
            </a:r>
            <a:r>
              <a:rPr lang="zh-CN" altLang="en-US" sz="2400" dirty="0">
                <a:solidFill>
                  <a:srgbClr val="002060"/>
                </a:solidFill>
                <a:latin typeface="微软雅黑" panose="020B0503020204020204" pitchFamily="34" charset="-122"/>
                <a:ea typeface="微软雅黑" panose="020B0503020204020204" pitchFamily="34" charset="-122"/>
              </a:rPr>
              <a:t>元，乙挣</a:t>
            </a:r>
            <a:r>
              <a:rPr lang="en-US" altLang="zh-CN" sz="2400" dirty="0">
                <a:solidFill>
                  <a:srgbClr val="002060"/>
                </a:solidFill>
                <a:latin typeface="微软雅黑" panose="020B0503020204020204" pitchFamily="34" charset="-122"/>
                <a:ea typeface="微软雅黑" panose="020B0503020204020204" pitchFamily="34" charset="-122"/>
              </a:rPr>
              <a:t>10</a:t>
            </a:r>
            <a:r>
              <a:rPr lang="zh-CN" altLang="en-US" sz="2400" dirty="0">
                <a:solidFill>
                  <a:srgbClr val="002060"/>
                </a:solidFill>
                <a:latin typeface="微软雅黑" panose="020B0503020204020204" pitchFamily="34" charset="-122"/>
                <a:ea typeface="微软雅黑" panose="020B0503020204020204" pitchFamily="34" charset="-122"/>
              </a:rPr>
              <a:t>万元。</a:t>
            </a:r>
            <a:endParaRPr lang="en-US" altLang="zh-CN" sz="2400" dirty="0">
              <a:solidFill>
                <a:srgbClr val="002060"/>
              </a:solidFill>
              <a:latin typeface="微软雅黑" panose="020B0503020204020204" pitchFamily="34" charset="-122"/>
              <a:ea typeface="微软雅黑" panose="020B0503020204020204" pitchFamily="34" charset="-122"/>
            </a:endParaRPr>
          </a:p>
          <a:p>
            <a:pPr marL="0" lvl="1" indent="-398780">
              <a:lnSpc>
                <a:spcPct val="150000"/>
              </a:lnSpc>
              <a:spcBef>
                <a:spcPct val="40000"/>
              </a:spcBef>
              <a:buClr>
                <a:srgbClr val="669900"/>
              </a:buClr>
              <a:buNone/>
            </a:pPr>
            <a:r>
              <a:rPr lang="en-US" altLang="zh-CN" sz="2500" b="1" i="1" dirty="0" err="1">
                <a:solidFill>
                  <a:srgbClr val="800000"/>
                </a:solidFill>
              </a:rPr>
              <a:t>i</a:t>
            </a:r>
            <a:r>
              <a:rPr lang="en-US" altLang="zh-CN" sz="2500" b="1" dirty="0">
                <a:solidFill>
                  <a:srgbClr val="800000"/>
                </a:solidFill>
              </a:rPr>
              <a:t>.</a:t>
            </a:r>
            <a:r>
              <a:rPr lang="en-US" altLang="zh-CN" sz="2500" dirty="0">
                <a:solidFill>
                  <a:srgbClr val="800000"/>
                </a:solidFill>
              </a:rPr>
              <a:t>  </a:t>
            </a:r>
            <a:r>
              <a:rPr lang="zh-CN" altLang="en-US" sz="2400" dirty="0">
                <a:solidFill>
                  <a:srgbClr val="002060"/>
                </a:solidFill>
                <a:latin typeface="微软雅黑" panose="020B0503020204020204" pitchFamily="34" charset="-122"/>
                <a:ea typeface="微软雅黑" panose="020B0503020204020204" pitchFamily="34" charset="-122"/>
              </a:rPr>
              <a:t>如果甲和乙未婚同居，他们的综合税单是多少？</a:t>
            </a:r>
            <a:endParaRPr lang="en-US" altLang="zh-CN" sz="2400" dirty="0">
              <a:solidFill>
                <a:srgbClr val="002060"/>
              </a:solidFill>
              <a:latin typeface="微软雅黑" panose="020B0503020204020204" pitchFamily="34" charset="-122"/>
              <a:ea typeface="微软雅黑" panose="020B0503020204020204" pitchFamily="34" charset="-122"/>
            </a:endParaRPr>
          </a:p>
          <a:p>
            <a:pPr marL="0" lvl="1" indent="-398780">
              <a:lnSpc>
                <a:spcPct val="150000"/>
              </a:lnSpc>
              <a:spcBef>
                <a:spcPct val="40000"/>
              </a:spcBef>
              <a:buClr>
                <a:srgbClr val="669900"/>
              </a:buClr>
              <a:buNone/>
            </a:pPr>
            <a:r>
              <a:rPr lang="en-US" altLang="zh-CN" sz="2500" b="1" i="1" dirty="0">
                <a:solidFill>
                  <a:srgbClr val="800000"/>
                </a:solidFill>
              </a:rPr>
              <a:t>ii</a:t>
            </a:r>
            <a:r>
              <a:rPr lang="en-US" altLang="zh-CN" sz="2500" b="1" dirty="0">
                <a:solidFill>
                  <a:srgbClr val="800000"/>
                </a:solidFill>
              </a:rPr>
              <a:t>.</a:t>
            </a:r>
            <a:r>
              <a:rPr lang="en-US" altLang="zh-CN" sz="2500" dirty="0">
                <a:solidFill>
                  <a:srgbClr val="CC0000"/>
                </a:solidFill>
              </a:rPr>
              <a:t>  </a:t>
            </a:r>
            <a:r>
              <a:rPr lang="zh-CN" altLang="en-US" sz="2400" dirty="0">
                <a:solidFill>
                  <a:srgbClr val="002060"/>
                </a:solidFill>
                <a:latin typeface="微软雅黑" panose="020B0503020204020204" pitchFamily="34" charset="-122"/>
                <a:ea typeface="微软雅黑" panose="020B0503020204020204" pitchFamily="34" charset="-122"/>
              </a:rPr>
              <a:t>如果甲和乙结婚了，他们的税单是多少？</a:t>
            </a:r>
            <a:endParaRPr lang="en-US" altLang="zh-CN" sz="2400" dirty="0">
              <a:solidFill>
                <a:srgbClr val="002060"/>
              </a:solidFill>
              <a:latin typeface="微软雅黑" panose="020B0503020204020204" pitchFamily="34" charset="-122"/>
              <a:ea typeface="微软雅黑" panose="020B0503020204020204" pitchFamily="34" charset="-122"/>
            </a:endParaRPr>
          </a:p>
          <a:p>
            <a:pPr>
              <a:lnSpc>
                <a:spcPct val="150000"/>
              </a:lnSpc>
            </a:pPr>
            <a:endParaRPr lang="en-US" altLang="zh-CN" sz="2400" dirty="0">
              <a:solidFill>
                <a:srgbClr val="002060"/>
              </a:solidFill>
              <a:latin typeface="微软雅黑" panose="020B0503020204020204" pitchFamily="34" charset="-122"/>
              <a:ea typeface="微软雅黑" panose="020B0503020204020204" pitchFamily="34" charset="-122"/>
            </a:endParaRPr>
          </a:p>
          <a:p>
            <a:pPr>
              <a:lnSpc>
                <a:spcPct val="150000"/>
              </a:lnSpc>
            </a:pPr>
            <a:endParaRPr lang="en-US" altLang="zh-CN"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6"/>
            <a:ext cx="5262880" cy="583565"/>
          </a:xfrm>
          <a:prstGeom prst="rect">
            <a:avLst/>
          </a:prstGeom>
          <a:noFill/>
        </p:spPr>
        <p:txBody>
          <a:bodyPr wrap="none" rtlCol="0">
            <a:spAutoFit/>
          </a:bodyPr>
          <a:lstStyle/>
          <a:p>
            <a:r>
              <a:rPr lang="zh-CN" altLang="en-US" sz="3200" dirty="0">
                <a:solidFill>
                  <a:srgbClr val="002060"/>
                </a:solidFill>
                <a:latin typeface="华光中雅_CNKI" panose="02000500000000000000" pitchFamily="2" charset="-122"/>
                <a:ea typeface="华光中雅_CNKI" panose="02000500000000000000" pitchFamily="2" charset="-122"/>
              </a:rPr>
              <a:t>习题：税收和婚姻，第</a:t>
            </a:r>
            <a:r>
              <a:rPr lang="en-US" altLang="zh-CN" sz="3200" dirty="0">
                <a:solidFill>
                  <a:srgbClr val="002060"/>
                </a:solidFill>
                <a:latin typeface="华光中雅_CNKI" panose="02000500000000000000" pitchFamily="2" charset="-122"/>
                <a:ea typeface="华光中雅_CNKI" panose="02000500000000000000" pitchFamily="2" charset="-122"/>
              </a:rPr>
              <a:t>2</a:t>
            </a:r>
            <a:r>
              <a:rPr lang="zh-CN" altLang="en-US" sz="3200" dirty="0">
                <a:solidFill>
                  <a:srgbClr val="002060"/>
                </a:solidFill>
                <a:latin typeface="华光中雅_CNKI" panose="02000500000000000000" pitchFamily="2" charset="-122"/>
                <a:ea typeface="华光中雅_CNKI" panose="02000500000000000000" pitchFamily="2" charset="-122"/>
              </a:rPr>
              <a:t>部分</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16" name="TextBox 15"/>
          <p:cNvSpPr txBox="1"/>
          <p:nvPr/>
        </p:nvSpPr>
        <p:spPr>
          <a:xfrm>
            <a:off x="539552" y="1268760"/>
            <a:ext cx="7920880" cy="4523105"/>
          </a:xfrm>
          <a:prstGeom prst="rect">
            <a:avLst/>
          </a:prstGeom>
          <a:noFill/>
        </p:spPr>
        <p:txBody>
          <a:bodyPr wrap="square" rtlCol="0">
            <a:spAutoFit/>
          </a:bodyPr>
          <a:lstStyle/>
          <a:p>
            <a:pPr>
              <a:lnSpc>
                <a:spcPct val="150000"/>
              </a:lnSpc>
            </a:pPr>
            <a:r>
              <a:rPr lang="zh-CN" altLang="en-US" sz="2400" dirty="0">
                <a:solidFill>
                  <a:srgbClr val="002060"/>
                </a:solidFill>
                <a:latin typeface="微软雅黑" panose="020B0503020204020204" pitchFamily="34" charset="-122"/>
                <a:ea typeface="微软雅黑" panose="020B0503020204020204" pitchFamily="34" charset="-122"/>
              </a:rPr>
              <a:t>如果未婚，</a:t>
            </a:r>
            <a:endParaRPr lang="en-US" altLang="zh-CN" sz="2400" dirty="0">
              <a:solidFill>
                <a:srgbClr val="002060"/>
              </a:solidFill>
              <a:latin typeface="微软雅黑" panose="020B0503020204020204" pitchFamily="34" charset="-122"/>
              <a:ea typeface="微软雅黑" panose="020B0503020204020204" pitchFamily="34" charset="-122"/>
            </a:endParaRPr>
          </a:p>
          <a:p>
            <a:pPr marL="360045">
              <a:lnSpc>
                <a:spcPct val="150000"/>
              </a:lnSpc>
            </a:pPr>
            <a:r>
              <a:rPr lang="zh-CN" altLang="en-US" sz="2400" dirty="0">
                <a:solidFill>
                  <a:srgbClr val="002060"/>
                </a:solidFill>
                <a:latin typeface="微软雅黑" panose="020B0503020204020204" pitchFamily="34" charset="-122"/>
                <a:ea typeface="微软雅黑" panose="020B0503020204020204" pitchFamily="34" charset="-122"/>
              </a:rPr>
              <a:t>甲在税收上支付</a:t>
            </a:r>
            <a:r>
              <a:rPr lang="en-US" altLang="zh-CN" sz="2400" dirty="0">
                <a:solidFill>
                  <a:srgbClr val="002060"/>
                </a:solidFill>
                <a:latin typeface="微软雅黑" panose="020B0503020204020204" pitchFamily="34" charset="-122"/>
                <a:ea typeface="微软雅黑" panose="020B0503020204020204" pitchFamily="34" charset="-122"/>
              </a:rPr>
              <a:t>0</a:t>
            </a:r>
            <a:r>
              <a:rPr lang="zh-CN" altLang="en-US" sz="2400" dirty="0">
                <a:solidFill>
                  <a:srgbClr val="002060"/>
                </a:solidFill>
                <a:latin typeface="微软雅黑" panose="020B0503020204020204" pitchFamily="34" charset="-122"/>
                <a:ea typeface="微软雅黑" panose="020B0503020204020204" pitchFamily="34" charset="-122"/>
              </a:rPr>
              <a:t>元，</a:t>
            </a:r>
            <a:endParaRPr lang="en-US" altLang="zh-CN" sz="2400" dirty="0">
              <a:solidFill>
                <a:srgbClr val="002060"/>
              </a:solidFill>
              <a:latin typeface="微软雅黑" panose="020B0503020204020204" pitchFamily="34" charset="-122"/>
              <a:ea typeface="微软雅黑" panose="020B0503020204020204" pitchFamily="34" charset="-122"/>
            </a:endParaRPr>
          </a:p>
          <a:p>
            <a:pPr marL="360045">
              <a:lnSpc>
                <a:spcPct val="150000"/>
              </a:lnSpc>
            </a:pPr>
            <a:r>
              <a:rPr lang="zh-CN" altLang="en-US" sz="2400" dirty="0">
                <a:solidFill>
                  <a:srgbClr val="002060"/>
                </a:solidFill>
                <a:latin typeface="微软雅黑" panose="020B0503020204020204" pitchFamily="34" charset="-122"/>
                <a:ea typeface="微软雅黑" panose="020B0503020204020204" pitchFamily="34" charset="-122"/>
              </a:rPr>
              <a:t>乙支付</a:t>
            </a:r>
            <a:r>
              <a:rPr lang="en-US" altLang="zh-CN" sz="2400" dirty="0">
                <a:solidFill>
                  <a:srgbClr val="002060"/>
                </a:solidFill>
                <a:latin typeface="微软雅黑" panose="020B0503020204020204" pitchFamily="34" charset="-122"/>
                <a:ea typeface="微软雅黑" panose="020B0503020204020204" pitchFamily="34" charset="-122"/>
              </a:rPr>
              <a:t>0.25 x</a:t>
            </a:r>
            <a:r>
              <a:rPr lang="zh-CN" altLang="en-US" sz="2400" dirty="0">
                <a:solidFill>
                  <a:srgbClr val="002060"/>
                </a:solidFill>
                <a:latin typeface="微软雅黑" panose="020B0503020204020204" pitchFamily="34" charset="-122"/>
                <a:ea typeface="微软雅黑" panose="020B0503020204020204" pitchFamily="34" charset="-122"/>
              </a:rPr>
              <a:t>（</a:t>
            </a:r>
            <a:r>
              <a:rPr lang="en-US" altLang="zh-CN" sz="2400" dirty="0">
                <a:solidFill>
                  <a:srgbClr val="002060"/>
                </a:solidFill>
                <a:latin typeface="微软雅黑" panose="020B0503020204020204" pitchFamily="34" charset="-122"/>
                <a:ea typeface="微软雅黑" panose="020B0503020204020204" pitchFamily="34" charset="-122"/>
              </a:rPr>
              <a:t>100000–20000</a:t>
            </a:r>
            <a:r>
              <a:rPr lang="zh-CN" altLang="en-US" sz="2400" dirty="0">
                <a:solidFill>
                  <a:srgbClr val="002060"/>
                </a:solidFill>
                <a:latin typeface="微软雅黑" panose="020B0503020204020204" pitchFamily="34" charset="-122"/>
                <a:ea typeface="微软雅黑" panose="020B0503020204020204" pitchFamily="34" charset="-122"/>
              </a:rPr>
              <a:t>）</a:t>
            </a:r>
            <a:r>
              <a:rPr lang="en-US" altLang="zh-CN" sz="2400" dirty="0">
                <a:solidFill>
                  <a:srgbClr val="002060"/>
                </a:solidFill>
                <a:latin typeface="微软雅黑" panose="020B0503020204020204" pitchFamily="34" charset="-122"/>
                <a:ea typeface="微软雅黑" panose="020B0503020204020204" pitchFamily="34" charset="-122"/>
              </a:rPr>
              <a:t>=20000</a:t>
            </a:r>
            <a:r>
              <a:rPr lang="zh-CN" altLang="en-US" sz="2400" dirty="0">
                <a:solidFill>
                  <a:srgbClr val="002060"/>
                </a:solidFill>
                <a:latin typeface="微软雅黑" panose="020B0503020204020204" pitchFamily="34" charset="-122"/>
                <a:ea typeface="微软雅黑" panose="020B0503020204020204" pitchFamily="34" charset="-122"/>
              </a:rPr>
              <a:t>元 </a:t>
            </a:r>
            <a:endParaRPr lang="zh-CN" altLang="en-US" sz="2400" dirty="0">
              <a:solidFill>
                <a:srgbClr val="002060"/>
              </a:solidFill>
              <a:latin typeface="微软雅黑" panose="020B0503020204020204" pitchFamily="34" charset="-122"/>
              <a:ea typeface="微软雅黑" panose="020B0503020204020204" pitchFamily="34" charset="-122"/>
            </a:endParaRPr>
          </a:p>
          <a:p>
            <a:pPr marL="360045">
              <a:lnSpc>
                <a:spcPct val="150000"/>
              </a:lnSpc>
            </a:pPr>
            <a:r>
              <a:rPr lang="zh-CN" altLang="en-US" sz="2400" dirty="0">
                <a:solidFill>
                  <a:srgbClr val="002060"/>
                </a:solidFill>
                <a:latin typeface="微软雅黑" panose="020B0503020204020204" pitchFamily="34" charset="-122"/>
                <a:ea typeface="微软雅黑" panose="020B0503020204020204" pitchFamily="34" charset="-122"/>
              </a:rPr>
              <a:t>税款总额</a:t>
            </a:r>
            <a:r>
              <a:rPr lang="en-US" altLang="zh-CN" sz="2400" dirty="0">
                <a:solidFill>
                  <a:srgbClr val="002060"/>
                </a:solidFill>
                <a:latin typeface="微软雅黑" panose="020B0503020204020204" pitchFamily="34" charset="-122"/>
                <a:ea typeface="微软雅黑" panose="020B0503020204020204" pitchFamily="34" charset="-122"/>
              </a:rPr>
              <a:t>=</a:t>
            </a:r>
            <a:r>
              <a:rPr lang="zh-CN" altLang="en-US" sz="2400" dirty="0">
                <a:solidFill>
                  <a:srgbClr val="002060"/>
                </a:solidFill>
                <a:latin typeface="微软雅黑" panose="020B0503020204020204" pitchFamily="34" charset="-122"/>
                <a:ea typeface="微软雅黑" panose="020B0503020204020204" pitchFamily="34" charset="-122"/>
              </a:rPr>
              <a:t>他们共同收入的</a:t>
            </a:r>
            <a:r>
              <a:rPr lang="en-US" altLang="zh-CN" sz="2400" dirty="0">
                <a:solidFill>
                  <a:srgbClr val="002060"/>
                </a:solidFill>
                <a:latin typeface="微软雅黑" panose="020B0503020204020204" pitchFamily="34" charset="-122"/>
                <a:ea typeface="微软雅黑" panose="020B0503020204020204" pitchFamily="34" charset="-122"/>
              </a:rPr>
              <a:t>20%</a:t>
            </a:r>
            <a:endParaRPr lang="en-US" altLang="zh-CN" sz="2400" dirty="0">
              <a:solidFill>
                <a:srgbClr val="002060"/>
              </a:solidFill>
              <a:latin typeface="微软雅黑" panose="020B0503020204020204" pitchFamily="34" charset="-122"/>
              <a:ea typeface="微软雅黑" panose="020B0503020204020204" pitchFamily="34" charset="-122"/>
            </a:endParaRPr>
          </a:p>
          <a:p>
            <a:pPr>
              <a:lnSpc>
                <a:spcPct val="150000"/>
              </a:lnSpc>
            </a:pPr>
            <a:r>
              <a:rPr lang="zh-CN" altLang="en-US" sz="2400" dirty="0">
                <a:solidFill>
                  <a:srgbClr val="002060"/>
                </a:solidFill>
                <a:latin typeface="微软雅黑" panose="020B0503020204020204" pitchFamily="34" charset="-122"/>
                <a:ea typeface="微软雅黑" panose="020B0503020204020204" pitchFamily="34" charset="-122"/>
              </a:rPr>
              <a:t>如果结婚，他们支付</a:t>
            </a:r>
            <a:endParaRPr lang="en-US" altLang="zh-CN" sz="2400" dirty="0">
              <a:solidFill>
                <a:srgbClr val="002060"/>
              </a:solidFill>
              <a:latin typeface="微软雅黑" panose="020B0503020204020204" pitchFamily="34" charset="-122"/>
              <a:ea typeface="微软雅黑" panose="020B0503020204020204" pitchFamily="34" charset="-122"/>
            </a:endParaRPr>
          </a:p>
          <a:p>
            <a:pPr marL="360045">
              <a:lnSpc>
                <a:spcPct val="150000"/>
              </a:lnSpc>
            </a:pPr>
            <a:r>
              <a:rPr lang="en-US" altLang="zh-CN" sz="2400" dirty="0">
                <a:solidFill>
                  <a:srgbClr val="002060"/>
                </a:solidFill>
                <a:latin typeface="微软雅黑" panose="020B0503020204020204" pitchFamily="34" charset="-122"/>
                <a:ea typeface="微软雅黑" panose="020B0503020204020204" pitchFamily="34" charset="-122"/>
              </a:rPr>
              <a:t>0.25 x (100,000 – 40,000) = 15,000</a:t>
            </a:r>
            <a:r>
              <a:rPr lang="zh-CN" altLang="en-US" sz="2400" dirty="0">
                <a:solidFill>
                  <a:srgbClr val="002060"/>
                </a:solidFill>
                <a:latin typeface="微软雅黑" panose="020B0503020204020204" pitchFamily="34" charset="-122"/>
                <a:ea typeface="微软雅黑" panose="020B0503020204020204" pitchFamily="34" charset="-122"/>
              </a:rPr>
              <a:t>元</a:t>
            </a:r>
            <a:endParaRPr lang="en-US" altLang="zh-CN" sz="2400" dirty="0">
              <a:solidFill>
                <a:srgbClr val="002060"/>
              </a:solidFill>
              <a:latin typeface="微软雅黑" panose="020B0503020204020204" pitchFamily="34" charset="-122"/>
              <a:ea typeface="微软雅黑" panose="020B0503020204020204" pitchFamily="34" charset="-122"/>
            </a:endParaRPr>
          </a:p>
          <a:p>
            <a:pPr marL="360045">
              <a:lnSpc>
                <a:spcPct val="150000"/>
              </a:lnSpc>
            </a:pPr>
            <a:r>
              <a:rPr lang="zh-CN" altLang="en-US" sz="2400" dirty="0">
                <a:solidFill>
                  <a:srgbClr val="002060"/>
                </a:solidFill>
                <a:latin typeface="微软雅黑" panose="020B0503020204020204" pitchFamily="34" charset="-122"/>
                <a:ea typeface="微软雅黑" panose="020B0503020204020204" pitchFamily="34" charset="-122"/>
                <a:sym typeface="+mn-ea"/>
              </a:rPr>
              <a:t>税款总额</a:t>
            </a:r>
            <a:r>
              <a:rPr lang="en-US" altLang="zh-CN" sz="2400" dirty="0">
                <a:solidFill>
                  <a:srgbClr val="002060"/>
                </a:solidFill>
                <a:latin typeface="微软雅黑" panose="020B0503020204020204" pitchFamily="34" charset="-122"/>
                <a:ea typeface="微软雅黑" panose="020B0503020204020204" pitchFamily="34" charset="-122"/>
                <a:sym typeface="+mn-ea"/>
              </a:rPr>
              <a:t>=</a:t>
            </a:r>
            <a:r>
              <a:rPr lang="zh-CN" altLang="en-US" sz="2400" dirty="0">
                <a:solidFill>
                  <a:srgbClr val="002060"/>
                </a:solidFill>
                <a:latin typeface="微软雅黑" panose="020B0503020204020204" pitchFamily="34" charset="-122"/>
                <a:ea typeface="微软雅黑" panose="020B0503020204020204" pitchFamily="34" charset="-122"/>
              </a:rPr>
              <a:t>共同收入的</a:t>
            </a:r>
            <a:r>
              <a:rPr lang="en-US" altLang="zh-CN" sz="2400" dirty="0">
                <a:solidFill>
                  <a:srgbClr val="002060"/>
                </a:solidFill>
                <a:latin typeface="微软雅黑" panose="020B0503020204020204" pitchFamily="34" charset="-122"/>
                <a:ea typeface="微软雅黑" panose="020B0503020204020204" pitchFamily="34" charset="-122"/>
              </a:rPr>
              <a:t>15% </a:t>
            </a:r>
            <a:endParaRPr lang="en-US" altLang="zh-CN" sz="2400" dirty="0">
              <a:solidFill>
                <a:srgbClr val="002060"/>
              </a:solidFill>
              <a:latin typeface="微软雅黑" panose="020B0503020204020204" pitchFamily="34" charset="-122"/>
              <a:ea typeface="微软雅黑" panose="020B0503020204020204" pitchFamily="34" charset="-122"/>
            </a:endParaRPr>
          </a:p>
          <a:p>
            <a:pPr>
              <a:lnSpc>
                <a:spcPct val="150000"/>
              </a:lnSpc>
            </a:pPr>
            <a:r>
              <a:rPr lang="zh-CN" altLang="en-US" sz="2400" dirty="0">
                <a:solidFill>
                  <a:srgbClr val="002060"/>
                </a:solidFill>
                <a:latin typeface="微软雅黑" panose="020B0503020204020204" pitchFamily="34" charset="-122"/>
                <a:ea typeface="微软雅黑" panose="020B0503020204020204" pitchFamily="34" charset="-122"/>
              </a:rPr>
              <a:t>税收法案中减少的</a:t>
            </a:r>
            <a:r>
              <a:rPr lang="en-US" altLang="zh-CN" sz="2400" dirty="0">
                <a:solidFill>
                  <a:srgbClr val="002060"/>
                </a:solidFill>
                <a:latin typeface="微软雅黑" panose="020B0503020204020204" pitchFamily="34" charset="-122"/>
                <a:ea typeface="微软雅黑" panose="020B0503020204020204" pitchFamily="34" charset="-122"/>
              </a:rPr>
              <a:t>5000</a:t>
            </a:r>
            <a:r>
              <a:rPr lang="zh-CN" altLang="en-US" sz="2400" dirty="0">
                <a:solidFill>
                  <a:srgbClr val="002060"/>
                </a:solidFill>
                <a:latin typeface="微软雅黑" panose="020B0503020204020204" pitchFamily="34" charset="-122"/>
                <a:ea typeface="微软雅黑" panose="020B0503020204020204" pitchFamily="34" charset="-122"/>
              </a:rPr>
              <a:t>元被称为“婚姻补贴”</a:t>
            </a:r>
            <a:endParaRPr lang="en-US" altLang="zh-CN"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6"/>
            <a:ext cx="3434080" cy="583565"/>
          </a:xfrm>
          <a:prstGeom prst="rect">
            <a:avLst/>
          </a:prstGeom>
          <a:noFill/>
        </p:spPr>
        <p:txBody>
          <a:bodyPr wrap="none" rtlCol="0">
            <a:spAutoFit/>
          </a:bodyPr>
          <a:lstStyle/>
          <a:p>
            <a:r>
              <a:rPr lang="zh-CN" altLang="en-US" sz="3200" dirty="0">
                <a:solidFill>
                  <a:srgbClr val="002060"/>
                </a:solidFill>
                <a:latin typeface="华光中雅_CNKI" panose="02000500000000000000" pitchFamily="2" charset="-122"/>
                <a:ea typeface="华光中雅_CNKI" panose="02000500000000000000" pitchFamily="2" charset="-122"/>
              </a:rPr>
              <a:t>婚姻税和婚姻补贴</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16" name="TextBox 15"/>
          <p:cNvSpPr txBox="1"/>
          <p:nvPr/>
        </p:nvSpPr>
        <p:spPr>
          <a:xfrm>
            <a:off x="539750" y="1268730"/>
            <a:ext cx="8512175" cy="230695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在当前一些国家的税法中，</a:t>
            </a:r>
            <a:endParaRPr lang="en-US" altLang="zh-CN" sz="2400" dirty="0">
              <a:solidFill>
                <a:srgbClr val="002060"/>
              </a:solidFill>
              <a:latin typeface="微软雅黑" panose="020B0503020204020204" pitchFamily="34" charset="-122"/>
              <a:ea typeface="微软雅黑" panose="020B0503020204020204" pitchFamily="34" charset="-122"/>
            </a:endParaRPr>
          </a:p>
          <a:p>
            <a:pPr marL="702945"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收入相近的夫妇可能需要缴纳婚姻税。</a:t>
            </a:r>
            <a:endParaRPr lang="en-US" altLang="zh-CN" sz="2400" dirty="0">
              <a:solidFill>
                <a:srgbClr val="002060"/>
              </a:solidFill>
              <a:latin typeface="微软雅黑" panose="020B0503020204020204" pitchFamily="34" charset="-122"/>
              <a:ea typeface="微软雅黑" panose="020B0503020204020204" pitchFamily="34" charset="-122"/>
            </a:endParaRPr>
          </a:p>
          <a:p>
            <a:pPr marL="702945"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收入悬殊的夫妇可能会获得婚姻补贴。</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许多人主张改革税收制度，使其在婚姻状况方面保持中立。</a:t>
            </a:r>
            <a:endParaRPr lang="zh-CN" altLang="en-US"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6"/>
            <a:ext cx="3434080" cy="583565"/>
          </a:xfrm>
          <a:prstGeom prst="rect">
            <a:avLst/>
          </a:prstGeom>
          <a:noFill/>
        </p:spPr>
        <p:txBody>
          <a:bodyPr wrap="none" rtlCol="0">
            <a:spAutoFit/>
          </a:bodyPr>
          <a:lstStyle/>
          <a:p>
            <a:r>
              <a:rPr lang="zh-CN" altLang="en-US" sz="3200" dirty="0">
                <a:solidFill>
                  <a:srgbClr val="002060"/>
                </a:solidFill>
                <a:latin typeface="华光中雅_CNKI" panose="02000500000000000000" pitchFamily="2" charset="-122"/>
                <a:ea typeface="华光中雅_CNKI" panose="02000500000000000000" pitchFamily="2" charset="-122"/>
              </a:rPr>
              <a:t>婚姻税和婚姻补贴</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16" name="TextBox 15"/>
          <p:cNvSpPr txBox="1"/>
          <p:nvPr/>
        </p:nvSpPr>
        <p:spPr>
          <a:xfrm>
            <a:off x="539750" y="1268730"/>
            <a:ext cx="8361045" cy="3969385"/>
          </a:xfrm>
          <a:prstGeom prst="rect">
            <a:avLst/>
          </a:prstGeom>
          <a:noFill/>
        </p:spPr>
        <p:txBody>
          <a:bodyPr wrap="square" rtlCol="0">
            <a:spAutoFit/>
          </a:bodyPr>
          <a:lstStyle/>
          <a:p>
            <a:pPr>
              <a:lnSpc>
                <a:spcPct val="150000"/>
              </a:lnSpc>
            </a:pPr>
            <a:r>
              <a:rPr lang="zh-CN" altLang="en-US" sz="2400" dirty="0">
                <a:solidFill>
                  <a:srgbClr val="002060"/>
                </a:solidFill>
                <a:latin typeface="微软雅黑" panose="020B0503020204020204" pitchFamily="34" charset="-122"/>
                <a:ea typeface="微软雅黑" panose="020B0503020204020204" pitchFamily="34" charset="-122"/>
              </a:rPr>
              <a:t>理想的税收制度具有如下特征：</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两对</a:t>
            </a:r>
            <a:r>
              <a:rPr lang="zh-CN" altLang="en-US" sz="2400" dirty="0">
                <a:solidFill>
                  <a:srgbClr val="002060"/>
                </a:solidFill>
                <a:latin typeface="微软雅黑" panose="020B0503020204020204" pitchFamily="34" charset="-122"/>
                <a:ea typeface="微软雅黑" panose="020B0503020204020204" pitchFamily="34" charset="-122"/>
                <a:sym typeface="+mn-ea"/>
              </a:rPr>
              <a:t>已婚夫妇，如果</a:t>
            </a:r>
            <a:r>
              <a:rPr lang="zh-CN" altLang="en-US" sz="2400" dirty="0">
                <a:solidFill>
                  <a:srgbClr val="002060"/>
                </a:solidFill>
                <a:latin typeface="微软雅黑" panose="020B0503020204020204" pitchFamily="34" charset="-122"/>
                <a:ea typeface="微软雅黑" panose="020B0503020204020204" pitchFamily="34" charset="-122"/>
              </a:rPr>
              <a:t>总收入相同，缴纳相同的税款。</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婚姻状况不会影响税单总额。</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没有收入的个人</a:t>
            </a:r>
            <a:r>
              <a:rPr lang="en-US" altLang="zh-CN" sz="2400" dirty="0">
                <a:solidFill>
                  <a:srgbClr val="002060"/>
                </a:solidFill>
                <a:latin typeface="微软雅黑" panose="020B0503020204020204" pitchFamily="34" charset="-122"/>
                <a:ea typeface="微软雅黑" panose="020B0503020204020204" pitchFamily="34" charset="-122"/>
              </a:rPr>
              <a:t>/</a:t>
            </a:r>
            <a:r>
              <a:rPr lang="zh-CN" altLang="en-US" sz="2400" dirty="0">
                <a:solidFill>
                  <a:srgbClr val="002060"/>
                </a:solidFill>
                <a:latin typeface="微软雅黑" panose="020B0503020204020204" pitchFamily="34" charset="-122"/>
                <a:ea typeface="微软雅黑" panose="020B0503020204020204" pitchFamily="34" charset="-122"/>
              </a:rPr>
              <a:t>家庭不纳税。</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高收入纳税人支付的税款比例高于低收入纳税人。</a:t>
            </a:r>
            <a:endParaRPr lang="en-US" altLang="zh-CN" sz="2400" dirty="0">
              <a:solidFill>
                <a:srgbClr val="002060"/>
              </a:solidFill>
              <a:latin typeface="微软雅黑" panose="020B0503020204020204" pitchFamily="34" charset="-122"/>
              <a:ea typeface="微软雅黑" panose="020B0503020204020204" pitchFamily="34" charset="-122"/>
            </a:endParaRPr>
          </a:p>
          <a:p>
            <a:pPr>
              <a:lnSpc>
                <a:spcPct val="150000"/>
              </a:lnSpc>
            </a:pPr>
            <a:r>
              <a:rPr lang="zh-CN" altLang="en-US" sz="2400" dirty="0">
                <a:solidFill>
                  <a:srgbClr val="002060"/>
                </a:solidFill>
                <a:latin typeface="微软雅黑" panose="020B0503020204020204" pitchFamily="34" charset="-122"/>
                <a:ea typeface="微软雅黑" panose="020B0503020204020204" pitchFamily="34" charset="-122"/>
              </a:rPr>
              <a:t>然而，设计一个具有这四种特征的税收体系，</a:t>
            </a:r>
            <a:r>
              <a:rPr lang="zh-CN" altLang="en-US" sz="2400" i="1" dirty="0">
                <a:solidFill>
                  <a:srgbClr val="002060"/>
                </a:solidFill>
                <a:latin typeface="微软雅黑" panose="020B0503020204020204" pitchFamily="34" charset="-122"/>
                <a:ea typeface="微软雅黑" panose="020B0503020204020204" pitchFamily="34" charset="-122"/>
              </a:rPr>
              <a:t>从数学上讲，</a:t>
            </a:r>
            <a:r>
              <a:rPr lang="zh-CN" altLang="en-US" sz="2400" dirty="0">
                <a:solidFill>
                  <a:srgbClr val="002060"/>
                </a:solidFill>
                <a:latin typeface="微软雅黑" panose="020B0503020204020204" pitchFamily="34" charset="-122"/>
                <a:ea typeface="微软雅黑" panose="020B0503020204020204" pitchFamily="34" charset="-122"/>
              </a:rPr>
              <a:t>是不可能的。</a:t>
            </a:r>
            <a:endParaRPr lang="zh-CN" altLang="en-US"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6"/>
            <a:ext cx="3840480" cy="583565"/>
          </a:xfrm>
          <a:prstGeom prst="rect">
            <a:avLst/>
          </a:prstGeom>
          <a:noFill/>
        </p:spPr>
        <p:txBody>
          <a:bodyPr wrap="none" rtlCol="0">
            <a:spAutoFit/>
          </a:bodyPr>
          <a:lstStyle/>
          <a:p>
            <a:r>
              <a:rPr lang="zh-CN" altLang="en-US" sz="3200" dirty="0">
                <a:solidFill>
                  <a:srgbClr val="002060"/>
                </a:solidFill>
                <a:latin typeface="华光中雅_CNKI" panose="02000500000000000000" pitchFamily="2" charset="-122"/>
                <a:ea typeface="华光中雅_CNKI" panose="02000500000000000000" pitchFamily="2" charset="-122"/>
              </a:rPr>
              <a:t>税收归宿与税收公平</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16" name="TextBox 15"/>
          <p:cNvSpPr txBox="1"/>
          <p:nvPr/>
        </p:nvSpPr>
        <p:spPr>
          <a:xfrm>
            <a:off x="539552" y="1268760"/>
            <a:ext cx="8280920" cy="452431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回想一下（第六章）：承担负担的人并不总是从政府收到税单的人。</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例如：对毛皮大衣之类的奢侈品征税</a:t>
            </a:r>
            <a:endParaRPr lang="en-US" altLang="zh-CN" sz="2400" dirty="0">
              <a:solidFill>
                <a:srgbClr val="002060"/>
              </a:solidFill>
              <a:latin typeface="微软雅黑" panose="020B0503020204020204" pitchFamily="34" charset="-122"/>
              <a:ea typeface="微软雅黑" panose="020B0503020204020204" pitchFamily="34" charset="-122"/>
            </a:endParaRPr>
          </a:p>
          <a:p>
            <a:pPr marL="702945"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看起来</a:t>
            </a:r>
            <a:r>
              <a:rPr lang="zh-CN" altLang="en-US" sz="2400" dirty="0">
                <a:solidFill>
                  <a:srgbClr val="002060"/>
                </a:solidFill>
                <a:latin typeface="微软雅黑" panose="020B0503020204020204" pitchFamily="34" charset="-122"/>
                <a:ea typeface="微软雅黑" panose="020B0503020204020204" pitchFamily="34" charset="-122"/>
                <a:sym typeface="+mn-ea"/>
              </a:rPr>
              <a:t>可能</a:t>
            </a:r>
            <a:r>
              <a:rPr lang="zh-CN" altLang="en-US" sz="2400" dirty="0">
                <a:solidFill>
                  <a:srgbClr val="002060"/>
                </a:solidFill>
                <a:latin typeface="微软雅黑" panose="020B0503020204020204" pitchFamily="34" charset="-122"/>
                <a:ea typeface="微软雅黑" panose="020B0503020204020204" pitchFamily="34" charset="-122"/>
              </a:rPr>
              <a:t>是垂直公平的</a:t>
            </a:r>
            <a:endParaRPr lang="en-US" altLang="zh-CN" sz="2400" dirty="0">
              <a:solidFill>
                <a:srgbClr val="002060"/>
              </a:solidFill>
              <a:latin typeface="微软雅黑" panose="020B0503020204020204" pitchFamily="34" charset="-122"/>
              <a:ea typeface="微软雅黑" panose="020B0503020204020204" pitchFamily="34" charset="-122"/>
            </a:endParaRPr>
          </a:p>
          <a:p>
            <a:pPr marL="702945"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但皮草是一种奢侈品，需求非常有弹性</a:t>
            </a:r>
            <a:endParaRPr lang="en-US" altLang="zh-CN" sz="2400" dirty="0">
              <a:solidFill>
                <a:srgbClr val="002060"/>
              </a:solidFill>
              <a:latin typeface="微软雅黑" panose="020B0503020204020204" pitchFamily="34" charset="-122"/>
              <a:ea typeface="微软雅黑" panose="020B0503020204020204" pitchFamily="34" charset="-122"/>
            </a:endParaRPr>
          </a:p>
          <a:p>
            <a:pPr marL="702945"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该税</a:t>
            </a:r>
            <a:r>
              <a:rPr lang="zh-CN" altLang="en-US" sz="2400">
                <a:solidFill>
                  <a:srgbClr val="002060"/>
                </a:solidFill>
                <a:latin typeface="微软雅黑" panose="020B0503020204020204" pitchFamily="34" charset="-122"/>
                <a:ea typeface="微软雅黑" panose="020B0503020204020204" pitchFamily="34" charset="-122"/>
              </a:rPr>
              <a:t>使得毛皮大衣需求</a:t>
            </a:r>
            <a:r>
              <a:rPr lang="zh-CN" altLang="en-US" sz="2400" dirty="0">
                <a:solidFill>
                  <a:srgbClr val="002060"/>
                </a:solidFill>
                <a:latin typeface="微软雅黑" panose="020B0503020204020204" pitchFamily="34" charset="-122"/>
                <a:ea typeface="微软雅黑" panose="020B0503020204020204" pitchFamily="34" charset="-122"/>
              </a:rPr>
              <a:t>减少（被其他奢侈皮替代），伤害了</a:t>
            </a:r>
            <a:r>
              <a:rPr lang="zh-CN" altLang="en-US" sz="2400">
                <a:solidFill>
                  <a:srgbClr val="002060"/>
                </a:solidFill>
                <a:latin typeface="微软雅黑" panose="020B0503020204020204" pitchFamily="34" charset="-122"/>
                <a:ea typeface="微软雅黑" panose="020B0503020204020204" pitchFamily="34" charset="-122"/>
              </a:rPr>
              <a:t>生产毛皮大衣的</a:t>
            </a:r>
            <a:r>
              <a:rPr lang="zh-CN" altLang="en-US" sz="2400" dirty="0">
                <a:solidFill>
                  <a:srgbClr val="002060"/>
                </a:solidFill>
                <a:latin typeface="微软雅黑" panose="020B0503020204020204" pitchFamily="34" charset="-122"/>
                <a:ea typeface="微软雅黑" panose="020B0503020204020204" pitchFamily="34" charset="-122"/>
              </a:rPr>
              <a:t>人（他们可能并不富裕）</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得到的教训：在评估税收公平性时，必须考虑税收归宿。</a:t>
            </a:r>
            <a:endParaRPr lang="en-US" altLang="zh-CN"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6"/>
            <a:ext cx="3840480" cy="583565"/>
          </a:xfrm>
          <a:prstGeom prst="rect">
            <a:avLst/>
          </a:prstGeom>
          <a:noFill/>
        </p:spPr>
        <p:txBody>
          <a:bodyPr wrap="none" rtlCol="0">
            <a:spAutoFit/>
          </a:bodyPr>
          <a:lstStyle/>
          <a:p>
            <a:pPr algn="l"/>
            <a:r>
              <a:rPr lang="zh-CN" altLang="en-US" sz="3200" dirty="0">
                <a:solidFill>
                  <a:srgbClr val="002060"/>
                </a:solidFill>
                <a:latin typeface="华光中雅_CNKI" panose="02000500000000000000" pitchFamily="2" charset="-122"/>
                <a:ea typeface="华光中雅_CNKI" panose="02000500000000000000" pitchFamily="2" charset="-122"/>
                <a:sym typeface="+mn-ea"/>
              </a:rPr>
              <a:t>税收归宿与税收公平</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16" name="TextBox 15"/>
          <p:cNvSpPr txBox="1"/>
          <p:nvPr/>
        </p:nvSpPr>
        <p:spPr>
          <a:xfrm>
            <a:off x="539552" y="1268760"/>
            <a:ext cx="8352928" cy="4556125"/>
          </a:xfrm>
          <a:prstGeom prst="rect">
            <a:avLst/>
          </a:prstGeom>
          <a:noFill/>
        </p:spPr>
        <p:txBody>
          <a:bodyPr wrap="square" rtlCol="0">
            <a:spAutoFit/>
          </a:bodyPr>
          <a:lstStyle/>
          <a:p>
            <a:pPr marL="342900" indent="-342900">
              <a:lnSpc>
                <a:spcPct val="110000"/>
              </a:lnSpc>
              <a:spcBef>
                <a:spcPts val="0"/>
              </a:spcBef>
              <a:spcAft>
                <a:spcPts val="0"/>
              </a:spcAft>
              <a:buFont typeface="Arial" panose="020B0604020202020204" pitchFamily="34" charset="0"/>
              <a:buChar char="•"/>
            </a:pPr>
            <a:r>
              <a:rPr lang="zh-CN" altLang="en-US" sz="2400" dirty="0">
                <a:solidFill>
                  <a:srgbClr val="002060"/>
                </a:solidFill>
                <a:highlight>
                  <a:srgbClr val="FFFF00"/>
                </a:highlight>
                <a:latin typeface="微软雅黑" panose="020B0503020204020204" pitchFamily="34" charset="-122"/>
                <a:ea typeface="微软雅黑" panose="020B0503020204020204" pitchFamily="34" charset="-122"/>
              </a:rPr>
              <a:t>谁缴纳企业所得税？</a:t>
            </a:r>
            <a:endParaRPr lang="zh-CN" altLang="en-US" sz="2400" dirty="0">
              <a:solidFill>
                <a:srgbClr val="002060"/>
              </a:solidFill>
              <a:highlight>
                <a:srgbClr val="FFFF00"/>
              </a:highlight>
              <a:latin typeface="微软雅黑" panose="020B0503020204020204" pitchFamily="34" charset="-122"/>
              <a:ea typeface="微软雅黑" panose="020B0503020204020204" pitchFamily="34" charset="-122"/>
            </a:endParaRPr>
          </a:p>
          <a:p>
            <a:pPr marL="342900" indent="-342900">
              <a:lnSpc>
                <a:spcPct val="110000"/>
              </a:lnSpc>
              <a:spcBef>
                <a:spcPts val="0"/>
              </a:spcBef>
              <a:spcAft>
                <a:spcPts val="0"/>
              </a:spcAft>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当政府对一家公司征税时，该公司更像是一个收税人，而不是纳税人。</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10000"/>
              </a:lnSpc>
              <a:spcBef>
                <a:spcPts val="0"/>
              </a:spcBef>
              <a:spcAft>
                <a:spcPts val="0"/>
              </a:spcAft>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税收的负担最终落在了个人身上。</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10000"/>
              </a:lnSpc>
              <a:spcBef>
                <a:spcPts val="0"/>
              </a:spcBef>
              <a:spcAft>
                <a:spcPts val="0"/>
              </a:spcAft>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假设政府对汽车制造商征税。</a:t>
            </a:r>
            <a:endParaRPr lang="en-US" altLang="zh-CN" sz="2400" dirty="0">
              <a:solidFill>
                <a:srgbClr val="002060"/>
              </a:solidFill>
              <a:latin typeface="微软雅黑" panose="020B0503020204020204" pitchFamily="34" charset="-122"/>
              <a:ea typeface="微软雅黑" panose="020B0503020204020204" pitchFamily="34" charset="-122"/>
            </a:endParaRPr>
          </a:p>
          <a:p>
            <a:pPr marL="702945" indent="-342900">
              <a:lnSpc>
                <a:spcPct val="110000"/>
              </a:lnSpc>
              <a:spcBef>
                <a:spcPts val="0"/>
              </a:spcBef>
              <a:spcAft>
                <a:spcPts val="0"/>
              </a:spcAft>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sym typeface="+mn-ea"/>
              </a:rPr>
              <a:t>制造商</a:t>
            </a:r>
            <a:r>
              <a:rPr lang="zh-CN" altLang="en-US" sz="2400" dirty="0">
                <a:solidFill>
                  <a:srgbClr val="002060"/>
                </a:solidFill>
                <a:latin typeface="微软雅黑" panose="020B0503020204020204" pitchFamily="34" charset="-122"/>
                <a:ea typeface="微软雅黑" panose="020B0503020204020204" pitchFamily="34" charset="-122"/>
              </a:rPr>
              <a:t>获得的利润较少，随着时间的推移，他们可能</a:t>
            </a:r>
            <a:r>
              <a:rPr lang="zh-CN" altLang="en-US" sz="2400">
                <a:solidFill>
                  <a:srgbClr val="002060"/>
                </a:solidFill>
                <a:latin typeface="微软雅黑" panose="020B0503020204020204" pitchFamily="34" charset="-122"/>
                <a:ea typeface="微软雅黑" panose="020B0503020204020204" pitchFamily="34" charset="-122"/>
              </a:rPr>
              <a:t>会</a:t>
            </a:r>
            <a:r>
              <a:rPr lang="zh-CN" altLang="en-US" sz="2400" smtClean="0">
                <a:solidFill>
                  <a:srgbClr val="002060"/>
                </a:solidFill>
                <a:latin typeface="微软雅黑" panose="020B0503020204020204" pitchFamily="34" charset="-122"/>
                <a:ea typeface="微软雅黑" panose="020B0503020204020204" pitchFamily="34" charset="-122"/>
              </a:rPr>
              <a:t>将</a:t>
            </a:r>
            <a:r>
              <a:rPr lang="zh-CN" altLang="en-US" sz="2400">
                <a:solidFill>
                  <a:srgbClr val="002060"/>
                </a:solidFill>
                <a:latin typeface="微软雅黑" panose="020B0503020204020204" pitchFamily="34" charset="-122"/>
                <a:ea typeface="微软雅黑" panose="020B0503020204020204" pitchFamily="34" charset="-122"/>
              </a:rPr>
              <a:t>投资</a:t>
            </a:r>
            <a:r>
              <a:rPr lang="zh-CN" altLang="en-US" sz="2400" smtClean="0">
                <a:solidFill>
                  <a:srgbClr val="002060"/>
                </a:solidFill>
                <a:latin typeface="微软雅黑" panose="020B0503020204020204" pitchFamily="34" charset="-122"/>
                <a:ea typeface="微软雅黑" panose="020B0503020204020204" pitchFamily="34" charset="-122"/>
              </a:rPr>
              <a:t>从</a:t>
            </a:r>
            <a:r>
              <a:rPr lang="zh-CN" altLang="en-US" sz="2400" dirty="0">
                <a:solidFill>
                  <a:srgbClr val="002060"/>
                </a:solidFill>
                <a:latin typeface="微软雅黑" panose="020B0503020204020204" pitchFamily="34" charset="-122"/>
                <a:ea typeface="微软雅黑" panose="020B0503020204020204" pitchFamily="34" charset="-122"/>
              </a:rPr>
              <a:t>汽车行业转移出去。</a:t>
            </a:r>
            <a:endParaRPr lang="en-US" altLang="zh-CN" sz="2400" dirty="0">
              <a:solidFill>
                <a:srgbClr val="002060"/>
              </a:solidFill>
              <a:latin typeface="微软雅黑" panose="020B0503020204020204" pitchFamily="34" charset="-122"/>
              <a:ea typeface="微软雅黑" panose="020B0503020204020204" pitchFamily="34" charset="-122"/>
            </a:endParaRPr>
          </a:p>
          <a:p>
            <a:pPr marL="702945" indent="-342900">
              <a:lnSpc>
                <a:spcPct val="110000"/>
              </a:lnSpc>
              <a:spcBef>
                <a:spcPts val="0"/>
              </a:spcBef>
              <a:spcAft>
                <a:spcPts val="0"/>
              </a:spcAft>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汽车供应量下降，汽车价格上涨，购车者的境况更糟。</a:t>
            </a:r>
            <a:endParaRPr lang="en-US" altLang="zh-CN" sz="2400" dirty="0">
              <a:solidFill>
                <a:srgbClr val="002060"/>
              </a:solidFill>
              <a:latin typeface="微软雅黑" panose="020B0503020204020204" pitchFamily="34" charset="-122"/>
              <a:ea typeface="微软雅黑" panose="020B0503020204020204" pitchFamily="34" charset="-122"/>
            </a:endParaRPr>
          </a:p>
          <a:p>
            <a:pPr marL="702945" indent="-342900">
              <a:lnSpc>
                <a:spcPct val="110000"/>
              </a:lnSpc>
              <a:spcBef>
                <a:spcPts val="0"/>
              </a:spcBef>
              <a:spcAft>
                <a:spcPts val="0"/>
              </a:spcAft>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对汽车工人的需求下降，工资下降，工人的境况更糟。</a:t>
            </a:r>
            <a:endParaRPr lang="zh-CN" altLang="en-US" sz="2400" dirty="0">
              <a:solidFill>
                <a:srgbClr val="002060"/>
              </a:solidFill>
              <a:latin typeface="微软雅黑" panose="020B0503020204020204" pitchFamily="34" charset="-122"/>
              <a:ea typeface="微软雅黑" panose="020B0503020204020204" pitchFamily="34" charset="-122"/>
            </a:endParaRPr>
          </a:p>
          <a:p>
            <a:pPr marL="342900" indent="-342900" algn="l">
              <a:lnSpc>
                <a:spcPct val="110000"/>
              </a:lnSpc>
              <a:spcBef>
                <a:spcPts val="0"/>
              </a:spcBef>
              <a:spcAft>
                <a:spcPts val="0"/>
              </a:spcAft>
              <a:buClrTx/>
              <a:buSzTx/>
              <a:buFont typeface="Arial" panose="020B0604020202020204" pitchFamily="34" charset="0"/>
              <a:buChar char="•"/>
            </a:pPr>
            <a:r>
              <a:rPr lang="zh-CN" altLang="en-US" sz="2400" smtClean="0">
                <a:solidFill>
                  <a:srgbClr val="002060"/>
                </a:solidFill>
                <a:latin typeface="微软雅黑" panose="020B0503020204020204" pitchFamily="34" charset="-122"/>
                <a:ea typeface="微软雅黑" panose="020B0503020204020204" pitchFamily="34" charset="-122"/>
              </a:rPr>
              <a:t>最终</a:t>
            </a:r>
            <a:r>
              <a:rPr lang="zh-CN" altLang="en-US" sz="2400" dirty="0">
                <a:solidFill>
                  <a:srgbClr val="002060"/>
                </a:solidFill>
                <a:latin typeface="微软雅黑" panose="020B0503020204020204" pitchFamily="34" charset="-122"/>
                <a:ea typeface="微软雅黑" panose="020B0503020204020204" pitchFamily="34" charset="-122"/>
              </a:rPr>
              <a:t>承担税收负担的个人</a:t>
            </a:r>
            <a:r>
              <a:rPr lang="en-US" altLang="zh-CN" sz="2400" dirty="0">
                <a:solidFill>
                  <a:srgbClr val="002060"/>
                </a:solidFill>
                <a:latin typeface="微软雅黑" panose="020B0503020204020204" pitchFamily="34" charset="-122"/>
                <a:ea typeface="微软雅黑" panose="020B0503020204020204" pitchFamily="34" charset="-122"/>
              </a:rPr>
              <a:t>——</a:t>
            </a:r>
            <a:r>
              <a:rPr lang="zh-CN" altLang="en-US" sz="2400" dirty="0">
                <a:solidFill>
                  <a:srgbClr val="002060"/>
                </a:solidFill>
                <a:latin typeface="微软雅黑" panose="020B0503020204020204" pitchFamily="34" charset="-122"/>
                <a:ea typeface="微软雅黑" panose="020B0503020204020204" pitchFamily="34" charset="-122"/>
              </a:rPr>
              <a:t>购买者和汽车公司工人，往往并不是富人。</a:t>
            </a:r>
            <a:endParaRPr lang="zh-CN" altLang="en-US"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6"/>
            <a:ext cx="1415772" cy="584775"/>
          </a:xfrm>
          <a:prstGeom prst="rect">
            <a:avLst/>
          </a:prstGeom>
          <a:noFill/>
        </p:spPr>
        <p:txBody>
          <a:bodyPr wrap="none" rtlCol="0">
            <a:spAutoFit/>
          </a:bodyPr>
          <a:lstStyle/>
          <a:p>
            <a:r>
              <a:rPr lang="zh-CN" altLang="en-US" sz="3200" dirty="0">
                <a:solidFill>
                  <a:srgbClr val="002060"/>
                </a:solidFill>
                <a:latin typeface="华光中雅_CNKI" panose="02000500000000000000" pitchFamily="2" charset="-122"/>
                <a:ea typeface="华光中雅_CNKI" panose="02000500000000000000" pitchFamily="2" charset="-122"/>
              </a:rPr>
              <a:t>统一税</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16" name="TextBox 15"/>
          <p:cNvSpPr txBox="1"/>
          <p:nvPr/>
        </p:nvSpPr>
        <p:spPr>
          <a:xfrm>
            <a:off x="539552" y="1268760"/>
            <a:ext cx="7920880" cy="4523105"/>
          </a:xfrm>
          <a:prstGeom prst="rect">
            <a:avLst/>
          </a:prstGeom>
          <a:noFill/>
        </p:spPr>
        <p:txBody>
          <a:bodyPr wrap="square" rtlCol="0">
            <a:spAutoFit/>
          </a:bodyPr>
          <a:lstStyle/>
          <a:p>
            <a:pPr>
              <a:lnSpc>
                <a:spcPct val="150000"/>
              </a:lnSpc>
            </a:pPr>
            <a:r>
              <a:rPr lang="zh-CN" altLang="en-US" sz="2400" b="1" dirty="0">
                <a:solidFill>
                  <a:srgbClr val="C00000"/>
                </a:solidFill>
                <a:latin typeface="微软雅黑" panose="020B0503020204020204" pitchFamily="34" charset="-122"/>
                <a:ea typeface="微软雅黑" panose="020B0503020204020204" pitchFamily="34" charset="-122"/>
              </a:rPr>
              <a:t>统一税：</a:t>
            </a:r>
            <a:r>
              <a:rPr lang="zh-CN" altLang="en-US" sz="2400" dirty="0">
                <a:solidFill>
                  <a:srgbClr val="002060"/>
                </a:solidFill>
                <a:latin typeface="微软雅黑" panose="020B0503020204020204" pitchFamily="34" charset="-122"/>
                <a:ea typeface="微软雅黑" panose="020B0503020204020204" pitchFamily="34" charset="-122"/>
              </a:rPr>
              <a:t>所有纳税人的边际税率相同的税收制度</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通常，超过一定门槛的收入按固定统一的税率征税。</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起征点越高，税收就越累进。</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大幅减轻管理负担。</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但是这种税制不受如下人群的欢迎：</a:t>
            </a:r>
            <a:endParaRPr lang="en-US" altLang="zh-CN" sz="2400" dirty="0">
              <a:solidFill>
                <a:srgbClr val="002060"/>
              </a:solidFill>
              <a:latin typeface="微软雅黑" panose="020B0503020204020204" pitchFamily="34" charset="-122"/>
              <a:ea typeface="微软雅黑" panose="020B0503020204020204" pitchFamily="34" charset="-122"/>
            </a:endParaRPr>
          </a:p>
          <a:p>
            <a:pPr marL="702945"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从当前税制的复杂性中受益的人（会计师等）。</a:t>
            </a:r>
            <a:endParaRPr lang="en-US" altLang="zh-CN" sz="2400" dirty="0">
              <a:solidFill>
                <a:srgbClr val="002060"/>
              </a:solidFill>
              <a:latin typeface="微软雅黑" panose="020B0503020204020204" pitchFamily="34" charset="-122"/>
              <a:ea typeface="微软雅黑" panose="020B0503020204020204" pitchFamily="34" charset="-122"/>
            </a:endParaRPr>
          </a:p>
          <a:p>
            <a:pPr marL="702945"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那些不喜欢自己的生活中没有抵扣</a:t>
            </a:r>
            <a:r>
              <a:rPr lang="en-US" altLang="zh-CN" sz="2400" dirty="0">
                <a:solidFill>
                  <a:srgbClr val="002060"/>
                </a:solidFill>
                <a:latin typeface="微软雅黑" panose="020B0503020204020204" pitchFamily="34" charset="-122"/>
                <a:ea typeface="微软雅黑" panose="020B0503020204020204" pitchFamily="34" charset="-122"/>
              </a:rPr>
              <a:t>/</a:t>
            </a:r>
            <a:r>
              <a:rPr lang="zh-CN" altLang="en-US" sz="2400" dirty="0">
                <a:solidFill>
                  <a:srgbClr val="002060"/>
                </a:solidFill>
                <a:latin typeface="微软雅黑" panose="020B0503020204020204" pitchFamily="34" charset="-122"/>
                <a:ea typeface="微软雅黑" panose="020B0503020204020204" pitchFamily="34" charset="-122"/>
              </a:rPr>
              <a:t>漏洞的人</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在一些中欧</a:t>
            </a:r>
            <a:r>
              <a:rPr lang="en-US" altLang="zh-CN" sz="2400" dirty="0">
                <a:solidFill>
                  <a:srgbClr val="002060"/>
                </a:solidFill>
                <a:latin typeface="微软雅黑" panose="020B0503020204020204" pitchFamily="34" charset="-122"/>
                <a:ea typeface="微软雅黑" panose="020B0503020204020204" pitchFamily="34" charset="-122"/>
              </a:rPr>
              <a:t>/</a:t>
            </a:r>
            <a:r>
              <a:rPr lang="zh-CN" altLang="en-US" sz="2400" dirty="0">
                <a:solidFill>
                  <a:srgbClr val="002060"/>
                </a:solidFill>
                <a:latin typeface="微软雅黑" panose="020B0503020204020204" pitchFamily="34" charset="-122"/>
                <a:ea typeface="微软雅黑" panose="020B0503020204020204" pitchFamily="34" charset="-122"/>
              </a:rPr>
              <a:t>东欧国家使用</a:t>
            </a:r>
            <a:endParaRPr lang="en-US" altLang="zh-CN"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6"/>
            <a:ext cx="4698722" cy="584775"/>
          </a:xfrm>
          <a:prstGeom prst="rect">
            <a:avLst/>
          </a:prstGeom>
          <a:noFill/>
        </p:spPr>
        <p:txBody>
          <a:bodyPr wrap="none" rtlCol="0">
            <a:spAutoFit/>
          </a:bodyPr>
          <a:lstStyle/>
          <a:p>
            <a:r>
              <a:rPr lang="zh-CN" altLang="en-US" sz="3200" dirty="0">
                <a:solidFill>
                  <a:srgbClr val="002060"/>
                </a:solidFill>
                <a:latin typeface="华光中雅_CNKI" panose="02000500000000000000" pitchFamily="2" charset="-122"/>
                <a:ea typeface="华光中雅_CNKI" panose="02000500000000000000" pitchFamily="2" charset="-122"/>
              </a:rPr>
              <a:t>结论：效率与公平的权衡</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16" name="TextBox 15"/>
          <p:cNvSpPr txBox="1"/>
          <p:nvPr/>
        </p:nvSpPr>
        <p:spPr>
          <a:xfrm>
            <a:off x="272415" y="1268730"/>
            <a:ext cx="8612505" cy="396938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效率和公平：这两个目标经常发生</a:t>
            </a:r>
            <a:r>
              <a:rPr lang="zh-CN" altLang="en-US" sz="2400">
                <a:solidFill>
                  <a:srgbClr val="002060"/>
                </a:solidFill>
                <a:latin typeface="微软雅黑" panose="020B0503020204020204" pitchFamily="34" charset="-122"/>
                <a:ea typeface="微软雅黑" panose="020B0503020204020204" pitchFamily="34" charset="-122"/>
              </a:rPr>
              <a:t>冲突</a:t>
            </a:r>
            <a:r>
              <a:rPr lang="zh-CN" altLang="en-US" sz="2400" smtClean="0">
                <a:solidFill>
                  <a:srgbClr val="002060"/>
                </a:solidFill>
                <a:latin typeface="微软雅黑" panose="020B0503020204020204" pitchFamily="34" charset="-122"/>
                <a:ea typeface="微软雅黑" panose="020B0503020204020204" pitchFamily="34" charset="-122"/>
              </a:rPr>
              <a:t>：例如</a:t>
            </a:r>
            <a:r>
              <a:rPr lang="zh-CN" altLang="en-US" sz="2400" dirty="0">
                <a:solidFill>
                  <a:srgbClr val="002060"/>
                </a:solidFill>
                <a:latin typeface="微软雅黑" panose="020B0503020204020204" pitchFamily="34" charset="-122"/>
                <a:ea typeface="微软雅黑" panose="020B0503020204020204" pitchFamily="34" charset="-122"/>
              </a:rPr>
              <a:t>，定额税是最不公平但最有效的税种。</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政治领导人对这种权衡的看法各不相同。有的领导人看</a:t>
            </a:r>
            <a:r>
              <a:rPr lang="zh-CN" altLang="en-US" sz="2400" dirty="0">
                <a:solidFill>
                  <a:srgbClr val="002060"/>
                </a:solidFill>
                <a:latin typeface="微软雅黑" panose="020B0503020204020204" pitchFamily="34" charset="-122"/>
                <a:ea typeface="微软雅黑" panose="020B0503020204020204" pitchFamily="34" charset="-122"/>
              </a:rPr>
              <a:t>重效率，有的看重公平。</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经济学</a:t>
            </a:r>
            <a:endParaRPr lang="en-US" altLang="zh-CN" sz="2400" dirty="0">
              <a:solidFill>
                <a:srgbClr val="002060"/>
              </a:solidFill>
              <a:latin typeface="微软雅黑" panose="020B0503020204020204" pitchFamily="34" charset="-122"/>
              <a:ea typeface="微软雅黑" panose="020B0503020204020204" pitchFamily="34" charset="-122"/>
            </a:endParaRPr>
          </a:p>
          <a:p>
            <a:pPr marL="702945"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可以帮助我们更好地理解权衡</a:t>
            </a:r>
            <a:endParaRPr lang="en-US" altLang="zh-CN" sz="2400" dirty="0">
              <a:solidFill>
                <a:srgbClr val="002060"/>
              </a:solidFill>
              <a:latin typeface="微软雅黑" panose="020B0503020204020204" pitchFamily="34" charset="-122"/>
              <a:ea typeface="微软雅黑" panose="020B0503020204020204" pitchFamily="34" charset="-122"/>
            </a:endParaRPr>
          </a:p>
          <a:p>
            <a:pPr marL="702945"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可以帮助我们避免在</a:t>
            </a:r>
            <a:r>
              <a:rPr lang="zh-CN" altLang="en-US" sz="2400" dirty="0">
                <a:solidFill>
                  <a:srgbClr val="002060"/>
                </a:solidFill>
                <a:highlight>
                  <a:srgbClr val="FFFF00"/>
                </a:highlight>
                <a:latin typeface="微软雅黑" panose="020B0503020204020204" pitchFamily="34" charset="-122"/>
                <a:ea typeface="微软雅黑" panose="020B0503020204020204" pitchFamily="34" charset="-122"/>
              </a:rPr>
              <a:t>不增加公平的情况下牺牲效率的政策</a:t>
            </a:r>
            <a:endParaRPr lang="zh-CN" altLang="en-US" sz="2400" dirty="0">
              <a:solidFill>
                <a:srgbClr val="002060"/>
              </a:solidFill>
              <a:highlight>
                <a:srgbClr val="FFFF00"/>
              </a:highligh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6"/>
            <a:ext cx="1005403" cy="584775"/>
          </a:xfrm>
          <a:prstGeom prst="rect">
            <a:avLst/>
          </a:prstGeom>
          <a:noFill/>
        </p:spPr>
        <p:txBody>
          <a:bodyPr wrap="none" rtlCol="0">
            <a:spAutoFit/>
          </a:bodyPr>
          <a:lstStyle/>
          <a:p>
            <a:r>
              <a:rPr lang="zh-CN" altLang="en-US" sz="3200" dirty="0">
                <a:solidFill>
                  <a:srgbClr val="002060"/>
                </a:solidFill>
                <a:latin typeface="华光中雅_CNKI" panose="02000500000000000000" pitchFamily="2" charset="-122"/>
                <a:ea typeface="华光中雅_CNKI" panose="02000500000000000000" pitchFamily="2" charset="-122"/>
              </a:rPr>
              <a:t>总结</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16" name="TextBox 15"/>
          <p:cNvSpPr txBox="1"/>
          <p:nvPr/>
        </p:nvSpPr>
        <p:spPr>
          <a:xfrm>
            <a:off x="539552" y="1268760"/>
            <a:ext cx="7920880" cy="175323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税收制度的效率是指它在纳税人纳税之外给他们带来的成本。其中一个成本是税收激励扭曲造成的无谓损失，另一个是遵守税法的税收管理负担。</a:t>
            </a:r>
            <a:endParaRPr lang="en-US" altLang="zh-CN"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6"/>
            <a:ext cx="1005403" cy="584775"/>
          </a:xfrm>
          <a:prstGeom prst="rect">
            <a:avLst/>
          </a:prstGeom>
          <a:noFill/>
        </p:spPr>
        <p:txBody>
          <a:bodyPr wrap="none" rtlCol="0">
            <a:spAutoFit/>
          </a:bodyPr>
          <a:lstStyle/>
          <a:p>
            <a:r>
              <a:rPr lang="zh-CN" altLang="en-US" sz="3200" dirty="0">
                <a:solidFill>
                  <a:srgbClr val="002060"/>
                </a:solidFill>
                <a:latin typeface="华光中雅_CNKI" panose="02000500000000000000" pitchFamily="2" charset="-122"/>
                <a:ea typeface="华光中雅_CNKI" panose="02000500000000000000" pitchFamily="2" charset="-122"/>
              </a:rPr>
              <a:t>总结</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16" name="TextBox 15"/>
          <p:cNvSpPr txBox="1"/>
          <p:nvPr/>
        </p:nvSpPr>
        <p:spPr>
          <a:xfrm>
            <a:off x="539552" y="1268760"/>
            <a:ext cx="7920880" cy="341503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税收制度的公平性。</a:t>
            </a:r>
            <a:endParaRPr lang="zh-CN" altLang="en-US"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利益原则表明，根据人们获得的政府利益多少对他们征税是公平的。支付能力原则表明，人们根据自己的负担能力纳税是公平的。</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中国、美国等国实行累进税制，高收入纳税人的平均税率高于低收入纳税人。</a:t>
            </a:r>
            <a:endParaRPr lang="en-US" altLang="zh-CN"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6"/>
            <a:ext cx="1005403" cy="584775"/>
          </a:xfrm>
          <a:prstGeom prst="rect">
            <a:avLst/>
          </a:prstGeom>
          <a:noFill/>
        </p:spPr>
        <p:txBody>
          <a:bodyPr wrap="none" rtlCol="0">
            <a:spAutoFit/>
          </a:bodyPr>
          <a:lstStyle/>
          <a:p>
            <a:r>
              <a:rPr lang="zh-CN" altLang="en-US" sz="3200" dirty="0">
                <a:solidFill>
                  <a:srgbClr val="002060"/>
                </a:solidFill>
                <a:latin typeface="华光中雅_CNKI" panose="02000500000000000000" pitchFamily="2" charset="-122"/>
                <a:ea typeface="华光中雅_CNKI" panose="02000500000000000000" pitchFamily="2" charset="-122"/>
              </a:rPr>
              <a:t>总结</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16" name="TextBox 15"/>
          <p:cNvSpPr txBox="1"/>
          <p:nvPr/>
        </p:nvSpPr>
        <p:spPr>
          <a:xfrm>
            <a:off x="539552" y="1268760"/>
            <a:ext cx="7920880" cy="286131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在评估税收制度的公平性时，重要的是要考虑税收归宿，因为税负的分配与税单的分配不同。</a:t>
            </a:r>
            <a:endParaRPr lang="en-US" altLang="zh-CN" sz="2400" dirty="0">
              <a:solidFill>
                <a:srgbClr val="002060"/>
              </a:solidFill>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400" dirty="0">
                <a:solidFill>
                  <a:srgbClr val="002060"/>
                </a:solidFill>
                <a:latin typeface="微软雅黑" panose="020B0503020204020204" pitchFamily="34" charset="-122"/>
                <a:ea typeface="微软雅黑" panose="020B0503020204020204" pitchFamily="34" charset="-122"/>
              </a:rPr>
              <a:t>政策制定者经常面临税收制度中效率目标和公平目标之间的权衡。关于税收政策的大部分争论都是因为人们对这两个目标的重视程度不同。</a:t>
            </a:r>
            <a:endParaRPr lang="en-US" altLang="zh-CN" sz="2400" dirty="0">
              <a:solidFill>
                <a:srgbClr val="00206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logo-VI系统0709-PPT-24.jpg"/>
          <p:cNvPicPr>
            <a:picLocks noChangeAspect="1"/>
          </p:cNvPicPr>
          <p:nvPr/>
        </p:nvPicPr>
        <p:blipFill>
          <a:blip r:embed="rId1" cstate="print"/>
          <a:stretch>
            <a:fillRect/>
          </a:stretch>
        </p:blipFill>
        <p:spPr>
          <a:xfrm>
            <a:off x="871" y="-31802"/>
            <a:ext cx="9143129" cy="6858000"/>
          </a:xfrm>
          <a:prstGeom prst="rect">
            <a:avLst/>
          </a:prstGeom>
        </p:spPr>
      </p:pic>
      <p:pic>
        <p:nvPicPr>
          <p:cNvPr id="5" name="图片 4" descr="logo-VI系统0630-PPT-09.png"/>
          <p:cNvPicPr>
            <a:picLocks noChangeAspect="1"/>
          </p:cNvPicPr>
          <p:nvPr/>
        </p:nvPicPr>
        <p:blipFill>
          <a:blip r:embed="rId2" cstate="print"/>
          <a:stretch>
            <a:fillRect/>
          </a:stretch>
        </p:blipFill>
        <p:spPr>
          <a:xfrm>
            <a:off x="642910" y="571480"/>
            <a:ext cx="2714644" cy="523429"/>
          </a:xfrm>
          <a:prstGeom prst="rect">
            <a:avLst/>
          </a:prstGeom>
        </p:spPr>
      </p:pic>
      <p:sp>
        <p:nvSpPr>
          <p:cNvPr id="6" name="TextBox 5"/>
          <p:cNvSpPr txBox="1"/>
          <p:nvPr/>
        </p:nvSpPr>
        <p:spPr>
          <a:xfrm>
            <a:off x="467544" y="5218459"/>
            <a:ext cx="3957391" cy="830997"/>
          </a:xfrm>
          <a:prstGeom prst="rect">
            <a:avLst/>
          </a:prstGeom>
          <a:noFill/>
        </p:spPr>
        <p:txBody>
          <a:bodyPr wrap="square" rtlCol="0" anchor="b" anchorCtr="0">
            <a:spAutoFit/>
          </a:bodyPr>
          <a:lstStyle/>
          <a:p>
            <a:r>
              <a:rPr lang="zh-CN" altLang="en-US" sz="2400" dirty="0">
                <a:solidFill>
                  <a:schemeClr val="bg1"/>
                </a:solidFill>
                <a:latin typeface="华光中雅_CNKI" panose="02000500000000000000" pitchFamily="2" charset="-122"/>
                <a:ea typeface="华光中雅_CNKI" panose="02000500000000000000" pitchFamily="2" charset="-122"/>
              </a:rPr>
              <a:t>哈尔滨工业大学（</a:t>
            </a:r>
            <a:r>
              <a:rPr lang="zh-CN" altLang="en-US" sz="2400">
                <a:solidFill>
                  <a:schemeClr val="bg1"/>
                </a:solidFill>
                <a:latin typeface="华光中雅_CNKI" panose="02000500000000000000" pitchFamily="2" charset="-122"/>
                <a:ea typeface="华光中雅_CNKI" panose="02000500000000000000" pitchFamily="2" charset="-122"/>
              </a:rPr>
              <a:t>深圳）</a:t>
            </a:r>
            <a:endParaRPr lang="en-US" altLang="zh-CN" sz="2400">
              <a:solidFill>
                <a:schemeClr val="bg1"/>
              </a:solidFill>
              <a:latin typeface="华光中雅_CNKI" panose="02000500000000000000" pitchFamily="2" charset="-122"/>
              <a:ea typeface="华光中雅_CNKI" panose="02000500000000000000" pitchFamily="2" charset="-122"/>
            </a:endParaRPr>
          </a:p>
          <a:p>
            <a:r>
              <a:rPr lang="zh-CN" altLang="en-US" sz="2400">
                <a:solidFill>
                  <a:schemeClr val="bg1"/>
                </a:solidFill>
                <a:latin typeface="华光中雅_CNKI" panose="02000500000000000000" pitchFamily="2" charset="-122"/>
                <a:ea typeface="华光中雅_CNKI" panose="02000500000000000000" pitchFamily="2" charset="-122"/>
              </a:rPr>
              <a:t>经济管理</a:t>
            </a:r>
            <a:r>
              <a:rPr lang="zh-CN" altLang="en-US" sz="2400" dirty="0">
                <a:solidFill>
                  <a:schemeClr val="bg1"/>
                </a:solidFill>
                <a:latin typeface="华光中雅_CNKI" panose="02000500000000000000" pitchFamily="2" charset="-122"/>
                <a:ea typeface="华光中雅_CNKI" panose="02000500000000000000" pitchFamily="2" charset="-122"/>
              </a:rPr>
              <a:t>学院</a:t>
            </a:r>
            <a:endParaRPr lang="zh-CN" altLang="en-US" sz="2400" dirty="0">
              <a:solidFill>
                <a:schemeClr val="bg1"/>
              </a:solidFill>
              <a:latin typeface="华光中雅_CNKI" panose="02000500000000000000" pitchFamily="2" charset="-122"/>
              <a:ea typeface="华光中雅_CNKI" panose="02000500000000000000" pitchFamily="2" charset="-122"/>
            </a:endParaRPr>
          </a:p>
        </p:txBody>
      </p:sp>
      <p:sp>
        <p:nvSpPr>
          <p:cNvPr id="8" name="TextBox 7"/>
          <p:cNvSpPr txBox="1"/>
          <p:nvPr/>
        </p:nvSpPr>
        <p:spPr>
          <a:xfrm>
            <a:off x="467544" y="6055687"/>
            <a:ext cx="2736304" cy="461665"/>
          </a:xfrm>
          <a:prstGeom prst="rect">
            <a:avLst/>
          </a:prstGeom>
          <a:noFill/>
        </p:spPr>
        <p:txBody>
          <a:bodyPr wrap="square" rtlCol="0" anchor="b" anchorCtr="0">
            <a:spAutoFit/>
          </a:bodyPr>
          <a:lstStyle/>
          <a:p>
            <a:r>
              <a:rPr lang="en-US" altLang="zh-CN" sz="1200" dirty="0">
                <a:solidFill>
                  <a:srgbClr val="9D7B55"/>
                </a:solidFill>
                <a:latin typeface="华光中雅_CNKI" panose="02000500000000000000" pitchFamily="2" charset="-122"/>
                <a:ea typeface="华光中雅_CNKI" panose="02000500000000000000" pitchFamily="2" charset="-122"/>
              </a:rPr>
              <a:t>THE HITSZ SCHOOL OF ECONOMICS AND MANAGEMENT</a:t>
            </a:r>
            <a:endParaRPr lang="zh-CN" altLang="en-US" sz="1200" dirty="0">
              <a:solidFill>
                <a:srgbClr val="9D7B55"/>
              </a:solidFill>
              <a:latin typeface="华光中雅_CNKI" panose="02000500000000000000" pitchFamily="2" charset="-122"/>
              <a:ea typeface="华光中雅_CNKI" panose="02000500000000000000" pitchFamily="2" charset="-122"/>
            </a:endParaRPr>
          </a:p>
        </p:txBody>
      </p:sp>
      <p:sp>
        <p:nvSpPr>
          <p:cNvPr id="2" name="文本框 1"/>
          <p:cNvSpPr txBox="1"/>
          <p:nvPr/>
        </p:nvSpPr>
        <p:spPr>
          <a:xfrm>
            <a:off x="2029861" y="1506771"/>
            <a:ext cx="4450080" cy="829945"/>
          </a:xfrm>
          <a:prstGeom prst="rect">
            <a:avLst/>
          </a:prstGeom>
          <a:noFill/>
        </p:spPr>
        <p:txBody>
          <a:bodyPr wrap="none" rtlCol="0">
            <a:spAutoFit/>
          </a:bodyPr>
          <a:lstStyle/>
          <a:p>
            <a:r>
              <a:rPr lang="en-US" altLang="zh-CN" sz="4800">
                <a:solidFill>
                  <a:schemeClr val="bg1"/>
                </a:solidFill>
                <a:latin typeface="华光中雅_CNKI" panose="02000500000000000000" pitchFamily="2" charset="-122"/>
                <a:ea typeface="华光中雅_CNKI" panose="02000500000000000000" pitchFamily="2" charset="-122"/>
              </a:rPr>
              <a:t>《</a:t>
            </a:r>
            <a:r>
              <a:rPr lang="zh-CN" altLang="en-US" sz="4800">
                <a:solidFill>
                  <a:schemeClr val="bg1"/>
                </a:solidFill>
                <a:latin typeface="华光中雅_CNKI" panose="02000500000000000000" pitchFamily="2" charset="-122"/>
                <a:ea typeface="华光中雅_CNKI" panose="02000500000000000000" pitchFamily="2" charset="-122"/>
              </a:rPr>
              <a:t>经济学原理</a:t>
            </a:r>
            <a:r>
              <a:rPr lang="en-US" altLang="zh-CN" sz="4800">
                <a:solidFill>
                  <a:schemeClr val="bg1"/>
                </a:solidFill>
                <a:latin typeface="华光中雅_CNKI" panose="02000500000000000000" pitchFamily="2" charset="-122"/>
                <a:ea typeface="华光中雅_CNKI" panose="02000500000000000000" pitchFamily="2" charset="-122"/>
              </a:rPr>
              <a:t>》</a:t>
            </a:r>
            <a:endParaRPr lang="zh-CN" altLang="en-US" sz="4800" dirty="0">
              <a:solidFill>
                <a:schemeClr val="bg1"/>
              </a:solidFill>
              <a:latin typeface="华光中雅_CNKI" panose="02000500000000000000" pitchFamily="2" charset="-122"/>
              <a:ea typeface="华光中雅_CNKI" panose="02000500000000000000" pitchFamily="2" charset="-122"/>
            </a:endParaRPr>
          </a:p>
        </p:txBody>
      </p:sp>
      <p:sp>
        <p:nvSpPr>
          <p:cNvPr id="4" name="文本框 3"/>
          <p:cNvSpPr txBox="1"/>
          <p:nvPr/>
        </p:nvSpPr>
        <p:spPr>
          <a:xfrm>
            <a:off x="642911" y="3264142"/>
            <a:ext cx="7110260" cy="707886"/>
          </a:xfrm>
          <a:prstGeom prst="rect">
            <a:avLst/>
          </a:prstGeom>
          <a:noFill/>
        </p:spPr>
        <p:txBody>
          <a:bodyPr wrap="square" rtlCol="0">
            <a:spAutoFit/>
          </a:bodyPr>
          <a:lstStyle/>
          <a:p>
            <a:pPr algn="ctr"/>
            <a:r>
              <a:rPr lang="zh-CN" altLang="en-US" sz="4000" b="1" dirty="0">
                <a:solidFill>
                  <a:schemeClr val="bg1"/>
                </a:solidFill>
                <a:latin typeface="华光中雅_CNKI" panose="02000500000000000000" pitchFamily="2" charset="-122"/>
                <a:ea typeface="华光中雅_CNKI" panose="02000500000000000000" pitchFamily="2" charset="-122"/>
              </a:rPr>
              <a:t>下一章：生产成本</a:t>
            </a:r>
            <a:endParaRPr lang="zh-CN" altLang="en-US" sz="4000" b="1" dirty="0">
              <a:solidFill>
                <a:schemeClr val="bg1"/>
              </a:solidFill>
              <a:latin typeface="华光中雅_CNKI" panose="02000500000000000000" pitchFamily="2" charset="-122"/>
              <a:ea typeface="华光中雅_CNKI" panose="02000500000000000000" pitchFamily="2" charset="-122"/>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COMMONDATA" val="eyJoZGlkIjoiNGEyYTQ3YzBjNDdiNmY2MWY1ZjA1Njc3MjE3YzgwODUifQ=="/>
</p:tagLst>
</file>

<file path=ppt/theme/theme1.xml><?xml version="1.0" encoding="utf-8"?>
<a:theme xmlns:a="http://schemas.openxmlformats.org/drawingml/2006/main" name="Office 主题">
  <a:themeElements>
    <a:clrScheme name="自定义 4">
      <a:dk1>
        <a:sysClr val="windowText" lastClr="000000"/>
      </a:dk1>
      <a:lt1>
        <a:sysClr val="window" lastClr="FFFFFF"/>
      </a:lt1>
      <a:dk2>
        <a:srgbClr val="1F497D"/>
      </a:dk2>
      <a:lt2>
        <a:srgbClr val="EEECE1"/>
      </a:lt2>
      <a:accent1>
        <a:srgbClr val="002060"/>
      </a:accent1>
      <a:accent2>
        <a:srgbClr val="0070C0"/>
      </a:accent2>
      <a:accent3>
        <a:srgbClr val="00B0F0"/>
      </a:accent3>
      <a:accent4>
        <a:srgbClr val="595959"/>
      </a:accent4>
      <a:accent5>
        <a:srgbClr val="7F7F7F"/>
      </a:accent5>
      <a:accent6>
        <a:srgbClr val="BFBFBF"/>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3911</Words>
  <Application>WPS 演示</Application>
  <PresentationFormat>全屏显示(4:3)</PresentationFormat>
  <Paragraphs>554</Paragraphs>
  <Slides>38</Slides>
  <Notes>32</Notes>
  <HiddenSlides>5</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38</vt:i4>
      </vt:variant>
    </vt:vector>
  </HeadingPairs>
  <TitlesOfParts>
    <vt:vector size="52" baseType="lpstr">
      <vt:lpstr>Arial</vt:lpstr>
      <vt:lpstr>宋体</vt:lpstr>
      <vt:lpstr>Wingdings</vt:lpstr>
      <vt:lpstr>思源黑体 CN Bold</vt:lpstr>
      <vt:lpstr>黑体</vt:lpstr>
      <vt:lpstr>思源黑体 CN Regular</vt:lpstr>
      <vt:lpstr>思源黑体 CN Light</vt:lpstr>
      <vt:lpstr>华光中雅_CNKI</vt:lpstr>
      <vt:lpstr>微软雅黑</vt:lpstr>
      <vt:lpstr>Arial</vt:lpstr>
      <vt:lpstr>Arial Unicode MS</vt:lpstr>
      <vt:lpstr>等线</vt:lpstr>
      <vt:lpstr>Calibri</vt:lpstr>
      <vt:lpstr>Office 主题</vt:lpstr>
      <vt:lpstr>PowerPoint 演示文稿</vt:lpstr>
      <vt:lpstr>PowerPoint 演示文稿</vt:lpstr>
      <vt:lpstr>PowerPoint 演示文稿</vt:lpstr>
      <vt:lpstr>前言</vt:lpstr>
      <vt:lpstr>看看美国的税收</vt:lpstr>
      <vt:lpstr>1929–2011年美国政府收据</vt:lpstr>
      <vt:lpstr>PowerPoint 演示文稿</vt:lpstr>
      <vt:lpstr>美国联邦政府2012年第一季度收入</vt:lpstr>
      <vt:lpstr>州和地方政府2012年第一季度收入，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ASUS</dc:creator>
  <cp:lastModifiedBy>YZ</cp:lastModifiedBy>
  <cp:revision>409</cp:revision>
  <cp:lastPrinted>2023-10-26T13:05:00Z</cp:lastPrinted>
  <dcterms:created xsi:type="dcterms:W3CDTF">2020-07-01T07:18:00Z</dcterms:created>
  <dcterms:modified xsi:type="dcterms:W3CDTF">2025-10-04T08:41:24Z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C36CBE1158A14FEABE6E93E7528E0B3F_12</vt:lpwstr>
  </property>
</Properties>
</file>