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xls" ContentType="application/vnd.ms-excel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6" r:id="rId3"/>
    <p:sldId id="409" r:id="rId5"/>
    <p:sldId id="324" r:id="rId6"/>
    <p:sldId id="346" r:id="rId7"/>
    <p:sldId id="373" r:id="rId8"/>
    <p:sldId id="376" r:id="rId9"/>
    <p:sldId id="374" r:id="rId10"/>
    <p:sldId id="375" r:id="rId11"/>
    <p:sldId id="377" r:id="rId12"/>
    <p:sldId id="378" r:id="rId13"/>
    <p:sldId id="379" r:id="rId14"/>
    <p:sldId id="380" r:id="rId15"/>
    <p:sldId id="381" r:id="rId16"/>
    <p:sldId id="382" r:id="rId17"/>
    <p:sldId id="383" r:id="rId18"/>
    <p:sldId id="384" r:id="rId19"/>
    <p:sldId id="385" r:id="rId20"/>
    <p:sldId id="386" r:id="rId21"/>
    <p:sldId id="387" r:id="rId22"/>
    <p:sldId id="388" r:id="rId23"/>
    <p:sldId id="389" r:id="rId24"/>
    <p:sldId id="390" r:id="rId25"/>
    <p:sldId id="391" r:id="rId26"/>
    <p:sldId id="392" r:id="rId27"/>
    <p:sldId id="393" r:id="rId28"/>
    <p:sldId id="394" r:id="rId29"/>
    <p:sldId id="395" r:id="rId30"/>
    <p:sldId id="396" r:id="rId31"/>
    <p:sldId id="397" r:id="rId32"/>
    <p:sldId id="398" r:id="rId33"/>
    <p:sldId id="399" r:id="rId34"/>
    <p:sldId id="400" r:id="rId35"/>
    <p:sldId id="405" r:id="rId36"/>
    <p:sldId id="314" r:id="rId37"/>
  </p:sldIdLst>
  <p:sldSz cx="9144000" cy="6858000" type="screen4x3"/>
  <p:notesSz cx="6858000" cy="9144000"/>
  <p:custDataLst>
    <p:tags r:id="rId4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002060"/>
    <a:srgbClr val="B1C1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92" d="100"/>
          <a:sy n="92" d="100"/>
        </p:scale>
        <p:origin x="13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1" Type="http://schemas.openxmlformats.org/officeDocument/2006/relationships/tags" Target="tags/tag10.xml"/><Relationship Id="rId40" Type="http://schemas.openxmlformats.org/officeDocument/2006/relationships/tableStyles" Target="tableStyles.xml"/><Relationship Id="rId4" Type="http://schemas.openxmlformats.org/officeDocument/2006/relationships/notesMaster" Target="notesMasters/notesMaster1.xml"/><Relationship Id="rId39" Type="http://schemas.openxmlformats.org/officeDocument/2006/relationships/viewProps" Target="viewProps.xml"/><Relationship Id="rId38" Type="http://schemas.openxmlformats.org/officeDocument/2006/relationships/presProps" Target="presProps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9F1451-6184-45BA-A11F-4FC965B9631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64E1EC-B2C6-43FB-956D-2968BCFB7B3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A3F6BA-F70D-469C-A304-42B3B2F7B24F}" type="slidenum">
              <a:rPr lang="en-US">
                <a:solidFill>
                  <a:prstClr val="black"/>
                </a:solidFill>
                <a:latin typeface="Calibri" panose="020F0502020204030204"/>
              </a:rPr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13AA64FD-7149-435D-96E3-3ACA0174F57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思源黑体 CN Bold" panose="020B0800000000000000" pitchFamily="34" charset="-122"/>
                <a:ea typeface="思源黑体 CN Bold" panose="020B0800000000000000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3"/>
          </p:nvPr>
        </p:nvSpPr>
        <p:spPr>
          <a:xfrm>
            <a:off x="45720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idx="14"/>
          </p:nvPr>
        </p:nvSpPr>
        <p:spPr>
          <a:xfrm>
            <a:off x="4601210" y="1600200"/>
            <a:ext cx="4085590" cy="3740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内容占位符 9"/>
          <p:cNvSpPr>
            <a:spLocks noGrp="1"/>
          </p:cNvSpPr>
          <p:nvPr>
            <p:ph idx="15"/>
          </p:nvPr>
        </p:nvSpPr>
        <p:spPr>
          <a:xfrm>
            <a:off x="4601210" y="2025015"/>
            <a:ext cx="4085590" cy="3931285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000"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1pPr>
            <a:lvl2pPr marL="457200" indent="0">
              <a:buNone/>
              <a:defRPr sz="1200">
                <a:solidFill>
                  <a:srgbClr val="002060"/>
                </a:solidFill>
                <a:latin typeface="思源黑体 CN Regular" panose="020B0500000000000000" pitchFamily="34" charset="-122"/>
                <a:ea typeface="思源黑体 CN Regular" panose="020B0500000000000000" pitchFamily="34" charset="-122"/>
              </a:defRPr>
            </a:lvl2pPr>
            <a:lvl3pPr>
              <a:defRPr sz="800">
                <a:solidFill>
                  <a:schemeClr val="bg2">
                    <a:lumMod val="50000"/>
                  </a:scheme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defRPr>
            </a:lvl3pPr>
            <a:lvl4pPr marL="1371600" indent="0">
              <a:buNone/>
              <a:defRPr/>
            </a:lvl4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fld id="{1A5C27E8-6C78-4FD2-80C7-0DA5228077D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3.jpeg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1052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z="1400">
                <a:sym typeface="+mn-ea"/>
              </a:rPr>
              <a:t>单击此处编辑母版文本样式</a:t>
            </a:r>
            <a:endParaRPr lang="zh-CN" altLang="en-US" sz="1400"/>
          </a:p>
          <a:p>
            <a:pPr lvl="1"/>
            <a:r>
              <a:rPr lang="zh-CN" altLang="en-US" sz="1400">
                <a:sym typeface="+mn-ea"/>
              </a:rPr>
              <a:t>第二级</a:t>
            </a:r>
            <a:endParaRPr lang="zh-CN" altLang="en-US" sz="1400"/>
          </a:p>
          <a:p>
            <a:pPr lvl="2"/>
            <a:r>
              <a:rPr lang="zh-CN" altLang="en-US" sz="1400">
                <a:sym typeface="+mn-ea"/>
              </a:rPr>
              <a:t>第三级</a:t>
            </a:r>
            <a:endParaRPr lang="zh-CN" altLang="en-US"/>
          </a:p>
        </p:txBody>
      </p:sp>
      <p:pic>
        <p:nvPicPr>
          <p:cNvPr id="7" name="图片 6" descr="logo-VI系统0630-PPT-12.png"/>
          <p:cNvPicPr>
            <a:picLocks noChangeAspect="1"/>
          </p:cNvPicPr>
          <p:nvPr userDrawn="1"/>
        </p:nvPicPr>
        <p:blipFill>
          <a:blip r:embed="rId13" cstate="print"/>
          <a:stretch>
            <a:fillRect/>
          </a:stretch>
        </p:blipFill>
        <p:spPr>
          <a:xfrm>
            <a:off x="428836" y="6286520"/>
            <a:ext cx="1495513" cy="288536"/>
          </a:xfrm>
          <a:prstGeom prst="rect">
            <a:avLst/>
          </a:prstGeom>
        </p:spPr>
      </p:pic>
      <p:pic>
        <p:nvPicPr>
          <p:cNvPr id="2050" name="Picture 2" descr="I:\BOBO Z\哈工大\JPG\2020\7月\0707-ppt\素材01\logo-VI系统0630-PPT-24.jpg"/>
          <p:cNvPicPr>
            <a:picLocks noChangeArrowheads="1"/>
          </p:cNvPicPr>
          <p:nvPr userDrawn="1"/>
        </p:nvPicPr>
        <p:blipFill>
          <a:blip r:embed="rId14" cstate="print"/>
          <a:srcRect t="-37500" b="-37500"/>
          <a:stretch>
            <a:fillRect/>
          </a:stretch>
        </p:blipFill>
        <p:spPr bwMode="auto">
          <a:xfrm flipV="1">
            <a:off x="571471" y="1273711"/>
            <a:ext cx="3960000" cy="36000"/>
          </a:xfrm>
          <a:prstGeom prst="rect">
            <a:avLst/>
          </a:prstGeom>
          <a:noFill/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24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600" kern="1200">
          <a:solidFill>
            <a:srgbClr val="002060"/>
          </a:solidFill>
          <a:latin typeface="思源黑体 CN Bold" panose="020B0800000000000000" pitchFamily="34" charset="-122"/>
          <a:ea typeface="思源黑体 CN Bold" panose="020B0800000000000000" pitchFamily="34" charset="-122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000" kern="1200">
          <a:solidFill>
            <a:srgbClr val="002060"/>
          </a:solidFill>
          <a:latin typeface="思源黑体 CN Regular" panose="020B0500000000000000" pitchFamily="34" charset="-122"/>
          <a:ea typeface="思源黑体 CN Regular" panose="020B0500000000000000" pitchFamily="34" charset="-122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000" kern="1200">
          <a:solidFill>
            <a:srgbClr val="9D7B55"/>
          </a:solidFill>
          <a:latin typeface="思源黑体 CN Light" panose="020B0300000000000000" pitchFamily="34" charset="-122"/>
          <a:ea typeface="思源黑体 CN Light" panose="020B0300000000000000" pitchFamily="34" charset="-122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7.xml"/><Relationship Id="rId1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8.xml"/><Relationship Id="rId1" Type="http://schemas.openxmlformats.org/officeDocument/2006/relationships/image" Target="../media/image9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Workbook1.xls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2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emf"/><Relationship Id="rId3" Type="http://schemas.openxmlformats.org/officeDocument/2006/relationships/oleObject" Target="../embeddings/Workbook3.xls"/><Relationship Id="rId2" Type="http://schemas.openxmlformats.org/officeDocument/2006/relationships/image" Target="../media/image10.emf"/><Relationship Id="rId1" Type="http://schemas.openxmlformats.org/officeDocument/2006/relationships/oleObject" Target="../embeddings/Workbook2.xls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3.v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1.emf"/><Relationship Id="rId3" Type="http://schemas.openxmlformats.org/officeDocument/2006/relationships/oleObject" Target="../embeddings/Workbook5.xls"/><Relationship Id="rId2" Type="http://schemas.openxmlformats.org/officeDocument/2006/relationships/image" Target="../media/image10.emf"/><Relationship Id="rId1" Type="http://schemas.openxmlformats.org/officeDocument/2006/relationships/oleObject" Target="../embeddings/Workbook4.xls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8.emf"/><Relationship Id="rId1" Type="http://schemas.openxmlformats.org/officeDocument/2006/relationships/oleObject" Target="../embeddings/Workbook6.xls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67744" y="1412776"/>
            <a:ext cx="4450080" cy="22148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en-US" altLang="zh-CN" sz="4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（微观经济学原理）</a:t>
            </a: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3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3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主讲人：周豫</a:t>
            </a:r>
            <a:endParaRPr kumimoji="0" lang="zh-CN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9632" y="3933056"/>
            <a:ext cx="71102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第</a:t>
            </a:r>
            <a:r>
              <a:rPr lang="en-US" altLang="zh-CN" sz="4000" b="1">
                <a:solidFill>
                  <a:prstClr val="white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2</a:t>
            </a: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章：像经济学家一样思考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2" name="Rectangle 4"/>
          <p:cNvSpPr>
            <a:spLocks noGrp="1" noChangeArrowheads="1"/>
          </p:cNvSpPr>
          <p:nvPr>
            <p:ph type="title"/>
          </p:nvPr>
        </p:nvSpPr>
        <p:spPr>
          <a:xfrm>
            <a:off x="533400" y="188912"/>
            <a:ext cx="8458200" cy="667736"/>
          </a:xfrm>
          <a:noFill/>
        </p:spPr>
        <p:txBody>
          <a:bodyPr bIns="0" anchor="b">
            <a:noAutofit/>
          </a:bodyPr>
          <a:lstStyle/>
          <a:p>
            <a:pPr>
              <a:lnSpc>
                <a:spcPct val="105000"/>
              </a:lnSpc>
              <a:defRPr/>
            </a:pP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本章回答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如下</a:t>
            </a:r>
            <a:r>
              <a:rPr lang="en-US" altLang="zh-CN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6</a:t>
            </a:r>
            <a:r>
              <a:rPr lang="zh-CN" altLang="en-US" sz="3200" smtClean="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个</a:t>
            </a:r>
            <a:r>
              <a:rPr lang="zh-CN" altLang="en-US" sz="3200">
                <a:solidFill>
                  <a:srgbClr val="00206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问题</a:t>
            </a:r>
            <a:endParaRPr lang="en-US" sz="3300" kern="0" spc="200" dirty="0" smtClean="0">
              <a:solidFill>
                <a:srgbClr val="008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380178" y="1314873"/>
            <a:ext cx="8687983" cy="3748016"/>
          </a:xfrm>
        </p:spPr>
        <p:txBody>
          <a:bodyPr>
            <a:noAutofit/>
          </a:bodyPr>
          <a:lstStyle/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经济学家的两个角色是什么？它们有何不同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什么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是经济学模型？经济学家如何使用它们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循环流量图的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要素是什么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该图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说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明了什么概念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生产可能性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如何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与机会成本相关？它还说明了哪些其他概念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微观经济学</a:t>
            </a:r>
            <a:r>
              <a:rPr lang="zh-CN" altLang="en-US" sz="2400">
                <a:latin typeface="微软雅黑" panose="020B0503020204020204" pitchFamily="34" charset="-122"/>
                <a:ea typeface="微软雅黑" panose="020B0503020204020204" pitchFamily="34" charset="-122"/>
              </a:rPr>
              <a:t>和宏观经济学有什么区别</a:t>
            </a: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  <a:endParaRPr lang="en-US" altLang="zh-CN" sz="240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10000"/>
              </a:lnSpc>
              <a:buClr>
                <a:schemeClr val="accent1">
                  <a:lumMod val="75000"/>
                </a:schemeClr>
              </a:buClr>
              <a:buSzPct val="120000"/>
              <a:buFont typeface="+mj-lt"/>
              <a:buAutoNum type="arabicPeriod"/>
            </a:pPr>
            <a:r>
              <a:rPr lang="zh-CN" altLang="en-US" sz="240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实证分析和规范分析之间有什么区别？</a:t>
            </a:r>
            <a:endParaRPr 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4800" y="6500422"/>
            <a:ext cx="56494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© 2015 </a:t>
            </a:r>
            <a:r>
              <a:rPr lang="en-US" sz="800" i="1" dirty="0" err="1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Cengage</a:t>
            </a:r>
            <a:r>
              <a:rPr lang="en-US" sz="800" i="1" dirty="0" smtClean="0">
                <a:solidFill>
                  <a:srgbClr val="77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Learning. All Rights Reserved. May not be copied, scanned, or duplicated, in whole or in part, except for use as permitted in a license distributed with a certain product or service or otherwise on a password-protected website for classroom use.</a:t>
            </a:r>
            <a:endParaRPr lang="en-US" sz="800" i="1" dirty="0">
              <a:solidFill>
                <a:srgbClr val="777777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creen Shot 2013-09-29 at 9.52.07 AM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2700"/>
            <a:ext cx="304800" cy="68707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605" y="1557020"/>
            <a:ext cx="8499475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经济学家扮演两个角色：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科学家：试图解释世界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政策顾问：努力改进世界</a:t>
            </a: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首先，经济学家采用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科学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的方法。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所谓科学的方法，就是中立地、冷静地建立和测试关于世界如何运作的理论。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作为科学家的经济学家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214630" y="1557020"/>
            <a:ext cx="881380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假设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简化复杂的世界，让它更容易理解。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例如</a:t>
            </a: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为了研究国际贸易，假设只有两个国家和两种商品。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虽然和实际不符，但学习起来简单，并且也能够提供关于现实世界的有用见解。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对复杂现实的</a:t>
            </a:r>
            <a:r>
              <a:rPr lang="zh-CN" altLang="en-US" sz="240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高度简化的呈现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经济学家使用经济学模型来研究经济问题。</a:t>
            </a:r>
            <a:b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假设和模型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01976" y="1290963"/>
            <a:ext cx="80648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循环流量图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可视化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直观的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 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经济模型，显示了货币如何在家庭和企业之间通过市场流动。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两种类型的“决策者”：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家庭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两个市场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商品和服务市场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生产要素市场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模型：循环流量图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401976" y="1290963"/>
            <a:ext cx="8064896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生产要素：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经济中用于生产商品和服务的资源，包括：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力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资本（用于生产的建筑物和机器等）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其他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模型：循环流量图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/>
          <p:cNvSpPr txBox="1">
            <a:spLocks noChangeArrowheads="1"/>
          </p:cNvSpPr>
          <p:nvPr/>
        </p:nvSpPr>
        <p:spPr bwMode="auto">
          <a:xfrm>
            <a:off x="3181985" y="1563370"/>
            <a:ext cx="5678805" cy="187769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家庭：</a:t>
            </a:r>
            <a:endParaRPr lang="en-US" sz="27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拥有生产要素，</a:t>
            </a:r>
            <a:b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将其出售/出租给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</a:t>
            </a: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以获取</a:t>
            </a:r>
            <a:r>
              <a:rPr lang="en-US" sz="27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收入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7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花费</a:t>
            </a: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购买和消费商品和服务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66933" y="3739186"/>
            <a:ext cx="1944688" cy="893763"/>
            <a:chOff x="560242" y="3909397"/>
            <a:chExt cx="1944688" cy="893763"/>
          </a:xfrm>
        </p:grpSpPr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560242" y="3909397"/>
              <a:ext cx="1944688" cy="893763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FF0000"/>
              </a:solidFill>
              <a:miter lim="800000"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Box 10"/>
            <p:cNvSpPr txBox="1">
              <a:spLocks noChangeArrowheads="1"/>
            </p:cNvSpPr>
            <p:nvPr/>
          </p:nvSpPr>
          <p:spPr bwMode="auto">
            <a:xfrm>
              <a:off x="742805" y="4088785"/>
              <a:ext cx="1620838" cy="5067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zh-CN" altLang="en-US" sz="2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企业</a:t>
              </a:r>
              <a:endPara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774690" y="3658173"/>
            <a:ext cx="2085975" cy="893763"/>
            <a:chOff x="6764148" y="3893522"/>
            <a:chExt cx="2085975" cy="893763"/>
          </a:xfrm>
        </p:grpSpPr>
        <p:sp>
          <p:nvSpPr>
            <p:cNvPr id="10" name="Rectangle 9"/>
            <p:cNvSpPr>
              <a:spLocks noChangeArrowheads="1"/>
            </p:cNvSpPr>
            <p:nvPr/>
          </p:nvSpPr>
          <p:spPr bwMode="auto">
            <a:xfrm>
              <a:off x="6905435" y="3893522"/>
              <a:ext cx="1944688" cy="893763"/>
            </a:xfrm>
            <a:prstGeom prst="rect">
              <a:avLst/>
            </a:prstGeom>
            <a:solidFill>
              <a:srgbClr val="99CCFF"/>
            </a:solidFill>
            <a:ln w="38100">
              <a:solidFill>
                <a:srgbClr val="FF0000"/>
              </a:solidFill>
              <a:miter lim="800000"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" name="Text Box 7"/>
            <p:cNvSpPr txBox="1">
              <a:spLocks noChangeArrowheads="1"/>
            </p:cNvSpPr>
            <p:nvPr/>
          </p:nvSpPr>
          <p:spPr bwMode="auto">
            <a:xfrm>
              <a:off x="6764148" y="4088784"/>
              <a:ext cx="2078038" cy="50673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sz="2700" dirty="0"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家庭</a:t>
              </a:r>
              <a:endPara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14" name="Text Box 9"/>
          <p:cNvSpPr txBox="1">
            <a:spLocks noChangeArrowheads="1"/>
          </p:cNvSpPr>
          <p:nvPr/>
        </p:nvSpPr>
        <p:spPr bwMode="auto">
          <a:xfrm>
            <a:off x="166933" y="4767792"/>
            <a:ext cx="4862267" cy="1877695"/>
          </a:xfrm>
          <a:prstGeom prst="rect">
            <a:avLst/>
          </a:prstGeom>
          <a:solidFill>
            <a:srgbClr val="FFCC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企业</a:t>
            </a:r>
            <a:r>
              <a:rPr lang="en-US" sz="27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</a:t>
            </a:r>
            <a:endParaRPr lang="en-US" sz="27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zh-CN" altLang="en-US" sz="27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支付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费用</a:t>
            </a: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购买/雇佣生产要素，</a:t>
            </a:r>
            <a:b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用它们生产商品和服务</a:t>
            </a:r>
            <a:endParaRPr lang="en-US" sz="27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90830" indent="-231775">
              <a:spcBef>
                <a:spcPct val="15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/>
            </a:pPr>
            <a:r>
              <a:rPr 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销售商品和服务</a:t>
            </a:r>
            <a:r>
              <a:rPr lang="zh-CN" altLang="en-US" sz="27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获得</a:t>
            </a:r>
            <a:r>
              <a:rPr lang="zh-CN" altLang="en-US" sz="2700" dirty="0"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营收</a:t>
            </a:r>
            <a:endParaRPr lang="zh-CN" altLang="en-US" sz="270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模型：循环流量图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 bwMode="auto">
          <a:xfrm>
            <a:off x="3375025" y="5037138"/>
            <a:ext cx="2422525" cy="1689100"/>
            <a:chOff x="2110" y="2794"/>
            <a:chExt cx="1526" cy="1064"/>
          </a:xfrm>
        </p:grpSpPr>
        <p:sp>
          <p:nvSpPr>
            <p:cNvPr id="3" name="Oval 4"/>
            <p:cNvSpPr>
              <a:spLocks noChangeArrowheads="1"/>
            </p:cNvSpPr>
            <p:nvPr/>
          </p:nvSpPr>
          <p:spPr bwMode="auto">
            <a:xfrm>
              <a:off x="2138" y="2794"/>
              <a:ext cx="1462" cy="1064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2110" y="2948"/>
              <a:ext cx="1526" cy="6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defTabSz="914400">
                <a:spcBef>
                  <a:spcPct val="50000"/>
                </a:spcBef>
              </a:pPr>
              <a:r>
                <a:rPr lang="zh-CN" altLang="en-US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生产要素</a:t>
              </a:r>
              <a:endParaRPr lang="en-US" altLang="zh-CN" sz="2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 defTabSz="914400">
                <a:spcBef>
                  <a:spcPct val="50000"/>
                </a:spcBef>
              </a:pPr>
              <a:r>
                <a:rPr lang="zh-CN" altLang="en-US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市场</a:t>
              </a:r>
              <a:endParaRPr lang="en-US" sz="2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6" name="Group 6"/>
          <p:cNvGrpSpPr/>
          <p:nvPr/>
        </p:nvGrpSpPr>
        <p:grpSpPr bwMode="auto">
          <a:xfrm>
            <a:off x="6650037" y="3570288"/>
            <a:ext cx="2162175" cy="893763"/>
            <a:chOff x="4173" y="1870"/>
            <a:chExt cx="1362" cy="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7" name="Rectangle 7"/>
            <p:cNvSpPr>
              <a:spLocks noChangeArrowheads="1"/>
            </p:cNvSpPr>
            <p:nvPr/>
          </p:nvSpPr>
          <p:spPr bwMode="auto">
            <a:xfrm>
              <a:off x="4173" y="1870"/>
              <a:ext cx="1362" cy="563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" name="Text Box 8"/>
            <p:cNvSpPr txBox="1">
              <a:spLocks noChangeArrowheads="1"/>
            </p:cNvSpPr>
            <p:nvPr/>
          </p:nvSpPr>
          <p:spPr bwMode="auto">
            <a:xfrm>
              <a:off x="4202" y="1998"/>
              <a:ext cx="1309" cy="31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defTabSz="914400">
                <a:spcBef>
                  <a:spcPct val="50000"/>
                </a:spcBef>
              </a:pPr>
              <a:r>
                <a:rPr lang="zh-CN" altLang="en-US" sz="27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家庭</a:t>
              </a:r>
              <a:endParaRPr lang="en-US" sz="27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"/>
          <p:cNvGrpSpPr/>
          <p:nvPr/>
        </p:nvGrpSpPr>
        <p:grpSpPr bwMode="auto">
          <a:xfrm>
            <a:off x="266699" y="3579813"/>
            <a:ext cx="1944688" cy="893763"/>
            <a:chOff x="131" y="1876"/>
            <a:chExt cx="1225" cy="563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1" name="Rectangle 10"/>
            <p:cNvSpPr>
              <a:spLocks noChangeArrowheads="1"/>
            </p:cNvSpPr>
            <p:nvPr/>
          </p:nvSpPr>
          <p:spPr bwMode="auto">
            <a:xfrm>
              <a:off x="131" y="1876"/>
              <a:ext cx="1225" cy="563"/>
            </a:xfrm>
            <a:prstGeom prst="rect">
              <a:avLst/>
            </a:prstGeom>
            <a:solidFill>
              <a:srgbClr val="99CCFF"/>
            </a:solidFill>
            <a:ln w="9525">
              <a:noFill/>
              <a:miter lim="800000"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246" y="1989"/>
              <a:ext cx="1021" cy="319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defTabSz="914400">
                <a:spcBef>
                  <a:spcPct val="50000"/>
                </a:spcBef>
              </a:pPr>
              <a:r>
                <a:rPr lang="zh-CN" altLang="en-US" sz="2700" dirty="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企业</a:t>
              </a:r>
              <a:endParaRPr lang="zh-CN" altLang="en-US" sz="27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/>
          <p:cNvGrpSpPr/>
          <p:nvPr/>
        </p:nvGrpSpPr>
        <p:grpSpPr bwMode="auto">
          <a:xfrm>
            <a:off x="5746749" y="4462463"/>
            <a:ext cx="2940049" cy="2046288"/>
            <a:chOff x="3604" y="2432"/>
            <a:chExt cx="1852" cy="1289"/>
          </a:xfrm>
        </p:grpSpPr>
        <p:grpSp>
          <p:nvGrpSpPr>
            <p:cNvPr id="14" name="Group 13"/>
            <p:cNvGrpSpPr/>
            <p:nvPr/>
          </p:nvGrpSpPr>
          <p:grpSpPr bwMode="auto">
            <a:xfrm rot="5400000">
              <a:off x="3866" y="2169"/>
              <a:ext cx="1048" cy="1573"/>
              <a:chOff x="3840" y="1040"/>
              <a:chExt cx="1008" cy="752"/>
            </a:xfrm>
          </p:grpSpPr>
          <p:sp>
            <p:nvSpPr>
              <p:cNvPr id="16" name="Line 14"/>
              <p:cNvSpPr>
                <a:spLocks noChangeShapeType="1"/>
              </p:cNvSpPr>
              <p:nvPr/>
            </p:nvSpPr>
            <p:spPr bwMode="auto">
              <a:xfrm flipH="1">
                <a:off x="3840" y="1040"/>
                <a:ext cx="1008" cy="0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Line 15"/>
              <p:cNvSpPr>
                <a:spLocks noChangeShapeType="1"/>
              </p:cNvSpPr>
              <p:nvPr/>
            </p:nvSpPr>
            <p:spPr bwMode="auto">
              <a:xfrm>
                <a:off x="4830" y="1041"/>
                <a:ext cx="0" cy="751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" name="Text Box 16"/>
            <p:cNvSpPr txBox="1">
              <a:spLocks noChangeArrowheads="1"/>
            </p:cNvSpPr>
            <p:nvPr/>
          </p:nvSpPr>
          <p:spPr bwMode="auto">
            <a:xfrm>
              <a:off x="4937" y="3199"/>
              <a:ext cx="519" cy="522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no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sz="25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</a:t>
              </a:r>
              <a:r>
                <a:rPr lang="zh-CN" altLang="en-US" sz="2500">
                  <a:solidFill>
                    <a:prstClr val="black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收入</a:t>
              </a:r>
              <a:endParaRPr lang="zh-CN" altLang="en-US" sz="250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18" name="Group 22"/>
          <p:cNvGrpSpPr/>
          <p:nvPr/>
        </p:nvGrpSpPr>
        <p:grpSpPr bwMode="auto">
          <a:xfrm>
            <a:off x="1184274" y="4478338"/>
            <a:ext cx="2222500" cy="1285875"/>
            <a:chOff x="730" y="2442"/>
            <a:chExt cx="1400" cy="810"/>
          </a:xfrm>
        </p:grpSpPr>
        <p:grpSp>
          <p:nvGrpSpPr>
            <p:cNvPr id="19" name="Group 23"/>
            <p:cNvGrpSpPr/>
            <p:nvPr/>
          </p:nvGrpSpPr>
          <p:grpSpPr bwMode="auto">
            <a:xfrm>
              <a:off x="730" y="2442"/>
              <a:ext cx="1400" cy="810"/>
              <a:chOff x="986" y="2478"/>
              <a:chExt cx="879" cy="774"/>
            </a:xfrm>
          </p:grpSpPr>
          <p:sp>
            <p:nvSpPr>
              <p:cNvPr id="21" name="Line 24"/>
              <p:cNvSpPr>
                <a:spLocks noChangeShapeType="1"/>
              </p:cNvSpPr>
              <p:nvPr/>
            </p:nvSpPr>
            <p:spPr bwMode="auto">
              <a:xfrm rot="5400000" flipH="1" flipV="1">
                <a:off x="600" y="2865"/>
                <a:ext cx="774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2" name="Line 25"/>
              <p:cNvSpPr>
                <a:spLocks noChangeShapeType="1"/>
              </p:cNvSpPr>
              <p:nvPr/>
            </p:nvSpPr>
            <p:spPr bwMode="auto">
              <a:xfrm rot="5400000" flipV="1">
                <a:off x="1426" y="2794"/>
                <a:ext cx="0" cy="879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0" name="Text Box 26"/>
            <p:cNvSpPr txBox="1">
              <a:spLocks noChangeArrowheads="1"/>
            </p:cNvSpPr>
            <p:nvPr/>
          </p:nvSpPr>
          <p:spPr bwMode="auto">
            <a:xfrm>
              <a:off x="771" y="2876"/>
              <a:ext cx="1262" cy="2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5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生产要素</a:t>
              </a:r>
              <a:endParaRPr lang="en-US" sz="25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3" name="Group 27"/>
          <p:cNvGrpSpPr/>
          <p:nvPr/>
        </p:nvGrpSpPr>
        <p:grpSpPr bwMode="auto">
          <a:xfrm>
            <a:off x="5757862" y="4462463"/>
            <a:ext cx="2125662" cy="1301750"/>
            <a:chOff x="3611" y="2432"/>
            <a:chExt cx="1339" cy="820"/>
          </a:xfrm>
        </p:grpSpPr>
        <p:grpSp>
          <p:nvGrpSpPr>
            <p:cNvPr id="24" name="Group 28"/>
            <p:cNvGrpSpPr/>
            <p:nvPr/>
          </p:nvGrpSpPr>
          <p:grpSpPr bwMode="auto">
            <a:xfrm>
              <a:off x="3611" y="2432"/>
              <a:ext cx="1339" cy="820"/>
              <a:chOff x="3611" y="2456"/>
              <a:chExt cx="1339" cy="796"/>
            </a:xfrm>
          </p:grpSpPr>
          <p:sp>
            <p:nvSpPr>
              <p:cNvPr id="26" name="Line 29"/>
              <p:cNvSpPr>
                <a:spLocks noChangeShapeType="1"/>
              </p:cNvSpPr>
              <p:nvPr/>
            </p:nvSpPr>
            <p:spPr bwMode="auto">
              <a:xfrm flipH="1" flipV="1">
                <a:off x="3611" y="3248"/>
                <a:ext cx="1339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7" name="Line 30"/>
              <p:cNvSpPr>
                <a:spLocks noChangeShapeType="1"/>
              </p:cNvSpPr>
              <p:nvPr/>
            </p:nvSpPr>
            <p:spPr bwMode="auto">
              <a:xfrm flipV="1">
                <a:off x="4931" y="2456"/>
                <a:ext cx="0" cy="796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25" name="Text Box 31"/>
            <p:cNvSpPr txBox="1">
              <a:spLocks noChangeArrowheads="1"/>
            </p:cNvSpPr>
            <p:nvPr/>
          </p:nvSpPr>
          <p:spPr bwMode="auto">
            <a:xfrm>
              <a:off x="3682" y="2749"/>
              <a:ext cx="1262" cy="494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5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劳动力、土地、资本</a:t>
              </a:r>
              <a:endParaRPr lang="en-US" sz="25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28" name="Group 32"/>
          <p:cNvGrpSpPr/>
          <p:nvPr/>
        </p:nvGrpSpPr>
        <p:grpSpPr bwMode="auto">
          <a:xfrm>
            <a:off x="5688012" y="1519239"/>
            <a:ext cx="3849687" cy="2044700"/>
            <a:chOff x="3567" y="578"/>
            <a:chExt cx="2425" cy="1288"/>
          </a:xfrm>
        </p:grpSpPr>
        <p:grpSp>
          <p:nvGrpSpPr>
            <p:cNvPr id="29" name="Group 33"/>
            <p:cNvGrpSpPr/>
            <p:nvPr/>
          </p:nvGrpSpPr>
          <p:grpSpPr bwMode="auto">
            <a:xfrm>
              <a:off x="3567" y="852"/>
              <a:ext cx="1621" cy="1014"/>
              <a:chOff x="3527" y="852"/>
              <a:chExt cx="1661" cy="998"/>
            </a:xfrm>
          </p:grpSpPr>
          <p:sp>
            <p:nvSpPr>
              <p:cNvPr id="31" name="Line 34"/>
              <p:cNvSpPr>
                <a:spLocks noChangeShapeType="1"/>
              </p:cNvSpPr>
              <p:nvPr/>
            </p:nvSpPr>
            <p:spPr bwMode="auto">
              <a:xfrm flipH="1">
                <a:off x="3527" y="861"/>
                <a:ext cx="1661" cy="0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Line 35"/>
              <p:cNvSpPr>
                <a:spLocks noChangeShapeType="1"/>
              </p:cNvSpPr>
              <p:nvPr/>
            </p:nvSpPr>
            <p:spPr bwMode="auto">
              <a:xfrm>
                <a:off x="5168" y="852"/>
                <a:ext cx="0" cy="998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0" name="Text Box 36"/>
            <p:cNvSpPr txBox="1">
              <a:spLocks noChangeArrowheads="1"/>
            </p:cNvSpPr>
            <p:nvPr/>
          </p:nvSpPr>
          <p:spPr bwMode="auto">
            <a:xfrm>
              <a:off x="4173" y="578"/>
              <a:ext cx="1819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en-US" sz="25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        </a:t>
              </a:r>
              <a:r>
                <a:rPr lang="zh-CN" altLang="en-US" sz="2500">
                  <a:solidFill>
                    <a:prstClr val="black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花费</a:t>
              </a:r>
              <a:endParaRPr lang="zh-CN" altLang="en-US" sz="250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3" name="Group 37"/>
          <p:cNvGrpSpPr/>
          <p:nvPr/>
        </p:nvGrpSpPr>
        <p:grpSpPr bwMode="auto">
          <a:xfrm>
            <a:off x="5734049" y="2263776"/>
            <a:ext cx="2128838" cy="1295400"/>
            <a:chOff x="3596" y="1047"/>
            <a:chExt cx="1341" cy="816"/>
          </a:xfrm>
        </p:grpSpPr>
        <p:grpSp>
          <p:nvGrpSpPr>
            <p:cNvPr id="34" name="Group 38"/>
            <p:cNvGrpSpPr/>
            <p:nvPr/>
          </p:nvGrpSpPr>
          <p:grpSpPr bwMode="auto">
            <a:xfrm>
              <a:off x="3596" y="1047"/>
              <a:ext cx="1341" cy="816"/>
              <a:chOff x="3596" y="1047"/>
              <a:chExt cx="1341" cy="816"/>
            </a:xfrm>
          </p:grpSpPr>
          <p:sp>
            <p:nvSpPr>
              <p:cNvPr id="36" name="Line 39"/>
              <p:cNvSpPr>
                <a:spLocks noChangeShapeType="1"/>
              </p:cNvSpPr>
              <p:nvPr/>
            </p:nvSpPr>
            <p:spPr bwMode="auto">
              <a:xfrm rot="-5400000" flipH="1" flipV="1">
                <a:off x="4510" y="1455"/>
                <a:ext cx="816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Line 40"/>
              <p:cNvSpPr>
                <a:spLocks noChangeShapeType="1"/>
              </p:cNvSpPr>
              <p:nvPr/>
            </p:nvSpPr>
            <p:spPr bwMode="auto">
              <a:xfrm rot="16200000" flipV="1">
                <a:off x="4267" y="388"/>
                <a:ext cx="0" cy="1341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5" name="Text Box 41"/>
            <p:cNvSpPr txBox="1">
              <a:spLocks noChangeArrowheads="1"/>
            </p:cNvSpPr>
            <p:nvPr/>
          </p:nvSpPr>
          <p:spPr bwMode="auto">
            <a:xfrm>
              <a:off x="4095" y="1064"/>
              <a:ext cx="825" cy="6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5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 &amp; S </a:t>
              </a:r>
              <a:endParaRPr lang="en-US" sz="25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5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购买</a:t>
              </a:r>
              <a:endParaRPr lang="en-US" sz="25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42"/>
          <p:cNvGrpSpPr/>
          <p:nvPr/>
        </p:nvGrpSpPr>
        <p:grpSpPr bwMode="auto">
          <a:xfrm>
            <a:off x="1142999" y="2208213"/>
            <a:ext cx="2259013" cy="1366838"/>
            <a:chOff x="704" y="1012"/>
            <a:chExt cx="1423" cy="861"/>
          </a:xfrm>
        </p:grpSpPr>
        <p:grpSp>
          <p:nvGrpSpPr>
            <p:cNvPr id="39" name="Group 43"/>
            <p:cNvGrpSpPr/>
            <p:nvPr/>
          </p:nvGrpSpPr>
          <p:grpSpPr bwMode="auto">
            <a:xfrm>
              <a:off x="704" y="1012"/>
              <a:ext cx="1423" cy="861"/>
              <a:chOff x="704" y="1012"/>
              <a:chExt cx="1423" cy="885"/>
            </a:xfrm>
          </p:grpSpPr>
          <p:sp>
            <p:nvSpPr>
              <p:cNvPr id="41" name="Line 44"/>
              <p:cNvSpPr>
                <a:spLocks noChangeShapeType="1"/>
              </p:cNvSpPr>
              <p:nvPr/>
            </p:nvSpPr>
            <p:spPr bwMode="auto">
              <a:xfrm rot="10800000" flipH="1" flipV="1">
                <a:off x="704" y="1024"/>
                <a:ext cx="1423" cy="0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Line 45"/>
              <p:cNvSpPr>
                <a:spLocks noChangeShapeType="1"/>
              </p:cNvSpPr>
              <p:nvPr/>
            </p:nvSpPr>
            <p:spPr bwMode="auto">
              <a:xfrm rot="10800000" flipV="1">
                <a:off x="721" y="1012"/>
                <a:ext cx="0" cy="885"/>
              </a:xfrm>
              <a:prstGeom prst="line">
                <a:avLst/>
              </a:prstGeom>
              <a:noFill/>
              <a:ln w="57150">
                <a:solidFill>
                  <a:srgbClr val="CC00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0" name="Text Box 46"/>
            <p:cNvSpPr txBox="1">
              <a:spLocks noChangeArrowheads="1"/>
            </p:cNvSpPr>
            <p:nvPr/>
          </p:nvSpPr>
          <p:spPr bwMode="auto">
            <a:xfrm>
              <a:off x="745" y="1023"/>
              <a:ext cx="825" cy="61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en-US" sz="250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 &amp; S </a:t>
              </a:r>
              <a:endParaRPr lang="en-US" sz="250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defTabSz="914400">
                <a:lnSpc>
                  <a:spcPct val="90000"/>
                </a:lnSpc>
                <a:spcBef>
                  <a:spcPct val="50000"/>
                </a:spcBef>
              </a:pPr>
              <a:r>
                <a:rPr lang="zh-CN" altLang="en-US" sz="25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出售</a:t>
              </a:r>
              <a:endParaRPr lang="en-US" sz="25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3" name="Group 47"/>
          <p:cNvGrpSpPr/>
          <p:nvPr/>
        </p:nvGrpSpPr>
        <p:grpSpPr bwMode="auto">
          <a:xfrm>
            <a:off x="619124" y="1471613"/>
            <a:ext cx="2887663" cy="2097088"/>
            <a:chOff x="374" y="548"/>
            <a:chExt cx="1819" cy="1321"/>
          </a:xfrm>
        </p:grpSpPr>
        <p:grpSp>
          <p:nvGrpSpPr>
            <p:cNvPr id="44" name="Group 48"/>
            <p:cNvGrpSpPr/>
            <p:nvPr/>
          </p:nvGrpSpPr>
          <p:grpSpPr bwMode="auto">
            <a:xfrm rot="-5400000">
              <a:off x="796" y="500"/>
              <a:ext cx="1055" cy="1683"/>
              <a:chOff x="3840" y="1040"/>
              <a:chExt cx="1008" cy="752"/>
            </a:xfrm>
          </p:grpSpPr>
          <p:sp>
            <p:nvSpPr>
              <p:cNvPr id="46" name="Line 49"/>
              <p:cNvSpPr>
                <a:spLocks noChangeShapeType="1"/>
              </p:cNvSpPr>
              <p:nvPr/>
            </p:nvSpPr>
            <p:spPr bwMode="auto">
              <a:xfrm flipH="1">
                <a:off x="3840" y="1040"/>
                <a:ext cx="1008" cy="0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  <a:tailEnd type="stealth" w="lg" len="lg"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Line 50"/>
              <p:cNvSpPr>
                <a:spLocks noChangeShapeType="1"/>
              </p:cNvSpPr>
              <p:nvPr/>
            </p:nvSpPr>
            <p:spPr bwMode="auto">
              <a:xfrm>
                <a:off x="4830" y="1041"/>
                <a:ext cx="0" cy="751"/>
              </a:xfrm>
              <a:prstGeom prst="line">
                <a:avLst/>
              </a:prstGeom>
              <a:noFill/>
              <a:ln w="57150">
                <a:solidFill>
                  <a:srgbClr val="009900"/>
                </a:solidFill>
                <a:round/>
              </a:ln>
            </p:spPr>
            <p:txBody>
              <a:bodyPr/>
              <a:lstStyle/>
              <a:p>
                <a:pPr defTabSz="914400"/>
                <a:endParaRPr lang="en-US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45" name="Text Box 51"/>
            <p:cNvSpPr txBox="1">
              <a:spLocks noChangeArrowheads="1"/>
            </p:cNvSpPr>
            <p:nvPr/>
          </p:nvSpPr>
          <p:spPr bwMode="auto">
            <a:xfrm>
              <a:off x="374" y="548"/>
              <a:ext cx="1819" cy="30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defTabSz="914400">
                <a:spcBef>
                  <a:spcPct val="50000"/>
                </a:spcBef>
              </a:pPr>
              <a:r>
                <a:rPr lang="zh-CN" altLang="en-US" sz="2500">
                  <a:solidFill>
                    <a:prstClr val="black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营收</a:t>
              </a:r>
              <a:endParaRPr lang="zh-CN" altLang="en-US" sz="250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grpSp>
        <p:nvGrpSpPr>
          <p:cNvPr id="48" name="Group 52"/>
          <p:cNvGrpSpPr/>
          <p:nvPr/>
        </p:nvGrpSpPr>
        <p:grpSpPr bwMode="auto">
          <a:xfrm>
            <a:off x="3411537" y="1417638"/>
            <a:ext cx="2320925" cy="1689100"/>
            <a:chOff x="2133" y="514"/>
            <a:chExt cx="1462" cy="106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9" name="Oval 53"/>
            <p:cNvSpPr>
              <a:spLocks noChangeArrowheads="1"/>
            </p:cNvSpPr>
            <p:nvPr/>
          </p:nvSpPr>
          <p:spPr bwMode="auto">
            <a:xfrm>
              <a:off x="2133" y="514"/>
              <a:ext cx="1462" cy="1064"/>
            </a:xfrm>
            <a:prstGeom prst="ellipse">
              <a:avLst/>
            </a:prstGeom>
            <a:solidFill>
              <a:srgbClr val="FFCC99"/>
            </a:solidFill>
            <a:ln w="9525">
              <a:noFill/>
              <a:round/>
            </a:ln>
          </p:spPr>
          <p:txBody>
            <a:bodyPr/>
            <a:lstStyle/>
            <a:p>
              <a:pPr defTabSz="914400"/>
              <a:endParaRPr lang="en-US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Text Box 54"/>
            <p:cNvSpPr txBox="1">
              <a:spLocks noChangeArrowheads="1"/>
            </p:cNvSpPr>
            <p:nvPr/>
          </p:nvSpPr>
          <p:spPr bwMode="auto">
            <a:xfrm>
              <a:off x="2187" y="684"/>
              <a:ext cx="1371" cy="6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ctr" defTabSz="914400">
                <a:spcBef>
                  <a:spcPct val="50000"/>
                </a:spcBef>
              </a:pPr>
              <a:r>
                <a:rPr lang="zh-CN" altLang="en-US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商品和服务</a:t>
              </a:r>
              <a:endParaRPr lang="en-US" altLang="zh-CN" sz="260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  <a:p>
              <a:pPr algn="ctr" defTabSz="914400">
                <a:spcBef>
                  <a:spcPct val="50000"/>
                </a:spcBef>
              </a:pPr>
              <a:r>
                <a:rPr lang="zh-CN" altLang="en-US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（</a:t>
              </a:r>
              <a:r>
                <a:rPr lang="en-US" altLang="zh-CN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G&amp;S)</a:t>
              </a:r>
              <a:r>
                <a:rPr lang="zh-CN" altLang="en-US" sz="2600">
                  <a:solidFill>
                    <a:prstClr val="black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市场</a:t>
              </a:r>
              <a:endParaRPr lang="en-US" sz="260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8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模型：循环流量图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58" name="Line 34"/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 flipV="1">
            <a:off x="794385" y="6136005"/>
            <a:ext cx="2607310" cy="7620"/>
          </a:xfrm>
          <a:prstGeom prst="line">
            <a:avLst/>
          </a:prstGeom>
          <a:noFill/>
          <a:ln w="57150">
            <a:solidFill>
              <a:srgbClr val="009900"/>
            </a:solidFill>
            <a:miter lim="800000"/>
            <a:tailEnd type="stealth" w="lg" len="lg"/>
          </a:ln>
        </p:spPr>
        <p:txBody>
          <a:bodyPr/>
          <a:p>
            <a:pPr defTabSz="914400"/>
            <a:endParaRPr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Line 35"/>
          <p:cNvSpPr>
            <a:spLocks noChangeShapeType="1"/>
          </p:cNvSpPr>
          <p:nvPr>
            <p:custDataLst>
              <p:tags r:id="rId3"/>
            </p:custDataLst>
          </p:nvPr>
        </p:nvSpPr>
        <p:spPr bwMode="auto">
          <a:xfrm>
            <a:off x="790704" y="4523424"/>
            <a:ext cx="0" cy="1609725"/>
          </a:xfrm>
          <a:prstGeom prst="line">
            <a:avLst/>
          </a:prstGeom>
          <a:noFill/>
          <a:ln w="57150">
            <a:solidFill>
              <a:srgbClr val="009900"/>
            </a:solidFill>
            <a:round/>
          </a:ln>
        </p:spPr>
        <p:txBody>
          <a:bodyPr/>
          <a:p>
            <a:pPr defTabSz="914400"/>
            <a:endParaRPr lang="en-US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Box 36"/>
          <p:cNvSpPr txBox="1">
            <a:spLocks noChangeArrowheads="1"/>
          </p:cNvSpPr>
          <p:nvPr/>
        </p:nvSpPr>
        <p:spPr bwMode="auto">
          <a:xfrm>
            <a:off x="363855" y="6156960"/>
            <a:ext cx="942975" cy="47561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p>
            <a:pPr defTabSz="914400">
              <a:spcBef>
                <a:spcPct val="50000"/>
              </a:spcBef>
            </a:pPr>
            <a:r>
              <a:rPr lang="zh-CN" altLang="en-US" sz="2500">
                <a:solidFill>
                  <a:prstClr val="black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支付</a:t>
            </a:r>
            <a:endParaRPr lang="zh-CN" altLang="en-US" sz="2500">
              <a:solidFill>
                <a:prstClr val="black"/>
              </a:solidFill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8" presetClass="entr" presetSubtype="9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9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56900" y="994749"/>
            <a:ext cx="8064896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生产可能性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）：</a:t>
            </a:r>
            <a:b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表示在可得到的生产要素和生产技术既定时，一个经济所能生产的产品数量的各种组合的图形。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例子：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两种商品：电脑和小麦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一种资源：简化为劳动力（以小时为单位）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每月有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50000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个工时可用于生产。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模型：生产可能性边界（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）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2"/>
          <p:cNvSpPr>
            <a:spLocks noChangeArrowheads="1"/>
          </p:cNvSpPr>
          <p:nvPr/>
        </p:nvSpPr>
        <p:spPr bwMode="auto">
          <a:xfrm>
            <a:off x="631429" y="2258609"/>
            <a:ext cx="8034338" cy="4527550"/>
          </a:xfrm>
          <a:prstGeom prst="rect">
            <a:avLst/>
          </a:prstGeom>
          <a:solidFill>
            <a:srgbClr val="99CCFF">
              <a:alpha val="50195"/>
            </a:srgb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95" name="Group 5"/>
          <p:cNvGrpSpPr/>
          <p:nvPr/>
        </p:nvGrpSpPr>
        <p:grpSpPr bwMode="auto">
          <a:xfrm>
            <a:off x="5031979" y="6190847"/>
            <a:ext cx="3633788" cy="596900"/>
            <a:chOff x="3112" y="3715"/>
            <a:chExt cx="2289" cy="376"/>
          </a:xfrm>
        </p:grpSpPr>
        <p:sp>
          <p:nvSpPr>
            <p:cNvPr id="152" name="Rectangle 6"/>
            <p:cNvSpPr>
              <a:spLocks noChangeArrowheads="1"/>
            </p:cNvSpPr>
            <p:nvPr/>
          </p:nvSpPr>
          <p:spPr bwMode="auto">
            <a:xfrm>
              <a:off x="4369" y="3715"/>
              <a:ext cx="1032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5000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3" name="Rectangle 7"/>
            <p:cNvSpPr>
              <a:spLocks noChangeArrowheads="1"/>
            </p:cNvSpPr>
            <p:nvPr/>
          </p:nvSpPr>
          <p:spPr bwMode="auto">
            <a:xfrm>
              <a:off x="3112" y="3715"/>
              <a:ext cx="1257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6" name="Group 8"/>
          <p:cNvGrpSpPr/>
          <p:nvPr/>
        </p:nvGrpSpPr>
        <p:grpSpPr bwMode="auto">
          <a:xfrm>
            <a:off x="5031979" y="5592359"/>
            <a:ext cx="3633788" cy="598488"/>
            <a:chOff x="3112" y="3338"/>
            <a:chExt cx="2289" cy="377"/>
          </a:xfrm>
        </p:grpSpPr>
        <p:sp>
          <p:nvSpPr>
            <p:cNvPr id="150" name="Rectangle 9"/>
            <p:cNvSpPr>
              <a:spLocks noChangeArrowheads="1"/>
            </p:cNvSpPr>
            <p:nvPr/>
          </p:nvSpPr>
          <p:spPr bwMode="auto">
            <a:xfrm>
              <a:off x="4369" y="3338"/>
              <a:ext cx="1032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4000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51" name="Rectangle 10"/>
            <p:cNvSpPr>
              <a:spLocks noChangeArrowheads="1"/>
            </p:cNvSpPr>
            <p:nvPr/>
          </p:nvSpPr>
          <p:spPr bwMode="auto">
            <a:xfrm>
              <a:off x="3112" y="3338"/>
              <a:ext cx="1257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100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7" name="Group 11"/>
          <p:cNvGrpSpPr/>
          <p:nvPr/>
        </p:nvGrpSpPr>
        <p:grpSpPr bwMode="auto">
          <a:xfrm>
            <a:off x="5031979" y="4997047"/>
            <a:ext cx="3633788" cy="595312"/>
            <a:chOff x="3112" y="2963"/>
            <a:chExt cx="2289" cy="375"/>
          </a:xfrm>
        </p:grpSpPr>
        <p:sp>
          <p:nvSpPr>
            <p:cNvPr id="148" name="Rectangle 12"/>
            <p:cNvSpPr>
              <a:spLocks noChangeArrowheads="1"/>
            </p:cNvSpPr>
            <p:nvPr/>
          </p:nvSpPr>
          <p:spPr bwMode="auto">
            <a:xfrm>
              <a:off x="4369" y="2963"/>
              <a:ext cx="1032" cy="3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2500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9" name="Rectangle 13"/>
            <p:cNvSpPr>
              <a:spLocks noChangeArrowheads="1"/>
            </p:cNvSpPr>
            <p:nvPr/>
          </p:nvSpPr>
          <p:spPr bwMode="auto">
            <a:xfrm>
              <a:off x="3112" y="2963"/>
              <a:ext cx="1257" cy="375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250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8" name="Group 14"/>
          <p:cNvGrpSpPr/>
          <p:nvPr/>
        </p:nvGrpSpPr>
        <p:grpSpPr bwMode="auto">
          <a:xfrm>
            <a:off x="5031979" y="4398559"/>
            <a:ext cx="3633788" cy="598488"/>
            <a:chOff x="3112" y="2586"/>
            <a:chExt cx="2289" cy="377"/>
          </a:xfrm>
        </p:grpSpPr>
        <p:sp>
          <p:nvSpPr>
            <p:cNvPr id="146" name="Rectangle 15"/>
            <p:cNvSpPr>
              <a:spLocks noChangeArrowheads="1"/>
            </p:cNvSpPr>
            <p:nvPr/>
          </p:nvSpPr>
          <p:spPr bwMode="auto">
            <a:xfrm>
              <a:off x="4369" y="2586"/>
              <a:ext cx="1032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1000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7" name="Rectangle 16"/>
            <p:cNvSpPr>
              <a:spLocks noChangeArrowheads="1"/>
            </p:cNvSpPr>
            <p:nvPr/>
          </p:nvSpPr>
          <p:spPr bwMode="auto">
            <a:xfrm>
              <a:off x="3112" y="2586"/>
              <a:ext cx="1257" cy="377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400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99" name="Group 17"/>
          <p:cNvGrpSpPr/>
          <p:nvPr/>
        </p:nvGrpSpPr>
        <p:grpSpPr bwMode="auto">
          <a:xfrm>
            <a:off x="1409304" y="4398561"/>
            <a:ext cx="3622675" cy="2389189"/>
            <a:chOff x="830" y="2586"/>
            <a:chExt cx="2282" cy="1505"/>
          </a:xfrm>
        </p:grpSpPr>
        <p:grpSp>
          <p:nvGrpSpPr>
            <p:cNvPr id="134" name="Group 18"/>
            <p:cNvGrpSpPr/>
            <p:nvPr/>
          </p:nvGrpSpPr>
          <p:grpSpPr bwMode="auto">
            <a:xfrm>
              <a:off x="830" y="3715"/>
              <a:ext cx="2282" cy="376"/>
              <a:chOff x="830" y="3715"/>
              <a:chExt cx="2282" cy="376"/>
            </a:xfrm>
          </p:grpSpPr>
          <p:sp>
            <p:nvSpPr>
              <p:cNvPr id="144" name="Rectangle 19"/>
              <p:cNvSpPr>
                <a:spLocks noChangeArrowheads="1"/>
              </p:cNvSpPr>
              <p:nvPr/>
            </p:nvSpPr>
            <p:spPr bwMode="auto">
              <a:xfrm>
                <a:off x="2035" y="3715"/>
                <a:ext cx="1077" cy="37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50000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5" name="Rectangle 20"/>
              <p:cNvSpPr>
                <a:spLocks noChangeArrowheads="1"/>
              </p:cNvSpPr>
              <p:nvPr/>
            </p:nvSpPr>
            <p:spPr bwMode="auto">
              <a:xfrm>
                <a:off x="830" y="3715"/>
                <a:ext cx="1205" cy="37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5" name="Group 21"/>
            <p:cNvGrpSpPr/>
            <p:nvPr/>
          </p:nvGrpSpPr>
          <p:grpSpPr bwMode="auto">
            <a:xfrm>
              <a:off x="830" y="3338"/>
              <a:ext cx="2282" cy="377"/>
              <a:chOff x="830" y="3338"/>
              <a:chExt cx="2282" cy="377"/>
            </a:xfrm>
          </p:grpSpPr>
          <p:sp>
            <p:nvSpPr>
              <p:cNvPr id="142" name="Rectangle 22"/>
              <p:cNvSpPr>
                <a:spLocks noChangeArrowheads="1"/>
              </p:cNvSpPr>
              <p:nvPr/>
            </p:nvSpPr>
            <p:spPr bwMode="auto">
              <a:xfrm>
                <a:off x="2035" y="3338"/>
                <a:ext cx="1077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40000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3" name="Rectangle 23"/>
              <p:cNvSpPr>
                <a:spLocks noChangeArrowheads="1"/>
              </p:cNvSpPr>
              <p:nvPr/>
            </p:nvSpPr>
            <p:spPr bwMode="auto">
              <a:xfrm>
                <a:off x="830" y="3338"/>
                <a:ext cx="1205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10000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6" name="Group 24"/>
            <p:cNvGrpSpPr/>
            <p:nvPr/>
          </p:nvGrpSpPr>
          <p:grpSpPr bwMode="auto">
            <a:xfrm>
              <a:off x="830" y="2963"/>
              <a:ext cx="2282" cy="375"/>
              <a:chOff x="830" y="2963"/>
              <a:chExt cx="2282" cy="375"/>
            </a:xfrm>
          </p:grpSpPr>
          <p:sp>
            <p:nvSpPr>
              <p:cNvPr id="140" name="Rectangle 25"/>
              <p:cNvSpPr>
                <a:spLocks noChangeArrowheads="1"/>
              </p:cNvSpPr>
              <p:nvPr/>
            </p:nvSpPr>
            <p:spPr bwMode="auto">
              <a:xfrm>
                <a:off x="2035" y="2963"/>
                <a:ext cx="1077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25000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1" name="Rectangle 26"/>
              <p:cNvSpPr>
                <a:spLocks noChangeArrowheads="1"/>
              </p:cNvSpPr>
              <p:nvPr/>
            </p:nvSpPr>
            <p:spPr bwMode="auto">
              <a:xfrm>
                <a:off x="830" y="2963"/>
                <a:ext cx="1205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25000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37" name="Group 27"/>
            <p:cNvGrpSpPr/>
            <p:nvPr/>
          </p:nvGrpSpPr>
          <p:grpSpPr bwMode="auto">
            <a:xfrm>
              <a:off x="830" y="2586"/>
              <a:ext cx="2282" cy="377"/>
              <a:chOff x="830" y="2586"/>
              <a:chExt cx="2282" cy="377"/>
            </a:xfrm>
          </p:grpSpPr>
          <p:sp>
            <p:nvSpPr>
              <p:cNvPr id="138" name="Rectangle 28"/>
              <p:cNvSpPr>
                <a:spLocks noChangeArrowheads="1"/>
              </p:cNvSpPr>
              <p:nvPr/>
            </p:nvSpPr>
            <p:spPr bwMode="auto">
              <a:xfrm>
                <a:off x="2035" y="2586"/>
                <a:ext cx="1077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10000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9" name="Rectangle 29"/>
              <p:cNvSpPr>
                <a:spLocks noChangeArrowheads="1"/>
              </p:cNvSpPr>
              <p:nvPr/>
            </p:nvSpPr>
            <p:spPr bwMode="auto">
              <a:xfrm>
                <a:off x="830" y="2586"/>
                <a:ext cx="1205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40000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grpSp>
        <p:nvGrpSpPr>
          <p:cNvPr id="100" name="Group 30"/>
          <p:cNvGrpSpPr/>
          <p:nvPr/>
        </p:nvGrpSpPr>
        <p:grpSpPr bwMode="auto">
          <a:xfrm>
            <a:off x="5031979" y="3801659"/>
            <a:ext cx="3633788" cy="596900"/>
            <a:chOff x="3112" y="2210"/>
            <a:chExt cx="2289" cy="376"/>
          </a:xfrm>
        </p:grpSpPr>
        <p:sp>
          <p:nvSpPr>
            <p:cNvPr id="132" name="Rectangle 31"/>
            <p:cNvSpPr>
              <a:spLocks noChangeArrowheads="1"/>
            </p:cNvSpPr>
            <p:nvPr/>
          </p:nvSpPr>
          <p:spPr bwMode="auto">
            <a:xfrm>
              <a:off x="4369" y="2210"/>
              <a:ext cx="1032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Rectangle 32"/>
            <p:cNvSpPr>
              <a:spLocks noChangeArrowheads="1"/>
            </p:cNvSpPr>
            <p:nvPr/>
          </p:nvSpPr>
          <p:spPr bwMode="auto">
            <a:xfrm>
              <a:off x="3112" y="2210"/>
              <a:ext cx="1257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500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1" name="Group 33"/>
          <p:cNvGrpSpPr/>
          <p:nvPr/>
        </p:nvGrpSpPr>
        <p:grpSpPr bwMode="auto">
          <a:xfrm>
            <a:off x="1409304" y="3801659"/>
            <a:ext cx="3622676" cy="596900"/>
            <a:chOff x="830" y="2210"/>
            <a:chExt cx="2282" cy="376"/>
          </a:xfrm>
        </p:grpSpPr>
        <p:sp>
          <p:nvSpPr>
            <p:cNvPr id="130" name="Rectangle 34"/>
            <p:cNvSpPr>
              <a:spLocks noChangeArrowheads="1"/>
            </p:cNvSpPr>
            <p:nvPr/>
          </p:nvSpPr>
          <p:spPr bwMode="auto">
            <a:xfrm>
              <a:off x="2035" y="2210"/>
              <a:ext cx="1077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Rectangle 35"/>
            <p:cNvSpPr>
              <a:spLocks noChangeArrowheads="1"/>
            </p:cNvSpPr>
            <p:nvPr/>
          </p:nvSpPr>
          <p:spPr bwMode="auto">
            <a:xfrm>
              <a:off x="830" y="2210"/>
              <a:ext cx="1205" cy="376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anchor="ctr" anchorCtr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5000"/>
                </a:lnSpc>
                <a:spcBef>
                  <a:spcPct val="45000"/>
                </a:spcBef>
                <a:buClr>
                  <a:srgbClr val="00B85C"/>
                </a:buClr>
                <a:buSzPct val="120000"/>
                <a:buFont typeface="Wingdings" panose="05000000000000000000" pitchFamily="2" charset="2"/>
                <a:buNone/>
              </a:pPr>
              <a:r>
                <a:rPr lang="en-US" sz="2400">
                  <a:latin typeface="Arial" panose="020B0604020202020204" pitchFamily="34" charset="0"/>
                  <a:cs typeface="Arial" panose="020B0604020202020204" pitchFamily="34" charset="0"/>
                </a:rPr>
                <a:t>50000</a:t>
              </a:r>
              <a:endParaRPr lang="en-US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2" name="Group 36"/>
          <p:cNvGrpSpPr/>
          <p:nvPr/>
        </p:nvGrpSpPr>
        <p:grpSpPr bwMode="auto">
          <a:xfrm>
            <a:off x="621904" y="2258609"/>
            <a:ext cx="8043863" cy="4529138"/>
            <a:chOff x="334" y="1238"/>
            <a:chExt cx="5067" cy="2853"/>
          </a:xfrm>
        </p:grpSpPr>
        <p:grpSp>
          <p:nvGrpSpPr>
            <p:cNvPr id="116" name="Group 37"/>
            <p:cNvGrpSpPr/>
            <p:nvPr/>
          </p:nvGrpSpPr>
          <p:grpSpPr bwMode="auto">
            <a:xfrm>
              <a:off x="334" y="1238"/>
              <a:ext cx="5067" cy="2853"/>
              <a:chOff x="334" y="1238"/>
              <a:chExt cx="5067" cy="2853"/>
            </a:xfrm>
          </p:grpSpPr>
          <p:sp>
            <p:nvSpPr>
              <p:cNvPr id="118" name="Rectangle 38"/>
              <p:cNvSpPr>
                <a:spLocks noChangeArrowheads="1"/>
              </p:cNvSpPr>
              <p:nvPr/>
            </p:nvSpPr>
            <p:spPr bwMode="auto">
              <a:xfrm>
                <a:off x="334" y="3715"/>
                <a:ext cx="496" cy="37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E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9" name="Rectangle 39"/>
              <p:cNvSpPr>
                <a:spLocks noChangeArrowheads="1"/>
              </p:cNvSpPr>
              <p:nvPr/>
            </p:nvSpPr>
            <p:spPr bwMode="auto">
              <a:xfrm>
                <a:off x="334" y="3338"/>
                <a:ext cx="496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D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0" name="Rectangle 40"/>
              <p:cNvSpPr>
                <a:spLocks noChangeArrowheads="1"/>
              </p:cNvSpPr>
              <p:nvPr/>
            </p:nvSpPr>
            <p:spPr bwMode="auto">
              <a:xfrm>
                <a:off x="334" y="2963"/>
                <a:ext cx="496" cy="37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C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Rectangle 41"/>
              <p:cNvSpPr>
                <a:spLocks noChangeArrowheads="1"/>
              </p:cNvSpPr>
              <p:nvPr/>
            </p:nvSpPr>
            <p:spPr bwMode="auto">
              <a:xfrm>
                <a:off x="334" y="2586"/>
                <a:ext cx="496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B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Rectangle 42"/>
              <p:cNvSpPr>
                <a:spLocks noChangeArrowheads="1"/>
              </p:cNvSpPr>
              <p:nvPr/>
            </p:nvSpPr>
            <p:spPr bwMode="auto">
              <a:xfrm>
                <a:off x="334" y="2210"/>
                <a:ext cx="496" cy="376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A.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3" name="Rectangle 43"/>
              <p:cNvSpPr>
                <a:spLocks noChangeArrowheads="1"/>
              </p:cNvSpPr>
              <p:nvPr/>
            </p:nvSpPr>
            <p:spPr bwMode="auto">
              <a:xfrm>
                <a:off x="4369" y="1833"/>
                <a:ext cx="1032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小麦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4" name="Rectangle 44"/>
              <p:cNvSpPr>
                <a:spLocks noChangeArrowheads="1"/>
              </p:cNvSpPr>
              <p:nvPr/>
            </p:nvSpPr>
            <p:spPr bwMode="auto">
              <a:xfrm>
                <a:off x="3112" y="1833"/>
                <a:ext cx="1257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zh-CN" altLang="en-US" sz="2400">
                    <a:latin typeface="Arial" panose="020B0604020202020204" pitchFamily="34" charset="0"/>
                    <a:cs typeface="Arial" panose="020B0604020202020204" pitchFamily="34" charset="0"/>
                    <a:sym typeface="+mn-ea"/>
                  </a:rPr>
                  <a:t>电脑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5" name="Rectangle 45"/>
              <p:cNvSpPr>
                <a:spLocks noChangeArrowheads="1"/>
              </p:cNvSpPr>
              <p:nvPr/>
            </p:nvSpPr>
            <p:spPr bwMode="auto">
              <a:xfrm>
                <a:off x="2035" y="1833"/>
                <a:ext cx="1077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小麦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6" name="Rectangle 46"/>
              <p:cNvSpPr>
                <a:spLocks noChangeArrowheads="1"/>
              </p:cNvSpPr>
              <p:nvPr/>
            </p:nvSpPr>
            <p:spPr bwMode="auto">
              <a:xfrm>
                <a:off x="830" y="1833"/>
                <a:ext cx="1205" cy="377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zh-CN" alt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电脑</a:t>
                </a:r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7" name="Rectangle 47"/>
              <p:cNvSpPr>
                <a:spLocks noChangeArrowheads="1"/>
              </p:cNvSpPr>
              <p:nvPr/>
            </p:nvSpPr>
            <p:spPr bwMode="auto">
              <a:xfrm>
                <a:off x="3112" y="1238"/>
                <a:ext cx="2289" cy="5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生产</a:t>
                </a:r>
                <a:r>
                  <a:rPr lang="zh-CN" alt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产量</a:t>
                </a:r>
                <a:endParaRPr lang="zh-CN" alt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8" name="Rectangle 48"/>
              <p:cNvSpPr>
                <a:spLocks noChangeArrowheads="1"/>
              </p:cNvSpPr>
              <p:nvPr/>
            </p:nvSpPr>
            <p:spPr bwMode="auto">
              <a:xfrm>
                <a:off x="830" y="1238"/>
                <a:ext cx="2282" cy="595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r>
                  <a:rPr lang="en-US" sz="2400">
                    <a:latin typeface="Arial" panose="020B0604020202020204" pitchFamily="34" charset="0"/>
                    <a:cs typeface="Arial" panose="020B0604020202020204" pitchFamily="34" charset="0"/>
                  </a:rPr>
                  <a:t>雇佣工时</a:t>
                </a: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9" name="Rectangle 49"/>
              <p:cNvSpPr>
                <a:spLocks noChangeArrowheads="1"/>
              </p:cNvSpPr>
              <p:nvPr/>
            </p:nvSpPr>
            <p:spPr bwMode="auto">
              <a:xfrm>
                <a:off x="334" y="1238"/>
                <a:ext cx="496" cy="972"/>
              </a:xfrm>
              <a:prstGeom prst="rect">
                <a:avLst/>
              </a:prstGeom>
              <a:noFill/>
              <a:ln w="9525">
                <a:noFill/>
                <a:miter lim="800000"/>
              </a:ln>
            </p:spPr>
            <p:txBody>
              <a:bodyPr anchor="ctr" anchorCtr="1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5000"/>
                  </a:lnSpc>
                  <a:spcBef>
                    <a:spcPct val="45000"/>
                  </a:spcBef>
                  <a:buClr>
                    <a:srgbClr val="00B85C"/>
                  </a:buClr>
                  <a:buSzPct val="120000"/>
                  <a:buFont typeface="Wingdings" panose="05000000000000000000" pitchFamily="2" charset="2"/>
                  <a:buNone/>
                </a:pPr>
                <a:endParaRPr lang="en-US" sz="2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17" name="Line 50"/>
            <p:cNvSpPr>
              <a:spLocks noChangeShapeType="1"/>
            </p:cNvSpPr>
            <p:nvPr/>
          </p:nvSpPr>
          <p:spPr bwMode="auto">
            <a:xfrm>
              <a:off x="334" y="1238"/>
              <a:ext cx="5067" cy="0"/>
            </a:xfrm>
            <a:prstGeom prst="line">
              <a:avLst/>
            </a:prstGeom>
            <a:noFill/>
            <a:ln w="28575" cap="sq">
              <a:solidFill>
                <a:schemeClr val="tx1"/>
              </a:solidFill>
              <a:round/>
            </a:ln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3" name="Line 51"/>
          <p:cNvSpPr>
            <a:spLocks noChangeShapeType="1"/>
          </p:cNvSpPr>
          <p:nvPr/>
        </p:nvSpPr>
        <p:spPr bwMode="auto">
          <a:xfrm>
            <a:off x="621904" y="3801659"/>
            <a:ext cx="8043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Line 52"/>
          <p:cNvSpPr>
            <a:spLocks noChangeShapeType="1"/>
          </p:cNvSpPr>
          <p:nvPr/>
        </p:nvSpPr>
        <p:spPr bwMode="auto">
          <a:xfrm>
            <a:off x="621904" y="4398559"/>
            <a:ext cx="8043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5" name="Line 53"/>
          <p:cNvSpPr>
            <a:spLocks noChangeShapeType="1"/>
          </p:cNvSpPr>
          <p:nvPr/>
        </p:nvSpPr>
        <p:spPr bwMode="auto">
          <a:xfrm>
            <a:off x="621904" y="4997047"/>
            <a:ext cx="8043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6" name="Line 54"/>
          <p:cNvSpPr>
            <a:spLocks noChangeShapeType="1"/>
          </p:cNvSpPr>
          <p:nvPr/>
        </p:nvSpPr>
        <p:spPr bwMode="auto">
          <a:xfrm>
            <a:off x="621904" y="5592359"/>
            <a:ext cx="8043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Line 55"/>
          <p:cNvSpPr>
            <a:spLocks noChangeShapeType="1"/>
          </p:cNvSpPr>
          <p:nvPr/>
        </p:nvSpPr>
        <p:spPr bwMode="auto">
          <a:xfrm>
            <a:off x="621904" y="6190847"/>
            <a:ext cx="80438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Line 56"/>
          <p:cNvSpPr>
            <a:spLocks noChangeShapeType="1"/>
          </p:cNvSpPr>
          <p:nvPr/>
        </p:nvSpPr>
        <p:spPr bwMode="auto">
          <a:xfrm>
            <a:off x="621904" y="6787747"/>
            <a:ext cx="804386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9" name="Line 57"/>
          <p:cNvSpPr>
            <a:spLocks noChangeShapeType="1"/>
          </p:cNvSpPr>
          <p:nvPr/>
        </p:nvSpPr>
        <p:spPr bwMode="auto">
          <a:xfrm>
            <a:off x="621904" y="2258609"/>
            <a:ext cx="0" cy="452913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0" name="Line 58"/>
          <p:cNvSpPr>
            <a:spLocks noChangeShapeType="1"/>
          </p:cNvSpPr>
          <p:nvPr/>
        </p:nvSpPr>
        <p:spPr bwMode="auto">
          <a:xfrm>
            <a:off x="1409304" y="2258609"/>
            <a:ext cx="0" cy="452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1" name="Line 59"/>
          <p:cNvSpPr>
            <a:spLocks noChangeShapeType="1"/>
          </p:cNvSpPr>
          <p:nvPr/>
        </p:nvSpPr>
        <p:spPr bwMode="auto">
          <a:xfrm>
            <a:off x="5031979" y="2258609"/>
            <a:ext cx="0" cy="45291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2" name="Line 60"/>
          <p:cNvSpPr>
            <a:spLocks noChangeShapeType="1"/>
          </p:cNvSpPr>
          <p:nvPr/>
        </p:nvSpPr>
        <p:spPr bwMode="auto">
          <a:xfrm>
            <a:off x="8665767" y="2258609"/>
            <a:ext cx="0" cy="4529138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3" name="Line 61"/>
          <p:cNvSpPr>
            <a:spLocks noChangeShapeType="1"/>
          </p:cNvSpPr>
          <p:nvPr/>
        </p:nvSpPr>
        <p:spPr bwMode="auto">
          <a:xfrm>
            <a:off x="3322242" y="3203172"/>
            <a:ext cx="0" cy="3584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Line 62"/>
          <p:cNvSpPr>
            <a:spLocks noChangeShapeType="1"/>
          </p:cNvSpPr>
          <p:nvPr/>
        </p:nvSpPr>
        <p:spPr bwMode="auto">
          <a:xfrm>
            <a:off x="7027467" y="3203172"/>
            <a:ext cx="0" cy="3584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Line 63"/>
          <p:cNvSpPr>
            <a:spLocks noChangeShapeType="1"/>
          </p:cNvSpPr>
          <p:nvPr/>
        </p:nvSpPr>
        <p:spPr bwMode="auto">
          <a:xfrm>
            <a:off x="1409304" y="3203172"/>
            <a:ext cx="725646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631429" y="1274766"/>
            <a:ext cx="8064896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假设生产一台电脑需要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个小时的劳动。生产一吨小麦需要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个小时的劳动。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628325" y="3554413"/>
            <a:ext cx="403225" cy="373063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6" name="Rectangle 3"/>
          <p:cNvSpPr>
            <a:spLocks noChangeArrowheads="1"/>
          </p:cNvSpPr>
          <p:nvPr/>
        </p:nvSpPr>
        <p:spPr bwMode="auto">
          <a:xfrm>
            <a:off x="629913" y="4070351"/>
            <a:ext cx="403225" cy="37306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7" name="Rectangle 4"/>
          <p:cNvSpPr>
            <a:spLocks noChangeArrowheads="1"/>
          </p:cNvSpPr>
          <p:nvPr/>
        </p:nvSpPr>
        <p:spPr bwMode="auto">
          <a:xfrm>
            <a:off x="626738" y="4598988"/>
            <a:ext cx="403225" cy="373063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Rectangle 5"/>
          <p:cNvSpPr>
            <a:spLocks noChangeArrowheads="1"/>
          </p:cNvSpPr>
          <p:nvPr/>
        </p:nvSpPr>
        <p:spPr bwMode="auto">
          <a:xfrm>
            <a:off x="629913" y="5114926"/>
            <a:ext cx="403225" cy="373062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9" name="Rectangle 6"/>
          <p:cNvSpPr>
            <a:spLocks noChangeArrowheads="1"/>
          </p:cNvSpPr>
          <p:nvPr/>
        </p:nvSpPr>
        <p:spPr bwMode="auto">
          <a:xfrm>
            <a:off x="631500" y="3046413"/>
            <a:ext cx="403225" cy="373063"/>
          </a:xfrm>
          <a:prstGeom prst="rect">
            <a:avLst/>
          </a:prstGeom>
          <a:solidFill>
            <a:srgbClr val="FFFF99"/>
          </a:solidFill>
          <a:ln w="9525">
            <a:solidFill>
              <a:srgbClr val="0000FF"/>
            </a:solidFill>
            <a:miter lim="800000"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pic>
        <p:nvPicPr>
          <p:cNvPr id="40" name="tabl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050" y="1716127"/>
            <a:ext cx="3041650" cy="3916364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0588" y="1423988"/>
            <a:ext cx="5559425" cy="518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2" name="Text Box 54"/>
          <p:cNvSpPr txBox="1">
            <a:spLocks noChangeArrowheads="1"/>
          </p:cNvSpPr>
          <p:nvPr/>
        </p:nvSpPr>
        <p:spPr bwMode="auto">
          <a:xfrm>
            <a:off x="7681588" y="5065713"/>
            <a:ext cx="3794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Box 55"/>
          <p:cNvSpPr txBox="1">
            <a:spLocks noChangeArrowheads="1"/>
          </p:cNvSpPr>
          <p:nvPr/>
        </p:nvSpPr>
        <p:spPr bwMode="auto">
          <a:xfrm>
            <a:off x="7081513" y="4573588"/>
            <a:ext cx="3794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Text Box 56"/>
          <p:cNvSpPr txBox="1">
            <a:spLocks noChangeArrowheads="1"/>
          </p:cNvSpPr>
          <p:nvPr/>
        </p:nvSpPr>
        <p:spPr bwMode="auto">
          <a:xfrm>
            <a:off x="6195688" y="3817938"/>
            <a:ext cx="3794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Box 57"/>
          <p:cNvSpPr txBox="1">
            <a:spLocks noChangeArrowheads="1"/>
          </p:cNvSpPr>
          <p:nvPr/>
        </p:nvSpPr>
        <p:spPr bwMode="auto">
          <a:xfrm>
            <a:off x="5359075" y="3081338"/>
            <a:ext cx="3794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Box 58"/>
          <p:cNvSpPr txBox="1">
            <a:spLocks noChangeArrowheads="1"/>
          </p:cNvSpPr>
          <p:nvPr/>
        </p:nvSpPr>
        <p:spPr bwMode="auto">
          <a:xfrm>
            <a:off x="4736775" y="2543176"/>
            <a:ext cx="3794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Line 60"/>
          <p:cNvSpPr>
            <a:spLocks noChangeShapeType="1"/>
          </p:cNvSpPr>
          <p:nvPr/>
        </p:nvSpPr>
        <p:spPr bwMode="auto">
          <a:xfrm>
            <a:off x="4746300" y="2946401"/>
            <a:ext cx="2932113" cy="2540000"/>
          </a:xfrm>
          <a:prstGeom prst="line">
            <a:avLst/>
          </a:prstGeom>
          <a:noFill/>
          <a:ln w="50800">
            <a:solidFill>
              <a:srgbClr val="0033CC"/>
            </a:solidFill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</p:txBody>
      </p:sp>
      <p:sp>
        <p:nvSpPr>
          <p:cNvPr id="51" name="Oval 76"/>
          <p:cNvSpPr>
            <a:spLocks noChangeArrowheads="1"/>
          </p:cNvSpPr>
          <p:nvPr/>
        </p:nvSpPr>
        <p:spPr bwMode="auto">
          <a:xfrm>
            <a:off x="7592688" y="5405438"/>
            <a:ext cx="141287" cy="138113"/>
          </a:xfrm>
          <a:prstGeom prst="ellipse">
            <a:avLst/>
          </a:prstGeom>
          <a:solidFill>
            <a:srgbClr val="0033CC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2" name="Oval 77"/>
          <p:cNvSpPr>
            <a:spLocks noChangeArrowheads="1"/>
          </p:cNvSpPr>
          <p:nvPr/>
        </p:nvSpPr>
        <p:spPr bwMode="auto">
          <a:xfrm>
            <a:off x="4676450" y="2890838"/>
            <a:ext cx="141288" cy="138113"/>
          </a:xfrm>
          <a:prstGeom prst="ellipse">
            <a:avLst/>
          </a:prstGeom>
          <a:solidFill>
            <a:srgbClr val="0033CC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3" name="TextBox 35"/>
          <p:cNvSpPr txBox="1"/>
          <p:nvPr/>
        </p:nvSpPr>
        <p:spPr>
          <a:xfrm>
            <a:off x="7695875" y="6615113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35"/>
          <p:cNvSpPr txBox="1"/>
          <p:nvPr/>
        </p:nvSpPr>
        <p:spPr>
          <a:xfrm>
            <a:off x="7695875" y="6615113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456898" y="1417645"/>
            <a:ext cx="8064896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A.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在图上，找到代表（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吨小麦）的组合点，标记为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b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经济体有可能生产出这两种商品的组合吗？为什么？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接下来，找到代表（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吨小麦）的组合点，标记为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经济体有可能生产出这两种商品的组合吗？为什么？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35"/>
          <p:cNvSpPr txBox="1"/>
          <p:nvPr/>
        </p:nvSpPr>
        <p:spPr>
          <a:xfrm>
            <a:off x="7695875" y="6615113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-48087" y="1249100"/>
            <a:ext cx="3876071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点：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点需要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40000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小时劳动。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可能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但是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效率不高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：可以获得更多一种商品（小麦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/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电脑）而不必减少其他其他商品。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2798" y="1662112"/>
            <a:ext cx="5486400" cy="5195888"/>
          </a:xfrm>
          <a:prstGeom prst="rect">
            <a:avLst/>
          </a:prstGeom>
        </p:spPr>
      </p:pic>
      <p:sp>
        <p:nvSpPr>
          <p:cNvPr id="44" name="Oval 21"/>
          <p:cNvSpPr>
            <a:spLocks noChangeArrowheads="1"/>
          </p:cNvSpPr>
          <p:nvPr/>
        </p:nvSpPr>
        <p:spPr bwMode="auto">
          <a:xfrm>
            <a:off x="4769797" y="3123555"/>
            <a:ext cx="141288" cy="138113"/>
          </a:xfrm>
          <a:prstGeom prst="ellipse">
            <a:avLst/>
          </a:prstGeom>
          <a:solidFill>
            <a:srgbClr val="000099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Oval 20"/>
          <p:cNvSpPr>
            <a:spLocks noChangeArrowheads="1"/>
          </p:cNvSpPr>
          <p:nvPr/>
        </p:nvSpPr>
        <p:spPr bwMode="auto">
          <a:xfrm>
            <a:off x="7672711" y="5647638"/>
            <a:ext cx="141287" cy="138112"/>
          </a:xfrm>
          <a:prstGeom prst="ellipse">
            <a:avLst/>
          </a:prstGeom>
          <a:solidFill>
            <a:srgbClr val="000099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67116" y="3192612"/>
            <a:ext cx="2849563" cy="2524082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4867116" y="4208703"/>
            <a:ext cx="496571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5427521" y="4301460"/>
            <a:ext cx="0" cy="1415234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5515890" y="4078784"/>
            <a:ext cx="293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F</a:t>
            </a:r>
            <a:endParaRPr lang="zh-CN" altLang="en-US" sz="2400" b="1"/>
          </a:p>
        </p:txBody>
      </p:sp>
      <p:sp>
        <p:nvSpPr>
          <p:cNvPr id="50" name="Oval 21"/>
          <p:cNvSpPr>
            <a:spLocks noChangeArrowheads="1"/>
          </p:cNvSpPr>
          <p:nvPr/>
        </p:nvSpPr>
        <p:spPr bwMode="auto">
          <a:xfrm>
            <a:off x="5348885" y="4163347"/>
            <a:ext cx="141288" cy="138113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Box 35"/>
          <p:cNvSpPr txBox="1"/>
          <p:nvPr/>
        </p:nvSpPr>
        <p:spPr>
          <a:xfrm>
            <a:off x="7695875" y="6615113"/>
            <a:ext cx="1143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56EF793-6576-47D7-8D74-034072F16359}" type="slidenum">
              <a:rPr lang="en-US" sz="1700" i="0" smtClean="0">
                <a:solidFill>
                  <a:srgbClr val="B2B2B2"/>
                </a:solidFill>
                <a:latin typeface="Times New Roman" panose="02020603050405020304" pitchFamily="18" charset="0"/>
                <a:ea typeface="Verdana" panose="020B0604030504040204" pitchFamily="34" charset="0"/>
                <a:cs typeface="Times New Roman" panose="02020603050405020304" pitchFamily="18" charset="0"/>
              </a:rPr>
            </a:fld>
            <a:endParaRPr lang="en-US" sz="1700" i="0" dirty="0">
              <a:solidFill>
                <a:srgbClr val="B2B2B2"/>
              </a:solidFill>
              <a:latin typeface="Times New Roman" panose="02020603050405020304" pitchFamily="18" charset="0"/>
              <a:ea typeface="Verdan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-48086" y="1249100"/>
            <a:ext cx="3690884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答案：</a:t>
            </a:r>
            <a:endParaRPr lang="en-US" altLang="zh-CN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点：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3500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点需要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65000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</a:t>
            </a:r>
            <a:b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劳动。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不可能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，因为经济体只有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50000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小时劳动。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43" name="图片 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42798" y="1662112"/>
            <a:ext cx="5486400" cy="5195888"/>
          </a:xfrm>
          <a:prstGeom prst="rect">
            <a:avLst/>
          </a:prstGeom>
        </p:spPr>
      </p:pic>
      <p:sp>
        <p:nvSpPr>
          <p:cNvPr id="44" name="Oval 21"/>
          <p:cNvSpPr>
            <a:spLocks noChangeArrowheads="1"/>
          </p:cNvSpPr>
          <p:nvPr/>
        </p:nvSpPr>
        <p:spPr bwMode="auto">
          <a:xfrm>
            <a:off x="4769797" y="3123555"/>
            <a:ext cx="141288" cy="138113"/>
          </a:xfrm>
          <a:prstGeom prst="ellipse">
            <a:avLst/>
          </a:prstGeom>
          <a:solidFill>
            <a:srgbClr val="000099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45" name="Oval 20"/>
          <p:cNvSpPr>
            <a:spLocks noChangeArrowheads="1"/>
          </p:cNvSpPr>
          <p:nvPr/>
        </p:nvSpPr>
        <p:spPr bwMode="auto">
          <a:xfrm>
            <a:off x="7672711" y="5647638"/>
            <a:ext cx="141287" cy="138112"/>
          </a:xfrm>
          <a:prstGeom prst="ellipse">
            <a:avLst/>
          </a:prstGeom>
          <a:solidFill>
            <a:srgbClr val="000099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cxnSp>
        <p:nvCxnSpPr>
          <p:cNvPr id="47" name="直接连接符 46"/>
          <p:cNvCxnSpPr/>
          <p:nvPr/>
        </p:nvCxnSpPr>
        <p:spPr>
          <a:xfrm>
            <a:off x="4867116" y="3192612"/>
            <a:ext cx="2849563" cy="2524082"/>
          </a:xfrm>
          <a:prstGeom prst="line">
            <a:avLst/>
          </a:prstGeom>
          <a:ln w="38100">
            <a:solidFill>
              <a:srgbClr val="00009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>
            <a:off x="4867116" y="3981523"/>
            <a:ext cx="1696306" cy="0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6563422" y="3981523"/>
            <a:ext cx="0" cy="1804227"/>
          </a:xfrm>
          <a:prstGeom prst="line">
            <a:avLst/>
          </a:prstGeom>
          <a:ln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6667810" y="3778894"/>
            <a:ext cx="293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/>
              <a:t>G</a:t>
            </a:r>
            <a:endParaRPr lang="zh-CN" altLang="en-US" sz="2400" b="1"/>
          </a:p>
        </p:txBody>
      </p:sp>
      <p:sp>
        <p:nvSpPr>
          <p:cNvPr id="50" name="Oval 21"/>
          <p:cNvSpPr>
            <a:spLocks noChangeArrowheads="1"/>
          </p:cNvSpPr>
          <p:nvPr/>
        </p:nvSpPr>
        <p:spPr bwMode="auto">
          <a:xfrm>
            <a:off x="6492778" y="3940671"/>
            <a:ext cx="141288" cy="138113"/>
          </a:xfrm>
          <a:prstGeom prst="ellipse">
            <a:avLst/>
          </a:prstGeom>
          <a:solidFill>
            <a:srgbClr val="C00000"/>
          </a:solidFill>
          <a:ln w="9525">
            <a:noFill/>
            <a:round/>
          </a:ln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367898" y="1234168"/>
            <a:ext cx="8776101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上的点（如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A-E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高效：所有资源都得到充分利用。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下的点（如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可能。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效率低下：部分资源未得到充分利用（工人失业）。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以上的点（如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不可能。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示例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304398" y="1513568"/>
            <a:ext cx="8776101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第一章讲到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，指为了获得某样东西而必须放弃的东西。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沿着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移动，意味着将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资源（如劳动力）从一种商品的生产转移到另一种商品的生产。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社会面临着权衡：获得更多的一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种商品需要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牺牲另一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种商品。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的斜率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：一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种商品相对于另一种商品的机会成本。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斜率越大，机会成本就越大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和机会成本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和机会成本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5797897" y="1340161"/>
            <a:ext cx="3458816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一条直线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的斜率等于</a:t>
            </a:r>
            <a:b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横坐标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向右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移动一个单位时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，纵坐标直线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上升的量。</a:t>
            </a:r>
            <a:endParaRPr lang="en-US" altLang="zh-CN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这里，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en-US" sz="2400" noProof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台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的机会成本是</a:t>
            </a:r>
            <a:r>
              <a:rPr kumimoji="0" lang="en-US" altLang="zh-CN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。也即说，生产额外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电脑需要的资源本来可以生产</a:t>
            </a:r>
            <a:r>
              <a:rPr kumimoji="0" lang="en-US" altLang="zh-CN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265483" y="1392638"/>
            <a:ext cx="5559425" cy="5189538"/>
            <a:chOff x="2132" y="710"/>
            <a:chExt cx="3502" cy="3269"/>
          </a:xfrm>
        </p:grpSpPr>
        <p:graphicFrame>
          <p:nvGraphicFramePr>
            <p:cNvPr id="5" name="Object 5"/>
            <p:cNvGraphicFramePr>
              <a:graphicFrameLocks noChangeAspect="1"/>
            </p:cNvGraphicFramePr>
            <p:nvPr/>
          </p:nvGraphicFramePr>
          <p:xfrm>
            <a:off x="2132" y="710"/>
            <a:ext cx="3502" cy="3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9" name="Worksheet" r:id="rId1" imgW="5443855" imgH="5082540" progId="Excel.Sheet.8">
                    <p:embed/>
                  </p:oleObj>
                </mc:Choice>
                <mc:Fallback>
                  <p:oleObj name="Worksheet" r:id="rId1" imgW="5443855" imgH="5082540" progId="Excel.Sheet.8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32" y="710"/>
                          <a:ext cx="3502" cy="3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2894" y="1673"/>
              <a:ext cx="1847" cy="1600"/>
            </a:xfrm>
            <a:prstGeom prst="line">
              <a:avLst/>
            </a:prstGeom>
            <a:noFill/>
            <a:ln w="50800">
              <a:solidFill>
                <a:srgbClr val="000099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1550988" y="2886075"/>
            <a:ext cx="565150" cy="0"/>
          </a:xfrm>
          <a:prstGeom prst="line">
            <a:avLst/>
          </a:prstGeom>
          <a:noFill/>
          <a:ln w="38100">
            <a:solidFill>
              <a:srgbClr val="339933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8"/>
          <p:cNvSpPr>
            <a:spLocks noChangeShapeType="1"/>
          </p:cNvSpPr>
          <p:nvPr/>
        </p:nvSpPr>
        <p:spPr bwMode="auto">
          <a:xfrm>
            <a:off x="2114551" y="2942836"/>
            <a:ext cx="1587" cy="488950"/>
          </a:xfrm>
          <a:prstGeom prst="line">
            <a:avLst/>
          </a:prstGeom>
          <a:noFill/>
          <a:ln w="38100">
            <a:solidFill>
              <a:srgbClr val="9900CC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Box 12"/>
          <p:cNvSpPr txBox="1">
            <a:spLocks noChangeArrowheads="1"/>
          </p:cNvSpPr>
          <p:nvPr/>
        </p:nvSpPr>
        <p:spPr bwMode="auto">
          <a:xfrm>
            <a:off x="2022302" y="2283025"/>
            <a:ext cx="1225550" cy="47705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 smtClean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斜</a:t>
            </a:r>
            <a:r>
              <a:rPr lang="zh-CN" altLang="en-US" sz="250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率</a:t>
            </a:r>
            <a:r>
              <a:rPr lang="en-US" sz="2500" smtClean="0">
                <a:latin typeface="Arial" panose="020B0604020202020204" pitchFamily="34" charset="0"/>
                <a:cs typeface="Arial" panose="020B0604020202020204" pitchFamily="34" charset="0"/>
              </a:rPr>
              <a:t>=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2936005" y="2009707"/>
            <a:ext cx="1195387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dirty="0">
                <a:solidFill>
                  <a:srgbClr val="9900C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–1000</a:t>
            </a:r>
            <a:endParaRPr lang="en-US" sz="2500" dirty="0">
              <a:solidFill>
                <a:srgbClr val="9900CC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3041626" y="2473137"/>
            <a:ext cx="930275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dirty="0">
                <a:solidFill>
                  <a:srgbClr val="33993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</a:t>
            </a:r>
            <a:endParaRPr lang="en-US" sz="2500" dirty="0">
              <a:solidFill>
                <a:srgbClr val="339933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063851" y="2508382"/>
            <a:ext cx="9080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Box 14"/>
          <p:cNvSpPr txBox="1">
            <a:spLocks noChangeArrowheads="1"/>
          </p:cNvSpPr>
          <p:nvPr/>
        </p:nvSpPr>
        <p:spPr bwMode="auto">
          <a:xfrm>
            <a:off x="4113780" y="2281569"/>
            <a:ext cx="1109662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500">
                <a:latin typeface="Arial" panose="020B0604020202020204" pitchFamily="34" charset="0"/>
                <a:cs typeface="Arial" panose="020B0604020202020204" pitchFamily="34" charset="0"/>
              </a:rPr>
              <a:t>= –10</a:t>
            </a:r>
            <a:endParaRPr lang="en-US" sz="25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1" grpId="0"/>
      <p:bldP spid="12" grpId="0"/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12115" y="-317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588645" y="719455"/>
            <a:ext cx="8200390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在哪个国家，布料的机会成本更低？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计算斜率或者观察哪个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直线更加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陡峭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412124" y="1804351"/>
          <a:ext cx="4003675" cy="494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7" name="Chart" r:id="rId1" imgW="4165600" imgH="5147945" progId="Excel.Sheet.8">
                  <p:embed/>
                </p:oleObj>
              </mc:Choice>
              <mc:Fallback>
                <p:oleObj name="Chart" r:id="rId1" imgW="4165600" imgH="5147945" progId="Excel.Shee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24" y="1804351"/>
                        <a:ext cx="4003675" cy="494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4943475" y="1809750"/>
          <a:ext cx="4003675" cy="494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78" name="Worksheet" r:id="rId3" imgW="4041140" imgH="4741545" progId="Excel.Sheet.8">
                  <p:embed/>
                </p:oleObj>
              </mc:Choice>
              <mc:Fallback>
                <p:oleObj name="Worksheet" r:id="rId3" imgW="4041140" imgH="4741545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1809750"/>
                        <a:ext cx="4003675" cy="494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9"/>
          <p:cNvGrpSpPr/>
          <p:nvPr/>
        </p:nvGrpSpPr>
        <p:grpSpPr bwMode="auto">
          <a:xfrm>
            <a:off x="1249132" y="2859840"/>
            <a:ext cx="1849438" cy="3074987"/>
            <a:chOff x="782" y="1752"/>
            <a:chExt cx="1165" cy="1937"/>
          </a:xfrm>
        </p:grpSpPr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782" y="1752"/>
              <a:ext cx="89" cy="87"/>
            </a:xfrm>
            <a:prstGeom prst="ellipse">
              <a:avLst/>
            </a:prstGeom>
            <a:solidFill>
              <a:srgbClr val="0033CC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1858" y="3602"/>
              <a:ext cx="89" cy="87"/>
            </a:xfrm>
            <a:prstGeom prst="ellipse">
              <a:avLst/>
            </a:prstGeom>
            <a:solidFill>
              <a:srgbClr val="0033CC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826" y="1791"/>
              <a:ext cx="1084" cy="1863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5689600" y="4787900"/>
            <a:ext cx="1895475" cy="1116013"/>
            <a:chOff x="3610" y="2989"/>
            <a:chExt cx="1194" cy="703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3656" y="3032"/>
              <a:ext cx="1097" cy="6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3610" y="2989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4" name="Oval 15"/>
            <p:cNvSpPr>
              <a:spLocks noChangeArrowheads="1"/>
            </p:cNvSpPr>
            <p:nvPr/>
          </p:nvSpPr>
          <p:spPr bwMode="auto">
            <a:xfrm>
              <a:off x="4715" y="3605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619344" y="1935479"/>
            <a:ext cx="1639887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b="1">
                <a:cs typeface="Arial" panose="020B0604020202020204" pitchFamily="34" charset="0"/>
              </a:rPr>
              <a:t>法国</a:t>
            </a:r>
            <a:endParaRPr lang="en-US" sz="2500" b="1">
              <a:cs typeface="Arial" panose="020B0604020202020204" pitchFamily="34" charset="0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6079053" y="1935479"/>
            <a:ext cx="1930400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b="1">
                <a:cs typeface="Arial" panose="020B0604020202020204" pitchFamily="34" charset="0"/>
              </a:rPr>
              <a:t>英格兰</a:t>
            </a:r>
            <a:endParaRPr lang="en-US" sz="2500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例子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8" name="TextBox 15"/>
          <p:cNvSpPr txBox="1"/>
          <p:nvPr/>
        </p:nvSpPr>
        <p:spPr>
          <a:xfrm>
            <a:off x="588392" y="1295288"/>
            <a:ext cx="6681732" cy="1135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答案：英格兰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，因为它的</a:t>
            </a:r>
            <a:r>
              <a:rPr lang="en-US" altLang="zh-CN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PPF</a:t>
            </a: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没有法国那么陡峭。</a:t>
            </a: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5" name="Object 9"/>
          <p:cNvGraphicFramePr>
            <a:graphicFrameLocks noChangeAspect="1"/>
          </p:cNvGraphicFramePr>
          <p:nvPr/>
        </p:nvGraphicFramePr>
        <p:xfrm>
          <a:off x="412124" y="1804351"/>
          <a:ext cx="4003675" cy="494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1" name="Chart" r:id="rId1" imgW="4165600" imgH="5147945" progId="Excel.Sheet.8">
                  <p:embed/>
                </p:oleObj>
              </mc:Choice>
              <mc:Fallback>
                <p:oleObj name="Chart" r:id="rId1" imgW="4165600" imgH="5147945" progId="Excel.Sheet.8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24" y="1804351"/>
                        <a:ext cx="4003675" cy="494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0"/>
          <p:cNvGraphicFramePr>
            <a:graphicFrameLocks noChangeAspect="1"/>
          </p:cNvGraphicFramePr>
          <p:nvPr/>
        </p:nvGraphicFramePr>
        <p:xfrm>
          <a:off x="4943475" y="1809750"/>
          <a:ext cx="4003675" cy="4949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02" name="Worksheet" r:id="rId3" imgW="4041140" imgH="4741545" progId="Excel.Sheet.8">
                  <p:embed/>
                </p:oleObj>
              </mc:Choice>
              <mc:Fallback>
                <p:oleObj name="Worksheet" r:id="rId3" imgW="4041140" imgH="4741545" progId="Excel.Sheet.8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3475" y="1809750"/>
                        <a:ext cx="4003675" cy="4949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19"/>
          <p:cNvGrpSpPr/>
          <p:nvPr/>
        </p:nvGrpSpPr>
        <p:grpSpPr bwMode="auto">
          <a:xfrm>
            <a:off x="1249132" y="2859840"/>
            <a:ext cx="1849438" cy="3074987"/>
            <a:chOff x="782" y="1752"/>
            <a:chExt cx="1165" cy="1937"/>
          </a:xfrm>
        </p:grpSpPr>
        <p:sp>
          <p:nvSpPr>
            <p:cNvPr id="18" name="Oval 16"/>
            <p:cNvSpPr>
              <a:spLocks noChangeArrowheads="1"/>
            </p:cNvSpPr>
            <p:nvPr/>
          </p:nvSpPr>
          <p:spPr bwMode="auto">
            <a:xfrm>
              <a:off x="782" y="1752"/>
              <a:ext cx="89" cy="87"/>
            </a:xfrm>
            <a:prstGeom prst="ellipse">
              <a:avLst/>
            </a:prstGeom>
            <a:solidFill>
              <a:srgbClr val="0033CC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19" name="Oval 17"/>
            <p:cNvSpPr>
              <a:spLocks noChangeArrowheads="1"/>
            </p:cNvSpPr>
            <p:nvPr/>
          </p:nvSpPr>
          <p:spPr bwMode="auto">
            <a:xfrm>
              <a:off x="1858" y="3602"/>
              <a:ext cx="89" cy="87"/>
            </a:xfrm>
            <a:prstGeom prst="ellipse">
              <a:avLst/>
            </a:prstGeom>
            <a:solidFill>
              <a:srgbClr val="0033CC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0" name="Line 18"/>
            <p:cNvSpPr>
              <a:spLocks noChangeShapeType="1"/>
            </p:cNvSpPr>
            <p:nvPr/>
          </p:nvSpPr>
          <p:spPr bwMode="auto">
            <a:xfrm>
              <a:off x="826" y="1791"/>
              <a:ext cx="1084" cy="1863"/>
            </a:xfrm>
            <a:prstGeom prst="line">
              <a:avLst/>
            </a:prstGeom>
            <a:noFill/>
            <a:ln w="38100">
              <a:solidFill>
                <a:srgbClr val="0033CC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0"/>
          <p:cNvGrpSpPr/>
          <p:nvPr/>
        </p:nvGrpSpPr>
        <p:grpSpPr bwMode="auto">
          <a:xfrm>
            <a:off x="5689600" y="4787900"/>
            <a:ext cx="1895475" cy="1116013"/>
            <a:chOff x="3610" y="2989"/>
            <a:chExt cx="1194" cy="703"/>
          </a:xfrm>
        </p:grpSpPr>
        <p:sp>
          <p:nvSpPr>
            <p:cNvPr id="22" name="Line 13"/>
            <p:cNvSpPr>
              <a:spLocks noChangeShapeType="1"/>
            </p:cNvSpPr>
            <p:nvPr/>
          </p:nvSpPr>
          <p:spPr bwMode="auto">
            <a:xfrm>
              <a:off x="3656" y="3032"/>
              <a:ext cx="1097" cy="61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Oval 14"/>
            <p:cNvSpPr>
              <a:spLocks noChangeArrowheads="1"/>
            </p:cNvSpPr>
            <p:nvPr/>
          </p:nvSpPr>
          <p:spPr bwMode="auto">
            <a:xfrm>
              <a:off x="3610" y="2989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24" name="Oval 15"/>
            <p:cNvSpPr>
              <a:spLocks noChangeArrowheads="1"/>
            </p:cNvSpPr>
            <p:nvPr/>
          </p:nvSpPr>
          <p:spPr bwMode="auto">
            <a:xfrm>
              <a:off x="4715" y="3605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</p:grpSp>
      <p:sp>
        <p:nvSpPr>
          <p:cNvPr id="25" name="Text Box 11"/>
          <p:cNvSpPr txBox="1">
            <a:spLocks noChangeArrowheads="1"/>
          </p:cNvSpPr>
          <p:nvPr/>
        </p:nvSpPr>
        <p:spPr bwMode="auto">
          <a:xfrm>
            <a:off x="1619344" y="1935479"/>
            <a:ext cx="1639887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b="1">
                <a:cs typeface="Arial" panose="020B0604020202020204" pitchFamily="34" charset="0"/>
              </a:rPr>
              <a:t>法国</a:t>
            </a:r>
            <a:endParaRPr lang="en-US" sz="2500" b="1">
              <a:cs typeface="Arial" panose="020B0604020202020204" pitchFamily="34" charset="0"/>
            </a:endParaRPr>
          </a:p>
        </p:txBody>
      </p:sp>
      <p:sp>
        <p:nvSpPr>
          <p:cNvPr id="26" name="Text Box 12"/>
          <p:cNvSpPr txBox="1">
            <a:spLocks noChangeArrowheads="1"/>
          </p:cNvSpPr>
          <p:nvPr/>
        </p:nvSpPr>
        <p:spPr bwMode="auto">
          <a:xfrm>
            <a:off x="6079053" y="1935479"/>
            <a:ext cx="1930400" cy="4730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500" b="1">
                <a:cs typeface="Arial" panose="020B0604020202020204" pitchFamily="34" charset="0"/>
              </a:rPr>
              <a:t>英格兰</a:t>
            </a:r>
            <a:endParaRPr lang="en-US" sz="2500" b="1"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Box 15"/>
          <p:cNvSpPr txBox="1"/>
          <p:nvPr/>
        </p:nvSpPr>
        <p:spPr>
          <a:xfrm>
            <a:off x="297180" y="2129155"/>
            <a:ext cx="3566795" cy="34728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随着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额外的资源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</a:t>
            </a:r>
            <a:r>
              <a:rPr lang="zh-CN" altLang="en-US" sz="2400">
                <a:solidFill>
                  <a:srgbClr val="002060"/>
                </a:solidFill>
                <a:highlight>
                  <a:srgbClr val="FFFF00"/>
                </a:highlight>
                <a:latin typeface="微软雅黑" panose="020B0503020204020204" pitchFamily="34" charset="-122"/>
                <a:ea typeface="微软雅黑" panose="020B0503020204020204" pitchFamily="34" charset="-122"/>
              </a:rPr>
              <a:t>改进的技术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经济体可以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生产更多的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电脑和更多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的小麦，或者它们之间的任何组合。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PPF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向右边扩展</a:t>
            </a:r>
            <a:endParaRPr lang="zh-CN" altLang="en-US" sz="240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lang="zh-CN" altLang="en-US" sz="2400" b="1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经济增长和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grpSp>
        <p:nvGrpSpPr>
          <p:cNvPr id="3" name="Group 2"/>
          <p:cNvGrpSpPr/>
          <p:nvPr/>
        </p:nvGrpSpPr>
        <p:grpSpPr bwMode="auto">
          <a:xfrm>
            <a:off x="3981450" y="1487002"/>
            <a:ext cx="5162550" cy="5189538"/>
            <a:chOff x="2394" y="896"/>
            <a:chExt cx="3502" cy="3269"/>
          </a:xfrm>
        </p:grpSpPr>
        <p:graphicFrame>
          <p:nvGraphicFramePr>
            <p:cNvPr id="5" name="Object 3"/>
            <p:cNvGraphicFramePr>
              <a:graphicFrameLocks noChangeAspect="1"/>
            </p:cNvGraphicFramePr>
            <p:nvPr/>
          </p:nvGraphicFramePr>
          <p:xfrm>
            <a:off x="2394" y="896"/>
            <a:ext cx="3502" cy="32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111" name="Worksheet" r:id="rId1" imgW="5443855" imgH="5082540" progId="Excel.Sheet.8">
                    <p:embed/>
                  </p:oleObj>
                </mc:Choice>
                <mc:Fallback>
                  <p:oleObj name="Worksheet" r:id="rId1" imgW="5443855" imgH="5082540" progId="Excel.Sheet.8">
                    <p:embed/>
                    <p:pic>
                      <p:nvPicPr>
                        <p:cNvPr id="0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94" y="896"/>
                          <a:ext cx="3502" cy="326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Line 4"/>
            <p:cNvSpPr>
              <a:spLocks noChangeShapeType="1"/>
            </p:cNvSpPr>
            <p:nvPr/>
          </p:nvSpPr>
          <p:spPr bwMode="auto">
            <a:xfrm>
              <a:off x="3143" y="1868"/>
              <a:ext cx="1847" cy="160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Oval 12"/>
          <p:cNvSpPr>
            <a:spLocks noChangeArrowheads="1"/>
          </p:cNvSpPr>
          <p:nvPr/>
        </p:nvSpPr>
        <p:spPr bwMode="auto">
          <a:xfrm>
            <a:off x="5035366" y="2940890"/>
            <a:ext cx="141287" cy="138113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9" name="Oval 12"/>
          <p:cNvSpPr>
            <a:spLocks noChangeArrowheads="1"/>
          </p:cNvSpPr>
          <p:nvPr/>
        </p:nvSpPr>
        <p:spPr bwMode="auto">
          <a:xfrm>
            <a:off x="7751208" y="5472956"/>
            <a:ext cx="141287" cy="138113"/>
          </a:xfrm>
          <a:prstGeom prst="ellipse">
            <a:avLst/>
          </a:prstGeom>
          <a:solidFill>
            <a:schemeClr val="tx1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grpSp>
        <p:nvGrpSpPr>
          <p:cNvPr id="10" name="Group 16"/>
          <p:cNvGrpSpPr/>
          <p:nvPr/>
        </p:nvGrpSpPr>
        <p:grpSpPr bwMode="auto">
          <a:xfrm>
            <a:off x="5048816" y="2456704"/>
            <a:ext cx="141288" cy="490537"/>
            <a:chOff x="3049" y="1319"/>
            <a:chExt cx="89" cy="309"/>
          </a:xfrm>
        </p:grpSpPr>
        <p:sp>
          <p:nvSpPr>
            <p:cNvPr id="11" name="Oval 10"/>
            <p:cNvSpPr>
              <a:spLocks noChangeArrowheads="1"/>
            </p:cNvSpPr>
            <p:nvPr/>
          </p:nvSpPr>
          <p:spPr bwMode="auto">
            <a:xfrm>
              <a:off x="3049" y="1319"/>
              <a:ext cx="89" cy="87"/>
            </a:xfrm>
            <a:prstGeom prst="ellipse">
              <a:avLst/>
            </a:prstGeom>
            <a:solidFill>
              <a:srgbClr val="FF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12" name="Line 15"/>
            <p:cNvSpPr>
              <a:spLocks noChangeShapeType="1"/>
            </p:cNvSpPr>
            <p:nvPr/>
          </p:nvSpPr>
          <p:spPr bwMode="auto">
            <a:xfrm rot="-5400000">
              <a:off x="2981" y="1514"/>
              <a:ext cx="228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Line 9"/>
          <p:cNvSpPr>
            <a:spLocks noChangeShapeType="1"/>
          </p:cNvSpPr>
          <p:nvPr/>
        </p:nvSpPr>
        <p:spPr bwMode="auto">
          <a:xfrm>
            <a:off x="5119460" y="2512007"/>
            <a:ext cx="3251200" cy="30099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>
            <a:off x="7892495" y="5552687"/>
            <a:ext cx="457200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1"/>
          <p:cNvSpPr>
            <a:spLocks noChangeArrowheads="1"/>
          </p:cNvSpPr>
          <p:nvPr/>
        </p:nvSpPr>
        <p:spPr bwMode="auto">
          <a:xfrm>
            <a:off x="8286158" y="5464133"/>
            <a:ext cx="141288" cy="138113"/>
          </a:xfrm>
          <a:prstGeom prst="ellipse">
            <a:avLst/>
          </a:prstGeom>
          <a:solidFill>
            <a:srgbClr val="FF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的形状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8" y="1234168"/>
            <a:ext cx="8776101" cy="6185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可以是直线形或弓形。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lvl="1" indent="-342900" defTabSz="914400">
              <a:lnSpc>
                <a:spcPct val="150000"/>
              </a:lnSpc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取决于随着经济将资源从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一个行业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转移到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另一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，所引起的机会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成本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变化。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如果机会成本保持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不变，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就是一条直线。（前面的例子中，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台电脑的成本总是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10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吨小麦。）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如果</a:t>
            </a:r>
            <a:r>
              <a:rPr lang="zh-CN" altLang="en-US" sz="2400" noProof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一种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商品的</a:t>
            </a:r>
            <a:r>
              <a:rPr lang="zh-CN" altLang="en-US" sz="240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机会成本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随着该种商品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产量的增加而上升，那么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就是弓形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可能是弓形的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226060" y="1743075"/>
            <a:ext cx="3849370" cy="3132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随着经济转移资源</a:t>
            </a:r>
            <a:b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从啤酒到山地自行车：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变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陡（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highlight>
                  <a:srgbClr val="FFFF00"/>
                </a:highligh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斜率越来越大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），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说明生产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自行车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的机会成本在不断增加。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" name="Group 4"/>
          <p:cNvGrpSpPr/>
          <p:nvPr/>
        </p:nvGrpSpPr>
        <p:grpSpPr bwMode="auto">
          <a:xfrm>
            <a:off x="3702050" y="1438275"/>
            <a:ext cx="4719638" cy="4492626"/>
            <a:chOff x="2332" y="906"/>
            <a:chExt cx="2973" cy="2830"/>
          </a:xfrm>
        </p:grpSpPr>
        <p:grpSp>
          <p:nvGrpSpPr>
            <p:cNvPr id="4" name="Group 5"/>
            <p:cNvGrpSpPr/>
            <p:nvPr/>
          </p:nvGrpSpPr>
          <p:grpSpPr bwMode="auto">
            <a:xfrm>
              <a:off x="2675" y="919"/>
              <a:ext cx="2593" cy="2491"/>
              <a:chOff x="2462" y="910"/>
              <a:chExt cx="2871" cy="2379"/>
            </a:xfrm>
          </p:grpSpPr>
          <p:sp>
            <p:nvSpPr>
              <p:cNvPr id="8" name="Line 6"/>
              <p:cNvSpPr>
                <a:spLocks noChangeShapeType="1"/>
              </p:cNvSpPr>
              <p:nvPr/>
            </p:nvSpPr>
            <p:spPr bwMode="auto">
              <a:xfrm>
                <a:off x="2462" y="910"/>
                <a:ext cx="0" cy="23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9" name="Line 7"/>
              <p:cNvSpPr>
                <a:spLocks noChangeShapeType="1"/>
              </p:cNvSpPr>
              <p:nvPr/>
            </p:nvSpPr>
            <p:spPr bwMode="auto">
              <a:xfrm>
                <a:off x="2462" y="3289"/>
                <a:ext cx="287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</p:spPr>
            <p:txBody>
              <a:bodyPr/>
              <a:lstStyle/>
              <a:p>
                <a:endParaRPr lang="en-US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" name="Text Box 8"/>
            <p:cNvSpPr txBox="1">
              <a:spLocks noChangeArrowheads="1"/>
            </p:cNvSpPr>
            <p:nvPr/>
          </p:nvSpPr>
          <p:spPr bwMode="auto">
            <a:xfrm>
              <a:off x="4039" y="3395"/>
              <a:ext cx="1266" cy="291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>
                  <a:latin typeface="Arial" panose="020B0604020202020204" pitchFamily="34" charset="0"/>
                  <a:cs typeface="Arial" panose="020B0604020202020204" pitchFamily="34" charset="0"/>
                </a:rPr>
                <a:t>山地自行车</a:t>
              </a:r>
              <a:endParaRPr lang="en-US" sz="2400" b="1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 Box 9"/>
            <p:cNvSpPr txBox="1">
              <a:spLocks noChangeArrowheads="1"/>
            </p:cNvSpPr>
            <p:nvPr/>
          </p:nvSpPr>
          <p:spPr bwMode="auto">
            <a:xfrm rot="-5400000">
              <a:off x="2020" y="1218"/>
              <a:ext cx="911" cy="288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>
              <a:spAutoFit/>
            </a:bodyPr>
            <a:lstStyle/>
            <a:p>
              <a:pPr algn="r">
                <a:spcBef>
                  <a:spcPct val="50000"/>
                </a:spcBef>
              </a:pPr>
              <a:r>
                <a:rPr lang="en-US" sz="2400" b="1" dirty="0">
                  <a:latin typeface="Arial" panose="020B0604020202020204" pitchFamily="34" charset="0"/>
                  <a:cs typeface="Arial" panose="020B0604020202020204" pitchFamily="34" charset="0"/>
                </a:rPr>
                <a:t>啤酒</a:t>
              </a:r>
              <a:endParaRPr lang="en-US" sz="240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Arc 10"/>
            <p:cNvSpPr/>
            <p:nvPr/>
          </p:nvSpPr>
          <p:spPr bwMode="auto">
            <a:xfrm>
              <a:off x="2525" y="1250"/>
              <a:ext cx="2273" cy="2486"/>
            </a:xfrm>
            <a:custGeom>
              <a:avLst/>
              <a:gdLst>
                <a:gd name="T0" fmla="*/ 0 w 21415"/>
                <a:gd name="T1" fmla="*/ 0 h 21559"/>
                <a:gd name="T2" fmla="*/ 0 w 21415"/>
                <a:gd name="T3" fmla="*/ 0 h 21559"/>
                <a:gd name="T4" fmla="*/ 0 w 21415"/>
                <a:gd name="T5" fmla="*/ 0 h 21559"/>
                <a:gd name="T6" fmla="*/ 0 60000 65536"/>
                <a:gd name="T7" fmla="*/ 0 60000 65536"/>
                <a:gd name="T8" fmla="*/ 0 60000 65536"/>
                <a:gd name="T9" fmla="*/ 0 w 21415"/>
                <a:gd name="T10" fmla="*/ 0 h 21559"/>
                <a:gd name="T11" fmla="*/ 21415 w 21415"/>
                <a:gd name="T12" fmla="*/ 21559 h 215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415" h="21559" fill="none" extrusionOk="0">
                  <a:moveTo>
                    <a:pt x="1324" y="-1"/>
                  </a:moveTo>
                  <a:cubicBezTo>
                    <a:pt x="11642" y="633"/>
                    <a:pt x="20064" y="8488"/>
                    <a:pt x="21414" y="18738"/>
                  </a:cubicBezTo>
                </a:path>
                <a:path w="21415" h="21559" stroke="0" extrusionOk="0">
                  <a:moveTo>
                    <a:pt x="1324" y="-1"/>
                  </a:moveTo>
                  <a:cubicBezTo>
                    <a:pt x="11642" y="633"/>
                    <a:pt x="20064" y="8488"/>
                    <a:pt x="21414" y="18738"/>
                  </a:cubicBezTo>
                  <a:lnTo>
                    <a:pt x="0" y="21559"/>
                  </a:lnTo>
                  <a:close/>
                </a:path>
              </a:pathLst>
            </a:custGeom>
            <a:noFill/>
            <a:ln w="38100">
              <a:solidFill>
                <a:srgbClr val="003366"/>
              </a:solidFill>
              <a:round/>
            </a:ln>
          </p:spPr>
          <p:txBody>
            <a:bodyPr wrap="none" anchor="ctr"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0" name="Arc 12"/>
          <p:cNvSpPr/>
          <p:nvPr/>
        </p:nvSpPr>
        <p:spPr bwMode="auto">
          <a:xfrm>
            <a:off x="4075113" y="1941513"/>
            <a:ext cx="3556000" cy="3908425"/>
          </a:xfrm>
          <a:custGeom>
            <a:avLst/>
            <a:gdLst>
              <a:gd name="T0" fmla="*/ 0 w 20462"/>
              <a:gd name="T1" fmla="*/ 0 h 21118"/>
              <a:gd name="T2" fmla="*/ 0 w 20462"/>
              <a:gd name="T3" fmla="*/ 0 h 21118"/>
              <a:gd name="T4" fmla="*/ 0 w 20462"/>
              <a:gd name="T5" fmla="*/ 0 h 21118"/>
              <a:gd name="T6" fmla="*/ 0 60000 65536"/>
              <a:gd name="T7" fmla="*/ 0 60000 65536"/>
              <a:gd name="T8" fmla="*/ 0 60000 65536"/>
              <a:gd name="T9" fmla="*/ 0 w 20462"/>
              <a:gd name="T10" fmla="*/ 0 h 21118"/>
              <a:gd name="T11" fmla="*/ 20462 w 20462"/>
              <a:gd name="T12" fmla="*/ 21118 h 211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462" h="21118" fill="none" extrusionOk="0">
                <a:moveTo>
                  <a:pt x="4536" y="-1"/>
                </a:moveTo>
                <a:cubicBezTo>
                  <a:pt x="11975" y="1597"/>
                  <a:pt x="18024" y="6991"/>
                  <a:pt x="20461" y="14199"/>
                </a:cubicBezTo>
              </a:path>
              <a:path w="20462" h="21118" stroke="0" extrusionOk="0">
                <a:moveTo>
                  <a:pt x="4536" y="-1"/>
                </a:moveTo>
                <a:cubicBezTo>
                  <a:pt x="11975" y="1597"/>
                  <a:pt x="18024" y="6991"/>
                  <a:pt x="20461" y="14199"/>
                </a:cubicBezTo>
                <a:lnTo>
                  <a:pt x="0" y="21118"/>
                </a:lnTo>
                <a:close/>
              </a:path>
            </a:pathLst>
          </a:custGeom>
          <a:noFill/>
          <a:ln w="38100">
            <a:solidFill>
              <a:srgbClr val="CC0000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Line 13"/>
          <p:cNvSpPr>
            <a:spLocks noChangeShapeType="1"/>
          </p:cNvSpPr>
          <p:nvPr/>
        </p:nvSpPr>
        <p:spPr bwMode="auto">
          <a:xfrm rot="1980000">
            <a:off x="5996064" y="2472802"/>
            <a:ext cx="185450" cy="0"/>
          </a:xfrm>
          <a:prstGeom prst="line">
            <a:avLst/>
          </a:prstGeom>
          <a:noFill/>
          <a:ln w="44450">
            <a:solidFill>
              <a:srgbClr val="CC0000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2" name="Line 14"/>
          <p:cNvSpPr>
            <a:spLocks noChangeShapeType="1"/>
          </p:cNvSpPr>
          <p:nvPr/>
        </p:nvSpPr>
        <p:spPr bwMode="auto">
          <a:xfrm rot="3300000">
            <a:off x="6938277" y="3389316"/>
            <a:ext cx="192612" cy="0"/>
          </a:xfrm>
          <a:prstGeom prst="line">
            <a:avLst/>
          </a:prstGeom>
          <a:noFill/>
          <a:ln w="44450">
            <a:solidFill>
              <a:srgbClr val="CC0000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e 15"/>
          <p:cNvSpPr>
            <a:spLocks noChangeShapeType="1"/>
          </p:cNvSpPr>
          <p:nvPr/>
        </p:nvSpPr>
        <p:spPr bwMode="auto">
          <a:xfrm rot="4260000">
            <a:off x="7516262" y="4511282"/>
            <a:ext cx="192612" cy="0"/>
          </a:xfrm>
          <a:prstGeom prst="line">
            <a:avLst/>
          </a:prstGeom>
          <a:noFill/>
          <a:ln w="44450">
            <a:solidFill>
              <a:srgbClr val="CC0000"/>
            </a:solidFill>
            <a:round/>
            <a:tailEnd type="triangle" w="lg" len="lg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可能是弓形的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11727" y="1671736"/>
            <a:ext cx="3584864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处，大多数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工人生产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啤酒，甚至包括那些</a:t>
            </a:r>
            <a:b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更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适合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生产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自行车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的工人。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所以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en-US" sz="240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只要放弃少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生产一丁点啤酒，就可以换来多生产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辆自行车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1" name="Text Box 2"/>
          <p:cNvSpPr txBox="1">
            <a:spLocks noChangeArrowheads="1"/>
          </p:cNvSpPr>
          <p:nvPr/>
        </p:nvSpPr>
        <p:spPr bwMode="auto">
          <a:xfrm>
            <a:off x="4835525" y="1851203"/>
            <a:ext cx="3794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2" name="Group 5"/>
          <p:cNvGrpSpPr/>
          <p:nvPr/>
        </p:nvGrpSpPr>
        <p:grpSpPr bwMode="auto">
          <a:xfrm>
            <a:off x="4570413" y="1762303"/>
            <a:ext cx="4116387" cy="3954462"/>
            <a:chOff x="2462" y="910"/>
            <a:chExt cx="2871" cy="2379"/>
          </a:xfrm>
        </p:grpSpPr>
        <p:sp>
          <p:nvSpPr>
            <p:cNvPr id="33" name="Line 6"/>
            <p:cNvSpPr>
              <a:spLocks noChangeShapeType="1"/>
            </p:cNvSpPr>
            <p:nvPr/>
          </p:nvSpPr>
          <p:spPr bwMode="auto">
            <a:xfrm>
              <a:off x="2462" y="910"/>
              <a:ext cx="0" cy="23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2462" y="3289"/>
              <a:ext cx="2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 Box 9"/>
          <p:cNvSpPr txBox="1">
            <a:spLocks noChangeArrowheads="1"/>
          </p:cNvSpPr>
          <p:nvPr/>
        </p:nvSpPr>
        <p:spPr bwMode="auto">
          <a:xfrm rot="-5400000">
            <a:off x="3531393" y="2236172"/>
            <a:ext cx="1446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啤酒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rc 10"/>
          <p:cNvSpPr/>
          <p:nvPr/>
        </p:nvSpPr>
        <p:spPr bwMode="auto">
          <a:xfrm>
            <a:off x="4332288" y="2287765"/>
            <a:ext cx="3608387" cy="3946525"/>
          </a:xfrm>
          <a:custGeom>
            <a:avLst/>
            <a:gdLst>
              <a:gd name="T0" fmla="*/ 2147483647 w 21415"/>
              <a:gd name="T1" fmla="*/ 0 h 21559"/>
              <a:gd name="T2" fmla="*/ 2147483647 w 21415"/>
              <a:gd name="T3" fmla="*/ 2147483647 h 21559"/>
              <a:gd name="T4" fmla="*/ 0 w 21415"/>
              <a:gd name="T5" fmla="*/ 2147483647 h 21559"/>
              <a:gd name="T6" fmla="*/ 0 60000 65536"/>
              <a:gd name="T7" fmla="*/ 0 60000 65536"/>
              <a:gd name="T8" fmla="*/ 0 60000 65536"/>
              <a:gd name="T9" fmla="*/ 0 w 21415"/>
              <a:gd name="T10" fmla="*/ 0 h 21559"/>
              <a:gd name="T11" fmla="*/ 21415 w 21415"/>
              <a:gd name="T12" fmla="*/ 21559 h 215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15" h="21559" fill="none" extrusionOk="0">
                <a:moveTo>
                  <a:pt x="1324" y="-1"/>
                </a:moveTo>
                <a:cubicBezTo>
                  <a:pt x="11642" y="633"/>
                  <a:pt x="20064" y="8488"/>
                  <a:pt x="21414" y="18738"/>
                </a:cubicBezTo>
              </a:path>
              <a:path w="21415" h="21559" stroke="0" extrusionOk="0">
                <a:moveTo>
                  <a:pt x="1324" y="-1"/>
                </a:moveTo>
                <a:cubicBezTo>
                  <a:pt x="11642" y="633"/>
                  <a:pt x="20064" y="8488"/>
                  <a:pt x="21414" y="18738"/>
                </a:cubicBezTo>
                <a:lnTo>
                  <a:pt x="0" y="21559"/>
                </a:lnTo>
                <a:close/>
              </a:path>
            </a:pathLst>
          </a:custGeom>
          <a:noFill/>
          <a:ln w="38100">
            <a:solidFill>
              <a:srgbClr val="003366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Oval 11"/>
          <p:cNvSpPr>
            <a:spLocks noChangeArrowheads="1"/>
          </p:cNvSpPr>
          <p:nvPr/>
        </p:nvSpPr>
        <p:spPr bwMode="auto">
          <a:xfrm>
            <a:off x="4951413" y="2284590"/>
            <a:ext cx="141287" cy="138113"/>
          </a:xfrm>
          <a:prstGeom prst="ellipse">
            <a:avLst/>
          </a:prstGeom>
          <a:solidFill>
            <a:srgbClr val="CC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38" name="Line 13"/>
          <p:cNvSpPr>
            <a:spLocks noChangeShapeType="1"/>
          </p:cNvSpPr>
          <p:nvPr/>
        </p:nvSpPr>
        <p:spPr bwMode="auto">
          <a:xfrm>
            <a:off x="5091113" y="2349678"/>
            <a:ext cx="669925" cy="0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39" name="Group 14"/>
          <p:cNvGrpSpPr/>
          <p:nvPr/>
        </p:nvGrpSpPr>
        <p:grpSpPr bwMode="auto">
          <a:xfrm>
            <a:off x="5665788" y="2343328"/>
            <a:ext cx="141287" cy="333375"/>
            <a:chOff x="3365" y="1285"/>
            <a:chExt cx="89" cy="210"/>
          </a:xfrm>
        </p:grpSpPr>
        <p:sp>
          <p:nvSpPr>
            <p:cNvPr id="40" name="Oval 15"/>
            <p:cNvSpPr>
              <a:spLocks noChangeArrowheads="1"/>
            </p:cNvSpPr>
            <p:nvPr/>
          </p:nvSpPr>
          <p:spPr bwMode="auto">
            <a:xfrm>
              <a:off x="3365" y="1408"/>
              <a:ext cx="89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41" name="Line 16"/>
            <p:cNvSpPr>
              <a:spLocks noChangeShapeType="1"/>
            </p:cNvSpPr>
            <p:nvPr/>
          </p:nvSpPr>
          <p:spPr bwMode="auto">
            <a:xfrm>
              <a:off x="3407" y="1285"/>
              <a:ext cx="1" cy="167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2" name="Text Box 17"/>
          <p:cNvSpPr txBox="1">
            <a:spLocks noChangeArrowheads="1"/>
          </p:cNvSpPr>
          <p:nvPr/>
        </p:nvSpPr>
        <p:spPr bwMode="auto">
          <a:xfrm>
            <a:off x="6148388" y="1540053"/>
            <a:ext cx="2714625" cy="860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A，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生产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自行车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的机会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成本很低</a:t>
            </a:r>
            <a:r>
              <a:rPr lang="zh-CN" alt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。</a:t>
            </a:r>
            <a:endParaRPr lang="en-US" sz="25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6786880" y="5768975"/>
            <a:ext cx="189992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山地自行车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可能是弓形的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31469" y="1654906"/>
            <a:ext cx="372098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处，大多数工人都在生产自行车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。留在啤酒行业的都是最好的啤酒生产工人。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生产更多的自行车需要将一些最好的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酿酒工人从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啤酒生产中转移出来，导致啤酒产量大幅下降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32" name="Group 5"/>
          <p:cNvGrpSpPr/>
          <p:nvPr/>
        </p:nvGrpSpPr>
        <p:grpSpPr bwMode="auto">
          <a:xfrm>
            <a:off x="4570413" y="1762303"/>
            <a:ext cx="4116387" cy="3954462"/>
            <a:chOff x="2462" y="910"/>
            <a:chExt cx="2871" cy="2379"/>
          </a:xfrm>
        </p:grpSpPr>
        <p:sp>
          <p:nvSpPr>
            <p:cNvPr id="33" name="Line 6"/>
            <p:cNvSpPr>
              <a:spLocks noChangeShapeType="1"/>
            </p:cNvSpPr>
            <p:nvPr/>
          </p:nvSpPr>
          <p:spPr bwMode="auto">
            <a:xfrm>
              <a:off x="2462" y="910"/>
              <a:ext cx="0" cy="237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2462" y="3289"/>
              <a:ext cx="28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 Box 9"/>
          <p:cNvSpPr txBox="1">
            <a:spLocks noChangeArrowheads="1"/>
          </p:cNvSpPr>
          <p:nvPr/>
        </p:nvSpPr>
        <p:spPr bwMode="auto">
          <a:xfrm rot="-5400000">
            <a:off x="3647377" y="2477293"/>
            <a:ext cx="1446213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啤酒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Arc 10"/>
          <p:cNvSpPr/>
          <p:nvPr/>
        </p:nvSpPr>
        <p:spPr bwMode="auto">
          <a:xfrm>
            <a:off x="4332288" y="2287765"/>
            <a:ext cx="3608387" cy="3946525"/>
          </a:xfrm>
          <a:custGeom>
            <a:avLst/>
            <a:gdLst>
              <a:gd name="T0" fmla="*/ 2147483647 w 21415"/>
              <a:gd name="T1" fmla="*/ 0 h 21559"/>
              <a:gd name="T2" fmla="*/ 2147483647 w 21415"/>
              <a:gd name="T3" fmla="*/ 2147483647 h 21559"/>
              <a:gd name="T4" fmla="*/ 0 w 21415"/>
              <a:gd name="T5" fmla="*/ 2147483647 h 21559"/>
              <a:gd name="T6" fmla="*/ 0 60000 65536"/>
              <a:gd name="T7" fmla="*/ 0 60000 65536"/>
              <a:gd name="T8" fmla="*/ 0 60000 65536"/>
              <a:gd name="T9" fmla="*/ 0 w 21415"/>
              <a:gd name="T10" fmla="*/ 0 h 21559"/>
              <a:gd name="T11" fmla="*/ 21415 w 21415"/>
              <a:gd name="T12" fmla="*/ 21559 h 2155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415" h="21559" fill="none" extrusionOk="0">
                <a:moveTo>
                  <a:pt x="1324" y="-1"/>
                </a:moveTo>
                <a:cubicBezTo>
                  <a:pt x="11642" y="633"/>
                  <a:pt x="20064" y="8488"/>
                  <a:pt x="21414" y="18738"/>
                </a:cubicBezTo>
              </a:path>
              <a:path w="21415" h="21559" stroke="0" extrusionOk="0">
                <a:moveTo>
                  <a:pt x="1324" y="-1"/>
                </a:moveTo>
                <a:cubicBezTo>
                  <a:pt x="11642" y="633"/>
                  <a:pt x="20064" y="8488"/>
                  <a:pt x="21414" y="18738"/>
                </a:cubicBezTo>
                <a:lnTo>
                  <a:pt x="0" y="21559"/>
                </a:lnTo>
                <a:close/>
              </a:path>
            </a:pathLst>
          </a:custGeom>
          <a:noFill/>
          <a:ln w="38100">
            <a:solidFill>
              <a:srgbClr val="003366"/>
            </a:solidFill>
            <a:rou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" name="Text Box 8"/>
          <p:cNvSpPr txBox="1">
            <a:spLocks noChangeArrowheads="1"/>
          </p:cNvSpPr>
          <p:nvPr/>
        </p:nvSpPr>
        <p:spPr bwMode="auto">
          <a:xfrm>
            <a:off x="6573520" y="5768975"/>
            <a:ext cx="2113280" cy="4603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山地自行车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7307263" y="3709670"/>
            <a:ext cx="379412" cy="457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 anchorCtr="1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Oval 11"/>
          <p:cNvSpPr>
            <a:spLocks noChangeArrowheads="1"/>
          </p:cNvSpPr>
          <p:nvPr/>
        </p:nvSpPr>
        <p:spPr bwMode="auto">
          <a:xfrm>
            <a:off x="7323138" y="4104957"/>
            <a:ext cx="141287" cy="138113"/>
          </a:xfrm>
          <a:prstGeom prst="ellipse">
            <a:avLst/>
          </a:prstGeom>
          <a:solidFill>
            <a:srgbClr val="CC0000"/>
          </a:solidFill>
          <a:ln w="9525">
            <a:noFill/>
            <a:round/>
          </a:ln>
        </p:spPr>
        <p:txBody>
          <a:bodyPr wrap="none" anchor="ctr"/>
          <a:lstStyle/>
          <a:p>
            <a:endParaRPr lang="en-US">
              <a:cs typeface="Arial" panose="020B0604020202020204" pitchFamily="34" charset="0"/>
            </a:endParaRPr>
          </a:p>
        </p:txBody>
      </p:sp>
      <p:sp>
        <p:nvSpPr>
          <p:cNvPr id="5" name="Line 13"/>
          <p:cNvSpPr>
            <a:spLocks noChangeShapeType="1"/>
          </p:cNvSpPr>
          <p:nvPr/>
        </p:nvSpPr>
        <p:spPr bwMode="auto">
          <a:xfrm flipV="1">
            <a:off x="7435850" y="4166870"/>
            <a:ext cx="473862" cy="3175"/>
          </a:xfrm>
          <a:prstGeom prst="line">
            <a:avLst/>
          </a:prstGeom>
          <a:noFill/>
          <a:ln w="38100">
            <a:solidFill>
              <a:srgbClr val="00CC00"/>
            </a:solidFill>
            <a:rou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6" name="Group 14"/>
          <p:cNvGrpSpPr/>
          <p:nvPr/>
        </p:nvGrpSpPr>
        <p:grpSpPr bwMode="auto">
          <a:xfrm>
            <a:off x="7838281" y="4189962"/>
            <a:ext cx="141288" cy="1182688"/>
            <a:chOff x="4648" y="2212"/>
            <a:chExt cx="89" cy="745"/>
          </a:xfrm>
        </p:grpSpPr>
        <p:sp>
          <p:nvSpPr>
            <p:cNvPr id="7" name="Oval 15"/>
            <p:cNvSpPr>
              <a:spLocks noChangeArrowheads="1"/>
            </p:cNvSpPr>
            <p:nvPr/>
          </p:nvSpPr>
          <p:spPr bwMode="auto">
            <a:xfrm>
              <a:off x="4648" y="2870"/>
              <a:ext cx="89" cy="87"/>
            </a:xfrm>
            <a:prstGeom prst="ellipse">
              <a:avLst/>
            </a:prstGeom>
            <a:solidFill>
              <a:srgbClr val="CC0000"/>
            </a:solidFill>
            <a:ln w="9525">
              <a:noFill/>
              <a:round/>
            </a:ln>
          </p:spPr>
          <p:txBody>
            <a:bodyPr wrap="none" anchor="ctr"/>
            <a:lstStyle/>
            <a:p>
              <a:endParaRPr lang="en-US">
                <a:cs typeface="Arial" panose="020B0604020202020204" pitchFamily="34" charset="0"/>
              </a:endParaRPr>
            </a:p>
          </p:txBody>
        </p:sp>
        <p:sp>
          <p:nvSpPr>
            <p:cNvPr id="8" name="Line 16"/>
            <p:cNvSpPr>
              <a:spLocks noChangeShapeType="1"/>
            </p:cNvSpPr>
            <p:nvPr/>
          </p:nvSpPr>
          <p:spPr bwMode="auto">
            <a:xfrm flipH="1">
              <a:off x="4693" y="2212"/>
              <a:ext cx="0" cy="662"/>
            </a:xfrm>
            <a:prstGeom prst="line">
              <a:avLst/>
            </a:prstGeom>
            <a:noFill/>
            <a:ln w="38100">
              <a:solidFill>
                <a:srgbClr val="00CC00"/>
              </a:solidFill>
              <a:rou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Box 17"/>
          <p:cNvSpPr txBox="1">
            <a:spLocks noChangeArrowheads="1"/>
          </p:cNvSpPr>
          <p:nvPr/>
        </p:nvSpPr>
        <p:spPr bwMode="auto">
          <a:xfrm>
            <a:off x="6696796" y="1711775"/>
            <a:ext cx="2359025" cy="860425"/>
          </a:xfrm>
          <a:prstGeom prst="rect">
            <a:avLst/>
          </a:prstGeom>
          <a:solidFill>
            <a:srgbClr val="FFFFCC"/>
          </a:solidFill>
          <a:ln w="9525">
            <a:noFill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25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</a:t>
            </a:r>
            <a:r>
              <a:rPr lang="en-US" sz="25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B，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自行车的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机会</a:t>
            </a:r>
            <a:r>
              <a:rPr 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成本</a:t>
            </a:r>
            <a:r>
              <a:rPr lang="zh-CN" altLang="en-US" sz="2500" smtClean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很高</a:t>
            </a:r>
            <a:r>
              <a:rPr lang="en-US" sz="2500" dirty="0">
                <a:latin typeface="Arial Unicode MS" panose="020B0604020202020204" charset="-122"/>
                <a:ea typeface="Arial Unicode MS" panose="020B0604020202020204" charset="-122"/>
                <a:cs typeface="Arial Unicode MS" panose="020B0604020202020204" charset="-122"/>
              </a:rPr>
              <a:t>。</a:t>
            </a:r>
            <a:endParaRPr lang="en-US" sz="2500" dirty="0">
              <a:latin typeface="Arial Unicode MS" panose="020B0604020202020204" charset="-122"/>
              <a:ea typeface="Arial Unicode MS" panose="020B0604020202020204" charset="-122"/>
              <a:cs typeface="Arial Unicode MS" panose="020B0604020202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 bldLvl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为什么</a:t>
            </a:r>
            <a:r>
              <a:rPr lang="en-US" altLang="zh-CN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可能是弓形的</a:t>
            </a:r>
            <a:endParaRPr lang="zh-CN" altLang="en-US" sz="320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8" y="1720578"/>
            <a:ext cx="8776101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由于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不同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的工人有不同的技能，生产一种商品的机会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成本也是不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同的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，因此</a:t>
            </a: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是弓形的。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当存在其他资源或具有不同机会成本的资源组合时，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也是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弓形的。（例如，不同类型的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土地适合不同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类型的用途）。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en-US" altLang="zh-CN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PPF</a:t>
            </a:r>
            <a:r>
              <a:rPr lang="zh-CN" altLang="en-US" sz="3200">
                <a:solidFill>
                  <a:srgbClr val="FF0000"/>
                </a:solidFill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>
              <a:solidFill>
                <a:srgbClr val="FF0000"/>
              </a:solidFill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8" y="1234168"/>
            <a:ext cx="877610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显示了一个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经济体在给定资源和技术下，可能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生产的两种商品的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所有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组合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en-US" altLang="zh-CN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lang="zh-CN" altLang="en-US" sz="2400" noProof="0" smtClean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也很好地说明了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权衡取舍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和机会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成本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效率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低效率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、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失业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增长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这些概念。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457200" marR="0" lvl="0" indent="-4572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ea"/>
              <a:buAutoNum type="circleNumDbPlain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弓形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PPF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也说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明了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机会成本递增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概念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微观经济学与宏观经济学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8" y="1234168"/>
            <a:ext cx="8776101" cy="56311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微观经济学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是研究家庭和企业如何做出决策以及它们在市场中如何互动的学科。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宏观经济学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是对整个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经济体的现象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的研究，包括通货膨胀、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失业、经济增长、国际收支等四个方面。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这两个经济学分支紧密地交织在一起，但又截然不同</a:t>
            </a: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它们研究不同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的问题。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作为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政策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顾问</a:t>
            </a:r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的</a:t>
            </a:r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经济学家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9" y="1317881"/>
            <a:ext cx="877610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作为科学家，经济学家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实证表述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试图描述世界的现状。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作为政策顾问，经济学家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规范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表述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，试图规定世界应该如何。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实证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表述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可以被证实或反驳，规范表述不能。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政府聘请了许多经济学家提供政策建议。例如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，中国人民银行有一个货币政策委员会，美国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总统有一个经济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顾问委员会。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练习题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9" y="1317881"/>
            <a:ext cx="8776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这些陈述中哪些是“实证的”，哪些是“规范的”？你怎么能分辨出区别？</a:t>
            </a:r>
            <a:endParaRPr kumimoji="0" lang="zh-CN" altLang="en-US" sz="2400" b="1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当政府增加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货币供给时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，价格就会上涨。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政府应该少印钞票。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需要减税来刺激经济。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d.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大米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的上涨将导致消费者对音乐下载的需求增加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smtClean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练习题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9" y="1317881"/>
            <a:ext cx="8776101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kumimoji="0" lang="zh-CN" altLang="en-US" sz="2400" b="1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当政府增加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货币</a:t>
            </a:r>
            <a:r>
              <a:rPr lang="zh-CN" altLang="en-US" sz="2400" noProof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供给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时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，价格就会上涨。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描述一种关系，可以使用数据来证实或反驳。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b.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政府应该少印钞票。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规范</a:t>
            </a: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这是一种价值判断，无法证实或反驳。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 dirty="0">
                <a:latin typeface="华光中雅_CNKI" panose="02000500000000000000" pitchFamily="2" charset="-122"/>
                <a:ea typeface="华光中雅_CNKI" panose="02000500000000000000" pitchFamily="2" charset="-122"/>
              </a:rPr>
              <a:t>练习题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9" y="1317881"/>
            <a:ext cx="877610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答案</a:t>
            </a:r>
            <a:endParaRPr kumimoji="0" lang="zh-CN" altLang="en-US" sz="2400" b="1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c.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需要减税来刺激经济。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规范</a:t>
            </a:r>
            <a:r>
              <a:rPr kumimoji="0" lang="en-US" altLang="zh-CN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——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另一种价值判断。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kumimoji="0" lang="en-US" altLang="zh-CN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d.</a:t>
            </a:r>
            <a:r>
              <a:rPr lang="zh-CN" altLang="en-US" sz="2400" noProof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大米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的上涨将导致消费者对音乐下载的需求增加。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defRPr/>
            </a:pPr>
            <a:r>
              <a:rPr lang="zh-CN" altLang="en-US" sz="240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实证</a:t>
            </a:r>
            <a:r>
              <a:rPr lang="en-US" altLang="zh-CN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描述一种关系。</a:t>
            </a:r>
            <a:b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</a:b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请注意，一个陈述不一定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</a:t>
            </a:r>
            <a:r>
              <a:rPr lang="zh-CN" altLang="en-US" sz="2400" noProof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正确的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才是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“实证的”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02231" y="6128184"/>
            <a:ext cx="2658008" cy="556591"/>
          </a:xfrm>
          <a:prstGeom prst="rect">
            <a:avLst/>
          </a:prstGeom>
          <a:solidFill>
            <a:srgbClr val="B1C1E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经济学家为什么意见不一致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  <p:sp>
        <p:nvSpPr>
          <p:cNvPr id="19" name="TextBox 15"/>
          <p:cNvSpPr txBox="1"/>
          <p:nvPr/>
        </p:nvSpPr>
        <p:spPr>
          <a:xfrm>
            <a:off x="367899" y="1317881"/>
            <a:ext cx="8776101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经济学家经常给出相互矛盾的政策建议。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他们有时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对某个经济理论的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有效性意见不一。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他们可能有不同的价值观，因此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对一项政策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应该努力实现的目标有不同的规范性的观点。</a:t>
            </a:r>
            <a:endParaRPr kumimoji="0" lang="zh-CN" altLang="en-US" sz="240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然而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，也有很多经济观点是大多数</a:t>
            </a:r>
            <a:r>
              <a:rPr kumimoji="0" lang="zh-CN" altLang="en-US" sz="240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经济学家</a:t>
            </a:r>
            <a:r>
              <a:rPr kumimoji="0" lang="zh-CN" altLang="en-US" sz="240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都意见一致的。</a:t>
            </a: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15"/>
          <p:cNvSpPr txBox="1"/>
          <p:nvPr/>
        </p:nvSpPr>
        <p:spPr>
          <a:xfrm>
            <a:off x="395536" y="1556792"/>
            <a:ext cx="806489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作为科学家，经济学家试图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用基于适当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假设的模型来解释世界。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两个简单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的经济学模型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是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循环流量图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和生产可能性</a:t>
            </a:r>
            <a:r>
              <a:rPr lang="zh-CN" altLang="en-US" sz="240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边界</a:t>
            </a: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微观经济学研究消费者和企业的行为，以及它们在市场中的相互作用。宏观经济学研究</a:t>
            </a:r>
            <a:r>
              <a:rPr kumimoji="0" lang="zh-CN" altLang="en-US" sz="2400" i="0" u="none" strike="noStrike" kern="1200" cap="none" spc="0" normalizeH="0" baseline="0" noProof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整个经济体。</a:t>
            </a:r>
            <a:endParaRPr kumimoji="0" lang="zh-CN" altLang="en-US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240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作为政策顾问，经济学家就如何改善世界提供建议。</a:t>
            </a:r>
            <a:endParaRPr kumimoji="0" lang="en-US" altLang="zh-CN" sz="240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Autofit/>
          </a:bodyPr>
          <a:lstStyle/>
          <a:p>
            <a:r>
              <a:rPr lang="zh-CN" altLang="en-US" sz="3200">
                <a:latin typeface="华光中雅_CNKI" panose="02000500000000000000" pitchFamily="2" charset="-122"/>
                <a:ea typeface="华光中雅_CNKI" panose="02000500000000000000" pitchFamily="2" charset="-122"/>
              </a:rPr>
              <a:t>总结</a:t>
            </a:r>
            <a:endParaRPr lang="zh-CN" altLang="en-US" sz="3200" dirty="0">
              <a:latin typeface="华光中雅_CNKI" panose="02000500000000000000" pitchFamily="2" charset="-122"/>
              <a:ea typeface="华光中雅_CNKI" panose="02000500000000000000" pitchFamily="2" charset="-122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logo-VI系统0709-PPT-24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871" y="-31802"/>
            <a:ext cx="9143129" cy="6858000"/>
          </a:xfrm>
          <a:prstGeom prst="rect">
            <a:avLst/>
          </a:prstGeom>
        </p:spPr>
      </p:pic>
      <p:pic>
        <p:nvPicPr>
          <p:cNvPr id="5" name="图片 4" descr="logo-VI系统0630-PPT-09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42910" y="571480"/>
            <a:ext cx="2714644" cy="52342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67544" y="5218459"/>
            <a:ext cx="3957391" cy="830997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哈尔滨工业大学（</a:t>
            </a: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深圳）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经济管理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学院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67544" y="6055687"/>
            <a:ext cx="2736304" cy="461665"/>
          </a:xfrm>
          <a:prstGeom prst="rect">
            <a:avLst/>
          </a:prstGeom>
          <a:noFill/>
        </p:spPr>
        <p:txBody>
          <a:bodyPr wrap="square" rtlCol="0" anchor="b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9D7B55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THE HITSZ SCHOOL OF ECONOMICS AND MANAGEMENT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9D7B55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029861" y="1506771"/>
            <a:ext cx="44935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《</a:t>
            </a:r>
            <a:r>
              <a:rPr kumimoji="0" lang="zh-CN" altLang="en-US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经济学原理</a:t>
            </a:r>
            <a:r>
              <a:rPr kumimoji="0" lang="en-US" altLang="zh-CN" sz="4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》</a:t>
            </a:r>
            <a:endParaRPr kumimoji="0" lang="zh-CN" altLang="en-US" sz="4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04819" y="3253754"/>
            <a:ext cx="80666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4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光中雅_CNKI" panose="02000500000000000000" pitchFamily="2" charset="-122"/>
                <a:ea typeface="华光中雅_CNKI" panose="02000500000000000000" pitchFamily="2" charset="-122"/>
                <a:cs typeface="+mn-cs"/>
              </a:rPr>
              <a:t>下一章：相互依存性与贸易的好处</a:t>
            </a:r>
            <a:endParaRPr kumimoji="0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华光中雅_CNKI" panose="02000500000000000000" pitchFamily="2" charset="-122"/>
              <a:ea typeface="华光中雅_CNKI" panose="02000500000000000000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PP_MARK_KEY" val="c8a63278-01f4-4467-91c5-bdbf8525f802"/>
  <p:tag name="COMMONDATA" val="eyJoZGlkIjoiNGEyYTQ3YzBjNDdiNmY2MWY1ZjA1Njc3MjE3YzgwODUifQ=="/>
</p:tagLst>
</file>

<file path=ppt/theme/theme1.xml><?xml version="1.0" encoding="utf-8"?>
<a:theme xmlns:a="http://schemas.openxmlformats.org/drawingml/2006/main" name="Office 主题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2060"/>
      </a:accent1>
      <a:accent2>
        <a:srgbClr val="0070C0"/>
      </a:accent2>
      <a:accent3>
        <a:srgbClr val="00B0F0"/>
      </a:accent3>
      <a:accent4>
        <a:srgbClr val="595959"/>
      </a:accent4>
      <a:accent5>
        <a:srgbClr val="7F7F7F"/>
      </a:accent5>
      <a:accent6>
        <a:srgbClr val="BFBFBF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0</TotalTime>
  <Words>3521</Words>
  <Application>WPS 演示</Application>
  <PresentationFormat>全屏显示(4:3)</PresentationFormat>
  <Paragraphs>416</Paragraphs>
  <Slides>34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34</vt:i4>
      </vt:variant>
    </vt:vector>
  </HeadingPairs>
  <TitlesOfParts>
    <vt:vector size="60" baseType="lpstr">
      <vt:lpstr>Arial</vt:lpstr>
      <vt:lpstr>宋体</vt:lpstr>
      <vt:lpstr>Wingdings</vt:lpstr>
      <vt:lpstr>思源黑体 CN Bold</vt:lpstr>
      <vt:lpstr>黑体</vt:lpstr>
      <vt:lpstr>思源黑体 CN Regular</vt:lpstr>
      <vt:lpstr>思源黑体 CN Light</vt:lpstr>
      <vt:lpstr>华光中雅_CNKI</vt:lpstr>
      <vt:lpstr>等线</vt:lpstr>
      <vt:lpstr>微软雅黑</vt:lpstr>
      <vt:lpstr>Times New Roman</vt:lpstr>
      <vt:lpstr>Verdana</vt:lpstr>
      <vt:lpstr>Calibri</vt:lpstr>
      <vt:lpstr>Arial Unicode MS</vt:lpstr>
      <vt:lpstr>汉仪颜楷简</vt:lpstr>
      <vt:lpstr>方正劲颜体</vt:lpstr>
      <vt:lpstr>华文隶书</vt:lpstr>
      <vt:lpstr>华康隶书体W7</vt:lpstr>
      <vt:lpstr>华光中楷_CNKI</vt:lpstr>
      <vt:lpstr>Office 主题</vt:lpstr>
      <vt:lpstr>Excel.Sheet.8</vt:lpstr>
      <vt:lpstr>Excel.Sheet.8</vt:lpstr>
      <vt:lpstr>Excel.Sheet.8</vt:lpstr>
      <vt:lpstr>Excel.Sheet.8</vt:lpstr>
      <vt:lpstr>Excel.Sheet.8</vt:lpstr>
      <vt:lpstr>Excel.Sheet.8</vt:lpstr>
      <vt:lpstr>PowerPoint 演示文稿</vt:lpstr>
      <vt:lpstr>本章回答如下6个问题</vt:lpstr>
      <vt:lpstr>作为科学家的经济学家</vt:lpstr>
      <vt:lpstr>假设和模型</vt:lpstr>
      <vt:lpstr>模型：循环流量图</vt:lpstr>
      <vt:lpstr>模型：循环流量图</vt:lpstr>
      <vt:lpstr>模型：循环流量图</vt:lpstr>
      <vt:lpstr>模型：循环流量图</vt:lpstr>
      <vt:lpstr>模型：生产可能性边界（PPE）</vt:lpstr>
      <vt:lpstr>PPF示例</vt:lpstr>
      <vt:lpstr>PPF示例</vt:lpstr>
      <vt:lpstr>PPF示例</vt:lpstr>
      <vt:lpstr>PPF示例</vt:lpstr>
      <vt:lpstr>PPF示例</vt:lpstr>
      <vt:lpstr>PPF示例</vt:lpstr>
      <vt:lpstr>PPF和机会成本</vt:lpstr>
      <vt:lpstr>PPF和机会成本</vt:lpstr>
      <vt:lpstr>例子</vt:lpstr>
      <vt:lpstr>例子</vt:lpstr>
      <vt:lpstr>经济增长和PPF</vt:lpstr>
      <vt:lpstr>PPF的形状</vt:lpstr>
      <vt:lpstr>为什么PPF可能是弓形的</vt:lpstr>
      <vt:lpstr>为什么PPF可能是弓形的</vt:lpstr>
      <vt:lpstr>为什么PPF可能是弓形的</vt:lpstr>
      <vt:lpstr>为什么PPF可能是弓形的</vt:lpstr>
      <vt:lpstr>PPF总结</vt:lpstr>
      <vt:lpstr>微观经济学与宏观经济学</vt:lpstr>
      <vt:lpstr>作为政策顾问的经济学家</vt:lpstr>
      <vt:lpstr>练习题</vt:lpstr>
      <vt:lpstr>练习题</vt:lpstr>
      <vt:lpstr>练习题</vt:lpstr>
      <vt:lpstr>经济学家为什么意见不一致</vt:lpstr>
      <vt:lpstr>总结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2911522202@qq.com</dc:creator>
  <cp:lastModifiedBy>YZ</cp:lastModifiedBy>
  <cp:revision>64</cp:revision>
  <dcterms:created xsi:type="dcterms:W3CDTF">2023-08-02T01:15:00Z</dcterms:created>
  <dcterms:modified xsi:type="dcterms:W3CDTF">2025-09-11T08:44:02Z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7E24C974EAB44DAC8263697732277C3C_12</vt:lpwstr>
  </property>
  <property fmtid="{D5CDD505-2E9C-101B-9397-08002B2CF9AE}" pid="3" name="KSOProductBuildVer">
    <vt:lpwstr>2052-12.1.0.22529</vt:lpwstr>
  </property>
</Properties>
</file>