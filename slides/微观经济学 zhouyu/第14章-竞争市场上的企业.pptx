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6" r:id="rId3"/>
    <p:sldId id="384" r:id="rId5"/>
    <p:sldId id="381" r:id="rId6"/>
    <p:sldId id="268" r:id="rId7"/>
    <p:sldId id="319" r:id="rId8"/>
    <p:sldId id="324" r:id="rId9"/>
    <p:sldId id="325" r:id="rId10"/>
    <p:sldId id="441" r:id="rId11"/>
    <p:sldId id="383" r:id="rId12"/>
    <p:sldId id="269" r:id="rId13"/>
    <p:sldId id="270" r:id="rId14"/>
    <p:sldId id="335" r:id="rId15"/>
    <p:sldId id="271" r:id="rId16"/>
    <p:sldId id="273" r:id="rId17"/>
    <p:sldId id="327" r:id="rId18"/>
    <p:sldId id="277" r:id="rId19"/>
    <p:sldId id="275" r:id="rId20"/>
    <p:sldId id="440" r:id="rId21"/>
    <p:sldId id="442" r:id="rId22"/>
    <p:sldId id="276" r:id="rId23"/>
    <p:sldId id="334" r:id="rId24"/>
    <p:sldId id="337" r:id="rId25"/>
    <p:sldId id="279" r:id="rId26"/>
    <p:sldId id="280" r:id="rId27"/>
    <p:sldId id="287" r:id="rId28"/>
    <p:sldId id="281" r:id="rId29"/>
    <p:sldId id="282" r:id="rId30"/>
    <p:sldId id="283" r:id="rId31"/>
    <p:sldId id="316" r:id="rId32"/>
    <p:sldId id="339" r:id="rId33"/>
    <p:sldId id="338" r:id="rId34"/>
    <p:sldId id="284" r:id="rId35"/>
    <p:sldId id="288" r:id="rId36"/>
    <p:sldId id="289" r:id="rId37"/>
    <p:sldId id="290" r:id="rId38"/>
    <p:sldId id="285" r:id="rId39"/>
    <p:sldId id="314" r:id="rId40"/>
  </p:sldIdLst>
  <p:sldSz cx="9144000" cy="6858000" type="screen4x3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8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  <p:cmAuthor id="1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8453"/>
    <a:srgbClr val="9D7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9" autoAdjust="0"/>
    <p:restoredTop sz="93727" autoAdjust="0"/>
  </p:normalViewPr>
  <p:slideViewPr>
    <p:cSldViewPr showGuides="1">
      <p:cViewPr varScale="1">
        <p:scale>
          <a:sx n="86" d="100"/>
          <a:sy n="86" d="100"/>
        </p:scale>
        <p:origin x="1440" y="90"/>
      </p:cViewPr>
      <p:guideLst>
        <p:guide orient="horz" pos="2308"/>
        <p:guide pos="284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568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8" Type="http://schemas.openxmlformats.org/officeDocument/2006/relationships/slideLayout" Target="../slideLayouts/slideLayout6.xml"/><Relationship Id="rId47" Type="http://schemas.openxmlformats.org/officeDocument/2006/relationships/tags" Target="../tags/tag62.xml"/><Relationship Id="rId46" Type="http://schemas.openxmlformats.org/officeDocument/2006/relationships/tags" Target="../tags/tag61.xml"/><Relationship Id="rId45" Type="http://schemas.openxmlformats.org/officeDocument/2006/relationships/tags" Target="../tags/tag60.xml"/><Relationship Id="rId44" Type="http://schemas.openxmlformats.org/officeDocument/2006/relationships/tags" Target="../tags/tag59.xml"/><Relationship Id="rId43" Type="http://schemas.openxmlformats.org/officeDocument/2006/relationships/tags" Target="../tags/tag58.xml"/><Relationship Id="rId42" Type="http://schemas.openxmlformats.org/officeDocument/2006/relationships/tags" Target="../tags/tag57.xml"/><Relationship Id="rId41" Type="http://schemas.openxmlformats.org/officeDocument/2006/relationships/tags" Target="../tags/tag56.xml"/><Relationship Id="rId40" Type="http://schemas.openxmlformats.org/officeDocument/2006/relationships/tags" Target="../tags/tag55.xml"/><Relationship Id="rId4" Type="http://schemas.openxmlformats.org/officeDocument/2006/relationships/tags" Target="../tags/tag19.xml"/><Relationship Id="rId39" Type="http://schemas.openxmlformats.org/officeDocument/2006/relationships/tags" Target="../tags/tag54.xml"/><Relationship Id="rId38" Type="http://schemas.openxmlformats.org/officeDocument/2006/relationships/tags" Target="../tags/tag53.xml"/><Relationship Id="rId37" Type="http://schemas.openxmlformats.org/officeDocument/2006/relationships/tags" Target="../tags/tag52.xml"/><Relationship Id="rId36" Type="http://schemas.openxmlformats.org/officeDocument/2006/relationships/tags" Target="../tags/tag51.xml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tags" Target="../tags/tag48.xml"/><Relationship Id="rId32" Type="http://schemas.openxmlformats.org/officeDocument/2006/relationships/tags" Target="../tags/tag47.xml"/><Relationship Id="rId31" Type="http://schemas.openxmlformats.org/officeDocument/2006/relationships/tags" Target="../tags/tag46.xml"/><Relationship Id="rId30" Type="http://schemas.openxmlformats.org/officeDocument/2006/relationships/tags" Target="../tags/tag45.xml"/><Relationship Id="rId3" Type="http://schemas.openxmlformats.org/officeDocument/2006/relationships/tags" Target="../tags/tag18.xml"/><Relationship Id="rId29" Type="http://schemas.openxmlformats.org/officeDocument/2006/relationships/tags" Target="../tags/tag44.xml"/><Relationship Id="rId28" Type="http://schemas.openxmlformats.org/officeDocument/2006/relationships/tags" Target="../tags/tag43.xml"/><Relationship Id="rId27" Type="http://schemas.openxmlformats.org/officeDocument/2006/relationships/tags" Target="../tags/tag42.xml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tags" Target="../tags/tag38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4" Type="http://schemas.openxmlformats.org/officeDocument/2006/relationships/slideLayout" Target="../slideLayouts/slideLayout6.xml"/><Relationship Id="rId63" Type="http://schemas.openxmlformats.org/officeDocument/2006/relationships/tags" Target="../tags/tag125.xml"/><Relationship Id="rId62" Type="http://schemas.openxmlformats.org/officeDocument/2006/relationships/tags" Target="../tags/tag124.xml"/><Relationship Id="rId61" Type="http://schemas.openxmlformats.org/officeDocument/2006/relationships/tags" Target="../tags/tag123.xml"/><Relationship Id="rId60" Type="http://schemas.openxmlformats.org/officeDocument/2006/relationships/tags" Target="../tags/tag122.xml"/><Relationship Id="rId6" Type="http://schemas.openxmlformats.org/officeDocument/2006/relationships/tags" Target="../tags/tag68.xml"/><Relationship Id="rId59" Type="http://schemas.openxmlformats.org/officeDocument/2006/relationships/tags" Target="../tags/tag121.xml"/><Relationship Id="rId58" Type="http://schemas.openxmlformats.org/officeDocument/2006/relationships/tags" Target="../tags/tag120.xml"/><Relationship Id="rId57" Type="http://schemas.openxmlformats.org/officeDocument/2006/relationships/tags" Target="../tags/tag119.xml"/><Relationship Id="rId56" Type="http://schemas.openxmlformats.org/officeDocument/2006/relationships/tags" Target="../tags/tag118.xml"/><Relationship Id="rId55" Type="http://schemas.openxmlformats.org/officeDocument/2006/relationships/tags" Target="../tags/tag117.xml"/><Relationship Id="rId54" Type="http://schemas.openxmlformats.org/officeDocument/2006/relationships/tags" Target="../tags/tag116.xml"/><Relationship Id="rId53" Type="http://schemas.openxmlformats.org/officeDocument/2006/relationships/tags" Target="../tags/tag115.xml"/><Relationship Id="rId52" Type="http://schemas.openxmlformats.org/officeDocument/2006/relationships/tags" Target="../tags/tag114.xml"/><Relationship Id="rId51" Type="http://schemas.openxmlformats.org/officeDocument/2006/relationships/tags" Target="../tags/tag113.xml"/><Relationship Id="rId50" Type="http://schemas.openxmlformats.org/officeDocument/2006/relationships/tags" Target="../tags/tag112.xml"/><Relationship Id="rId5" Type="http://schemas.openxmlformats.org/officeDocument/2006/relationships/tags" Target="../tags/tag67.xml"/><Relationship Id="rId49" Type="http://schemas.openxmlformats.org/officeDocument/2006/relationships/tags" Target="../tags/tag111.xml"/><Relationship Id="rId48" Type="http://schemas.openxmlformats.org/officeDocument/2006/relationships/tags" Target="../tags/tag110.xml"/><Relationship Id="rId47" Type="http://schemas.openxmlformats.org/officeDocument/2006/relationships/tags" Target="../tags/tag109.xml"/><Relationship Id="rId46" Type="http://schemas.openxmlformats.org/officeDocument/2006/relationships/tags" Target="../tags/tag108.xml"/><Relationship Id="rId45" Type="http://schemas.openxmlformats.org/officeDocument/2006/relationships/tags" Target="../tags/tag107.xml"/><Relationship Id="rId44" Type="http://schemas.openxmlformats.org/officeDocument/2006/relationships/tags" Target="../tags/tag106.xml"/><Relationship Id="rId43" Type="http://schemas.openxmlformats.org/officeDocument/2006/relationships/tags" Target="../tags/tag105.xml"/><Relationship Id="rId42" Type="http://schemas.openxmlformats.org/officeDocument/2006/relationships/tags" Target="../tags/tag104.xml"/><Relationship Id="rId41" Type="http://schemas.openxmlformats.org/officeDocument/2006/relationships/tags" Target="../tags/tag103.xml"/><Relationship Id="rId40" Type="http://schemas.openxmlformats.org/officeDocument/2006/relationships/tags" Target="../tags/tag102.xml"/><Relationship Id="rId4" Type="http://schemas.openxmlformats.org/officeDocument/2006/relationships/tags" Target="../tags/tag66.xml"/><Relationship Id="rId39" Type="http://schemas.openxmlformats.org/officeDocument/2006/relationships/tags" Target="../tags/tag101.xml"/><Relationship Id="rId38" Type="http://schemas.openxmlformats.org/officeDocument/2006/relationships/tags" Target="../tags/tag100.xml"/><Relationship Id="rId37" Type="http://schemas.openxmlformats.org/officeDocument/2006/relationships/tags" Target="../tags/tag99.xml"/><Relationship Id="rId36" Type="http://schemas.openxmlformats.org/officeDocument/2006/relationships/tags" Target="../tags/tag98.xml"/><Relationship Id="rId35" Type="http://schemas.openxmlformats.org/officeDocument/2006/relationships/tags" Target="../tags/tag97.xml"/><Relationship Id="rId34" Type="http://schemas.openxmlformats.org/officeDocument/2006/relationships/tags" Target="../tags/tag96.xml"/><Relationship Id="rId33" Type="http://schemas.openxmlformats.org/officeDocument/2006/relationships/tags" Target="../tags/tag95.xml"/><Relationship Id="rId32" Type="http://schemas.openxmlformats.org/officeDocument/2006/relationships/tags" Target="../tags/tag94.xml"/><Relationship Id="rId31" Type="http://schemas.openxmlformats.org/officeDocument/2006/relationships/tags" Target="../tags/tag93.xml"/><Relationship Id="rId30" Type="http://schemas.openxmlformats.org/officeDocument/2006/relationships/tags" Target="../tags/tag92.xml"/><Relationship Id="rId3" Type="http://schemas.openxmlformats.org/officeDocument/2006/relationships/tags" Target="../tags/tag65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92" Type="http://schemas.openxmlformats.org/officeDocument/2006/relationships/notesSlide" Target="../notesSlides/notesSlide6.xml"/><Relationship Id="rId91" Type="http://schemas.openxmlformats.org/officeDocument/2006/relationships/slideLayout" Target="../slideLayouts/slideLayout2.xml"/><Relationship Id="rId90" Type="http://schemas.openxmlformats.org/officeDocument/2006/relationships/tags" Target="../tags/tag215.xml"/><Relationship Id="rId9" Type="http://schemas.openxmlformats.org/officeDocument/2006/relationships/tags" Target="../tags/tag134.xml"/><Relationship Id="rId89" Type="http://schemas.openxmlformats.org/officeDocument/2006/relationships/tags" Target="../tags/tag214.xml"/><Relationship Id="rId88" Type="http://schemas.openxmlformats.org/officeDocument/2006/relationships/tags" Target="../tags/tag213.xml"/><Relationship Id="rId87" Type="http://schemas.openxmlformats.org/officeDocument/2006/relationships/tags" Target="../tags/tag212.xml"/><Relationship Id="rId86" Type="http://schemas.openxmlformats.org/officeDocument/2006/relationships/tags" Target="../tags/tag211.xml"/><Relationship Id="rId85" Type="http://schemas.openxmlformats.org/officeDocument/2006/relationships/tags" Target="../tags/tag210.xml"/><Relationship Id="rId84" Type="http://schemas.openxmlformats.org/officeDocument/2006/relationships/tags" Target="../tags/tag209.xml"/><Relationship Id="rId83" Type="http://schemas.openxmlformats.org/officeDocument/2006/relationships/tags" Target="../tags/tag208.xml"/><Relationship Id="rId82" Type="http://schemas.openxmlformats.org/officeDocument/2006/relationships/tags" Target="../tags/tag207.xml"/><Relationship Id="rId81" Type="http://schemas.openxmlformats.org/officeDocument/2006/relationships/tags" Target="../tags/tag206.xml"/><Relationship Id="rId80" Type="http://schemas.openxmlformats.org/officeDocument/2006/relationships/tags" Target="../tags/tag205.xml"/><Relationship Id="rId8" Type="http://schemas.openxmlformats.org/officeDocument/2006/relationships/tags" Target="../tags/tag133.xml"/><Relationship Id="rId79" Type="http://schemas.openxmlformats.org/officeDocument/2006/relationships/tags" Target="../tags/tag204.xml"/><Relationship Id="rId78" Type="http://schemas.openxmlformats.org/officeDocument/2006/relationships/tags" Target="../tags/tag203.xml"/><Relationship Id="rId77" Type="http://schemas.openxmlformats.org/officeDocument/2006/relationships/tags" Target="../tags/tag202.xml"/><Relationship Id="rId76" Type="http://schemas.openxmlformats.org/officeDocument/2006/relationships/tags" Target="../tags/tag201.xml"/><Relationship Id="rId75" Type="http://schemas.openxmlformats.org/officeDocument/2006/relationships/tags" Target="../tags/tag200.xml"/><Relationship Id="rId74" Type="http://schemas.openxmlformats.org/officeDocument/2006/relationships/tags" Target="../tags/tag199.xml"/><Relationship Id="rId73" Type="http://schemas.openxmlformats.org/officeDocument/2006/relationships/tags" Target="../tags/tag198.xml"/><Relationship Id="rId72" Type="http://schemas.openxmlformats.org/officeDocument/2006/relationships/tags" Target="../tags/tag197.xml"/><Relationship Id="rId71" Type="http://schemas.openxmlformats.org/officeDocument/2006/relationships/tags" Target="../tags/tag196.xml"/><Relationship Id="rId70" Type="http://schemas.openxmlformats.org/officeDocument/2006/relationships/tags" Target="../tags/tag195.xml"/><Relationship Id="rId7" Type="http://schemas.openxmlformats.org/officeDocument/2006/relationships/tags" Target="../tags/tag132.xml"/><Relationship Id="rId69" Type="http://schemas.openxmlformats.org/officeDocument/2006/relationships/tags" Target="../tags/tag194.xml"/><Relationship Id="rId68" Type="http://schemas.openxmlformats.org/officeDocument/2006/relationships/tags" Target="../tags/tag193.xml"/><Relationship Id="rId67" Type="http://schemas.openxmlformats.org/officeDocument/2006/relationships/tags" Target="../tags/tag192.xml"/><Relationship Id="rId66" Type="http://schemas.openxmlformats.org/officeDocument/2006/relationships/tags" Target="../tags/tag191.xml"/><Relationship Id="rId65" Type="http://schemas.openxmlformats.org/officeDocument/2006/relationships/tags" Target="../tags/tag190.xml"/><Relationship Id="rId64" Type="http://schemas.openxmlformats.org/officeDocument/2006/relationships/tags" Target="../tags/tag189.xml"/><Relationship Id="rId63" Type="http://schemas.openxmlformats.org/officeDocument/2006/relationships/tags" Target="../tags/tag188.xml"/><Relationship Id="rId62" Type="http://schemas.openxmlformats.org/officeDocument/2006/relationships/tags" Target="../tags/tag187.xml"/><Relationship Id="rId61" Type="http://schemas.openxmlformats.org/officeDocument/2006/relationships/tags" Target="../tags/tag186.xml"/><Relationship Id="rId60" Type="http://schemas.openxmlformats.org/officeDocument/2006/relationships/tags" Target="../tags/tag185.xml"/><Relationship Id="rId6" Type="http://schemas.openxmlformats.org/officeDocument/2006/relationships/tags" Target="../tags/tag131.xml"/><Relationship Id="rId59" Type="http://schemas.openxmlformats.org/officeDocument/2006/relationships/tags" Target="../tags/tag184.xml"/><Relationship Id="rId58" Type="http://schemas.openxmlformats.org/officeDocument/2006/relationships/tags" Target="../tags/tag183.xml"/><Relationship Id="rId57" Type="http://schemas.openxmlformats.org/officeDocument/2006/relationships/tags" Target="../tags/tag182.xml"/><Relationship Id="rId56" Type="http://schemas.openxmlformats.org/officeDocument/2006/relationships/tags" Target="../tags/tag181.xml"/><Relationship Id="rId55" Type="http://schemas.openxmlformats.org/officeDocument/2006/relationships/tags" Target="../tags/tag180.xml"/><Relationship Id="rId54" Type="http://schemas.openxmlformats.org/officeDocument/2006/relationships/tags" Target="../tags/tag179.xml"/><Relationship Id="rId53" Type="http://schemas.openxmlformats.org/officeDocument/2006/relationships/tags" Target="../tags/tag178.xml"/><Relationship Id="rId52" Type="http://schemas.openxmlformats.org/officeDocument/2006/relationships/tags" Target="../tags/tag177.xml"/><Relationship Id="rId51" Type="http://schemas.openxmlformats.org/officeDocument/2006/relationships/tags" Target="../tags/tag176.xml"/><Relationship Id="rId50" Type="http://schemas.openxmlformats.org/officeDocument/2006/relationships/tags" Target="../tags/tag175.xml"/><Relationship Id="rId5" Type="http://schemas.openxmlformats.org/officeDocument/2006/relationships/tags" Target="../tags/tag130.xml"/><Relationship Id="rId49" Type="http://schemas.openxmlformats.org/officeDocument/2006/relationships/tags" Target="../tags/tag174.xml"/><Relationship Id="rId48" Type="http://schemas.openxmlformats.org/officeDocument/2006/relationships/tags" Target="../tags/tag173.xml"/><Relationship Id="rId47" Type="http://schemas.openxmlformats.org/officeDocument/2006/relationships/tags" Target="../tags/tag172.xml"/><Relationship Id="rId46" Type="http://schemas.openxmlformats.org/officeDocument/2006/relationships/tags" Target="../tags/tag171.xml"/><Relationship Id="rId45" Type="http://schemas.openxmlformats.org/officeDocument/2006/relationships/tags" Target="../tags/tag170.xml"/><Relationship Id="rId44" Type="http://schemas.openxmlformats.org/officeDocument/2006/relationships/tags" Target="../tags/tag169.xml"/><Relationship Id="rId43" Type="http://schemas.openxmlformats.org/officeDocument/2006/relationships/tags" Target="../tags/tag168.xml"/><Relationship Id="rId42" Type="http://schemas.openxmlformats.org/officeDocument/2006/relationships/tags" Target="../tags/tag167.xml"/><Relationship Id="rId41" Type="http://schemas.openxmlformats.org/officeDocument/2006/relationships/tags" Target="../tags/tag166.xml"/><Relationship Id="rId40" Type="http://schemas.openxmlformats.org/officeDocument/2006/relationships/tags" Target="../tags/tag165.xml"/><Relationship Id="rId4" Type="http://schemas.openxmlformats.org/officeDocument/2006/relationships/tags" Target="../tags/tag129.xml"/><Relationship Id="rId39" Type="http://schemas.openxmlformats.org/officeDocument/2006/relationships/tags" Target="../tags/tag164.xml"/><Relationship Id="rId38" Type="http://schemas.openxmlformats.org/officeDocument/2006/relationships/tags" Target="../tags/tag163.xml"/><Relationship Id="rId37" Type="http://schemas.openxmlformats.org/officeDocument/2006/relationships/tags" Target="../tags/tag162.xml"/><Relationship Id="rId36" Type="http://schemas.openxmlformats.org/officeDocument/2006/relationships/tags" Target="../tags/tag161.xml"/><Relationship Id="rId35" Type="http://schemas.openxmlformats.org/officeDocument/2006/relationships/tags" Target="../tags/tag160.xml"/><Relationship Id="rId34" Type="http://schemas.openxmlformats.org/officeDocument/2006/relationships/tags" Target="../tags/tag159.xml"/><Relationship Id="rId33" Type="http://schemas.openxmlformats.org/officeDocument/2006/relationships/tags" Target="../tags/tag158.xml"/><Relationship Id="rId32" Type="http://schemas.openxmlformats.org/officeDocument/2006/relationships/tags" Target="../tags/tag157.xml"/><Relationship Id="rId31" Type="http://schemas.openxmlformats.org/officeDocument/2006/relationships/tags" Target="../tags/tag156.xml"/><Relationship Id="rId30" Type="http://schemas.openxmlformats.org/officeDocument/2006/relationships/tags" Target="../tags/tag155.xml"/><Relationship Id="rId3" Type="http://schemas.openxmlformats.org/officeDocument/2006/relationships/tags" Target="../tags/tag128.xml"/><Relationship Id="rId29" Type="http://schemas.openxmlformats.org/officeDocument/2006/relationships/tags" Target="../tags/tag154.xml"/><Relationship Id="rId28" Type="http://schemas.openxmlformats.org/officeDocument/2006/relationships/tags" Target="../tags/tag153.xml"/><Relationship Id="rId27" Type="http://schemas.openxmlformats.org/officeDocument/2006/relationships/tags" Target="../tags/tag152.xml"/><Relationship Id="rId26" Type="http://schemas.openxmlformats.org/officeDocument/2006/relationships/tags" Target="../tags/tag151.xml"/><Relationship Id="rId25" Type="http://schemas.openxmlformats.org/officeDocument/2006/relationships/tags" Target="../tags/tag150.xml"/><Relationship Id="rId24" Type="http://schemas.openxmlformats.org/officeDocument/2006/relationships/tags" Target="../tags/tag149.xml"/><Relationship Id="rId23" Type="http://schemas.openxmlformats.org/officeDocument/2006/relationships/tags" Target="../tags/tag148.xml"/><Relationship Id="rId22" Type="http://schemas.openxmlformats.org/officeDocument/2006/relationships/tags" Target="../tags/tag147.xml"/><Relationship Id="rId21" Type="http://schemas.openxmlformats.org/officeDocument/2006/relationships/tags" Target="../tags/tag146.xml"/><Relationship Id="rId20" Type="http://schemas.openxmlformats.org/officeDocument/2006/relationships/tags" Target="../tags/tag145.xml"/><Relationship Id="rId2" Type="http://schemas.openxmlformats.org/officeDocument/2006/relationships/tags" Target="../tags/tag127.xml"/><Relationship Id="rId19" Type="http://schemas.openxmlformats.org/officeDocument/2006/relationships/tags" Target="../tags/tag144.xml"/><Relationship Id="rId18" Type="http://schemas.openxmlformats.org/officeDocument/2006/relationships/tags" Target="../tags/tag143.xml"/><Relationship Id="rId17" Type="http://schemas.openxmlformats.org/officeDocument/2006/relationships/tags" Target="../tags/tag142.xml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7" Type="http://schemas.openxmlformats.org/officeDocument/2006/relationships/notesSlide" Target="../notesSlides/notesSlide7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39.xml"/><Relationship Id="rId24" Type="http://schemas.openxmlformats.org/officeDocument/2006/relationships/tags" Target="../tags/tag238.xml"/><Relationship Id="rId23" Type="http://schemas.openxmlformats.org/officeDocument/2006/relationships/tags" Target="../tags/tag237.xml"/><Relationship Id="rId22" Type="http://schemas.openxmlformats.org/officeDocument/2006/relationships/tags" Target="../tags/tag236.xml"/><Relationship Id="rId21" Type="http://schemas.openxmlformats.org/officeDocument/2006/relationships/tags" Target="../tags/tag235.xml"/><Relationship Id="rId20" Type="http://schemas.openxmlformats.org/officeDocument/2006/relationships/tags" Target="../tags/tag234.xml"/><Relationship Id="rId2" Type="http://schemas.openxmlformats.org/officeDocument/2006/relationships/tags" Target="../tags/tag216.xml"/><Relationship Id="rId19" Type="http://schemas.openxmlformats.org/officeDocument/2006/relationships/tags" Target="../tags/tag233.xml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261.xml"/><Relationship Id="rId22" Type="http://schemas.openxmlformats.org/officeDocument/2006/relationships/tags" Target="../tags/tag260.xml"/><Relationship Id="rId21" Type="http://schemas.openxmlformats.org/officeDocument/2006/relationships/tags" Target="../tags/tag259.xml"/><Relationship Id="rId20" Type="http://schemas.openxmlformats.org/officeDocument/2006/relationships/tags" Target="../tags/tag258.xml"/><Relationship Id="rId2" Type="http://schemas.openxmlformats.org/officeDocument/2006/relationships/tags" Target="../tags/tag240.xml"/><Relationship Id="rId19" Type="http://schemas.openxmlformats.org/officeDocument/2006/relationships/tags" Target="../tags/tag257.xml"/><Relationship Id="rId18" Type="http://schemas.openxmlformats.org/officeDocument/2006/relationships/tags" Target="../tags/tag256.xml"/><Relationship Id="rId17" Type="http://schemas.openxmlformats.org/officeDocument/2006/relationships/tags" Target="../tags/tag255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tags" Target="../tags/tag26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9" Type="http://schemas.openxmlformats.org/officeDocument/2006/relationships/tags" Target="../tags/tag287.xml"/><Relationship Id="rId18" Type="http://schemas.openxmlformats.org/officeDocument/2006/relationships/tags" Target="../tags/tag286.xml"/><Relationship Id="rId17" Type="http://schemas.openxmlformats.org/officeDocument/2006/relationships/tags" Target="../tags/tag285.xml"/><Relationship Id="rId16" Type="http://schemas.openxmlformats.org/officeDocument/2006/relationships/tags" Target="../tags/tag284.xml"/><Relationship Id="rId15" Type="http://schemas.openxmlformats.org/officeDocument/2006/relationships/tags" Target="../tags/tag283.xml"/><Relationship Id="rId14" Type="http://schemas.openxmlformats.org/officeDocument/2006/relationships/tags" Target="../tags/tag282.xml"/><Relationship Id="rId13" Type="http://schemas.openxmlformats.org/officeDocument/2006/relationships/tags" Target="../tags/tag281.xml"/><Relationship Id="rId12" Type="http://schemas.openxmlformats.org/officeDocument/2006/relationships/tags" Target="../tags/tag280.xml"/><Relationship Id="rId11" Type="http://schemas.openxmlformats.org/officeDocument/2006/relationships/tags" Target="../tags/tag279.xml"/><Relationship Id="rId10" Type="http://schemas.openxmlformats.org/officeDocument/2006/relationships/tags" Target="../tags/tag278.xml"/><Relationship Id="rId1" Type="http://schemas.openxmlformats.org/officeDocument/2006/relationships/tags" Target="../tags/tag27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8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02.xml"/><Relationship Id="rId8" Type="http://schemas.openxmlformats.org/officeDocument/2006/relationships/tags" Target="../tags/tag301.xml"/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05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tags" Target="../tags/tag29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07.xml"/><Relationship Id="rId19" Type="http://schemas.openxmlformats.org/officeDocument/2006/relationships/tags" Target="../tags/tag324.xml"/><Relationship Id="rId18" Type="http://schemas.openxmlformats.org/officeDocument/2006/relationships/tags" Target="../tags/tag323.xml"/><Relationship Id="rId17" Type="http://schemas.openxmlformats.org/officeDocument/2006/relationships/tags" Target="../tags/tag322.xml"/><Relationship Id="rId16" Type="http://schemas.openxmlformats.org/officeDocument/2006/relationships/tags" Target="../tags/tag321.xml"/><Relationship Id="rId15" Type="http://schemas.openxmlformats.org/officeDocument/2006/relationships/tags" Target="../tags/tag320.xml"/><Relationship Id="rId14" Type="http://schemas.openxmlformats.org/officeDocument/2006/relationships/tags" Target="../tags/tag319.xml"/><Relationship Id="rId13" Type="http://schemas.openxmlformats.org/officeDocument/2006/relationships/tags" Target="../tags/tag318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tags" Target="../tags/tag30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7" Type="http://schemas.openxmlformats.org/officeDocument/2006/relationships/notesSlide" Target="../notesSlides/notesSlide13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348.xml"/><Relationship Id="rId24" Type="http://schemas.openxmlformats.org/officeDocument/2006/relationships/tags" Target="../tags/tag347.xml"/><Relationship Id="rId23" Type="http://schemas.openxmlformats.org/officeDocument/2006/relationships/tags" Target="../tags/tag346.xml"/><Relationship Id="rId22" Type="http://schemas.openxmlformats.org/officeDocument/2006/relationships/tags" Target="../tags/tag345.xml"/><Relationship Id="rId21" Type="http://schemas.openxmlformats.org/officeDocument/2006/relationships/tags" Target="../tags/tag344.xml"/><Relationship Id="rId20" Type="http://schemas.openxmlformats.org/officeDocument/2006/relationships/tags" Target="../tags/tag343.xml"/><Relationship Id="rId2" Type="http://schemas.openxmlformats.org/officeDocument/2006/relationships/tags" Target="../tags/tag325.xml"/><Relationship Id="rId19" Type="http://schemas.openxmlformats.org/officeDocument/2006/relationships/tags" Target="../tags/tag342.xml"/><Relationship Id="rId18" Type="http://schemas.openxmlformats.org/officeDocument/2006/relationships/tags" Target="../tags/tag341.xml"/><Relationship Id="rId17" Type="http://schemas.openxmlformats.org/officeDocument/2006/relationships/tags" Target="../tags/tag340.xml"/><Relationship Id="rId16" Type="http://schemas.openxmlformats.org/officeDocument/2006/relationships/tags" Target="../tags/tag339.xml"/><Relationship Id="rId15" Type="http://schemas.openxmlformats.org/officeDocument/2006/relationships/tags" Target="../tags/tag338.xml"/><Relationship Id="rId14" Type="http://schemas.openxmlformats.org/officeDocument/2006/relationships/tags" Target="../tags/tag337.xml"/><Relationship Id="rId13" Type="http://schemas.openxmlformats.org/officeDocument/2006/relationships/tags" Target="../tags/tag336.xml"/><Relationship Id="rId12" Type="http://schemas.openxmlformats.org/officeDocument/2006/relationships/tags" Target="../tags/tag335.xml"/><Relationship Id="rId11" Type="http://schemas.openxmlformats.org/officeDocument/2006/relationships/tags" Target="../tags/tag334.xml"/><Relationship Id="rId10" Type="http://schemas.openxmlformats.org/officeDocument/2006/relationships/tags" Target="../tags/tag333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56.xml"/><Relationship Id="rId8" Type="http://schemas.openxmlformats.org/officeDocument/2006/relationships/tags" Target="../tags/tag355.xml"/><Relationship Id="rId7" Type="http://schemas.openxmlformats.org/officeDocument/2006/relationships/tags" Target="../tags/tag354.xml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1" Type="http://schemas.openxmlformats.org/officeDocument/2006/relationships/notesSlide" Target="../notesSlides/notesSlide14.xml"/><Relationship Id="rId40" Type="http://schemas.openxmlformats.org/officeDocument/2006/relationships/slideLayout" Target="../slideLayouts/slideLayout2.xml"/><Relationship Id="rId4" Type="http://schemas.openxmlformats.org/officeDocument/2006/relationships/tags" Target="../tags/tag351.xml"/><Relationship Id="rId39" Type="http://schemas.openxmlformats.org/officeDocument/2006/relationships/tags" Target="../tags/tag386.xml"/><Relationship Id="rId38" Type="http://schemas.openxmlformats.org/officeDocument/2006/relationships/tags" Target="../tags/tag385.xml"/><Relationship Id="rId37" Type="http://schemas.openxmlformats.org/officeDocument/2006/relationships/tags" Target="../tags/tag384.xml"/><Relationship Id="rId36" Type="http://schemas.openxmlformats.org/officeDocument/2006/relationships/tags" Target="../tags/tag383.xml"/><Relationship Id="rId35" Type="http://schemas.openxmlformats.org/officeDocument/2006/relationships/tags" Target="../tags/tag382.xml"/><Relationship Id="rId34" Type="http://schemas.openxmlformats.org/officeDocument/2006/relationships/tags" Target="../tags/tag381.xml"/><Relationship Id="rId33" Type="http://schemas.openxmlformats.org/officeDocument/2006/relationships/tags" Target="../tags/tag380.xml"/><Relationship Id="rId32" Type="http://schemas.openxmlformats.org/officeDocument/2006/relationships/tags" Target="../tags/tag379.xml"/><Relationship Id="rId31" Type="http://schemas.openxmlformats.org/officeDocument/2006/relationships/tags" Target="../tags/tag378.xml"/><Relationship Id="rId30" Type="http://schemas.openxmlformats.org/officeDocument/2006/relationships/tags" Target="../tags/tag377.xml"/><Relationship Id="rId3" Type="http://schemas.openxmlformats.org/officeDocument/2006/relationships/tags" Target="../tags/tag350.xml"/><Relationship Id="rId29" Type="http://schemas.openxmlformats.org/officeDocument/2006/relationships/tags" Target="../tags/tag376.xml"/><Relationship Id="rId28" Type="http://schemas.openxmlformats.org/officeDocument/2006/relationships/tags" Target="../tags/tag375.xml"/><Relationship Id="rId27" Type="http://schemas.openxmlformats.org/officeDocument/2006/relationships/tags" Target="../tags/tag374.xml"/><Relationship Id="rId26" Type="http://schemas.openxmlformats.org/officeDocument/2006/relationships/tags" Target="../tags/tag373.xml"/><Relationship Id="rId25" Type="http://schemas.openxmlformats.org/officeDocument/2006/relationships/tags" Target="../tags/tag372.xml"/><Relationship Id="rId24" Type="http://schemas.openxmlformats.org/officeDocument/2006/relationships/tags" Target="../tags/tag371.xml"/><Relationship Id="rId23" Type="http://schemas.openxmlformats.org/officeDocument/2006/relationships/tags" Target="../tags/tag370.xml"/><Relationship Id="rId22" Type="http://schemas.openxmlformats.org/officeDocument/2006/relationships/tags" Target="../tags/tag369.xml"/><Relationship Id="rId21" Type="http://schemas.openxmlformats.org/officeDocument/2006/relationships/tags" Target="../tags/tag368.xml"/><Relationship Id="rId20" Type="http://schemas.openxmlformats.org/officeDocument/2006/relationships/tags" Target="../tags/tag367.xml"/><Relationship Id="rId2" Type="http://schemas.openxmlformats.org/officeDocument/2006/relationships/tags" Target="../tags/tag349.xml"/><Relationship Id="rId19" Type="http://schemas.openxmlformats.org/officeDocument/2006/relationships/tags" Target="../tags/tag366.xml"/><Relationship Id="rId18" Type="http://schemas.openxmlformats.org/officeDocument/2006/relationships/tags" Target="../tags/tag365.xml"/><Relationship Id="rId17" Type="http://schemas.openxmlformats.org/officeDocument/2006/relationships/tags" Target="../tags/tag364.xml"/><Relationship Id="rId16" Type="http://schemas.openxmlformats.org/officeDocument/2006/relationships/tags" Target="../tags/tag363.xml"/><Relationship Id="rId15" Type="http://schemas.openxmlformats.org/officeDocument/2006/relationships/tags" Target="../tags/tag362.xml"/><Relationship Id="rId14" Type="http://schemas.openxmlformats.org/officeDocument/2006/relationships/tags" Target="../tags/tag361.xml"/><Relationship Id="rId13" Type="http://schemas.openxmlformats.org/officeDocument/2006/relationships/tags" Target="../tags/tag360.xml"/><Relationship Id="rId12" Type="http://schemas.openxmlformats.org/officeDocument/2006/relationships/tags" Target="../tags/tag359.xml"/><Relationship Id="rId11" Type="http://schemas.openxmlformats.org/officeDocument/2006/relationships/tags" Target="../tags/tag358.xml"/><Relationship Id="rId10" Type="http://schemas.openxmlformats.org/officeDocument/2006/relationships/tags" Target="../tags/tag357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95.xml"/><Relationship Id="rId8" Type="http://schemas.openxmlformats.org/officeDocument/2006/relationships/tags" Target="../tags/tag394.xml"/><Relationship Id="rId7" Type="http://schemas.openxmlformats.org/officeDocument/2006/relationships/tags" Target="../tags/tag393.xml"/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2" Type="http://schemas.openxmlformats.org/officeDocument/2006/relationships/notesSlide" Target="../notesSlides/notesSlide15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416.xml"/><Relationship Id="rId3" Type="http://schemas.openxmlformats.org/officeDocument/2006/relationships/tags" Target="../tags/tag389.xml"/><Relationship Id="rId29" Type="http://schemas.openxmlformats.org/officeDocument/2006/relationships/tags" Target="../tags/tag415.xml"/><Relationship Id="rId28" Type="http://schemas.openxmlformats.org/officeDocument/2006/relationships/tags" Target="../tags/tag414.xml"/><Relationship Id="rId27" Type="http://schemas.openxmlformats.org/officeDocument/2006/relationships/tags" Target="../tags/tag413.xml"/><Relationship Id="rId26" Type="http://schemas.openxmlformats.org/officeDocument/2006/relationships/tags" Target="../tags/tag412.xml"/><Relationship Id="rId25" Type="http://schemas.openxmlformats.org/officeDocument/2006/relationships/tags" Target="../tags/tag411.xml"/><Relationship Id="rId24" Type="http://schemas.openxmlformats.org/officeDocument/2006/relationships/tags" Target="../tags/tag410.xml"/><Relationship Id="rId23" Type="http://schemas.openxmlformats.org/officeDocument/2006/relationships/tags" Target="../tags/tag409.xml"/><Relationship Id="rId22" Type="http://schemas.openxmlformats.org/officeDocument/2006/relationships/tags" Target="../tags/tag408.xml"/><Relationship Id="rId21" Type="http://schemas.openxmlformats.org/officeDocument/2006/relationships/tags" Target="../tags/tag407.xml"/><Relationship Id="rId20" Type="http://schemas.openxmlformats.org/officeDocument/2006/relationships/tags" Target="../tags/tag406.xml"/><Relationship Id="rId2" Type="http://schemas.openxmlformats.org/officeDocument/2006/relationships/tags" Target="../tags/tag388.xml"/><Relationship Id="rId19" Type="http://schemas.openxmlformats.org/officeDocument/2006/relationships/tags" Target="../tags/tag405.xml"/><Relationship Id="rId18" Type="http://schemas.openxmlformats.org/officeDocument/2006/relationships/tags" Target="../tags/tag404.xml"/><Relationship Id="rId17" Type="http://schemas.openxmlformats.org/officeDocument/2006/relationships/tags" Target="../tags/tag403.xml"/><Relationship Id="rId16" Type="http://schemas.openxmlformats.org/officeDocument/2006/relationships/tags" Target="../tags/tag402.xml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tags" Target="../tags/tag398.xml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8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7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8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5" Type="http://schemas.openxmlformats.org/officeDocument/2006/relationships/notesSlide" Target="../notesSlides/notesSlide18.xml"/><Relationship Id="rId54" Type="http://schemas.openxmlformats.org/officeDocument/2006/relationships/slideLayout" Target="../slideLayouts/slideLayout2.xml"/><Relationship Id="rId53" Type="http://schemas.openxmlformats.org/officeDocument/2006/relationships/tags" Target="../tags/tag470.xml"/><Relationship Id="rId52" Type="http://schemas.openxmlformats.org/officeDocument/2006/relationships/tags" Target="../tags/tag469.xml"/><Relationship Id="rId51" Type="http://schemas.openxmlformats.org/officeDocument/2006/relationships/tags" Target="../tags/tag468.xml"/><Relationship Id="rId50" Type="http://schemas.openxmlformats.org/officeDocument/2006/relationships/tags" Target="../tags/tag467.xml"/><Relationship Id="rId5" Type="http://schemas.openxmlformats.org/officeDocument/2006/relationships/tags" Target="../tags/tag422.xml"/><Relationship Id="rId49" Type="http://schemas.openxmlformats.org/officeDocument/2006/relationships/tags" Target="../tags/tag466.xml"/><Relationship Id="rId48" Type="http://schemas.openxmlformats.org/officeDocument/2006/relationships/tags" Target="../tags/tag465.xml"/><Relationship Id="rId47" Type="http://schemas.openxmlformats.org/officeDocument/2006/relationships/tags" Target="../tags/tag464.xml"/><Relationship Id="rId46" Type="http://schemas.openxmlformats.org/officeDocument/2006/relationships/tags" Target="../tags/tag463.xml"/><Relationship Id="rId45" Type="http://schemas.openxmlformats.org/officeDocument/2006/relationships/tags" Target="../tags/tag462.xml"/><Relationship Id="rId44" Type="http://schemas.openxmlformats.org/officeDocument/2006/relationships/tags" Target="../tags/tag461.xml"/><Relationship Id="rId43" Type="http://schemas.openxmlformats.org/officeDocument/2006/relationships/tags" Target="../tags/tag460.xml"/><Relationship Id="rId42" Type="http://schemas.openxmlformats.org/officeDocument/2006/relationships/tags" Target="../tags/tag459.xml"/><Relationship Id="rId41" Type="http://schemas.openxmlformats.org/officeDocument/2006/relationships/tags" Target="../tags/tag458.xml"/><Relationship Id="rId40" Type="http://schemas.openxmlformats.org/officeDocument/2006/relationships/tags" Target="../tags/tag457.xml"/><Relationship Id="rId4" Type="http://schemas.openxmlformats.org/officeDocument/2006/relationships/tags" Target="../tags/tag421.xml"/><Relationship Id="rId39" Type="http://schemas.openxmlformats.org/officeDocument/2006/relationships/tags" Target="../tags/tag456.xml"/><Relationship Id="rId38" Type="http://schemas.openxmlformats.org/officeDocument/2006/relationships/tags" Target="../tags/tag455.xml"/><Relationship Id="rId37" Type="http://schemas.openxmlformats.org/officeDocument/2006/relationships/tags" Target="../tags/tag454.xml"/><Relationship Id="rId36" Type="http://schemas.openxmlformats.org/officeDocument/2006/relationships/tags" Target="../tags/tag453.xml"/><Relationship Id="rId35" Type="http://schemas.openxmlformats.org/officeDocument/2006/relationships/tags" Target="../tags/tag452.xml"/><Relationship Id="rId34" Type="http://schemas.openxmlformats.org/officeDocument/2006/relationships/tags" Target="../tags/tag451.xml"/><Relationship Id="rId33" Type="http://schemas.openxmlformats.org/officeDocument/2006/relationships/tags" Target="../tags/tag450.xml"/><Relationship Id="rId32" Type="http://schemas.openxmlformats.org/officeDocument/2006/relationships/tags" Target="../tags/tag449.xml"/><Relationship Id="rId31" Type="http://schemas.openxmlformats.org/officeDocument/2006/relationships/tags" Target="../tags/tag448.xml"/><Relationship Id="rId30" Type="http://schemas.openxmlformats.org/officeDocument/2006/relationships/tags" Target="../tags/tag447.xml"/><Relationship Id="rId3" Type="http://schemas.openxmlformats.org/officeDocument/2006/relationships/tags" Target="../tags/tag420.xml"/><Relationship Id="rId29" Type="http://schemas.openxmlformats.org/officeDocument/2006/relationships/tags" Target="../tags/tag446.xml"/><Relationship Id="rId28" Type="http://schemas.openxmlformats.org/officeDocument/2006/relationships/tags" Target="../tags/tag445.xml"/><Relationship Id="rId27" Type="http://schemas.openxmlformats.org/officeDocument/2006/relationships/tags" Target="../tags/tag444.xml"/><Relationship Id="rId26" Type="http://schemas.openxmlformats.org/officeDocument/2006/relationships/tags" Target="../tags/tag443.xml"/><Relationship Id="rId25" Type="http://schemas.openxmlformats.org/officeDocument/2006/relationships/tags" Target="../tags/tag442.xml"/><Relationship Id="rId24" Type="http://schemas.openxmlformats.org/officeDocument/2006/relationships/tags" Target="../tags/tag441.xml"/><Relationship Id="rId23" Type="http://schemas.openxmlformats.org/officeDocument/2006/relationships/tags" Target="../tags/tag440.xml"/><Relationship Id="rId22" Type="http://schemas.openxmlformats.org/officeDocument/2006/relationships/tags" Target="../tags/tag439.xml"/><Relationship Id="rId21" Type="http://schemas.openxmlformats.org/officeDocument/2006/relationships/tags" Target="../tags/tag438.xml"/><Relationship Id="rId20" Type="http://schemas.openxmlformats.org/officeDocument/2006/relationships/tags" Target="../tags/tag437.xml"/><Relationship Id="rId2" Type="http://schemas.openxmlformats.org/officeDocument/2006/relationships/tags" Target="../tags/tag419.xml"/><Relationship Id="rId19" Type="http://schemas.openxmlformats.org/officeDocument/2006/relationships/tags" Target="../tags/tag436.xml"/><Relationship Id="rId18" Type="http://schemas.openxmlformats.org/officeDocument/2006/relationships/tags" Target="../tags/tag435.xml"/><Relationship Id="rId17" Type="http://schemas.openxmlformats.org/officeDocument/2006/relationships/tags" Target="../tags/tag434.xml"/><Relationship Id="rId16" Type="http://schemas.openxmlformats.org/officeDocument/2006/relationships/tags" Target="../tags/tag433.xml"/><Relationship Id="rId15" Type="http://schemas.openxmlformats.org/officeDocument/2006/relationships/tags" Target="../tags/tag432.xml"/><Relationship Id="rId14" Type="http://schemas.openxmlformats.org/officeDocument/2006/relationships/tags" Target="../tags/tag431.xml"/><Relationship Id="rId13" Type="http://schemas.openxmlformats.org/officeDocument/2006/relationships/tags" Target="../tags/tag430.xml"/><Relationship Id="rId12" Type="http://schemas.openxmlformats.org/officeDocument/2006/relationships/tags" Target="../tags/tag429.xml"/><Relationship Id="rId11" Type="http://schemas.openxmlformats.org/officeDocument/2006/relationships/tags" Target="../tags/tag428.xml"/><Relationship Id="rId10" Type="http://schemas.openxmlformats.org/officeDocument/2006/relationships/tags" Target="../tags/tag427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1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4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483.xml"/><Relationship Id="rId8" Type="http://schemas.openxmlformats.org/officeDocument/2006/relationships/tags" Target="../tags/tag482.xml"/><Relationship Id="rId7" Type="http://schemas.openxmlformats.org/officeDocument/2006/relationships/tags" Target="../tags/tag481.xml"/><Relationship Id="rId6" Type="http://schemas.openxmlformats.org/officeDocument/2006/relationships/tags" Target="../tags/tag480.xml"/><Relationship Id="rId5" Type="http://schemas.openxmlformats.org/officeDocument/2006/relationships/tags" Target="../tags/tag479.xml"/><Relationship Id="rId4" Type="http://schemas.openxmlformats.org/officeDocument/2006/relationships/tags" Target="../tags/tag478.xml"/><Relationship Id="rId3" Type="http://schemas.openxmlformats.org/officeDocument/2006/relationships/tags" Target="../tags/tag477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498.xml"/><Relationship Id="rId23" Type="http://schemas.openxmlformats.org/officeDocument/2006/relationships/tags" Target="../tags/tag497.xml"/><Relationship Id="rId22" Type="http://schemas.openxmlformats.org/officeDocument/2006/relationships/tags" Target="../tags/tag496.xml"/><Relationship Id="rId21" Type="http://schemas.openxmlformats.org/officeDocument/2006/relationships/tags" Target="../tags/tag495.xml"/><Relationship Id="rId20" Type="http://schemas.openxmlformats.org/officeDocument/2006/relationships/tags" Target="../tags/tag494.xml"/><Relationship Id="rId2" Type="http://schemas.openxmlformats.org/officeDocument/2006/relationships/tags" Target="../tags/tag476.xml"/><Relationship Id="rId19" Type="http://schemas.openxmlformats.org/officeDocument/2006/relationships/tags" Target="../tags/tag493.xml"/><Relationship Id="rId18" Type="http://schemas.openxmlformats.org/officeDocument/2006/relationships/tags" Target="../tags/tag492.xml"/><Relationship Id="rId17" Type="http://schemas.openxmlformats.org/officeDocument/2006/relationships/tags" Target="../tags/tag491.xml"/><Relationship Id="rId16" Type="http://schemas.openxmlformats.org/officeDocument/2006/relationships/tags" Target="../tags/tag490.xml"/><Relationship Id="rId15" Type="http://schemas.openxmlformats.org/officeDocument/2006/relationships/tags" Target="../tags/tag489.xml"/><Relationship Id="rId14" Type="http://schemas.openxmlformats.org/officeDocument/2006/relationships/tags" Target="../tags/tag488.xml"/><Relationship Id="rId13" Type="http://schemas.openxmlformats.org/officeDocument/2006/relationships/tags" Target="../tags/tag487.xml"/><Relationship Id="rId12" Type="http://schemas.openxmlformats.org/officeDocument/2006/relationships/tags" Target="../tags/tag486.xml"/><Relationship Id="rId11" Type="http://schemas.openxmlformats.org/officeDocument/2006/relationships/tags" Target="../tags/tag485.xml"/><Relationship Id="rId10" Type="http://schemas.openxmlformats.org/officeDocument/2006/relationships/tags" Target="../tags/tag484.xml"/><Relationship Id="rId1" Type="http://schemas.openxmlformats.org/officeDocument/2006/relationships/tags" Target="../tags/tag475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3" Type="http://schemas.openxmlformats.org/officeDocument/2006/relationships/slideLayout" Target="../slideLayouts/slideLayout2.xml"/><Relationship Id="rId62" Type="http://schemas.openxmlformats.org/officeDocument/2006/relationships/tags" Target="../tags/tag560.xml"/><Relationship Id="rId61" Type="http://schemas.openxmlformats.org/officeDocument/2006/relationships/tags" Target="../tags/tag559.xml"/><Relationship Id="rId60" Type="http://schemas.openxmlformats.org/officeDocument/2006/relationships/tags" Target="../tags/tag558.xml"/><Relationship Id="rId6" Type="http://schemas.openxmlformats.org/officeDocument/2006/relationships/tags" Target="../tags/tag504.xml"/><Relationship Id="rId59" Type="http://schemas.openxmlformats.org/officeDocument/2006/relationships/tags" Target="../tags/tag557.xml"/><Relationship Id="rId58" Type="http://schemas.openxmlformats.org/officeDocument/2006/relationships/tags" Target="../tags/tag556.xml"/><Relationship Id="rId57" Type="http://schemas.openxmlformats.org/officeDocument/2006/relationships/tags" Target="../tags/tag555.xml"/><Relationship Id="rId56" Type="http://schemas.openxmlformats.org/officeDocument/2006/relationships/tags" Target="../tags/tag554.xml"/><Relationship Id="rId55" Type="http://schemas.openxmlformats.org/officeDocument/2006/relationships/tags" Target="../tags/tag553.xml"/><Relationship Id="rId54" Type="http://schemas.openxmlformats.org/officeDocument/2006/relationships/tags" Target="../tags/tag552.xml"/><Relationship Id="rId53" Type="http://schemas.openxmlformats.org/officeDocument/2006/relationships/tags" Target="../tags/tag551.xml"/><Relationship Id="rId52" Type="http://schemas.openxmlformats.org/officeDocument/2006/relationships/tags" Target="../tags/tag550.xml"/><Relationship Id="rId51" Type="http://schemas.openxmlformats.org/officeDocument/2006/relationships/tags" Target="../tags/tag549.xml"/><Relationship Id="rId50" Type="http://schemas.openxmlformats.org/officeDocument/2006/relationships/tags" Target="../tags/tag548.xml"/><Relationship Id="rId5" Type="http://schemas.openxmlformats.org/officeDocument/2006/relationships/tags" Target="../tags/tag503.xml"/><Relationship Id="rId49" Type="http://schemas.openxmlformats.org/officeDocument/2006/relationships/tags" Target="../tags/tag547.xml"/><Relationship Id="rId48" Type="http://schemas.openxmlformats.org/officeDocument/2006/relationships/tags" Target="../tags/tag546.xml"/><Relationship Id="rId47" Type="http://schemas.openxmlformats.org/officeDocument/2006/relationships/tags" Target="../tags/tag545.xml"/><Relationship Id="rId46" Type="http://schemas.openxmlformats.org/officeDocument/2006/relationships/tags" Target="../tags/tag544.xml"/><Relationship Id="rId45" Type="http://schemas.openxmlformats.org/officeDocument/2006/relationships/tags" Target="../tags/tag543.xml"/><Relationship Id="rId44" Type="http://schemas.openxmlformats.org/officeDocument/2006/relationships/tags" Target="../tags/tag542.xml"/><Relationship Id="rId43" Type="http://schemas.openxmlformats.org/officeDocument/2006/relationships/tags" Target="../tags/tag541.xml"/><Relationship Id="rId42" Type="http://schemas.openxmlformats.org/officeDocument/2006/relationships/tags" Target="../tags/tag540.xml"/><Relationship Id="rId41" Type="http://schemas.openxmlformats.org/officeDocument/2006/relationships/tags" Target="../tags/tag539.xml"/><Relationship Id="rId40" Type="http://schemas.openxmlformats.org/officeDocument/2006/relationships/tags" Target="../tags/tag538.xml"/><Relationship Id="rId4" Type="http://schemas.openxmlformats.org/officeDocument/2006/relationships/tags" Target="../tags/tag502.xml"/><Relationship Id="rId39" Type="http://schemas.openxmlformats.org/officeDocument/2006/relationships/tags" Target="../tags/tag537.xml"/><Relationship Id="rId38" Type="http://schemas.openxmlformats.org/officeDocument/2006/relationships/tags" Target="../tags/tag536.xml"/><Relationship Id="rId37" Type="http://schemas.openxmlformats.org/officeDocument/2006/relationships/tags" Target="../tags/tag535.xml"/><Relationship Id="rId36" Type="http://schemas.openxmlformats.org/officeDocument/2006/relationships/tags" Target="../tags/tag534.xml"/><Relationship Id="rId35" Type="http://schemas.openxmlformats.org/officeDocument/2006/relationships/tags" Target="../tags/tag533.xml"/><Relationship Id="rId34" Type="http://schemas.openxmlformats.org/officeDocument/2006/relationships/tags" Target="../tags/tag532.xml"/><Relationship Id="rId33" Type="http://schemas.openxmlformats.org/officeDocument/2006/relationships/tags" Target="../tags/tag531.xml"/><Relationship Id="rId32" Type="http://schemas.openxmlformats.org/officeDocument/2006/relationships/tags" Target="../tags/tag530.xml"/><Relationship Id="rId31" Type="http://schemas.openxmlformats.org/officeDocument/2006/relationships/tags" Target="../tags/tag529.xml"/><Relationship Id="rId30" Type="http://schemas.openxmlformats.org/officeDocument/2006/relationships/tags" Target="../tags/tag528.xml"/><Relationship Id="rId3" Type="http://schemas.openxmlformats.org/officeDocument/2006/relationships/tags" Target="../tags/tag501.xml"/><Relationship Id="rId29" Type="http://schemas.openxmlformats.org/officeDocument/2006/relationships/tags" Target="../tags/tag527.xml"/><Relationship Id="rId28" Type="http://schemas.openxmlformats.org/officeDocument/2006/relationships/tags" Target="../tags/tag526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tags" Target="../tags/tag49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64.xml"/><Relationship Id="rId2" Type="http://schemas.openxmlformats.org/officeDocument/2006/relationships/tags" Target="../tags/tag563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5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7.xml"/><Relationship Id="rId1" Type="http://schemas.openxmlformats.org/officeDocument/2006/relationships/tags" Target="../tags/tag56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68269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微观</a:t>
            </a:r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经济学原理部分）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14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：竞争市场上的企业</a:t>
            </a:r>
            <a:endParaRPr lang="zh-CN" altLang="en-US" sz="4000" b="1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043680" cy="607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本章回答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如下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5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个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457200" y="1668002"/>
            <a:ext cx="8229600" cy="3705214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什么是完全竞争市场？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什么是边际收益？它与总收益和平均收益有什么关系？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一个竞争企业如何确定利润最大化的产量？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一个竞争企业在短期内什么时候会停止营业？从长远来看什么时候会退出市场？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短期供应曲线是什么样的？长期供给曲线呢？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200">
                <a:sym typeface="+mn-ea"/>
              </a:rPr>
              <a:t>前言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457200" y="1600200"/>
            <a:ext cx="8229600" cy="3556992"/>
          </a:xfrm>
        </p:spPr>
        <p:txBody>
          <a:bodyPr>
            <a:noAutofit/>
          </a:bodyPr>
          <a:lstStyle/>
          <a:p>
            <a:pPr eaLnBrk="1" hangingPunct="1"/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你毕业三年之后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你开始自己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创业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你必须决定生产多少，定怎样的价格，以及雇佣多少工人等等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哪些因素会影响这些决策? 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你的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生产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前一章的内容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你面临怎样的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竞争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首先研究</a:t>
            </a:r>
            <a:r>
              <a:rPr lang="en-US" sz="27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完全竞争市场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企业行为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bldLvl="4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完全竞争的特征</a:t>
            </a:r>
            <a:endParaRPr sz="3200" smtClean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13703" y="1484630"/>
            <a:ext cx="8313737" cy="2054225"/>
          </a:xfrm>
          <a:solidFill>
            <a:srgbClr val="FFFFCC"/>
          </a:solidFill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indent="-457200" algn="l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市场上有许多买者和许多卖者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各个卖者提供的物品大体上是相同的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企业能够自由地进入或退出市场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6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536" y="3702050"/>
            <a:ext cx="8352927" cy="1527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03225" indent="-403225">
              <a:lnSpc>
                <a:spcPct val="105000"/>
              </a:lnSpc>
              <a:spcBef>
                <a:spcPct val="45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由于1和2，每个买者与卖者都是“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价格接受者</a:t>
            </a:r>
            <a:r>
              <a:rPr lang="en-US" altLang="zh-CN" sz="28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8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zh-CN" altLang="en-US" sz="28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的，买者和卖者都不能左右价格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ldLvl="5" build="p"/>
      <p:bldP spid="450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竞争企业的收益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311468" y="1774508"/>
            <a:ext cx="4762500" cy="3802062"/>
          </a:xfrm>
        </p:spPr>
        <p:txBody>
          <a:bodyPr>
            <a:normAutofit lnSpcReduction="10000"/>
          </a:bodyPr>
          <a:lstStyle/>
          <a:p>
            <a:pPr marL="403225" indent="-403225" algn="l" eaLnBrk="1" hangingPunct="1">
              <a:lnSpc>
                <a:spcPct val="105000"/>
              </a:lnSpc>
              <a:spcBef>
                <a:spcPct val="45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总收益 (TR)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eaLnBrk="1" hangingPunct="1">
              <a:lnSpc>
                <a:spcPct val="105000"/>
              </a:lnSpc>
              <a:spcBef>
                <a:spcPct val="45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3225" indent="-403225" algn="l" eaLnBrk="1" hangingPunct="1">
              <a:lnSpc>
                <a:spcPct val="105000"/>
              </a:lnSpc>
              <a:spcBef>
                <a:spcPct val="45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平均收益 (AR)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eaLnBrk="1" hangingPunct="1">
              <a:lnSpc>
                <a:spcPct val="105000"/>
              </a:lnSpc>
              <a:spcBef>
                <a:spcPct val="45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3225" indent="-403225" algn="l" eaLnBrk="1" hangingPunct="1">
              <a:lnSpc>
                <a:spcPct val="105000"/>
              </a:lnSpc>
              <a:spcBef>
                <a:spcPct val="45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边际收益(MR):</a:t>
            </a:r>
            <a:b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增加一单位销售量引起的总收益的变动 </a:t>
            </a:r>
            <a:endParaRPr lang="en-US" sz="2400" smtClean="0"/>
          </a:p>
        </p:txBody>
      </p:sp>
      <p:grpSp>
        <p:nvGrpSpPr>
          <p:cNvPr id="4" name="Group 21"/>
          <p:cNvGrpSpPr/>
          <p:nvPr/>
        </p:nvGrpSpPr>
        <p:grpSpPr bwMode="auto">
          <a:xfrm>
            <a:off x="5695950" y="4364992"/>
            <a:ext cx="1914525" cy="995363"/>
            <a:chOff x="3450" y="2061"/>
            <a:chExt cx="1206" cy="627"/>
          </a:xfrm>
        </p:grpSpPr>
        <p:grpSp>
          <p:nvGrpSpPr>
            <p:cNvPr id="5" name="Group 10"/>
            <p:cNvGrpSpPr/>
            <p:nvPr/>
          </p:nvGrpSpPr>
          <p:grpSpPr bwMode="auto">
            <a:xfrm>
              <a:off x="4057" y="2061"/>
              <a:ext cx="599" cy="627"/>
              <a:chOff x="4577" y="1756"/>
              <a:chExt cx="599" cy="627"/>
            </a:xfrm>
          </p:grpSpPr>
          <p:sp>
            <p:nvSpPr>
              <p:cNvPr id="9234" name="Rectangle 6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4577" y="1756"/>
                <a:ext cx="599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b="1">
                    <a:latin typeface="Arial" panose="020B0604020202020204"/>
                    <a:cs typeface="Arial" panose="020B0604020202020204"/>
                  </a:rPr>
                  <a:t>∆</a:t>
                </a:r>
                <a:r>
                  <a:rPr lang="en-US" sz="2800" i="1">
                    <a:latin typeface="Arial" panose="020B0604020202020204"/>
                    <a:cs typeface="Arial" panose="020B0604020202020204"/>
                  </a:rPr>
                  <a:t>TR</a:t>
                </a:r>
                <a:endParaRPr lang="en-US" sz="28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235" name="Rectangle 7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4626" y="2053"/>
                <a:ext cx="473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b="1">
                    <a:latin typeface="Arial" panose="020B0604020202020204"/>
                    <a:cs typeface="Arial" panose="020B0604020202020204"/>
                  </a:rPr>
                  <a:t>∆</a:t>
                </a:r>
                <a:r>
                  <a:rPr lang="en-US" sz="28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8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236" name="Line 8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4658" y="2075"/>
                <a:ext cx="4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9233" name="Rectangle 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450" y="2211"/>
              <a:ext cx="675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Arial" panose="020B0604020202020204"/>
                  <a:cs typeface="Arial" panose="020B0604020202020204"/>
                </a:rPr>
                <a:t>MR</a:t>
              </a:r>
              <a:r>
                <a:rPr lang="en-US" sz="2800">
                  <a:latin typeface="Arial" panose="020B0604020202020204"/>
                  <a:cs typeface="Arial" panose="020B0604020202020204"/>
                </a:rPr>
                <a:t> =</a:t>
              </a:r>
              <a:endParaRPr lang="en-US" sz="28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8866" name="Rectangle 1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410518" y="1779270"/>
            <a:ext cx="2057434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800" i="1">
                <a:latin typeface="Arial" panose="020B0604020202020204"/>
                <a:cs typeface="Arial" panose="020B0604020202020204"/>
              </a:rPr>
              <a:t>TR</a:t>
            </a:r>
            <a:r>
              <a:rPr lang="en-US" sz="2800">
                <a:latin typeface="Arial" panose="020B0604020202020204"/>
                <a:cs typeface="Arial" panose="020B0604020202020204"/>
              </a:rPr>
              <a:t> = </a:t>
            </a:r>
            <a:r>
              <a:rPr lang="en-US" sz="2800" b="1" i="1">
                <a:latin typeface="Arial" panose="020B0604020202020204"/>
                <a:cs typeface="Arial" panose="020B0604020202020204"/>
              </a:rPr>
              <a:t>P</a:t>
            </a:r>
            <a:r>
              <a:rPr lang="en-US" sz="2800">
                <a:latin typeface="Arial" panose="020B0604020202020204"/>
                <a:cs typeface="Arial" panose="020B0604020202020204"/>
              </a:rPr>
              <a:t> x </a:t>
            </a:r>
            <a:r>
              <a:rPr lang="en-US" sz="2800" b="1" i="1">
                <a:latin typeface="Arial" panose="020B0604020202020204"/>
                <a:cs typeface="Arial" panose="020B0604020202020204"/>
              </a:rPr>
              <a:t>Q</a:t>
            </a:r>
            <a:endParaRPr lang="en-US" sz="2800" b="1" i="1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" name="Group 20"/>
          <p:cNvGrpSpPr/>
          <p:nvPr/>
        </p:nvGrpSpPr>
        <p:grpSpPr bwMode="auto">
          <a:xfrm>
            <a:off x="5423536" y="2633981"/>
            <a:ext cx="2697163" cy="995363"/>
            <a:chOff x="3483" y="1113"/>
            <a:chExt cx="1699" cy="627"/>
          </a:xfrm>
        </p:grpSpPr>
        <p:grpSp>
          <p:nvGrpSpPr>
            <p:cNvPr id="7" name="Group 13"/>
            <p:cNvGrpSpPr/>
            <p:nvPr/>
          </p:nvGrpSpPr>
          <p:grpSpPr bwMode="auto">
            <a:xfrm>
              <a:off x="4153" y="1113"/>
              <a:ext cx="473" cy="627"/>
              <a:chOff x="4640" y="1756"/>
              <a:chExt cx="473" cy="627"/>
            </a:xfrm>
          </p:grpSpPr>
          <p:sp>
            <p:nvSpPr>
              <p:cNvPr id="9229" name="Rectangle 14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640" y="1756"/>
                <a:ext cx="473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i="1">
                    <a:latin typeface="Arial" panose="020B0604020202020204"/>
                    <a:cs typeface="Arial" panose="020B0604020202020204"/>
                  </a:rPr>
                  <a:t>TR</a:t>
                </a:r>
                <a:endParaRPr lang="en-US" sz="28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230" name="Rectangle 15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4688" y="2053"/>
                <a:ext cx="347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8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231" name="Line 16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658" y="2075"/>
                <a:ext cx="4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9227" name="Rectangle 1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483" y="1263"/>
              <a:ext cx="637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Arial" panose="020B0604020202020204"/>
                  <a:cs typeface="Arial" panose="020B0604020202020204"/>
                </a:rPr>
                <a:t>AR</a:t>
              </a:r>
              <a:r>
                <a:rPr lang="en-US" sz="2800">
                  <a:latin typeface="Arial" panose="020B0604020202020204"/>
                  <a:cs typeface="Arial" panose="020B0604020202020204"/>
                </a:rPr>
                <a:t> =</a:t>
              </a:r>
              <a:endParaRPr lang="en-US" sz="28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28" name="Rectangle 1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85" y="1261"/>
              <a:ext cx="497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800">
                  <a:latin typeface="Arial" panose="020B0604020202020204"/>
                  <a:cs typeface="Arial" panose="020B0604020202020204"/>
                </a:rPr>
                <a:t>= </a:t>
              </a:r>
              <a:r>
                <a:rPr lang="en-US" sz="28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8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" name="Rectangle 19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668261" y="4580891"/>
            <a:ext cx="7889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r>
              <a:rPr lang="en-US" sz="2800">
                <a:latin typeface="Arial" panose="020B0604020202020204"/>
                <a:cs typeface="Arial" panose="020B0604020202020204"/>
              </a:rPr>
              <a:t>= </a:t>
            </a:r>
            <a:r>
              <a:rPr lang="en-US" sz="2800" b="1" i="1">
                <a:latin typeface="Arial" panose="020B0604020202020204"/>
                <a:cs typeface="Arial" panose="020B0604020202020204"/>
              </a:rPr>
              <a:t>P</a:t>
            </a:r>
            <a:endParaRPr lang="en-US" sz="2800" b="1" i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ldLvl="5" build="p"/>
      <p:bldP spid="788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692785"/>
            <a:ext cx="7125970" cy="467995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计算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TR、AR、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MR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6" name="Rectangle 6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08075" y="1794828"/>
            <a:ext cx="7280275" cy="48085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55875" y="1268415"/>
            <a:ext cx="6092825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05000"/>
              </a:lnSpc>
              <a:spcBef>
                <a:spcPct val="4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600" dirty="0">
                <a:latin typeface="Arial" panose="020B0604020202020204"/>
                <a:cs typeface="Arial" panose="020B0604020202020204"/>
              </a:rPr>
              <a:t>完成下面这张表格</a:t>
            </a:r>
            <a:endParaRPr lang="en-US" sz="2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9750" y="5969953"/>
            <a:ext cx="1874838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50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Rectangle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47875" y="5969953"/>
            <a:ext cx="1031875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03313" y="5969953"/>
            <a:ext cx="944562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5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Rectangle 1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79750" y="5331778"/>
            <a:ext cx="1874838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40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47875" y="5331778"/>
            <a:ext cx="1031875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Rectangle 1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03313" y="5331778"/>
            <a:ext cx="944562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4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Rectangle 2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047875" y="4696778"/>
            <a:ext cx="1031875" cy="635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Rectangle 2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03313" y="4696778"/>
            <a:ext cx="944562" cy="635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3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Rectangle 2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047875" y="4057015"/>
            <a:ext cx="1031875" cy="639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Rectangle 2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103313" y="4057015"/>
            <a:ext cx="944562" cy="639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2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Rectangle 2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954588" y="3420428"/>
            <a:ext cx="1611312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Rectangle 31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047875" y="3420428"/>
            <a:ext cx="1031875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Rectangle 32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103313" y="3420428"/>
            <a:ext cx="944562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Rectangle 3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565900" y="2782253"/>
            <a:ext cx="1839913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Rectangle 3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954588" y="2782253"/>
            <a:ext cx="1611312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n/a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Rectangle 36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047875" y="2782253"/>
            <a:ext cx="1031875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Rectangle 37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103313" y="2782253"/>
            <a:ext cx="944562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Rectangle 38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565900" y="1785303"/>
            <a:ext cx="1839913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 i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Rectangle 39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954588" y="1785303"/>
            <a:ext cx="1611312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Rectangle 40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079750" y="1785303"/>
            <a:ext cx="1874838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i="1" smtClean="0">
                <a:latin typeface="Arial" panose="020B0604020202020204"/>
                <a:cs typeface="Arial" panose="020B0604020202020204"/>
              </a:rPr>
              <a:t>TR</a:t>
            </a:r>
            <a:endParaRPr lang="en-US" sz="2400" i="1" smtClean="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i="1" smtClean="0">
                <a:latin typeface="Arial" panose="020B0604020202020204"/>
                <a:cs typeface="Arial" panose="020B0604020202020204"/>
              </a:rPr>
              <a:t>（元）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Rectangle 41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047875" y="1785303"/>
            <a:ext cx="1031875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 i="1" smtClean="0">
                <a:latin typeface="Arial" panose="020B0604020202020204"/>
                <a:cs typeface="Arial" panose="020B0604020202020204"/>
              </a:rPr>
              <a:t>P</a:t>
            </a:r>
            <a:endParaRPr lang="en-US" sz="2400" b="1" i="1" smtClean="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b="1" i="1" smtClean="0">
                <a:latin typeface="Arial" panose="020B0604020202020204"/>
                <a:cs typeface="Arial" panose="020B0604020202020204"/>
              </a:rPr>
              <a:t>（元）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Rectangle 42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103313" y="1785303"/>
            <a:ext cx="944562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Line 43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1103313" y="1785303"/>
            <a:ext cx="7302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Line 44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1103313" y="2782253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Line 45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1103313" y="3420428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Line 46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1103313" y="4057015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Line 47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1103313" y="4696778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Line 48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1103313" y="5331778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Line 49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1103313" y="5969953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Line 50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1103313" y="6606540"/>
            <a:ext cx="7302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Line 51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1103313" y="1785303"/>
            <a:ext cx="0" cy="482123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Line 52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2047875" y="1785303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Line 53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3079750" y="1785303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Line 54"/>
          <p:cNvSpPr>
            <a:spLocks noChangeShapeType="1"/>
          </p:cNvSpPr>
          <p:nvPr>
            <p:custDataLst>
              <p:tags r:id="rId36"/>
            </p:custDataLst>
          </p:nvPr>
        </p:nvSpPr>
        <p:spPr bwMode="auto">
          <a:xfrm>
            <a:off x="4954588" y="1785303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Line 55"/>
          <p:cNvSpPr>
            <a:spLocks noChangeShapeType="1"/>
          </p:cNvSpPr>
          <p:nvPr>
            <p:custDataLst>
              <p:tags r:id="rId37"/>
            </p:custDataLst>
          </p:nvPr>
        </p:nvSpPr>
        <p:spPr bwMode="auto">
          <a:xfrm>
            <a:off x="6565900" y="1785303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Rectangle 62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7092280" y="1844824"/>
            <a:ext cx="1107996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sz="2400" i="1" smtClean="0">
                <a:latin typeface="Arial" panose="020B0604020202020204"/>
                <a:cs typeface="Arial" panose="020B0604020202020204"/>
              </a:rPr>
              <a:t>MR</a:t>
            </a:r>
            <a:endParaRPr lang="en-US" sz="2400" i="1" smtClean="0"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zh-CN" altLang="en-US" sz="2400" i="1" smtClean="0">
                <a:latin typeface="Arial" panose="020B0604020202020204"/>
                <a:cs typeface="Arial" panose="020B0604020202020204"/>
              </a:rPr>
              <a:t>（元）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Rectangle 68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292080" y="1844824"/>
            <a:ext cx="1152128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smtClean="0">
                <a:latin typeface="Arial" panose="020B0604020202020204"/>
                <a:cs typeface="Arial" panose="020B0604020202020204"/>
              </a:rPr>
              <a:t>AR</a:t>
            </a:r>
            <a:endParaRPr lang="en-US" sz="2400" i="1" smtClean="0"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zh-CN" altLang="en-US" sz="2400" i="1" smtClean="0">
                <a:latin typeface="Arial" panose="020B0604020202020204"/>
                <a:cs typeface="Arial" panose="020B0604020202020204"/>
              </a:rPr>
              <a:t>（元）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Rectangle 8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565900" y="5625465"/>
            <a:ext cx="1839913" cy="6365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6" name="Group 72"/>
          <p:cNvGrpSpPr/>
          <p:nvPr/>
        </p:nvGrpSpPr>
        <p:grpSpPr bwMode="auto">
          <a:xfrm>
            <a:off x="6565900" y="3075940"/>
            <a:ext cx="1839913" cy="2549525"/>
            <a:chOff x="4171" y="1765"/>
            <a:chExt cx="1159" cy="1606"/>
          </a:xfrm>
        </p:grpSpPr>
        <p:sp>
          <p:nvSpPr>
            <p:cNvPr id="47" name="Rectangle 13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171" y="2969"/>
              <a:ext cx="1159" cy="40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" name="Rectangle 18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171" y="2569"/>
              <a:ext cx="1159" cy="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" name="Rectangle 23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171" y="2166"/>
              <a:ext cx="1159" cy="40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" name="Rectangle 28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171" y="1765"/>
              <a:ext cx="1159" cy="4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1" name="Line 56"/>
          <p:cNvSpPr>
            <a:spLocks noChangeShapeType="1"/>
          </p:cNvSpPr>
          <p:nvPr>
            <p:custDataLst>
              <p:tags r:id="rId45"/>
            </p:custDataLst>
          </p:nvPr>
        </p:nvSpPr>
        <p:spPr bwMode="auto">
          <a:xfrm>
            <a:off x="8405813" y="1785303"/>
            <a:ext cx="0" cy="482123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Rectangle 70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572250" y="6268403"/>
            <a:ext cx="1808163" cy="322262"/>
          </a:xfrm>
          <a:prstGeom prst="rect">
            <a:avLst/>
          </a:pr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Rectangle 71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6570663" y="2791778"/>
            <a:ext cx="1804987" cy="276225"/>
          </a:xfrm>
          <a:prstGeom prst="rect">
            <a:avLst/>
          </a:pr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答案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6" name="Rectangle 2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65900" y="2674938"/>
            <a:ext cx="1839913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08075" y="1687513"/>
            <a:ext cx="7280275" cy="48085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9750" y="5862638"/>
            <a:ext cx="1874838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50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47875" y="5862638"/>
            <a:ext cx="1031875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03313" y="5862638"/>
            <a:ext cx="944562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5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79750" y="5224463"/>
            <a:ext cx="1874838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40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Rectangle 1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47875" y="5224463"/>
            <a:ext cx="1031875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Rectangle 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03313" y="5224463"/>
            <a:ext cx="944562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4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Rectangle 1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047875" y="4589463"/>
            <a:ext cx="1031875" cy="635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Rectangle 19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03313" y="4589463"/>
            <a:ext cx="944562" cy="635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3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Group 72"/>
          <p:cNvGrpSpPr/>
          <p:nvPr/>
        </p:nvGrpSpPr>
        <p:grpSpPr bwMode="auto">
          <a:xfrm>
            <a:off x="4954588" y="3949700"/>
            <a:ext cx="1611312" cy="2549525"/>
            <a:chOff x="3156" y="2383"/>
            <a:chExt cx="1015" cy="1606"/>
          </a:xfrm>
        </p:grpSpPr>
        <p:sp>
          <p:nvSpPr>
            <p:cNvPr id="18" name="Rectangle 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156" y="3588"/>
              <a:ext cx="1015" cy="4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" name="Rectangle 1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156" y="3186"/>
              <a:ext cx="1015" cy="40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156" y="2786"/>
              <a:ext cx="1015" cy="4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156" y="2383"/>
              <a:ext cx="1015" cy="4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2" name="Rectangle 22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047875" y="3949700"/>
            <a:ext cx="1031875" cy="639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Rectangle 2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103313" y="3949700"/>
            <a:ext cx="944562" cy="639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2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Rectangle 2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954588" y="3313113"/>
            <a:ext cx="1611312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Rectangle 26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047875" y="3313113"/>
            <a:ext cx="1031875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Rectangle 27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103313" y="3313113"/>
            <a:ext cx="944562" cy="63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Rectangle 29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4954588" y="2674938"/>
            <a:ext cx="1611312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n/a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" name="Group 71"/>
          <p:cNvGrpSpPr/>
          <p:nvPr/>
        </p:nvGrpSpPr>
        <p:grpSpPr bwMode="auto">
          <a:xfrm>
            <a:off x="3079750" y="2674938"/>
            <a:ext cx="1874838" cy="2549525"/>
            <a:chOff x="1975" y="1580"/>
            <a:chExt cx="1181" cy="1606"/>
          </a:xfrm>
        </p:grpSpPr>
        <p:sp>
          <p:nvSpPr>
            <p:cNvPr id="29" name="Rectangle 17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975" y="2786"/>
              <a:ext cx="1181" cy="4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30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Rectangle 21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975" y="2383"/>
              <a:ext cx="1181" cy="4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20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Rectangle 25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975" y="1982"/>
              <a:ext cx="1181" cy="4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975" y="1580"/>
              <a:ext cx="1181" cy="40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3" name="Rectangle 31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2047875" y="2674938"/>
            <a:ext cx="1031875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Rectangle 32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103313" y="2674938"/>
            <a:ext cx="944562" cy="638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Rectangle 33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565900" y="1677988"/>
            <a:ext cx="1839913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Rectangle 34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954588" y="1677988"/>
            <a:ext cx="1611312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Rectangle 35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079750" y="1677988"/>
            <a:ext cx="1874838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i="1">
                <a:latin typeface="Arial" panose="020B0604020202020204"/>
                <a:cs typeface="Arial" panose="020B0604020202020204"/>
              </a:rPr>
              <a:t>TR</a:t>
            </a:r>
            <a:r>
              <a:rPr lang="en-US" sz="24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400">
                <a:latin typeface="Arial" panose="020B0604020202020204"/>
                <a:cs typeface="Arial" panose="020B0604020202020204"/>
              </a:rPr>
              <a:t>= </a:t>
            </a:r>
            <a:r>
              <a:rPr lang="en-US" sz="2400" b="1" i="1">
                <a:latin typeface="Arial" panose="020B0604020202020204"/>
                <a:cs typeface="Arial" panose="020B0604020202020204"/>
              </a:rPr>
              <a:t>P</a:t>
            </a:r>
            <a:r>
              <a:rPr lang="en-US" sz="2400">
                <a:latin typeface="Arial" panose="020B0604020202020204"/>
                <a:cs typeface="Arial" panose="020B0604020202020204"/>
              </a:rPr>
              <a:t> x </a:t>
            </a: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Rectangle 36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2047875" y="1677988"/>
            <a:ext cx="1031875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P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Rectangle 37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103313" y="1677988"/>
            <a:ext cx="944562" cy="996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Line 38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1103313" y="1677988"/>
            <a:ext cx="7302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Line 39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1103313" y="2674938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Line 40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1103313" y="3313113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Line 41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1103313" y="3949700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Line 42"/>
          <p:cNvSpPr>
            <a:spLocks noChangeShapeType="1"/>
          </p:cNvSpPr>
          <p:nvPr>
            <p:custDataLst>
              <p:tags r:id="rId36"/>
            </p:custDataLst>
          </p:nvPr>
        </p:nvSpPr>
        <p:spPr bwMode="auto">
          <a:xfrm>
            <a:off x="1103313" y="4589463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Line 43"/>
          <p:cNvSpPr>
            <a:spLocks noChangeShapeType="1"/>
          </p:cNvSpPr>
          <p:nvPr>
            <p:custDataLst>
              <p:tags r:id="rId37"/>
            </p:custDataLst>
          </p:nvPr>
        </p:nvSpPr>
        <p:spPr bwMode="auto">
          <a:xfrm>
            <a:off x="1103313" y="5224463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Line 44"/>
          <p:cNvSpPr>
            <a:spLocks noChangeShapeType="1"/>
          </p:cNvSpPr>
          <p:nvPr>
            <p:custDataLst>
              <p:tags r:id="rId38"/>
            </p:custDataLst>
          </p:nvPr>
        </p:nvSpPr>
        <p:spPr bwMode="auto">
          <a:xfrm>
            <a:off x="1103313" y="5862638"/>
            <a:ext cx="730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Line 45"/>
          <p:cNvSpPr>
            <a:spLocks noChangeShapeType="1"/>
          </p:cNvSpPr>
          <p:nvPr>
            <p:custDataLst>
              <p:tags r:id="rId39"/>
            </p:custDataLst>
          </p:nvPr>
        </p:nvSpPr>
        <p:spPr bwMode="auto">
          <a:xfrm>
            <a:off x="1103313" y="6499225"/>
            <a:ext cx="7302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Line 46"/>
          <p:cNvSpPr>
            <a:spLocks noChangeShapeType="1"/>
          </p:cNvSpPr>
          <p:nvPr>
            <p:custDataLst>
              <p:tags r:id="rId40"/>
            </p:custDataLst>
          </p:nvPr>
        </p:nvSpPr>
        <p:spPr bwMode="auto">
          <a:xfrm>
            <a:off x="1103313" y="1677988"/>
            <a:ext cx="0" cy="482123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Line 47"/>
          <p:cNvSpPr>
            <a:spLocks noChangeShapeType="1"/>
          </p:cNvSpPr>
          <p:nvPr>
            <p:custDataLst>
              <p:tags r:id="rId41"/>
            </p:custDataLst>
          </p:nvPr>
        </p:nvSpPr>
        <p:spPr bwMode="auto">
          <a:xfrm>
            <a:off x="2047875" y="1677988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Line 48"/>
          <p:cNvSpPr>
            <a:spLocks noChangeShapeType="1"/>
          </p:cNvSpPr>
          <p:nvPr>
            <p:custDataLst>
              <p:tags r:id="rId42"/>
            </p:custDataLst>
          </p:nvPr>
        </p:nvSpPr>
        <p:spPr bwMode="auto">
          <a:xfrm>
            <a:off x="3079750" y="1677988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Line 49"/>
          <p:cNvSpPr>
            <a:spLocks noChangeShapeType="1"/>
          </p:cNvSpPr>
          <p:nvPr>
            <p:custDataLst>
              <p:tags r:id="rId43"/>
            </p:custDataLst>
          </p:nvPr>
        </p:nvSpPr>
        <p:spPr bwMode="auto">
          <a:xfrm>
            <a:off x="4954588" y="1677988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Line 50"/>
          <p:cNvSpPr>
            <a:spLocks noChangeShapeType="1"/>
          </p:cNvSpPr>
          <p:nvPr>
            <p:custDataLst>
              <p:tags r:id="rId44"/>
            </p:custDataLst>
          </p:nvPr>
        </p:nvSpPr>
        <p:spPr bwMode="auto">
          <a:xfrm>
            <a:off x="6565900" y="1677988"/>
            <a:ext cx="0" cy="482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3" name="Group 51"/>
          <p:cNvGrpSpPr/>
          <p:nvPr/>
        </p:nvGrpSpPr>
        <p:grpSpPr bwMode="auto">
          <a:xfrm>
            <a:off x="6588127" y="1720850"/>
            <a:ext cx="1693863" cy="933451"/>
            <a:chOff x="4251" y="208"/>
            <a:chExt cx="1067" cy="588"/>
          </a:xfrm>
        </p:grpSpPr>
        <p:grpSp>
          <p:nvGrpSpPr>
            <p:cNvPr id="54" name="Group 52"/>
            <p:cNvGrpSpPr/>
            <p:nvPr/>
          </p:nvGrpSpPr>
          <p:grpSpPr bwMode="auto">
            <a:xfrm>
              <a:off x="4787" y="208"/>
              <a:ext cx="531" cy="588"/>
              <a:chOff x="4611" y="1788"/>
              <a:chExt cx="531" cy="588"/>
            </a:xfrm>
          </p:grpSpPr>
          <p:sp>
            <p:nvSpPr>
              <p:cNvPr id="56" name="Rectangle 53"/>
              <p:cNvSpPr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4611" y="1788"/>
                <a:ext cx="531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b="1" dirty="0">
                    <a:latin typeface="Arial" panose="020B0604020202020204"/>
                    <a:cs typeface="Arial" panose="020B0604020202020204"/>
                  </a:rPr>
                  <a:t>∆</a:t>
                </a:r>
                <a:r>
                  <a:rPr lang="en-US" sz="2400" i="1" dirty="0">
                    <a:latin typeface="Arial" panose="020B0604020202020204"/>
                    <a:cs typeface="Arial" panose="020B0604020202020204"/>
                  </a:rPr>
                  <a:t>TR</a:t>
                </a:r>
                <a:endParaRPr lang="en-US" sz="2400" i="1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7" name="Rectangle 54"/>
              <p:cNvSpPr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4650" y="2085"/>
                <a:ext cx="423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b="1">
                    <a:latin typeface="Arial" panose="020B0604020202020204"/>
                    <a:cs typeface="Arial" panose="020B0604020202020204"/>
                  </a:rPr>
                  <a:t>∆</a:t>
                </a: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8" name="Line 55"/>
              <p:cNvSpPr>
                <a:spLocks noChangeShapeType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4658" y="2075"/>
                <a:ext cx="4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5" name="Rectangle 56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4251" y="358"/>
              <a:ext cx="595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400" i="1">
                  <a:latin typeface="Arial" panose="020B0604020202020204"/>
                  <a:cs typeface="Arial" panose="020B0604020202020204"/>
                </a:rPr>
                <a:t>MR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=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9" name="Group 57"/>
          <p:cNvGrpSpPr/>
          <p:nvPr/>
        </p:nvGrpSpPr>
        <p:grpSpPr bwMode="auto">
          <a:xfrm>
            <a:off x="5033963" y="1725612"/>
            <a:ext cx="1454150" cy="933449"/>
            <a:chOff x="4458" y="1245"/>
            <a:chExt cx="916" cy="588"/>
          </a:xfrm>
        </p:grpSpPr>
        <p:grpSp>
          <p:nvGrpSpPr>
            <p:cNvPr id="60" name="Group 58"/>
            <p:cNvGrpSpPr/>
            <p:nvPr/>
          </p:nvGrpSpPr>
          <p:grpSpPr bwMode="auto">
            <a:xfrm>
              <a:off x="4951" y="1245"/>
              <a:ext cx="423" cy="588"/>
              <a:chOff x="4951" y="1245"/>
              <a:chExt cx="423" cy="588"/>
            </a:xfrm>
          </p:grpSpPr>
          <p:sp>
            <p:nvSpPr>
              <p:cNvPr id="62" name="Rectangle 59"/>
              <p:cNvSpPr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4951" y="1245"/>
                <a:ext cx="423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latin typeface="Arial" panose="020B0604020202020204"/>
                    <a:cs typeface="Arial" panose="020B0604020202020204"/>
                  </a:rPr>
                  <a:t>TR</a:t>
                </a:r>
                <a:endParaRPr lang="en-US" sz="24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3" name="Rectangle 60"/>
              <p:cNvSpPr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4990" y="1542"/>
                <a:ext cx="315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4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4" name="Line 61"/>
              <p:cNvSpPr>
                <a:spLocks noChangeShapeType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5016" y="1532"/>
                <a:ext cx="2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61" name="Rectangle 62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458" y="1392"/>
              <a:ext cx="5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400" i="1">
                  <a:latin typeface="Arial" panose="020B0604020202020204"/>
                  <a:cs typeface="Arial" panose="020B0604020202020204"/>
                </a:rPr>
                <a:t>AR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=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5" name="Rectangle 69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572250" y="6161088"/>
            <a:ext cx="1808163" cy="322262"/>
          </a:xfrm>
          <a:prstGeom prst="rect">
            <a:avLst/>
          </a:pr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Rectangle 70"/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6570663" y="2684463"/>
            <a:ext cx="1804987" cy="276225"/>
          </a:xfrm>
          <a:prstGeom prst="rect">
            <a:avLst/>
          </a:prstGeom>
          <a:pattFill prst="wdUpDiag">
            <a:fgClr>
              <a:srgbClr val="969696"/>
            </a:fgClr>
            <a:bgClr>
              <a:schemeClr val="bg1"/>
            </a:bgClr>
          </a:patt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Rectangle 63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6565900" y="5518150"/>
            <a:ext cx="1839913" cy="6365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3" name="Group 84"/>
          <p:cNvGrpSpPr/>
          <p:nvPr/>
        </p:nvGrpSpPr>
        <p:grpSpPr bwMode="auto">
          <a:xfrm>
            <a:off x="6588224" y="3140968"/>
            <a:ext cx="1839913" cy="2549525"/>
            <a:chOff x="4171" y="1765"/>
            <a:chExt cx="1159" cy="1606"/>
          </a:xfrm>
        </p:grpSpPr>
        <p:sp>
          <p:nvSpPr>
            <p:cNvPr id="74" name="Rectangle 64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4171" y="2969"/>
              <a:ext cx="1159" cy="40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5" name="Rectangle 65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171" y="2569"/>
              <a:ext cx="1159" cy="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Rectangle 66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171" y="2166"/>
              <a:ext cx="1159" cy="41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Rectangle 67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171" y="1765"/>
              <a:ext cx="1159" cy="4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FF3300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FF3300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8" name="Line 68"/>
          <p:cNvSpPr>
            <a:spLocks noChangeShapeType="1"/>
          </p:cNvSpPr>
          <p:nvPr>
            <p:custDataLst>
              <p:tags r:id="rId60"/>
            </p:custDataLst>
          </p:nvPr>
        </p:nvSpPr>
        <p:spPr bwMode="auto">
          <a:xfrm>
            <a:off x="8405813" y="1677988"/>
            <a:ext cx="0" cy="482123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9" name="Group 88"/>
          <p:cNvGrpSpPr/>
          <p:nvPr/>
        </p:nvGrpSpPr>
        <p:grpSpPr bwMode="auto">
          <a:xfrm>
            <a:off x="2911475" y="2887028"/>
            <a:ext cx="6070601" cy="3311525"/>
            <a:chOff x="1869" y="1714"/>
            <a:chExt cx="3824" cy="2086"/>
          </a:xfrm>
        </p:grpSpPr>
        <p:sp>
          <p:nvSpPr>
            <p:cNvPr id="80" name="Text Box 85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4968" y="2213"/>
              <a:ext cx="725" cy="465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lnSpc>
                  <a:spcPct val="105000"/>
                </a:lnSpc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Arial" panose="020B0604020202020204"/>
                  <a:cs typeface="Arial" panose="020B0604020202020204"/>
                </a:rPr>
                <a:t>注意</a:t>
              </a:r>
              <a:r>
                <a:rPr lang="en-US" sz="2000" dirty="0">
                  <a:latin typeface="Arial" panose="020B0604020202020204"/>
                  <a:cs typeface="Arial" panose="020B0604020202020204"/>
                </a:rPr>
                <a:t> </a:t>
              </a:r>
              <a:br>
                <a:rPr lang="en-US" sz="2000" dirty="0">
                  <a:latin typeface="Arial" panose="020B0604020202020204"/>
                  <a:cs typeface="Arial" panose="020B0604020202020204"/>
                </a:rPr>
              </a:br>
              <a:r>
                <a:rPr lang="en-US" sz="2000" i="1" dirty="0">
                  <a:latin typeface="Arial" panose="020B0604020202020204"/>
                  <a:cs typeface="Arial" panose="020B0604020202020204"/>
                </a:rPr>
                <a:t>MR</a:t>
              </a:r>
              <a:r>
                <a:rPr lang="en-US" sz="2000" dirty="0">
                  <a:latin typeface="Arial" panose="020B0604020202020204"/>
                  <a:cs typeface="Arial" panose="020B0604020202020204"/>
                </a:rPr>
                <a:t> = </a:t>
              </a:r>
              <a:r>
                <a:rPr lang="en-US" sz="2000" b="1" i="1" dirty="0">
                  <a:latin typeface="Arial" panose="020B0604020202020204"/>
                  <a:cs typeface="Arial" panose="020B0604020202020204"/>
                </a:rPr>
                <a:t>P</a:t>
              </a:r>
              <a:endParaRPr lang="en-US" sz="2000" b="1" i="1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AutoShape 86"/>
            <p:cNvSpPr/>
            <p:nvPr>
              <p:custDataLst>
                <p:tags r:id="rId62"/>
              </p:custDataLst>
            </p:nvPr>
          </p:nvSpPr>
          <p:spPr bwMode="auto">
            <a:xfrm>
              <a:off x="3884" y="1819"/>
              <a:ext cx="408" cy="1841"/>
            </a:xfrm>
            <a:prstGeom prst="leftBrace">
              <a:avLst>
                <a:gd name="adj1" fmla="val 44371"/>
                <a:gd name="adj2" fmla="val 41986"/>
              </a:avLst>
            </a:prstGeom>
            <a:noFill/>
            <a:ln w="38100">
              <a:solidFill>
                <a:srgbClr val="00CC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AutoShape 87"/>
            <p:cNvSpPr/>
            <p:nvPr>
              <p:custDataLst>
                <p:tags r:id="rId63"/>
              </p:custDataLst>
            </p:nvPr>
          </p:nvSpPr>
          <p:spPr bwMode="auto">
            <a:xfrm>
              <a:off x="1869" y="1714"/>
              <a:ext cx="386" cy="2086"/>
            </a:xfrm>
            <a:prstGeom prst="rightBrace">
              <a:avLst>
                <a:gd name="adj1" fmla="val 52340"/>
                <a:gd name="adj2" fmla="val 42282"/>
              </a:avLst>
            </a:prstGeom>
            <a:noFill/>
            <a:ln w="38100">
              <a:solidFill>
                <a:srgbClr val="00CC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7120890" cy="467995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对一个竞争企业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而言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MR 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=P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560" y="1628800"/>
            <a:ext cx="84249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一个竞争企业能够增加它的产量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而不影响市场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endParaRPr lang="en-US" altLang="zh-CN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因此，每单位产量增加使得收益增加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，也就是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MR=P   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15616" y="3933056"/>
            <a:ext cx="6264696" cy="103886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800" smtClea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MR=P</a:t>
            </a:r>
            <a:endParaRPr lang="en-US" sz="2800" smtClean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10000"/>
              </a:lnSpc>
              <a:defRPr/>
            </a:pPr>
            <a:r>
              <a:rPr lang="zh-CN" altLang="en-US" sz="2800" smtClea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仅针对竞争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市场上的企业成立</a:t>
            </a:r>
            <a:endParaRPr lang="zh-CN" altLang="en-US" sz="280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692785"/>
            <a:ext cx="7120890" cy="467995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利润最大化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algn="l" eaLnBrk="1" hangingPunct="1">
              <a:lnSpc>
                <a:spcPct val="150000"/>
              </a:lnSpc>
              <a:buClrTx/>
              <a:buSzTx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企业利润最大化的产量是多少?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50000"/>
              </a:lnSpc>
              <a:buClrTx/>
              <a:buSzTx/>
            </a:pP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我们需要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考虑边际量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p"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如果产量增加一单位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，那么收益增加MR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成本增加MC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p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如果MR&gt;MC，那增加产量会提高利润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 eaLnBrk="1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如果MR&lt;MC，那降低产量会提高利润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ldLvl="5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6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利润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最大化：（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前例）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434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86063" y="1670050"/>
            <a:ext cx="5900737" cy="4432300"/>
          </a:xfrm>
          <a:prstGeom prst="rect">
            <a:avLst/>
          </a:prstGeom>
          <a:solidFill>
            <a:srgbClr val="FFE5E5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38700" y="5526088"/>
            <a:ext cx="981075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89313" y="5526088"/>
            <a:ext cx="679450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50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4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87650" y="5526088"/>
            <a:ext cx="601663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5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838700" y="4938713"/>
            <a:ext cx="981075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6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389313" y="4938713"/>
            <a:ext cx="679450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40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7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787650" y="4938713"/>
            <a:ext cx="601663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4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8" name="Rectangle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838700" y="4354513"/>
            <a:ext cx="98107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49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389313" y="4354513"/>
            <a:ext cx="6794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30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0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787650" y="4354513"/>
            <a:ext cx="601663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3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1" name="Rectangle 1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838700" y="3765550"/>
            <a:ext cx="981075" cy="588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2" name="Rectangle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389313" y="3765550"/>
            <a:ext cx="679450" cy="588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20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3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787650" y="3765550"/>
            <a:ext cx="601663" cy="588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2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4" name="Rectangle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838700" y="3181350"/>
            <a:ext cx="98107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5" name="Rectangle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389313" y="3181350"/>
            <a:ext cx="6794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6" name="Rectangle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787650" y="3181350"/>
            <a:ext cx="601663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7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202488" y="2595563"/>
            <a:ext cx="1495425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8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534150" y="2595563"/>
            <a:ext cx="668338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9" name="Rectangl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819775" y="2595563"/>
            <a:ext cx="714375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0" name="Rectangle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838700" y="2595563"/>
            <a:ext cx="981075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" name="Group 23"/>
          <p:cNvGrpSpPr/>
          <p:nvPr/>
        </p:nvGrpSpPr>
        <p:grpSpPr bwMode="auto">
          <a:xfrm>
            <a:off x="4068763" y="2595563"/>
            <a:ext cx="769937" cy="3516312"/>
            <a:chOff x="2563" y="1635"/>
            <a:chExt cx="485" cy="2215"/>
          </a:xfrm>
        </p:grpSpPr>
        <p:sp>
          <p:nvSpPr>
            <p:cNvPr id="14430" name="Rectangle 24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563" y="3481"/>
              <a:ext cx="485" cy="3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45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31" name="Rectangle 25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563" y="3111"/>
              <a:ext cx="485" cy="3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33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32" name="Rectangle 2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563" y="2743"/>
              <a:ext cx="485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23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33" name="Rectangle 27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563" y="2372"/>
              <a:ext cx="485" cy="3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15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34" name="Rectangle 28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563" y="2004"/>
              <a:ext cx="485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35" name="Rectangle 29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563" y="1635"/>
              <a:ext cx="485" cy="3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362" name="Rectangle 30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389313" y="2595563"/>
            <a:ext cx="679450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3" name="Rectangle 31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2787650" y="2595563"/>
            <a:ext cx="601663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4" name="Rectangle 32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202488" y="1673225"/>
            <a:ext cx="1495425" cy="922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</a:pPr>
            <a:r>
              <a:rPr lang="en-US" sz="2800" b="1" dirty="0">
                <a:latin typeface="Arial" panose="020B0604020202020204"/>
                <a:cs typeface="Arial" panose="020B0604020202020204"/>
              </a:rPr>
              <a:t>∆</a:t>
            </a:r>
            <a:r>
              <a:rPr lang="zh-CN" altLang="en-US" sz="2800" b="1" dirty="0">
                <a:latin typeface="Arial" panose="020B0604020202020204"/>
                <a:cs typeface="Arial" panose="020B0604020202020204"/>
              </a:rPr>
              <a:t>利润</a:t>
            </a:r>
            <a:r>
              <a:rPr lang="en-US" sz="2400" dirty="0" smtClean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= </a:t>
            </a:r>
            <a:r>
              <a:rPr lang="en-US" sz="2400" i="1" dirty="0">
                <a:latin typeface="Arial" panose="020B0604020202020204"/>
                <a:cs typeface="Arial" panose="020B0604020202020204"/>
              </a:rPr>
              <a:t>MR</a:t>
            </a:r>
            <a:r>
              <a:rPr lang="en-US" sz="14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–</a:t>
            </a:r>
            <a:r>
              <a:rPr lang="en-US" sz="14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i="1" dirty="0">
                <a:latin typeface="Arial" panose="020B0604020202020204"/>
                <a:cs typeface="Arial" panose="020B0604020202020204"/>
              </a:rPr>
              <a:t>MC</a:t>
            </a:r>
            <a:endParaRPr lang="en-US" sz="2400" i="1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5" name="Rectangle 33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534150" y="1673225"/>
            <a:ext cx="668338" cy="922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i="1">
                <a:latin typeface="Arial" panose="020B0604020202020204"/>
                <a:cs typeface="Arial" panose="020B0604020202020204"/>
              </a:rPr>
              <a:t>MC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6" name="Rectangle 34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819775" y="1673225"/>
            <a:ext cx="714375" cy="922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i="1">
                <a:latin typeface="Arial" panose="020B0604020202020204"/>
                <a:cs typeface="Arial" panose="020B0604020202020204"/>
              </a:rPr>
              <a:t>MR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7" name="Rectangle 35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838700" y="1673225"/>
            <a:ext cx="981075" cy="922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>
                <a:latin typeface="Arial" panose="020B0604020202020204"/>
                <a:cs typeface="Arial" panose="020B0604020202020204"/>
              </a:rPr>
              <a:t>利润</a:t>
            </a:r>
            <a:endParaRPr lang="zh-CN" alt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8" name="Rectangle 36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068763" y="1673225"/>
            <a:ext cx="769937" cy="922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i="1">
                <a:latin typeface="Arial" panose="020B0604020202020204"/>
                <a:cs typeface="Arial" panose="020B0604020202020204"/>
              </a:rPr>
              <a:t>TC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69" name="Rectangle 37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3389313" y="1673225"/>
            <a:ext cx="679450" cy="922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i="1">
                <a:latin typeface="Arial" panose="020B0604020202020204"/>
                <a:cs typeface="Arial" panose="020B0604020202020204"/>
              </a:rPr>
              <a:t>TR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0" name="Rectangle 38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2787650" y="1673225"/>
            <a:ext cx="601663" cy="922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1" name="Line 39"/>
          <p:cNvSpPr>
            <a:spLocks noChangeShapeType="1"/>
          </p:cNvSpPr>
          <p:nvPr>
            <p:custDataLst>
              <p:tags r:id="rId37"/>
            </p:custDataLst>
          </p:nvPr>
        </p:nvSpPr>
        <p:spPr bwMode="auto">
          <a:xfrm>
            <a:off x="2787650" y="1673225"/>
            <a:ext cx="5910263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2" name="Line 40"/>
          <p:cNvSpPr>
            <a:spLocks noChangeShapeType="1"/>
          </p:cNvSpPr>
          <p:nvPr>
            <p:custDataLst>
              <p:tags r:id="rId38"/>
            </p:custDataLst>
          </p:nvPr>
        </p:nvSpPr>
        <p:spPr bwMode="auto">
          <a:xfrm>
            <a:off x="2787650" y="2595563"/>
            <a:ext cx="591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3" name="Line 41"/>
          <p:cNvSpPr>
            <a:spLocks noChangeShapeType="1"/>
          </p:cNvSpPr>
          <p:nvPr>
            <p:custDataLst>
              <p:tags r:id="rId39"/>
            </p:custDataLst>
          </p:nvPr>
        </p:nvSpPr>
        <p:spPr bwMode="auto">
          <a:xfrm>
            <a:off x="2787650" y="3181350"/>
            <a:ext cx="591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4" name="Line 42"/>
          <p:cNvSpPr>
            <a:spLocks noChangeShapeType="1"/>
          </p:cNvSpPr>
          <p:nvPr>
            <p:custDataLst>
              <p:tags r:id="rId40"/>
            </p:custDataLst>
          </p:nvPr>
        </p:nvSpPr>
        <p:spPr bwMode="auto">
          <a:xfrm>
            <a:off x="2787650" y="3765550"/>
            <a:ext cx="591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5" name="Line 43"/>
          <p:cNvSpPr>
            <a:spLocks noChangeShapeType="1"/>
          </p:cNvSpPr>
          <p:nvPr>
            <p:custDataLst>
              <p:tags r:id="rId41"/>
            </p:custDataLst>
          </p:nvPr>
        </p:nvSpPr>
        <p:spPr bwMode="auto">
          <a:xfrm>
            <a:off x="2787650" y="4354513"/>
            <a:ext cx="591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6" name="Line 44"/>
          <p:cNvSpPr>
            <a:spLocks noChangeShapeType="1"/>
          </p:cNvSpPr>
          <p:nvPr>
            <p:custDataLst>
              <p:tags r:id="rId42"/>
            </p:custDataLst>
          </p:nvPr>
        </p:nvSpPr>
        <p:spPr bwMode="auto">
          <a:xfrm>
            <a:off x="2787650" y="4938713"/>
            <a:ext cx="591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7" name="Line 45"/>
          <p:cNvSpPr>
            <a:spLocks noChangeShapeType="1"/>
          </p:cNvSpPr>
          <p:nvPr>
            <p:custDataLst>
              <p:tags r:id="rId43"/>
            </p:custDataLst>
          </p:nvPr>
        </p:nvSpPr>
        <p:spPr bwMode="auto">
          <a:xfrm>
            <a:off x="2787650" y="5526088"/>
            <a:ext cx="5910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8" name="Line 46"/>
          <p:cNvSpPr>
            <a:spLocks noChangeShapeType="1"/>
          </p:cNvSpPr>
          <p:nvPr>
            <p:custDataLst>
              <p:tags r:id="rId44"/>
            </p:custDataLst>
          </p:nvPr>
        </p:nvSpPr>
        <p:spPr bwMode="auto">
          <a:xfrm>
            <a:off x="2787650" y="6111875"/>
            <a:ext cx="5910263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79" name="Line 47"/>
          <p:cNvSpPr>
            <a:spLocks noChangeShapeType="1"/>
          </p:cNvSpPr>
          <p:nvPr>
            <p:custDataLst>
              <p:tags r:id="rId45"/>
            </p:custDataLst>
          </p:nvPr>
        </p:nvSpPr>
        <p:spPr bwMode="auto">
          <a:xfrm>
            <a:off x="2787650" y="1673225"/>
            <a:ext cx="0" cy="443865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0" name="Line 48"/>
          <p:cNvSpPr>
            <a:spLocks noChangeShapeType="1"/>
          </p:cNvSpPr>
          <p:nvPr>
            <p:custDataLst>
              <p:tags r:id="rId46"/>
            </p:custDataLst>
          </p:nvPr>
        </p:nvSpPr>
        <p:spPr bwMode="auto">
          <a:xfrm>
            <a:off x="3389313" y="1673225"/>
            <a:ext cx="0" cy="443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1" name="Line 49"/>
          <p:cNvSpPr>
            <a:spLocks noChangeShapeType="1"/>
          </p:cNvSpPr>
          <p:nvPr>
            <p:custDataLst>
              <p:tags r:id="rId47"/>
            </p:custDataLst>
          </p:nvPr>
        </p:nvSpPr>
        <p:spPr bwMode="auto">
          <a:xfrm>
            <a:off x="4068763" y="1673225"/>
            <a:ext cx="0" cy="443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2" name="Line 50"/>
          <p:cNvSpPr>
            <a:spLocks noChangeShapeType="1"/>
          </p:cNvSpPr>
          <p:nvPr>
            <p:custDataLst>
              <p:tags r:id="rId48"/>
            </p:custDataLst>
          </p:nvPr>
        </p:nvSpPr>
        <p:spPr bwMode="auto">
          <a:xfrm>
            <a:off x="4838700" y="1673225"/>
            <a:ext cx="0" cy="443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3" name="Line 51"/>
          <p:cNvSpPr>
            <a:spLocks noChangeShapeType="1"/>
          </p:cNvSpPr>
          <p:nvPr>
            <p:custDataLst>
              <p:tags r:id="rId49"/>
            </p:custDataLst>
          </p:nvPr>
        </p:nvSpPr>
        <p:spPr bwMode="auto">
          <a:xfrm>
            <a:off x="5819775" y="1673225"/>
            <a:ext cx="0" cy="443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4" name="Line 52"/>
          <p:cNvSpPr>
            <a:spLocks noChangeShapeType="1"/>
          </p:cNvSpPr>
          <p:nvPr>
            <p:custDataLst>
              <p:tags r:id="rId50"/>
            </p:custDataLst>
          </p:nvPr>
        </p:nvSpPr>
        <p:spPr bwMode="auto">
          <a:xfrm>
            <a:off x="6534150" y="1673225"/>
            <a:ext cx="0" cy="443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5" name="Line 53"/>
          <p:cNvSpPr>
            <a:spLocks noChangeShapeType="1"/>
          </p:cNvSpPr>
          <p:nvPr>
            <p:custDataLst>
              <p:tags r:id="rId51"/>
            </p:custDataLst>
          </p:nvPr>
        </p:nvSpPr>
        <p:spPr bwMode="auto">
          <a:xfrm>
            <a:off x="7202488" y="1673225"/>
            <a:ext cx="0" cy="443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6" name="Line 54"/>
          <p:cNvSpPr>
            <a:spLocks noChangeShapeType="1"/>
          </p:cNvSpPr>
          <p:nvPr>
            <p:custDataLst>
              <p:tags r:id="rId52"/>
            </p:custDataLst>
          </p:nvPr>
        </p:nvSpPr>
        <p:spPr bwMode="auto">
          <a:xfrm>
            <a:off x="8697913" y="1673225"/>
            <a:ext cx="0" cy="443865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2935" name="Text Box 55"/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401638" y="1917700"/>
            <a:ext cx="2182812" cy="141097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US" sz="2600" dirty="0">
                <a:latin typeface="Arial" panose="020B0604020202020204"/>
                <a:cs typeface="Arial" panose="020B0604020202020204"/>
              </a:rPr>
              <a:t>如果MR&gt;MC,那增加产量提高利润 </a:t>
            </a:r>
            <a:endParaRPr lang="en-US" sz="2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8" name="Rectangle 56"/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7202488" y="5226050"/>
            <a:ext cx="1487487" cy="585788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89" name="Rectangle 57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6534150" y="5226050"/>
            <a:ext cx="668338" cy="585788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0" name="Rectangle 58"/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5819775" y="5226050"/>
            <a:ext cx="714375" cy="585788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1" name="Rectangle 59"/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7202488" y="4638675"/>
            <a:ext cx="1487487" cy="587375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2" name="Rectangle 60"/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6534150" y="4638675"/>
            <a:ext cx="668338" cy="587375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3" name="Rectangle 61"/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819775" y="4638675"/>
            <a:ext cx="714375" cy="587375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4" name="Rectangle 62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7202488" y="4054475"/>
            <a:ext cx="1487487" cy="584200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5" name="Rectangle 63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534150" y="4054475"/>
            <a:ext cx="668338" cy="584200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6" name="Rectangle 64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5819775" y="4054475"/>
            <a:ext cx="714375" cy="584200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7" name="Rectangle 65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7202488" y="3465513"/>
            <a:ext cx="1487487" cy="588962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8" name="Rectangle 66"/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6534150" y="3465513"/>
            <a:ext cx="668338" cy="588962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99" name="Rectangle 67"/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5819775" y="3465513"/>
            <a:ext cx="714375" cy="588962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00" name="Rectangle 68"/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7202488" y="2881313"/>
            <a:ext cx="1487487" cy="584200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01" name="Rectangle 69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6534150" y="2881313"/>
            <a:ext cx="668338" cy="584200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02" name="Rectangle 70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5819775" y="2881313"/>
            <a:ext cx="714375" cy="584200"/>
          </a:xfrm>
          <a:prstGeom prst="rect">
            <a:avLst/>
          </a:prstGeom>
          <a:solidFill>
            <a:srgbClr val="FFE5E5"/>
          </a:solidFill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Group 71"/>
          <p:cNvGrpSpPr/>
          <p:nvPr/>
        </p:nvGrpSpPr>
        <p:grpSpPr bwMode="auto">
          <a:xfrm>
            <a:off x="4846638" y="2592388"/>
            <a:ext cx="981075" cy="3516312"/>
            <a:chOff x="3053" y="1633"/>
            <a:chExt cx="618" cy="2215"/>
          </a:xfrm>
        </p:grpSpPr>
        <p:sp>
          <p:nvSpPr>
            <p:cNvPr id="14424" name="Rectangle 72"/>
            <p:cNvSpPr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3053" y="3479"/>
              <a:ext cx="618" cy="3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5" name="Rectangle 73"/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3053" y="3109"/>
              <a:ext cx="618" cy="3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6" name="Rectangle 74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3053" y="2741"/>
              <a:ext cx="618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7" name="Rectangle 75"/>
            <p:cNvSpPr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3053" y="2370"/>
              <a:ext cx="618" cy="3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8" name="Rectangle 76"/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3053" y="2002"/>
              <a:ext cx="618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9" name="Rectangle 77"/>
            <p:cNvSpPr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3053" y="1633"/>
              <a:ext cx="618" cy="3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–5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404" name="Rectangle 78"/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5818188" y="5221288"/>
            <a:ext cx="714375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05" name="Rectangle 79"/>
          <p:cNvSpPr>
            <a:spLocks noChangeArrowheads="1"/>
          </p:cNvSpPr>
          <p:nvPr>
            <p:custDataLst>
              <p:tags r:id="rId76"/>
            </p:custDataLst>
          </p:nvPr>
        </p:nvSpPr>
        <p:spPr bwMode="auto">
          <a:xfrm>
            <a:off x="5818188" y="4633913"/>
            <a:ext cx="714375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06" name="Rectangle 80"/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5818188" y="4049713"/>
            <a:ext cx="71437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07" name="Rectangle 81"/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5818188" y="3460750"/>
            <a:ext cx="714375" cy="588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Group 82"/>
          <p:cNvGrpSpPr/>
          <p:nvPr/>
        </p:nvGrpSpPr>
        <p:grpSpPr bwMode="auto">
          <a:xfrm>
            <a:off x="7200900" y="2876550"/>
            <a:ext cx="1468438" cy="2930525"/>
            <a:chOff x="4536" y="1812"/>
            <a:chExt cx="925" cy="1846"/>
          </a:xfrm>
        </p:grpSpPr>
        <p:sp>
          <p:nvSpPr>
            <p:cNvPr id="14419" name="Rectangle 83"/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4536" y="3289"/>
              <a:ext cx="925" cy="3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–2 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0" name="Rectangle 84"/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4536" y="2919"/>
              <a:ext cx="925" cy="3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1" name="Rectangle 85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4536" y="2551"/>
              <a:ext cx="925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2" name="Rectangle 86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4536" y="2180"/>
              <a:ext cx="925" cy="3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23" name="Rectangle 87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536" y="1812"/>
              <a:ext cx="925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6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88"/>
          <p:cNvGrpSpPr/>
          <p:nvPr/>
        </p:nvGrpSpPr>
        <p:grpSpPr bwMode="auto">
          <a:xfrm>
            <a:off x="6532563" y="2876550"/>
            <a:ext cx="668337" cy="2930525"/>
            <a:chOff x="4115" y="1812"/>
            <a:chExt cx="421" cy="1846"/>
          </a:xfrm>
        </p:grpSpPr>
        <p:sp>
          <p:nvSpPr>
            <p:cNvPr id="14414" name="Rectangle 89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4115" y="3289"/>
              <a:ext cx="421" cy="3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12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15" name="Rectangle 90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4115" y="2919"/>
              <a:ext cx="421" cy="3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16" name="Rectangle 91"/>
            <p:cNvSpPr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4115" y="2551"/>
              <a:ext cx="421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17" name="Rectangle 92"/>
            <p:cNvSpPr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4115" y="2180"/>
              <a:ext cx="421" cy="3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6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418" name="Rectangle 93"/>
            <p:cNvSpPr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4115" y="1812"/>
              <a:ext cx="421" cy="3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lang="en-US" sz="24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410" name="Rectangle 94"/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5818188" y="2876550"/>
            <a:ext cx="71437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smtClean="0">
                <a:latin typeface="Arial" panose="020B0604020202020204"/>
                <a:cs typeface="Arial" panose="020B0604020202020204"/>
              </a:rPr>
              <a:t>10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2977" name="Text Box 97"/>
          <p:cNvSpPr txBox="1"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251520" y="4062413"/>
            <a:ext cx="2448272" cy="141097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US" sz="2600">
                <a:latin typeface="Arial" panose="020B0604020202020204"/>
                <a:cs typeface="Arial" panose="020B0604020202020204"/>
              </a:rPr>
              <a:t>如果</a:t>
            </a:r>
            <a:r>
              <a:rPr lang="en-US" sz="2600" smtClean="0">
                <a:latin typeface="Arial" panose="020B0604020202020204"/>
                <a:cs typeface="Arial" panose="020B0604020202020204"/>
              </a:rPr>
              <a:t>MR&lt;MC</a:t>
            </a:r>
            <a:r>
              <a:rPr lang="zh-CN" altLang="en-US" sz="2600">
                <a:latin typeface="Arial" panose="020B0604020202020204"/>
                <a:cs typeface="Arial" panose="020B0604020202020204"/>
              </a:rPr>
              <a:t>，</a:t>
            </a:r>
            <a:r>
              <a:rPr lang="en-US" sz="2600" smtClean="0">
                <a:latin typeface="Arial" panose="020B0604020202020204"/>
                <a:cs typeface="Arial" panose="020B0604020202020204"/>
              </a:rPr>
              <a:t>那降低产量会提高利润 </a:t>
            </a:r>
            <a:endParaRPr lang="en-US" sz="2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5" grpId="0" bldLvl="0" animBg="1"/>
      <p:bldP spid="12297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990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MC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企业的供给决策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16" name="Group 51"/>
          <p:cNvGrpSpPr/>
          <p:nvPr/>
        </p:nvGrpSpPr>
        <p:grpSpPr bwMode="auto">
          <a:xfrm>
            <a:off x="3673475" y="3935413"/>
            <a:ext cx="4887913" cy="473075"/>
            <a:chOff x="2314" y="2374"/>
            <a:chExt cx="3079" cy="298"/>
          </a:xfrm>
        </p:grpSpPr>
        <p:sp>
          <p:nvSpPr>
            <p:cNvPr id="15394" name="Line 18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726" y="2525"/>
              <a:ext cx="225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95" name="Text Box 2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314" y="2374"/>
              <a:ext cx="387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96" name="Text Box 4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010" y="2401"/>
              <a:ext cx="3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MR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4451" name="Rectangle 3"/>
          <p:cNvSpPr>
            <a:spLocks noGrp="1" noChangeArrowheads="1"/>
          </p:cNvSpPr>
          <p:nvPr>
            <p:ph type="body" idx="4294967295"/>
            <p:custDataLst>
              <p:tags r:id="rId5"/>
            </p:custDataLst>
          </p:nvPr>
        </p:nvSpPr>
        <p:spPr>
          <a:xfrm>
            <a:off x="323528" y="2420888"/>
            <a:ext cx="3240360" cy="2952328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在Q</a:t>
            </a:r>
            <a:r>
              <a:rPr lang="en-US" sz="2500" baseline="-25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，MC&lt;MR,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因此增加产量会提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利润 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在Q</a:t>
            </a:r>
            <a:r>
              <a:rPr lang="en-US" sz="2500" baseline="-25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，MC&gt;MR,因此降低产量会提高利润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在Q</a:t>
            </a:r>
            <a:r>
              <a:rPr lang="en-US" sz="2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，MC=MR,改变产量会减少利润 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Group 61"/>
          <p:cNvGrpSpPr/>
          <p:nvPr/>
        </p:nvGrpSpPr>
        <p:grpSpPr bwMode="auto">
          <a:xfrm>
            <a:off x="4067176" y="2060575"/>
            <a:ext cx="4503738" cy="3784600"/>
            <a:chOff x="2562" y="1298"/>
            <a:chExt cx="2837" cy="2384"/>
          </a:xfrm>
        </p:grpSpPr>
        <p:grpSp>
          <p:nvGrpSpPr>
            <p:cNvPr id="25" name="Group 4"/>
            <p:cNvGrpSpPr/>
            <p:nvPr/>
          </p:nvGrpSpPr>
          <p:grpSpPr bwMode="auto">
            <a:xfrm>
              <a:off x="2730" y="1335"/>
              <a:ext cx="2357" cy="2206"/>
              <a:chOff x="1489" y="785"/>
              <a:chExt cx="3650" cy="2492"/>
            </a:xfrm>
          </p:grpSpPr>
          <p:sp>
            <p:nvSpPr>
              <p:cNvPr id="15392" name="Line 5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393" name="Line 6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5390" name="Text Box 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061" y="3384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91" name="Text Box 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562" y="1298"/>
              <a:ext cx="692" cy="3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成本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54"/>
          <p:cNvGrpSpPr/>
          <p:nvPr/>
        </p:nvGrpSpPr>
        <p:grpSpPr bwMode="auto">
          <a:xfrm>
            <a:off x="4592638" y="2287588"/>
            <a:ext cx="3322637" cy="3157537"/>
            <a:chOff x="2893" y="1336"/>
            <a:chExt cx="2093" cy="1989"/>
          </a:xfrm>
        </p:grpSpPr>
        <p:sp>
          <p:nvSpPr>
            <p:cNvPr id="15387" name="Line 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2893" y="1568"/>
              <a:ext cx="1690" cy="1757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88" name="Text Box 1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03" y="1336"/>
              <a:ext cx="3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 dirty="0">
                  <a:latin typeface="Arial" panose="020B0604020202020204"/>
                  <a:cs typeface="Arial" panose="020B0604020202020204"/>
                </a:rPr>
                <a:t>MC</a:t>
              </a:r>
              <a:endParaRPr lang="en-US" sz="2500" i="1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Group 56"/>
          <p:cNvGrpSpPr/>
          <p:nvPr/>
        </p:nvGrpSpPr>
        <p:grpSpPr bwMode="auto">
          <a:xfrm>
            <a:off x="5640388" y="4102100"/>
            <a:ext cx="422275" cy="1914525"/>
            <a:chOff x="3553" y="2479"/>
            <a:chExt cx="266" cy="1206"/>
          </a:xfrm>
        </p:grpSpPr>
        <p:sp>
          <p:nvSpPr>
            <p:cNvPr id="15384" name="Text Box 2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53" y="3445"/>
              <a:ext cx="26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85" name="Line 29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3665" y="2528"/>
              <a:ext cx="0" cy="90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86" name="Oval 1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620" y="2479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8" name="Group 57"/>
          <p:cNvGrpSpPr/>
          <p:nvPr/>
        </p:nvGrpSpPr>
        <p:grpSpPr bwMode="auto">
          <a:xfrm>
            <a:off x="5013325" y="4103688"/>
            <a:ext cx="449263" cy="1914525"/>
            <a:chOff x="3158" y="2480"/>
            <a:chExt cx="283" cy="1206"/>
          </a:xfrm>
        </p:grpSpPr>
        <p:sp>
          <p:nvSpPr>
            <p:cNvPr id="15380" name="Text Box 3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158" y="3446"/>
              <a:ext cx="2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a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81" name="Line 42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3290" y="2529"/>
              <a:ext cx="0" cy="90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82" name="Oval 43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245" y="248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83" name="Oval 4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246" y="2869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9" name="Group 55"/>
          <p:cNvGrpSpPr/>
          <p:nvPr/>
        </p:nvGrpSpPr>
        <p:grpSpPr bwMode="auto">
          <a:xfrm>
            <a:off x="6189663" y="3563938"/>
            <a:ext cx="401637" cy="2454275"/>
            <a:chOff x="3899" y="2140"/>
            <a:chExt cx="253" cy="1546"/>
          </a:xfrm>
        </p:grpSpPr>
        <p:sp>
          <p:nvSpPr>
            <p:cNvPr id="15376" name="Text Box 3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899" y="3446"/>
              <a:ext cx="25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b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77" name="Line 45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3995" y="2171"/>
              <a:ext cx="0" cy="1268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78" name="Oval 46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950" y="248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79" name="Oval 47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948" y="214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4508" name="Rectangle 60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5536" y="1412776"/>
            <a:ext cx="6467475" cy="47561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/>
            <a:r>
              <a:rPr lang="en-US" sz="2500" dirty="0">
                <a:latin typeface="Arial" panose="020B0604020202020204"/>
                <a:cs typeface="Arial" panose="020B0604020202020204"/>
              </a:rPr>
              <a:t>规则: MR = MC 是利润最大化的产量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510" name="Line 62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5216525" y="5613400"/>
            <a:ext cx="349250" cy="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511" name="Line 63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5994400" y="5614988"/>
            <a:ext cx="344488" cy="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 type="triangle" w="med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4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4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4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4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ldLvl="5" build="p"/>
      <p:bldP spid="104508" grpId="0" bldLvl="0" animBg="1"/>
      <p:bldP spid="104510" grpId="0" bldLvl="0" animBg="1"/>
      <p:bldP spid="104510" grpId="1" bldLvl="0" animBg="1"/>
      <p:bldP spid="104511" grpId="0" bldLvl="0" animBg="1"/>
      <p:bldP spid="104511" grpId="1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990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MC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企业的供给决策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8" name="Group 41"/>
          <p:cNvGrpSpPr/>
          <p:nvPr/>
        </p:nvGrpSpPr>
        <p:grpSpPr bwMode="auto">
          <a:xfrm>
            <a:off x="3673475" y="3935413"/>
            <a:ext cx="4994275" cy="473075"/>
            <a:chOff x="2314" y="2479"/>
            <a:chExt cx="3146" cy="298"/>
          </a:xfrm>
        </p:grpSpPr>
        <p:sp>
          <p:nvSpPr>
            <p:cNvPr id="16415" name="Line 3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726" y="2630"/>
              <a:ext cx="2250" cy="0"/>
            </a:xfrm>
            <a:prstGeom prst="lin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16" name="Text Box 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314" y="2479"/>
              <a:ext cx="387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17" name="Text Box 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010" y="2506"/>
              <a:ext cx="450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MR</a:t>
              </a:r>
              <a:endParaRPr lang="en-US" sz="2500" i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42"/>
          <p:cNvGrpSpPr/>
          <p:nvPr/>
        </p:nvGrpSpPr>
        <p:grpSpPr bwMode="auto">
          <a:xfrm>
            <a:off x="3670300" y="2787650"/>
            <a:ext cx="4994275" cy="473075"/>
            <a:chOff x="2312" y="1756"/>
            <a:chExt cx="3146" cy="298"/>
          </a:xfrm>
        </p:grpSpPr>
        <p:sp>
          <p:nvSpPr>
            <p:cNvPr id="16412" name="Line 7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2724" y="1907"/>
              <a:ext cx="225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13" name="Text Box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12" y="1756"/>
              <a:ext cx="387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14" name="Text Box 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015" y="1790"/>
              <a:ext cx="44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MR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7531" name="Rectangle 11"/>
          <p:cNvSpPr>
            <a:spLocks noGrp="1" noChangeArrowheads="1"/>
          </p:cNvSpPr>
          <p:nvPr>
            <p:ph type="body" idx="4294967295"/>
            <p:custDataLst>
              <p:tags r:id="rId8"/>
            </p:custDataLst>
          </p:nvPr>
        </p:nvSpPr>
        <p:spPr>
          <a:xfrm>
            <a:off x="395288" y="1844358"/>
            <a:ext cx="3186112" cy="3954462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如果价格上升到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sz="2500" baseline="-25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那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利润最大化的产量增加到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sz="2500" baseline="-25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5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MC曲线决定了企业在不同价格下的产量  </a:t>
            </a:r>
            <a:endParaRPr lang="en-US" sz="25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endParaRPr lang="en-US" sz="25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13"/>
          <p:cNvGrpSpPr/>
          <p:nvPr/>
        </p:nvGrpSpPr>
        <p:grpSpPr bwMode="auto">
          <a:xfrm>
            <a:off x="4333875" y="2119313"/>
            <a:ext cx="3741738" cy="3502025"/>
            <a:chOff x="1489" y="785"/>
            <a:chExt cx="3650" cy="2492"/>
          </a:xfrm>
        </p:grpSpPr>
        <p:sp>
          <p:nvSpPr>
            <p:cNvPr id="16410" name="Line 14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1489" y="785"/>
              <a:ext cx="0" cy="2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11" name="Line 15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1489" y="3277"/>
              <a:ext cx="3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393" name="Text Box 1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034338" y="5372100"/>
            <a:ext cx="536575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 b="1" i="1">
                <a:latin typeface="Arial" panose="020B0604020202020204"/>
                <a:cs typeface="Arial" panose="020B0604020202020204"/>
              </a:rPr>
              <a:t>Q</a:t>
            </a:r>
            <a:endParaRPr lang="en-US" sz="25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394" name="Text Box 1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39952" y="1772816"/>
            <a:ext cx="1098550" cy="475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500">
                <a:latin typeface="Arial" panose="020B0604020202020204"/>
                <a:cs typeface="Arial" panose="020B0604020202020204"/>
              </a:rPr>
              <a:t>成本</a:t>
            </a:r>
            <a:endParaRPr lang="zh-CN" alt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Group 18"/>
          <p:cNvGrpSpPr/>
          <p:nvPr/>
        </p:nvGrpSpPr>
        <p:grpSpPr bwMode="auto">
          <a:xfrm>
            <a:off x="4592638" y="2287588"/>
            <a:ext cx="3322637" cy="3157537"/>
            <a:chOff x="2893" y="1336"/>
            <a:chExt cx="2093" cy="1989"/>
          </a:xfrm>
        </p:grpSpPr>
        <p:sp>
          <p:nvSpPr>
            <p:cNvPr id="16408" name="Line 19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V="1">
              <a:off x="2893" y="1568"/>
              <a:ext cx="1690" cy="1757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9" name="Text Box 2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603" y="1336"/>
              <a:ext cx="3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Group 21"/>
          <p:cNvGrpSpPr/>
          <p:nvPr/>
        </p:nvGrpSpPr>
        <p:grpSpPr bwMode="auto">
          <a:xfrm>
            <a:off x="5640388" y="4102100"/>
            <a:ext cx="422275" cy="1914525"/>
            <a:chOff x="3553" y="2479"/>
            <a:chExt cx="266" cy="1206"/>
          </a:xfrm>
        </p:grpSpPr>
        <p:sp>
          <p:nvSpPr>
            <p:cNvPr id="16405" name="Text Box 2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553" y="3445"/>
              <a:ext cx="26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6" name="Line 2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3665" y="2528"/>
              <a:ext cx="0" cy="90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7" name="Oval 24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620" y="2479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25"/>
          <p:cNvGrpSpPr/>
          <p:nvPr/>
        </p:nvGrpSpPr>
        <p:grpSpPr bwMode="auto">
          <a:xfrm>
            <a:off x="6742113" y="2954338"/>
            <a:ext cx="422275" cy="3060700"/>
            <a:chOff x="4247" y="1756"/>
            <a:chExt cx="266" cy="1928"/>
          </a:xfrm>
        </p:grpSpPr>
        <p:sp>
          <p:nvSpPr>
            <p:cNvPr id="16402" name="Line 2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356" y="1805"/>
              <a:ext cx="0" cy="1631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3" name="Oval 27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311" y="1756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4" name="Text Box 2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247" y="3444"/>
              <a:ext cx="26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5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7564" name="Rectangle 44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67544" y="4797152"/>
            <a:ext cx="2949575" cy="89789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4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b="1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MC </a:t>
            </a:r>
            <a:r>
              <a:rPr lang="en-US" sz="2500" b="1" smtClea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曲线便是企业的供给曲线</a:t>
            </a:r>
            <a:endParaRPr lang="en-US" sz="2500" b="1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7566" name="Line 46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5830888" y="5621338"/>
            <a:ext cx="1073150" cy="0"/>
          </a:xfrm>
          <a:prstGeom prst="line">
            <a:avLst/>
          </a:prstGeom>
          <a:noFill/>
          <a:ln w="53975">
            <a:solidFill>
              <a:srgbClr val="008000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7567" name="Line 47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 flipH="1" flipV="1">
            <a:off x="4327525" y="3068638"/>
            <a:ext cx="7938" cy="1085850"/>
          </a:xfrm>
          <a:prstGeom prst="line">
            <a:avLst/>
          </a:prstGeom>
          <a:noFill/>
          <a:ln w="53975">
            <a:solidFill>
              <a:srgbClr val="008000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7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7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7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7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7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1" grpId="0" bldLvl="5" build="p"/>
      <p:bldP spid="107564" grpId="0" bldLvl="0" animBg="1"/>
      <p:bldP spid="107566" grpId="0" bldLvl="0" animBg="1"/>
      <p:bldP spid="107566" grpId="1" bldLvl="0" animBg="1"/>
      <p:bldP spid="107567" grpId="0" bldLvl="0" animBg="1"/>
      <p:bldP spid="107567" grpId="1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停止营业与退出市场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539552" y="1340768"/>
            <a:ext cx="8257540" cy="4752528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170000"/>
              </a:lnSpc>
            </a:pPr>
            <a:r>
              <a:rPr lang="en-US" sz="9600" b="1" smtClean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停止营业</a:t>
            </a: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 </a:t>
            </a:r>
            <a:b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由于市场条件，企业决定不生产任何东西的</a:t>
            </a:r>
            <a:r>
              <a:rPr lang="zh-CN" alt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短期</a:t>
            </a: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  </a:t>
            </a:r>
            <a:endParaRPr lang="en-US" sz="9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en-US" sz="9600" b="1" smtClean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退出市场</a:t>
            </a: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 </a:t>
            </a:r>
            <a:b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企业离开市场的长期决策 </a:t>
            </a:r>
            <a:endParaRPr lang="en-US" sz="9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一个重要的区别: </a:t>
            </a:r>
            <a:endParaRPr lang="en-US" sz="9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70000"/>
              </a:lnSpc>
            </a:pP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如果在短期内停止营业，仍必须支付固定成本</a:t>
            </a:r>
            <a:endParaRPr lang="en-US" sz="9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70000"/>
              </a:lnSpc>
            </a:pP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如果在长期内退出市场，</a:t>
            </a:r>
            <a:r>
              <a:rPr lang="zh-CN" alt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</a:t>
            </a:r>
            <a:r>
              <a:rPr lang="en-US" sz="9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没有任何成本</a:t>
            </a:r>
            <a:r>
              <a:rPr lang="en-US" sz="9600" smtClean="0"/>
              <a:t>  </a:t>
            </a:r>
            <a:endParaRPr lang="en-US" sz="96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96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ldLvl="4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788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企业停止营业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的短期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决策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3579" name="Line 23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33375" y="1139825"/>
            <a:ext cx="118745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581" name="Line 25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33375" y="1139825"/>
            <a:ext cx="0" cy="13128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582" name="Line 2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776663" y="1139825"/>
            <a:ext cx="0" cy="13128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583" name="Line 27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520825" y="1139825"/>
            <a:ext cx="1328738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585" name="Line 2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849563" y="1139825"/>
            <a:ext cx="9271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  <p:custDataLst>
              <p:tags r:id="rId6"/>
            </p:custDataLst>
          </p:nvPr>
        </p:nvSpPr>
        <p:spPr>
          <a:xfrm>
            <a:off x="457200" y="1600200"/>
            <a:ext cx="8686800" cy="4277072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120000"/>
              </a:lnSpc>
              <a:spcBef>
                <a:spcPct val="60000"/>
              </a:spcBef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停止营业的成本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收益损失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TR</a:t>
            </a:r>
            <a:endParaRPr lang="en-US" sz="1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60000"/>
              </a:spcBef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停止营业的收益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节约成本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=VC</a:t>
            </a:r>
            <a:b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(企业仍然必须支付 FC)</a:t>
            </a:r>
            <a:endParaRPr lang="en-US" sz="1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60000"/>
              </a:spcBef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因此，如果</a:t>
            </a:r>
            <a:r>
              <a:rPr lang="en-US" sz="11200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 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 VC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，企业停止营运</a:t>
            </a:r>
            <a:endParaRPr lang="en-US" sz="1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60000"/>
              </a:spcBef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等式两边除以产量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TR/Q &lt; VC/Q</a:t>
            </a:r>
            <a:endParaRPr lang="en-US" sz="1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60000"/>
              </a:spcBef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因此，企业停止营业的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决策依据是</a:t>
            </a:r>
            <a:r>
              <a:rPr lang="zh-CN" altLang="en-US" sz="11200" smtClean="0"/>
              <a:t>：</a:t>
            </a:r>
            <a:endParaRPr lang="en-US" sz="11200" smtClean="0"/>
          </a:p>
        </p:txBody>
      </p:sp>
      <p:sp>
        <p:nvSpPr>
          <p:cNvPr id="126980" name="Rectangle 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16216" y="4797152"/>
            <a:ext cx="1549848" cy="54476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i="1" smtClean="0">
                <a:latin typeface="Arial" panose="020B0604020202020204"/>
                <a:cs typeface="Arial" panose="020B0604020202020204"/>
              </a:rPr>
              <a:t>P</a:t>
            </a:r>
            <a:r>
              <a:rPr lang="en-US" sz="2800" smtClean="0">
                <a:latin typeface="Arial" panose="020B0604020202020204"/>
                <a:cs typeface="Arial" panose="020B0604020202020204"/>
              </a:rPr>
              <a:t> </a:t>
            </a:r>
            <a:r>
              <a:rPr lang="en-US" sz="2800">
                <a:latin typeface="Arial" panose="020B0604020202020204"/>
                <a:cs typeface="Arial" panose="020B0604020202020204"/>
              </a:rPr>
              <a:t>&lt; </a:t>
            </a:r>
            <a:r>
              <a:rPr lang="en-US" sz="2800" i="1" smtClean="0">
                <a:latin typeface="Arial" panose="020B0604020202020204"/>
                <a:cs typeface="Arial" panose="020B0604020202020204"/>
              </a:rPr>
              <a:t>AVC</a:t>
            </a:r>
            <a:endParaRPr lang="zh-CN" altLang="en-US" sz="2800" i="1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ldLvl="4" build="p"/>
      <p:bldP spid="12698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79438" y="1335088"/>
            <a:ext cx="2670175" cy="2225675"/>
          </a:xfr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600" smtClean="0"/>
              <a:t>竞争</a:t>
            </a:r>
            <a:r>
              <a:rPr lang="zh-CN" altLang="en-US" sz="2600"/>
              <a:t>企业</a:t>
            </a:r>
            <a:r>
              <a:rPr lang="en-US" sz="2600" smtClean="0"/>
              <a:t>的</a:t>
            </a:r>
            <a:r>
              <a:rPr lang="zh-CN" altLang="en-US" sz="2600" dirty="0" smtClean="0">
                <a:solidFill>
                  <a:srgbClr val="FF0000"/>
                </a:solidFill>
              </a:rPr>
              <a:t>短期</a:t>
            </a:r>
            <a:r>
              <a:rPr lang="en-US" sz="2600" dirty="0" smtClean="0">
                <a:solidFill>
                  <a:srgbClr val="FF0000"/>
                </a:solidFill>
              </a:rPr>
              <a:t>供应曲线</a:t>
            </a:r>
            <a:r>
              <a:rPr lang="en-US" sz="2600" dirty="0" smtClean="0"/>
              <a:t>是</a:t>
            </a:r>
            <a:r>
              <a:rPr lang="zh-CN" altLang="en-US" sz="2600" dirty="0" smtClean="0"/>
              <a:t>边际成本</a:t>
            </a:r>
            <a:r>
              <a:rPr lang="en-US" sz="2600" dirty="0" smtClean="0"/>
              <a:t>曲线中高于</a:t>
            </a:r>
            <a:r>
              <a:rPr lang="zh-CN" altLang="en-US" sz="2600" dirty="0" smtClean="0"/>
              <a:t>平均可变成本</a:t>
            </a:r>
            <a:r>
              <a:rPr lang="en-US" sz="2600" dirty="0" smtClean="0"/>
              <a:t>的部分。</a:t>
            </a:r>
            <a:endParaRPr lang="en-US" sz="2600" dirty="0" smtClean="0"/>
          </a:p>
        </p:txBody>
      </p:sp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竞争企业的短期供给曲线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3" name="Group 21"/>
          <p:cNvGrpSpPr/>
          <p:nvPr/>
        </p:nvGrpSpPr>
        <p:grpSpPr bwMode="auto">
          <a:xfrm>
            <a:off x="3924301" y="1484313"/>
            <a:ext cx="4646613" cy="4360863"/>
            <a:chOff x="2472" y="935"/>
            <a:chExt cx="2927" cy="2747"/>
          </a:xfrm>
        </p:grpSpPr>
        <p:grpSp>
          <p:nvGrpSpPr>
            <p:cNvPr id="4" name="Group 22"/>
            <p:cNvGrpSpPr/>
            <p:nvPr/>
          </p:nvGrpSpPr>
          <p:grpSpPr bwMode="auto">
            <a:xfrm>
              <a:off x="2730" y="1335"/>
              <a:ext cx="2357" cy="2206"/>
              <a:chOff x="1489" y="785"/>
              <a:chExt cx="3650" cy="2492"/>
            </a:xfrm>
          </p:grpSpPr>
          <p:sp>
            <p:nvSpPr>
              <p:cNvPr id="19485" name="Line 23"/>
              <p:cNvSpPr>
                <a:spLocks noChangeShapeType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9486" name="Line 24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9483" name="Text Box 2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061" y="3384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484" name="Text Box 2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72" y="935"/>
              <a:ext cx="692" cy="3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成本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27"/>
          <p:cNvGrpSpPr/>
          <p:nvPr/>
        </p:nvGrpSpPr>
        <p:grpSpPr bwMode="auto">
          <a:xfrm>
            <a:off x="5138738" y="2287588"/>
            <a:ext cx="2676525" cy="3181350"/>
            <a:chOff x="3237" y="1336"/>
            <a:chExt cx="1686" cy="2004"/>
          </a:xfrm>
        </p:grpSpPr>
        <p:sp>
          <p:nvSpPr>
            <p:cNvPr id="19480" name="Line 9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V="1">
              <a:off x="3237" y="1568"/>
              <a:ext cx="1346" cy="177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481" name="Text Box 1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40" y="1336"/>
              <a:ext cx="3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28"/>
          <p:cNvGrpSpPr/>
          <p:nvPr/>
        </p:nvGrpSpPr>
        <p:grpSpPr bwMode="auto">
          <a:xfrm>
            <a:off x="4643438" y="2700338"/>
            <a:ext cx="3851275" cy="1516062"/>
            <a:chOff x="2925" y="1596"/>
            <a:chExt cx="2426" cy="955"/>
          </a:xfrm>
        </p:grpSpPr>
        <p:sp>
          <p:nvSpPr>
            <p:cNvPr id="19478" name="Arc 10"/>
            <p:cNvSpPr/>
            <p:nvPr>
              <p:custDataLst>
                <p:tags r:id="rId9"/>
              </p:custDataLst>
            </p:nvPr>
          </p:nvSpPr>
          <p:spPr bwMode="auto">
            <a:xfrm flipH="1" flipV="1">
              <a:off x="2925" y="1596"/>
              <a:ext cx="1929" cy="955"/>
            </a:xfrm>
            <a:custGeom>
              <a:avLst/>
              <a:gdLst>
                <a:gd name="T0" fmla="*/ 0 w 32505"/>
                <a:gd name="T1" fmla="*/ 0 h 21600"/>
                <a:gd name="T2" fmla="*/ 0 w 32505"/>
                <a:gd name="T3" fmla="*/ 0 h 21600"/>
                <a:gd name="T4" fmla="*/ 0 w 32505"/>
                <a:gd name="T5" fmla="*/ 0 h 21600"/>
                <a:gd name="T6" fmla="*/ 0 60000 65536"/>
                <a:gd name="T7" fmla="*/ 0 60000 65536"/>
                <a:gd name="T8" fmla="*/ 0 60000 65536"/>
                <a:gd name="T9" fmla="*/ 0 w 32505"/>
                <a:gd name="T10" fmla="*/ 0 h 21600"/>
                <a:gd name="T11" fmla="*/ 32505 w 3250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05" h="21600" fill="none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</a:path>
                <a:path w="32505" h="21600" stroke="0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  <a:lnTo>
                    <a:pt x="17197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479" name="Text Box 1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886" y="1964"/>
              <a:ext cx="465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29"/>
          <p:cNvGrpSpPr/>
          <p:nvPr/>
        </p:nvGrpSpPr>
        <p:grpSpPr bwMode="auto">
          <a:xfrm>
            <a:off x="4510088" y="2027238"/>
            <a:ext cx="3965575" cy="2787650"/>
            <a:chOff x="2841" y="1172"/>
            <a:chExt cx="2498" cy="1756"/>
          </a:xfrm>
        </p:grpSpPr>
        <p:sp>
          <p:nvSpPr>
            <p:cNvPr id="19476" name="Arc 11"/>
            <p:cNvSpPr/>
            <p:nvPr>
              <p:custDataLst>
                <p:tags r:id="rId11"/>
              </p:custDataLst>
            </p:nvPr>
          </p:nvSpPr>
          <p:spPr bwMode="auto">
            <a:xfrm rot="-239273" flipH="1" flipV="1">
              <a:off x="2841" y="1172"/>
              <a:ext cx="1921" cy="1756"/>
            </a:xfrm>
            <a:custGeom>
              <a:avLst/>
              <a:gdLst>
                <a:gd name="T0" fmla="*/ 0 w 20862"/>
                <a:gd name="T1" fmla="*/ 0 h 21600"/>
                <a:gd name="T2" fmla="*/ 0 w 20862"/>
                <a:gd name="T3" fmla="*/ 0 h 21600"/>
                <a:gd name="T4" fmla="*/ 0 w 20862"/>
                <a:gd name="T5" fmla="*/ 0 h 21600"/>
                <a:gd name="T6" fmla="*/ 0 60000 65536"/>
                <a:gd name="T7" fmla="*/ 0 60000 65536"/>
                <a:gd name="T8" fmla="*/ 0 60000 65536"/>
                <a:gd name="T9" fmla="*/ 0 w 20862"/>
                <a:gd name="T10" fmla="*/ 0 h 21600"/>
                <a:gd name="T11" fmla="*/ 20862 w 2086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62" h="21600" fill="none" extrusionOk="0">
                  <a:moveTo>
                    <a:pt x="-1" y="3663"/>
                  </a:moveTo>
                  <a:cubicBezTo>
                    <a:pt x="3559" y="1275"/>
                    <a:pt x="7748" y="-1"/>
                    <a:pt x="12035" y="0"/>
                  </a:cubicBezTo>
                  <a:cubicBezTo>
                    <a:pt x="15077" y="0"/>
                    <a:pt x="18085" y="642"/>
                    <a:pt x="20862" y="1885"/>
                  </a:cubicBezTo>
                </a:path>
                <a:path w="20862" h="21600" stroke="0" extrusionOk="0">
                  <a:moveTo>
                    <a:pt x="-1" y="3663"/>
                  </a:moveTo>
                  <a:cubicBezTo>
                    <a:pt x="3559" y="1275"/>
                    <a:pt x="7748" y="-1"/>
                    <a:pt x="12035" y="0"/>
                  </a:cubicBezTo>
                  <a:cubicBezTo>
                    <a:pt x="15077" y="0"/>
                    <a:pt x="18085" y="642"/>
                    <a:pt x="20862" y="1885"/>
                  </a:cubicBezTo>
                  <a:lnTo>
                    <a:pt x="12035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477" name="Text Box 1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844" y="2356"/>
              <a:ext cx="495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AVC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0609" name="Line 17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5651500" y="2678113"/>
            <a:ext cx="1636713" cy="2155825"/>
          </a:xfrm>
          <a:prstGeom prst="line">
            <a:avLst/>
          </a:prstGeom>
          <a:noFill/>
          <a:ln w="44450">
            <a:solidFill>
              <a:srgbClr val="FF0505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0610" name="Line 18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H="1">
            <a:off x="4338638" y="4838700"/>
            <a:ext cx="1328737" cy="0"/>
          </a:xfrm>
          <a:prstGeom prst="line">
            <a:avLst/>
          </a:prstGeom>
          <a:noFill/>
          <a:ln w="44450">
            <a:solidFill>
              <a:srgbClr val="FF0505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0611" name="Line 19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4343400" y="4833938"/>
            <a:ext cx="4763" cy="785812"/>
          </a:xfrm>
          <a:prstGeom prst="line">
            <a:avLst/>
          </a:prstGeom>
          <a:noFill/>
          <a:ln w="44450">
            <a:solidFill>
              <a:srgbClr val="FF0505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Group 35"/>
          <p:cNvGrpSpPr/>
          <p:nvPr/>
        </p:nvGrpSpPr>
        <p:grpSpPr bwMode="auto">
          <a:xfrm>
            <a:off x="1133475" y="4594225"/>
            <a:ext cx="3127375" cy="1301750"/>
            <a:chOff x="714" y="2894"/>
            <a:chExt cx="1970" cy="820"/>
          </a:xfrm>
        </p:grpSpPr>
        <p:sp>
          <p:nvSpPr>
            <p:cNvPr id="19472" name="AutoShape 30"/>
            <p:cNvSpPr/>
            <p:nvPr>
              <p:custDataLst>
                <p:tags r:id="rId16"/>
              </p:custDataLst>
            </p:nvPr>
          </p:nvSpPr>
          <p:spPr bwMode="auto">
            <a:xfrm>
              <a:off x="2461" y="3060"/>
              <a:ext cx="223" cy="479"/>
            </a:xfrm>
            <a:prstGeom prst="leftBrace">
              <a:avLst>
                <a:gd name="adj1" fmla="val 28252"/>
                <a:gd name="adj2" fmla="val 50000"/>
              </a:avLst>
            </a:prstGeom>
            <a:noFill/>
            <a:ln w="19050">
              <a:solidFill>
                <a:srgbClr val="990033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473" name="Text Box 3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14" y="2894"/>
              <a:ext cx="1682" cy="82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05000"/>
                </a:lnSpc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如果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&lt; </a:t>
              </a:r>
              <a:r>
                <a:rPr lang="en-US" sz="2500" i="1">
                  <a:latin typeface="Arial" panose="020B0604020202020204"/>
                  <a:cs typeface="Arial" panose="020B0604020202020204"/>
                </a:rPr>
                <a:t>AVC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, </a:t>
              </a: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那么企业将停止营业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( 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= 0)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34"/>
          <p:cNvGrpSpPr/>
          <p:nvPr/>
        </p:nvGrpSpPr>
        <p:grpSpPr bwMode="auto">
          <a:xfrm>
            <a:off x="1187624" y="2132856"/>
            <a:ext cx="3016250" cy="2647950"/>
            <a:chOff x="779" y="1354"/>
            <a:chExt cx="1900" cy="1683"/>
          </a:xfrm>
        </p:grpSpPr>
        <p:sp>
          <p:nvSpPr>
            <p:cNvPr id="19474" name="AutoShape 20"/>
            <p:cNvSpPr/>
            <p:nvPr>
              <p:custDataLst>
                <p:tags r:id="rId18"/>
              </p:custDataLst>
            </p:nvPr>
          </p:nvSpPr>
          <p:spPr bwMode="auto">
            <a:xfrm>
              <a:off x="2456" y="1354"/>
              <a:ext cx="223" cy="1683"/>
            </a:xfrm>
            <a:prstGeom prst="leftBrace">
              <a:avLst>
                <a:gd name="adj1" fmla="val 62892"/>
                <a:gd name="adj2" fmla="val 50000"/>
              </a:avLst>
            </a:prstGeom>
            <a:noFill/>
            <a:ln w="19050">
              <a:solidFill>
                <a:srgbClr val="990033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475" name="Text Box 3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79" y="1793"/>
              <a:ext cx="1615" cy="1083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05000"/>
                </a:lnSpc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如果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&gt; </a:t>
              </a:r>
              <a:r>
                <a:rPr lang="en-US" sz="2500" i="1">
                  <a:latin typeface="Arial" panose="020B0604020202020204"/>
                  <a:cs typeface="Arial" panose="020B0604020202020204"/>
                </a:rPr>
                <a:t>AVC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, </a:t>
              </a: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那么企业将产量定在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= </a:t>
              </a:r>
              <a:r>
                <a:rPr lang="en-US" sz="2500" i="1">
                  <a:latin typeface="Arial" panose="020B0604020202020204"/>
                  <a:cs typeface="Arial" panose="020B0604020202020204"/>
                </a:rPr>
                <a:t>MC</a:t>
              </a:r>
              <a:r>
                <a:rPr lang="zh-CN" altLang="en-US" sz="2500" i="1">
                  <a:latin typeface="Arial" panose="020B0604020202020204"/>
                  <a:cs typeface="Arial" panose="020B0604020202020204"/>
                </a:rPr>
                <a:t>的地方</a:t>
              </a:r>
              <a:endParaRPr lang="zh-CN" alt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ldLvl="0" animBg="1" autoUpdateAnimBg="0"/>
      <p:bldP spid="110609" grpId="0" bldLvl="0" animBg="1"/>
      <p:bldP spid="110610" grpId="0" bldLvl="0" animBg="1"/>
      <p:bldP spid="11061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414137" y="64196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沉没成本的无关性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67544" y="1628800"/>
            <a:ext cx="7955915" cy="4637112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140000"/>
              </a:lnSpc>
            </a:pPr>
            <a:r>
              <a:rPr lang="en-US" sz="112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沉没成本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:已经发生而且无法收回的成本 </a:t>
            </a:r>
            <a:endParaRPr lang="en-US" sz="1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沉没成本与决策无关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无论你做怎样的决策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你都必须支付它们</a:t>
            </a:r>
            <a:endParaRPr lang="en-US" sz="1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固定成本是一种沉没成本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无论企业决定生产或停止营业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，都必须支付固定成本</a:t>
            </a:r>
            <a:endParaRPr lang="en-US" sz="1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因此，固定成本的大小不影响</a:t>
            </a:r>
            <a:r>
              <a:rPr lang="zh-CN" alt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做出</a:t>
            </a:r>
            <a:r>
              <a:rPr lang="en-US" sz="112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是否停止营业的决策</a:t>
            </a:r>
            <a:r>
              <a:rPr lang="en-US" sz="11200" smtClean="0"/>
              <a:t>   </a:t>
            </a:r>
            <a:endParaRPr lang="en-US" sz="112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ldLvl="4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414137" y="641967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企业退出市场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的长期决策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4350" y="4824350"/>
            <a:ext cx="3980180" cy="5429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dirty="0">
                <a:latin typeface="Arial" panose="020B0604020202020204"/>
                <a:cs typeface="Arial" panose="020B0604020202020204"/>
              </a:rPr>
              <a:t>如果 P&lt; ATC，退出市场</a:t>
            </a:r>
            <a:endParaRPr lang="en-US" sz="2800" i="1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3485" y="3500755"/>
            <a:ext cx="956945" cy="450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custDataLst>
              <p:tags r:id="rId4"/>
            </p:custDataLst>
          </p:nvPr>
        </p:nvSpPr>
        <p:spPr>
          <a:xfrm>
            <a:off x="179070" y="1628775"/>
            <a:ext cx="8229600" cy="4979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退出市场的成本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收益损失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=TR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60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退出市场的收益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节约成本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=TC(长期内固定成本为0)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60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因此，如果 </a:t>
            </a:r>
            <a:r>
              <a:rPr 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TR&lt;TC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，企业退出市场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60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公式两边除以产量 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 :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hangingPunct="1">
              <a:spcBef>
                <a:spcPct val="60000"/>
              </a:spcBef>
              <a:buNone/>
            </a:pP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9" grpId="1" bldLvl="0" animBg="1"/>
      <p:bldP spid="10" grpId="0" bldLvl="4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414137" y="641967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新企业进入市场的决策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600200"/>
            <a:ext cx="8230235" cy="1396752"/>
          </a:xfrm>
        </p:spPr>
        <p:txBody>
          <a:bodyPr>
            <a:noAutofit/>
          </a:bodyPr>
          <a:lstStyle/>
          <a:p>
            <a:pPr eaLnBrk="1" hangingPunct="1">
              <a:spcBef>
                <a:spcPct val="60000"/>
              </a:spcBef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长期内，如果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TR&gt;TC，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有利可图，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新企业将进入市场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60000"/>
              </a:spcBef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两边除以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Q∶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60000"/>
              </a:spcBef>
            </a:pPr>
            <a:endParaRPr lang="en-US" sz="2700" smtClean="0"/>
          </a:p>
        </p:txBody>
      </p:sp>
      <p:sp>
        <p:nvSpPr>
          <p:cNvPr id="1177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12048" y="3213100"/>
            <a:ext cx="4679294" cy="54476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smtClean="0">
                <a:sym typeface="+mn-ea"/>
              </a:rPr>
              <a:t>如果</a:t>
            </a:r>
            <a:r>
              <a:rPr lang="en-US" sz="2800" smtClean="0">
                <a:sym typeface="+mn-ea"/>
              </a:rPr>
              <a:t>P&gt;ATC，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新企业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进入市场</a:t>
            </a:r>
            <a:endParaRPr lang="en-US" sz="2800" i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ldLvl="4" build="p"/>
      <p:bldP spid="11776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竞争企业的供给曲线</a:t>
            </a:r>
            <a:endParaRPr lang="zh-CN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700088" y="1452563"/>
            <a:ext cx="2670175" cy="2225675"/>
          </a:xfr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竞争企业的</a:t>
            </a:r>
            <a:r>
              <a:rPr lang="en-US" sz="2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长期供给曲线</a:t>
            </a: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是边际成本曲线位于长期平均总成本曲线以上的部分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3"/>
          <p:cNvGrpSpPr/>
          <p:nvPr/>
        </p:nvGrpSpPr>
        <p:grpSpPr bwMode="auto">
          <a:xfrm>
            <a:off x="3706813" y="1698625"/>
            <a:ext cx="4864100" cy="4146550"/>
            <a:chOff x="2335" y="1070"/>
            <a:chExt cx="3064" cy="2612"/>
          </a:xfrm>
        </p:grpSpPr>
        <p:grpSp>
          <p:nvGrpSpPr>
            <p:cNvPr id="10" name="Group 4"/>
            <p:cNvGrpSpPr/>
            <p:nvPr/>
          </p:nvGrpSpPr>
          <p:grpSpPr bwMode="auto">
            <a:xfrm>
              <a:off x="2730" y="1335"/>
              <a:ext cx="2357" cy="2206"/>
              <a:chOff x="1489" y="785"/>
              <a:chExt cx="3650" cy="2492"/>
            </a:xfrm>
          </p:grpSpPr>
          <p:sp>
            <p:nvSpPr>
              <p:cNvPr id="23572" name="Line 5"/>
              <p:cNvSpPr>
                <a:spLocks noChangeShapeType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573" name="Line 6"/>
              <p:cNvSpPr>
                <a:spLocks noChangeShapeType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3570" name="Text Box 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061" y="3384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571" name="Text Box 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35" y="1070"/>
              <a:ext cx="692" cy="3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成本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10"/>
          <p:cNvGrpSpPr/>
          <p:nvPr/>
        </p:nvGrpSpPr>
        <p:grpSpPr bwMode="auto">
          <a:xfrm>
            <a:off x="5138738" y="2287588"/>
            <a:ext cx="2676525" cy="3181350"/>
            <a:chOff x="3237" y="1336"/>
            <a:chExt cx="1686" cy="2004"/>
          </a:xfrm>
        </p:grpSpPr>
        <p:sp>
          <p:nvSpPr>
            <p:cNvPr id="23567" name="Line 11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V="1">
              <a:off x="3237" y="1568"/>
              <a:ext cx="1346" cy="177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568" name="Text Box 1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40" y="1336"/>
              <a:ext cx="3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3560" name="Arc 14"/>
          <p:cNvSpPr/>
          <p:nvPr>
            <p:custDataLst>
              <p:tags r:id="rId8"/>
            </p:custDataLst>
          </p:nvPr>
        </p:nvSpPr>
        <p:spPr bwMode="auto">
          <a:xfrm flipH="1" flipV="1">
            <a:off x="4643438" y="2700338"/>
            <a:ext cx="3062287" cy="1516062"/>
          </a:xfrm>
          <a:custGeom>
            <a:avLst/>
            <a:gdLst>
              <a:gd name="T0" fmla="*/ 0 w 32505"/>
              <a:gd name="T1" fmla="*/ 2147483647 h 21600"/>
              <a:gd name="T2" fmla="*/ 2147483647 w 32505"/>
              <a:gd name="T3" fmla="*/ 2147483647 h 21600"/>
              <a:gd name="T4" fmla="*/ 2147483647 w 32505"/>
              <a:gd name="T5" fmla="*/ 2147483647 h 21600"/>
              <a:gd name="T6" fmla="*/ 0 60000 65536"/>
              <a:gd name="T7" fmla="*/ 0 60000 65536"/>
              <a:gd name="T8" fmla="*/ 0 60000 65536"/>
              <a:gd name="T9" fmla="*/ 0 w 32505"/>
              <a:gd name="T10" fmla="*/ 0 h 21600"/>
              <a:gd name="T11" fmla="*/ 32505 w 3250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505" h="21600" fill="none" extrusionOk="0">
                <a:moveTo>
                  <a:pt x="0" y="8530"/>
                </a:moveTo>
                <a:cubicBezTo>
                  <a:pt x="4084" y="3155"/>
                  <a:pt x="10446" y="-1"/>
                  <a:pt x="17197" y="0"/>
                </a:cubicBezTo>
                <a:cubicBezTo>
                  <a:pt x="22942" y="0"/>
                  <a:pt x="28451" y="2289"/>
                  <a:pt x="32504" y="6361"/>
                </a:cubicBezTo>
              </a:path>
              <a:path w="32505" h="21600" stroke="0" extrusionOk="0">
                <a:moveTo>
                  <a:pt x="0" y="8530"/>
                </a:moveTo>
                <a:cubicBezTo>
                  <a:pt x="4084" y="3155"/>
                  <a:pt x="10446" y="-1"/>
                  <a:pt x="17197" y="0"/>
                </a:cubicBezTo>
                <a:cubicBezTo>
                  <a:pt x="22942" y="0"/>
                  <a:pt x="28451" y="2289"/>
                  <a:pt x="32504" y="6361"/>
                </a:cubicBezTo>
                <a:lnTo>
                  <a:pt x="17197" y="21600"/>
                </a:lnTo>
                <a:close/>
              </a:path>
            </a:pathLst>
          </a:custGeom>
          <a:noFill/>
          <a:ln w="38100">
            <a:solidFill>
              <a:srgbClr val="333399"/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561" name="Text Box 1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591425" y="3265488"/>
            <a:ext cx="1143000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 i="1">
                <a:latin typeface="Arial" panose="020B0604020202020204"/>
                <a:cs typeface="Arial" panose="020B0604020202020204"/>
              </a:rPr>
              <a:t>LRATC</a:t>
            </a:r>
            <a:endParaRPr lang="en-US" sz="2500" i="1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Group 28"/>
          <p:cNvGrpSpPr/>
          <p:nvPr/>
        </p:nvGrpSpPr>
        <p:grpSpPr bwMode="auto">
          <a:xfrm>
            <a:off x="4338638" y="2678113"/>
            <a:ext cx="2949575" cy="2941637"/>
            <a:chOff x="2733" y="1687"/>
            <a:chExt cx="1858" cy="1853"/>
          </a:xfrm>
        </p:grpSpPr>
        <p:sp>
          <p:nvSpPr>
            <p:cNvPr id="23564" name="Line 1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3854" y="1687"/>
              <a:ext cx="737" cy="971"/>
            </a:xfrm>
            <a:prstGeom prst="line">
              <a:avLst/>
            </a:prstGeom>
            <a:noFill/>
            <a:ln w="44450">
              <a:solidFill>
                <a:srgbClr val="FF0505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565" name="Line 2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2733" y="2658"/>
              <a:ext cx="1122" cy="0"/>
            </a:xfrm>
            <a:prstGeom prst="line">
              <a:avLst/>
            </a:prstGeom>
            <a:noFill/>
            <a:ln w="44450">
              <a:solidFill>
                <a:srgbClr val="FF0505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566" name="Line 2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2736" y="2661"/>
              <a:ext cx="3" cy="879"/>
            </a:xfrm>
            <a:prstGeom prst="line">
              <a:avLst/>
            </a:prstGeom>
            <a:noFill/>
            <a:ln w="44450">
              <a:solidFill>
                <a:srgbClr val="FF0505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</a:t>
            </a:r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企业的利润</a:t>
            </a:r>
            <a:endParaRPr lang="zh-CN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568" y="1844824"/>
            <a:ext cx="2529160" cy="1813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5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企业的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利润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是多少？</a:t>
            </a:r>
            <a:endParaRPr lang="en-US" sz="25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ct val="5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指出图中代表企业利润的区域 </a:t>
            </a:r>
            <a:br>
              <a:rPr lang="en-US" sz="2500">
                <a:latin typeface="Arial" panose="020B0604020202020204"/>
                <a:cs typeface="Arial" panose="020B0604020202020204"/>
              </a:rPr>
            </a:b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Group 44"/>
          <p:cNvGrpSpPr/>
          <p:nvPr/>
        </p:nvGrpSpPr>
        <p:grpSpPr bwMode="auto">
          <a:xfrm>
            <a:off x="2716213" y="1828800"/>
            <a:ext cx="5916612" cy="4113213"/>
            <a:chOff x="1672" y="916"/>
            <a:chExt cx="3727" cy="2591"/>
          </a:xfrm>
        </p:grpSpPr>
        <p:grpSp>
          <p:nvGrpSpPr>
            <p:cNvPr id="10" name="Group 10"/>
            <p:cNvGrpSpPr/>
            <p:nvPr/>
          </p:nvGrpSpPr>
          <p:grpSpPr bwMode="auto">
            <a:xfrm>
              <a:off x="2730" y="981"/>
              <a:ext cx="2357" cy="2385"/>
              <a:chOff x="1489" y="785"/>
              <a:chExt cx="3650" cy="2492"/>
            </a:xfrm>
          </p:grpSpPr>
          <p:sp>
            <p:nvSpPr>
              <p:cNvPr id="11" name="Line 11"/>
              <p:cNvSpPr>
                <a:spLocks noChangeShapeType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3" name="Text Box 1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061" y="3209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672" y="916"/>
              <a:ext cx="1054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成本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,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" name="Group 39"/>
          <p:cNvGrpSpPr/>
          <p:nvPr/>
        </p:nvGrpSpPr>
        <p:grpSpPr bwMode="auto">
          <a:xfrm>
            <a:off x="5200650" y="2384425"/>
            <a:ext cx="2676525" cy="3181350"/>
            <a:chOff x="3237" y="1266"/>
            <a:chExt cx="1686" cy="2004"/>
          </a:xfrm>
        </p:grpSpPr>
        <p:sp>
          <p:nvSpPr>
            <p:cNvPr id="16" name="Line 1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V="1">
              <a:off x="3237" y="1498"/>
              <a:ext cx="1346" cy="177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40" y="1266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8" name="Group 43"/>
          <p:cNvGrpSpPr/>
          <p:nvPr/>
        </p:nvGrpSpPr>
        <p:grpSpPr bwMode="auto">
          <a:xfrm>
            <a:off x="4705350" y="2797175"/>
            <a:ext cx="3851275" cy="1516063"/>
            <a:chOff x="2925" y="1526"/>
            <a:chExt cx="2426" cy="955"/>
          </a:xfrm>
        </p:grpSpPr>
        <p:sp>
          <p:nvSpPr>
            <p:cNvPr id="19" name="Arc 16"/>
            <p:cNvSpPr/>
            <p:nvPr>
              <p:custDataLst>
                <p:tags r:id="rId8"/>
              </p:custDataLst>
            </p:nvPr>
          </p:nvSpPr>
          <p:spPr bwMode="auto">
            <a:xfrm flipH="1" flipV="1">
              <a:off x="2925" y="1526"/>
              <a:ext cx="1929" cy="955"/>
            </a:xfrm>
            <a:custGeom>
              <a:avLst/>
              <a:gdLst>
                <a:gd name="T0" fmla="*/ 0 w 32505"/>
                <a:gd name="T1" fmla="*/ 0 h 21600"/>
                <a:gd name="T2" fmla="*/ 0 w 32505"/>
                <a:gd name="T3" fmla="*/ 0 h 21600"/>
                <a:gd name="T4" fmla="*/ 0 w 32505"/>
                <a:gd name="T5" fmla="*/ 0 h 21600"/>
                <a:gd name="T6" fmla="*/ 0 60000 65536"/>
                <a:gd name="T7" fmla="*/ 0 60000 65536"/>
                <a:gd name="T8" fmla="*/ 0 60000 65536"/>
                <a:gd name="T9" fmla="*/ 0 w 32505"/>
                <a:gd name="T10" fmla="*/ 0 h 21600"/>
                <a:gd name="T11" fmla="*/ 32505 w 3250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05" h="21600" fill="none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</a:path>
                <a:path w="32505" h="21600" stroke="0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  <a:lnTo>
                    <a:pt x="17197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rot="10800000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886" y="1894"/>
              <a:ext cx="46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48"/>
          <p:cNvGrpSpPr/>
          <p:nvPr/>
        </p:nvGrpSpPr>
        <p:grpSpPr bwMode="auto">
          <a:xfrm>
            <a:off x="3027363" y="2954338"/>
            <a:ext cx="5595937" cy="457200"/>
            <a:chOff x="1868" y="1730"/>
            <a:chExt cx="3525" cy="288"/>
          </a:xfrm>
        </p:grpSpPr>
        <p:sp>
          <p:nvSpPr>
            <p:cNvPr id="22" name="Line 20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2726" y="1881"/>
              <a:ext cx="225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 Box 2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868" y="1730"/>
              <a:ext cx="84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= </a:t>
              </a:r>
              <a:r>
                <a:rPr lang="en-US" sz="2400" smtClean="0">
                  <a:latin typeface="Arial" panose="020B0604020202020204"/>
                  <a:cs typeface="Arial" panose="020B0604020202020204"/>
                </a:rPr>
                <a:t>10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 Box 2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10" y="1757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MR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41"/>
          <p:cNvGrpSpPr/>
          <p:nvPr/>
        </p:nvGrpSpPr>
        <p:grpSpPr bwMode="auto">
          <a:xfrm>
            <a:off x="6788150" y="3122613"/>
            <a:ext cx="422275" cy="3000375"/>
            <a:chOff x="4237" y="1731"/>
            <a:chExt cx="266" cy="1890"/>
          </a:xfrm>
        </p:grpSpPr>
        <p:sp>
          <p:nvSpPr>
            <p:cNvPr id="26" name="Text Box 2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237" y="3381"/>
              <a:ext cx="26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50</a:t>
              </a:r>
              <a:endParaRPr lang="en-US" sz="25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371" y="1777"/>
              <a:ext cx="0" cy="159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Oval 2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327" y="1731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9" name="Group 49"/>
          <p:cNvGrpSpPr/>
          <p:nvPr/>
        </p:nvGrpSpPr>
        <p:grpSpPr bwMode="auto">
          <a:xfrm>
            <a:off x="3798888" y="3987805"/>
            <a:ext cx="3273425" cy="369888"/>
            <a:chOff x="2354" y="2381"/>
            <a:chExt cx="2062" cy="233"/>
          </a:xfrm>
        </p:grpSpPr>
        <p:sp>
          <p:nvSpPr>
            <p:cNvPr id="30" name="Line 2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2730" y="2498"/>
              <a:ext cx="1641" cy="1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Oval 29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328" y="245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354" y="2381"/>
              <a:ext cx="29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smtClean="0">
                  <a:latin typeface="Arial" panose="020B0604020202020204"/>
                  <a:cs typeface="Arial" panose="020B0604020202020204"/>
                </a:rPr>
                <a:t>6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3" name="Rectangle 38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929188" y="1319213"/>
            <a:ext cx="3135312" cy="482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u="sng">
                <a:latin typeface="Arial" panose="020B0604020202020204"/>
                <a:cs typeface="Arial" panose="020B0604020202020204"/>
              </a:rPr>
              <a:t>竞争性企业</a:t>
            </a:r>
            <a:endParaRPr lang="zh-CN" altLang="en-US" sz="2400" u="sng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5722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答案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4397375" y="3197225"/>
            <a:ext cx="2600325" cy="971550"/>
            <a:chOff x="2730" y="1883"/>
            <a:chExt cx="1638" cy="612"/>
          </a:xfrm>
        </p:grpSpPr>
        <p:sp>
          <p:nvSpPr>
            <p:cNvPr id="8" name="Rectangle 3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730" y="1883"/>
              <a:ext cx="1638" cy="612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 Box 3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219" y="2028"/>
              <a:ext cx="604" cy="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利润</a:t>
              </a:r>
              <a:endParaRPr lang="zh-CN" alt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7"/>
          <p:cNvGrpSpPr/>
          <p:nvPr/>
        </p:nvGrpSpPr>
        <p:grpSpPr bwMode="auto">
          <a:xfrm>
            <a:off x="2717800" y="1828800"/>
            <a:ext cx="5916613" cy="4113213"/>
            <a:chOff x="1672" y="916"/>
            <a:chExt cx="3727" cy="2591"/>
          </a:xfrm>
        </p:grpSpPr>
        <p:grpSp>
          <p:nvGrpSpPr>
            <p:cNvPr id="11" name="Group 8"/>
            <p:cNvGrpSpPr/>
            <p:nvPr/>
          </p:nvGrpSpPr>
          <p:grpSpPr bwMode="auto">
            <a:xfrm>
              <a:off x="2730" y="981"/>
              <a:ext cx="2357" cy="2385"/>
              <a:chOff x="1489" y="785"/>
              <a:chExt cx="3650" cy="2492"/>
            </a:xfrm>
          </p:grpSpPr>
          <p:sp>
            <p:nvSpPr>
              <p:cNvPr id="13" name="Line 9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Line 10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" name="Text Box 1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061" y="3209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672" y="916"/>
              <a:ext cx="1054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  <a:sym typeface="+mn-ea"/>
                </a:rPr>
                <a:t>成本</a:t>
              </a:r>
              <a:r>
                <a:rPr lang="en-US" sz="2400">
                  <a:latin typeface="Arial" panose="020B0604020202020204"/>
                  <a:cs typeface="Arial" panose="020B0604020202020204"/>
                  <a:sym typeface="+mn-ea"/>
                </a:rPr>
                <a:t>,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13"/>
          <p:cNvGrpSpPr/>
          <p:nvPr/>
        </p:nvGrpSpPr>
        <p:grpSpPr bwMode="auto">
          <a:xfrm>
            <a:off x="5202238" y="2384425"/>
            <a:ext cx="2676525" cy="3181350"/>
            <a:chOff x="3237" y="1266"/>
            <a:chExt cx="1686" cy="2004"/>
          </a:xfrm>
        </p:grpSpPr>
        <p:sp>
          <p:nvSpPr>
            <p:cNvPr id="17" name="Line 14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3237" y="1498"/>
              <a:ext cx="1346" cy="177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40" y="1266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16"/>
          <p:cNvGrpSpPr/>
          <p:nvPr/>
        </p:nvGrpSpPr>
        <p:grpSpPr bwMode="auto">
          <a:xfrm>
            <a:off x="4706938" y="2797175"/>
            <a:ext cx="3851275" cy="1516063"/>
            <a:chOff x="2925" y="1526"/>
            <a:chExt cx="2426" cy="955"/>
          </a:xfrm>
        </p:grpSpPr>
        <p:sp>
          <p:nvSpPr>
            <p:cNvPr id="20" name="Arc 17"/>
            <p:cNvSpPr/>
            <p:nvPr>
              <p:custDataLst>
                <p:tags r:id="rId10"/>
              </p:custDataLst>
            </p:nvPr>
          </p:nvSpPr>
          <p:spPr bwMode="auto">
            <a:xfrm flipH="1" flipV="1">
              <a:off x="2925" y="1526"/>
              <a:ext cx="1929" cy="955"/>
            </a:xfrm>
            <a:custGeom>
              <a:avLst/>
              <a:gdLst>
                <a:gd name="T0" fmla="*/ 0 w 32505"/>
                <a:gd name="T1" fmla="*/ 0 h 21600"/>
                <a:gd name="T2" fmla="*/ 0 w 32505"/>
                <a:gd name="T3" fmla="*/ 0 h 21600"/>
                <a:gd name="T4" fmla="*/ 0 w 32505"/>
                <a:gd name="T5" fmla="*/ 0 h 21600"/>
                <a:gd name="T6" fmla="*/ 0 60000 65536"/>
                <a:gd name="T7" fmla="*/ 0 60000 65536"/>
                <a:gd name="T8" fmla="*/ 0 60000 65536"/>
                <a:gd name="T9" fmla="*/ 0 w 32505"/>
                <a:gd name="T10" fmla="*/ 0 h 21600"/>
                <a:gd name="T11" fmla="*/ 32505 w 3250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05" h="21600" fill="none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</a:path>
                <a:path w="32505" h="21600" stroke="0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  <a:lnTo>
                    <a:pt x="17197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rot="10800000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886" y="1894"/>
              <a:ext cx="46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44"/>
          <p:cNvGrpSpPr/>
          <p:nvPr/>
        </p:nvGrpSpPr>
        <p:grpSpPr bwMode="auto">
          <a:xfrm>
            <a:off x="3113088" y="2954338"/>
            <a:ext cx="5511800" cy="457200"/>
            <a:chOff x="1921" y="1730"/>
            <a:chExt cx="3472" cy="288"/>
          </a:xfrm>
        </p:grpSpPr>
        <p:sp>
          <p:nvSpPr>
            <p:cNvPr id="23" name="Line 20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2726" y="1881"/>
              <a:ext cx="225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 Box 2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921" y="1730"/>
              <a:ext cx="79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= </a:t>
              </a:r>
              <a:r>
                <a:rPr lang="en-US" sz="2400" smtClean="0">
                  <a:latin typeface="Arial" panose="020B0604020202020204"/>
                  <a:cs typeface="Arial" panose="020B0604020202020204"/>
                </a:rPr>
                <a:t>10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010" y="1757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MR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3"/>
          <p:cNvGrpSpPr/>
          <p:nvPr/>
        </p:nvGrpSpPr>
        <p:grpSpPr bwMode="auto">
          <a:xfrm>
            <a:off x="6789738" y="3122613"/>
            <a:ext cx="422275" cy="3000375"/>
            <a:chOff x="4237" y="1731"/>
            <a:chExt cx="266" cy="1890"/>
          </a:xfrm>
        </p:grpSpPr>
        <p:sp>
          <p:nvSpPr>
            <p:cNvPr id="27" name="Text Box 2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237" y="3381"/>
              <a:ext cx="26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50</a:t>
              </a:r>
              <a:endParaRPr lang="en-US" sz="25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Line 2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371" y="1777"/>
              <a:ext cx="0" cy="159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9" name="Oval 2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327" y="1731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0" name="Group 43"/>
          <p:cNvGrpSpPr/>
          <p:nvPr/>
        </p:nvGrpSpPr>
        <p:grpSpPr bwMode="auto">
          <a:xfrm>
            <a:off x="3800475" y="3987805"/>
            <a:ext cx="3273425" cy="369888"/>
            <a:chOff x="2354" y="2381"/>
            <a:chExt cx="2062" cy="233"/>
          </a:xfrm>
        </p:grpSpPr>
        <p:sp>
          <p:nvSpPr>
            <p:cNvPr id="31" name="Line 28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2730" y="2498"/>
              <a:ext cx="1641" cy="1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2" name="Oval 29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328" y="245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 Box 3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354" y="2381"/>
              <a:ext cx="29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smtClean="0">
                  <a:latin typeface="Arial" panose="020B0604020202020204"/>
                  <a:cs typeface="Arial" panose="020B0604020202020204"/>
                </a:rPr>
                <a:t>6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4" name="Rectangle 3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930775" y="1319213"/>
            <a:ext cx="3135313" cy="482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u="sng">
                <a:latin typeface="Arial" panose="020B0604020202020204"/>
                <a:cs typeface="Arial" panose="020B0604020202020204"/>
              </a:rPr>
              <a:t>竞争性企业</a:t>
            </a:r>
            <a:endParaRPr lang="en-US" sz="2400" u="sng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AutoShape 36"/>
          <p:cNvSpPr/>
          <p:nvPr>
            <p:custDataLst>
              <p:tags r:id="rId22"/>
            </p:custDataLst>
          </p:nvPr>
        </p:nvSpPr>
        <p:spPr bwMode="auto">
          <a:xfrm>
            <a:off x="4156075" y="3198813"/>
            <a:ext cx="207963" cy="965200"/>
          </a:xfrm>
          <a:prstGeom prst="leftBrace">
            <a:avLst>
              <a:gd name="adj1" fmla="val 38677"/>
              <a:gd name="adj2" fmla="val 50000"/>
            </a:avLst>
          </a:prstGeom>
          <a:noFill/>
          <a:ln w="2857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Line 38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2806700" y="3451225"/>
            <a:ext cx="1222375" cy="222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Text Box 37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55576" y="1772816"/>
            <a:ext cx="2011363" cy="1714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117475" indent="-117475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>
                <a:latin typeface="Arial" panose="020B0604020202020204"/>
                <a:cs typeface="Arial" panose="020B0604020202020204"/>
                <a:sym typeface="+mn-ea"/>
              </a:rPr>
              <a:t>每单位利润</a:t>
            </a:r>
            <a:r>
              <a:rPr lang="en-US" sz="2400">
                <a:latin typeface="Arial" panose="020B0604020202020204"/>
                <a:cs typeface="Arial" panose="020B0604020202020204"/>
                <a:sym typeface="+mn-ea"/>
              </a:rPr>
              <a:t> </a:t>
            </a:r>
            <a:br>
              <a:rPr lang="en-US" sz="2400">
                <a:latin typeface="Arial" panose="020B0604020202020204"/>
                <a:cs typeface="Arial" panose="020B0604020202020204"/>
              </a:rPr>
            </a:br>
            <a:r>
              <a:rPr lang="en-US" sz="2400">
                <a:latin typeface="Arial" panose="020B0604020202020204"/>
                <a:cs typeface="Arial" panose="020B0604020202020204"/>
              </a:rPr>
              <a:t>= </a:t>
            </a:r>
            <a:r>
              <a:rPr lang="en-US" sz="2400" b="1" i="1">
                <a:latin typeface="Arial" panose="020B0604020202020204"/>
                <a:cs typeface="Arial" panose="020B0604020202020204"/>
              </a:rPr>
              <a:t>P</a:t>
            </a:r>
            <a:r>
              <a:rPr lang="en-US" sz="2400">
                <a:latin typeface="Arial" panose="020B0604020202020204"/>
                <a:cs typeface="Arial" panose="020B0604020202020204"/>
              </a:rPr>
              <a:t> – </a:t>
            </a:r>
            <a:r>
              <a:rPr lang="en-US" sz="2400" i="1">
                <a:latin typeface="Arial" panose="020B0604020202020204"/>
                <a:cs typeface="Arial" panose="020B0604020202020204"/>
              </a:rPr>
              <a:t>ATC</a:t>
            </a:r>
            <a:br>
              <a:rPr lang="en-US" sz="2400">
                <a:latin typeface="Arial" panose="020B0604020202020204"/>
                <a:cs typeface="Arial" panose="020B0604020202020204"/>
              </a:rPr>
            </a:br>
            <a:r>
              <a:rPr lang="en-US" sz="2400">
                <a:latin typeface="Arial" panose="020B0604020202020204"/>
                <a:cs typeface="Arial" panose="020B0604020202020204"/>
              </a:rPr>
              <a:t>= 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10 </a:t>
            </a:r>
            <a:r>
              <a:rPr lang="en-US" sz="2400">
                <a:latin typeface="Arial" panose="020B0604020202020204"/>
                <a:cs typeface="Arial" panose="020B0604020202020204"/>
              </a:rPr>
              <a:t>– 6 </a:t>
            </a:r>
            <a:br>
              <a:rPr lang="en-US" sz="2400">
                <a:latin typeface="Arial" panose="020B0604020202020204"/>
                <a:cs typeface="Arial" panose="020B0604020202020204"/>
              </a:rPr>
            </a:br>
            <a:r>
              <a:rPr lang="en-US" sz="2400">
                <a:latin typeface="Arial" panose="020B0604020202020204"/>
                <a:cs typeface="Arial" panose="020B0604020202020204"/>
              </a:rPr>
              <a:t>= 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4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Text Box 39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259632" y="4077072"/>
            <a:ext cx="2574925" cy="1714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117475" indent="-117475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>
                <a:latin typeface="Arial" panose="020B0604020202020204"/>
                <a:cs typeface="Arial" panose="020B0604020202020204"/>
                <a:sym typeface="+mn-ea"/>
              </a:rPr>
              <a:t>总利润</a:t>
            </a:r>
            <a:r>
              <a:rPr lang="en-US" sz="2400">
                <a:latin typeface="Arial" panose="020B0604020202020204"/>
                <a:cs typeface="Arial" panose="020B0604020202020204"/>
                <a:sym typeface="+mn-ea"/>
              </a:rPr>
              <a:t> </a:t>
            </a:r>
            <a:br>
              <a:rPr lang="en-US" sz="2400">
                <a:latin typeface="Arial" panose="020B0604020202020204"/>
                <a:cs typeface="Arial" panose="020B0604020202020204"/>
              </a:rPr>
            </a:br>
            <a:r>
              <a:rPr lang="en-US" sz="2400">
                <a:latin typeface="Arial" panose="020B0604020202020204"/>
                <a:cs typeface="Arial" panose="020B0604020202020204"/>
              </a:rPr>
              <a:t>= (</a:t>
            </a:r>
            <a:r>
              <a:rPr lang="en-US" sz="2400" b="1" i="1">
                <a:latin typeface="Arial" panose="020B0604020202020204"/>
                <a:cs typeface="Arial" panose="020B0604020202020204"/>
              </a:rPr>
              <a:t>P</a:t>
            </a:r>
            <a:r>
              <a:rPr lang="en-US" sz="2400">
                <a:latin typeface="Arial" panose="020B0604020202020204"/>
                <a:cs typeface="Arial" panose="020B0604020202020204"/>
              </a:rPr>
              <a:t> – </a:t>
            </a:r>
            <a:r>
              <a:rPr lang="en-US" sz="2400" i="1">
                <a:latin typeface="Arial" panose="020B0604020202020204"/>
                <a:cs typeface="Arial" panose="020B0604020202020204"/>
              </a:rPr>
              <a:t>ATC</a:t>
            </a:r>
            <a:r>
              <a:rPr lang="en-US" sz="2400">
                <a:latin typeface="Arial" panose="020B0604020202020204"/>
                <a:cs typeface="Arial" panose="020B0604020202020204"/>
              </a:rPr>
              <a:t>) x </a:t>
            </a: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400">
                <a:latin typeface="Arial" panose="020B0604020202020204"/>
                <a:cs typeface="Arial" panose="020B0604020202020204"/>
              </a:rPr>
              <a:t> = 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4 </a:t>
            </a:r>
            <a:r>
              <a:rPr lang="en-US" sz="2400">
                <a:latin typeface="Arial" panose="020B0604020202020204"/>
                <a:cs typeface="Arial" panose="020B0604020202020204"/>
              </a:rPr>
              <a:t>x 50</a:t>
            </a:r>
            <a:br>
              <a:rPr lang="en-US" sz="2400">
                <a:latin typeface="Arial" panose="020B0604020202020204"/>
                <a:cs typeface="Arial" panose="020B0604020202020204"/>
              </a:rPr>
            </a:br>
            <a:r>
              <a:rPr lang="en-US" sz="2400">
                <a:latin typeface="Arial" panose="020B0604020202020204"/>
                <a:cs typeface="Arial" panose="020B0604020202020204"/>
              </a:rPr>
              <a:t>= 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200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37" grpId="0" bldLvl="0" animBg="1"/>
      <p:bldP spid="3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200" smtClean="0">
                <a:sym typeface="+mn-ea"/>
              </a:rPr>
              <a:t>习题：</a:t>
            </a:r>
            <a:r>
              <a:rPr lang="zh-CN" altLang="en-US" sz="3200" smtClean="0">
                <a:sym typeface="+mn-ea"/>
              </a:rPr>
              <a:t>企业的亏损</a:t>
            </a:r>
            <a:endParaRPr lang="zh-CN" altLang="en-US" sz="3200" dirty="0" smtClean="0">
              <a:sym typeface="+mn-ea"/>
            </a:endParaRPr>
          </a:p>
        </p:txBody>
      </p:sp>
      <p:sp>
        <p:nvSpPr>
          <p:cNvPr id="82950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51638" y="3427413"/>
            <a:ext cx="1412875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06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06725" y="2441575"/>
            <a:ext cx="1412875" cy="679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rIns="182880" anchor="ctr"/>
          <a:lstStyle/>
          <a:p>
            <a:pPr algn="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07" name="Rectangle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85000" y="1128713"/>
            <a:ext cx="1412875" cy="13128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rIns="0"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09" name="Line 2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19100" y="1128713"/>
            <a:ext cx="0" cy="13128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0" name="Line 2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4419600" y="1128713"/>
            <a:ext cx="0" cy="13128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1" name="Line 2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9100" y="1128713"/>
            <a:ext cx="40005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2" name="Line 2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419100" y="2441575"/>
            <a:ext cx="0" cy="67945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3" name="Line 2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419600" y="2441575"/>
            <a:ext cx="0" cy="67945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4" name="Line 3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19100" y="3121025"/>
            <a:ext cx="0" cy="6397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5" name="Line 3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419600" y="3121025"/>
            <a:ext cx="0" cy="6397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6" name="Line 3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9100" y="3760788"/>
            <a:ext cx="0" cy="65405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7" name="Line 3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419600" y="3760788"/>
            <a:ext cx="0" cy="65405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8" name="Line 3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19100" y="4414838"/>
            <a:ext cx="0" cy="6397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19" name="Line 35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419600" y="4414838"/>
            <a:ext cx="0" cy="6397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20" name="Line 36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419100" y="5054600"/>
            <a:ext cx="0" cy="581025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21" name="Line 37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419600" y="5054600"/>
            <a:ext cx="0" cy="581025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22" name="Line 38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4419600" y="5635625"/>
            <a:ext cx="0" cy="581025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23" name="Line 39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419100" y="6216650"/>
            <a:ext cx="40005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TextBox 4"/>
          <p:cNvSpPr txBox="1"/>
          <p:nvPr>
            <p:custDataLst>
              <p:tags r:id="rId20"/>
            </p:custDataLst>
          </p:nvPr>
        </p:nvSpPr>
        <p:spPr>
          <a:xfrm>
            <a:off x="304800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i="1" dirty="0" err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74688" y="1543051"/>
            <a:ext cx="2601168" cy="26060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5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假定</a:t>
            </a:r>
            <a:r>
              <a:rPr lang="en-US" sz="2500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</a:t>
            </a:r>
            <a:r>
              <a: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= 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，则企业的亏损是多少？</a:t>
            </a:r>
            <a:endParaRPr lang="en-US" sz="25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5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指出图中代表企业损失的区域</a:t>
            </a:r>
            <a:endParaRPr lang="en-US" sz="25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66" name="Group 7"/>
          <p:cNvGrpSpPr/>
          <p:nvPr/>
        </p:nvGrpSpPr>
        <p:grpSpPr bwMode="auto">
          <a:xfrm>
            <a:off x="2716213" y="1941513"/>
            <a:ext cx="5916612" cy="4113212"/>
            <a:chOff x="1672" y="916"/>
            <a:chExt cx="3727" cy="2591"/>
          </a:xfrm>
        </p:grpSpPr>
        <p:grpSp>
          <p:nvGrpSpPr>
            <p:cNvPr id="67" name="Group 8"/>
            <p:cNvGrpSpPr/>
            <p:nvPr/>
          </p:nvGrpSpPr>
          <p:grpSpPr bwMode="auto">
            <a:xfrm>
              <a:off x="2730" y="981"/>
              <a:ext cx="2357" cy="2385"/>
              <a:chOff x="1489" y="785"/>
              <a:chExt cx="3650" cy="2492"/>
            </a:xfrm>
          </p:grpSpPr>
          <p:sp>
            <p:nvSpPr>
              <p:cNvPr id="68" name="Line 9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9" name="Line 10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0" name="Text Box 1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061" y="3209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1" name="Text Box 1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672" y="916"/>
              <a:ext cx="1054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  <a:sym typeface="+mn-ea"/>
                </a:rPr>
                <a:t>成本</a:t>
              </a:r>
              <a:r>
                <a:rPr lang="en-US" sz="2400">
                  <a:latin typeface="Arial" panose="020B0604020202020204"/>
                  <a:cs typeface="Arial" panose="020B0604020202020204"/>
                  <a:sym typeface="+mn-ea"/>
                </a:rPr>
                <a:t>,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2" name="Group 13"/>
          <p:cNvGrpSpPr/>
          <p:nvPr/>
        </p:nvGrpSpPr>
        <p:grpSpPr bwMode="auto">
          <a:xfrm>
            <a:off x="5200650" y="2497138"/>
            <a:ext cx="2676525" cy="3181350"/>
            <a:chOff x="3237" y="1266"/>
            <a:chExt cx="1686" cy="2004"/>
          </a:xfrm>
        </p:grpSpPr>
        <p:sp>
          <p:nvSpPr>
            <p:cNvPr id="73" name="Line 14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V="1">
              <a:off x="3237" y="1498"/>
              <a:ext cx="1346" cy="177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4" name="Text Box 15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540" y="1266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5" name="Group 16"/>
          <p:cNvGrpSpPr/>
          <p:nvPr/>
        </p:nvGrpSpPr>
        <p:grpSpPr bwMode="auto">
          <a:xfrm>
            <a:off x="4705350" y="2909888"/>
            <a:ext cx="3851275" cy="1516062"/>
            <a:chOff x="2925" y="1526"/>
            <a:chExt cx="2426" cy="955"/>
          </a:xfrm>
        </p:grpSpPr>
        <p:sp>
          <p:nvSpPr>
            <p:cNvPr id="76" name="Arc 17"/>
            <p:cNvSpPr/>
            <p:nvPr>
              <p:custDataLst>
                <p:tags r:id="rId28"/>
              </p:custDataLst>
            </p:nvPr>
          </p:nvSpPr>
          <p:spPr bwMode="auto">
            <a:xfrm flipH="1" flipV="1">
              <a:off x="2925" y="1526"/>
              <a:ext cx="1929" cy="955"/>
            </a:xfrm>
            <a:custGeom>
              <a:avLst/>
              <a:gdLst>
                <a:gd name="T0" fmla="*/ 0 w 32505"/>
                <a:gd name="T1" fmla="*/ 0 h 21600"/>
                <a:gd name="T2" fmla="*/ 0 w 32505"/>
                <a:gd name="T3" fmla="*/ 0 h 21600"/>
                <a:gd name="T4" fmla="*/ 0 w 32505"/>
                <a:gd name="T5" fmla="*/ 0 h 21600"/>
                <a:gd name="T6" fmla="*/ 0 60000 65536"/>
                <a:gd name="T7" fmla="*/ 0 60000 65536"/>
                <a:gd name="T8" fmla="*/ 0 60000 65536"/>
                <a:gd name="T9" fmla="*/ 0 w 32505"/>
                <a:gd name="T10" fmla="*/ 0 h 21600"/>
                <a:gd name="T11" fmla="*/ 32505 w 3250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05" h="21600" fill="none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</a:path>
                <a:path w="32505" h="21600" stroke="0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  <a:lnTo>
                    <a:pt x="17197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rot="10800000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886" y="1894"/>
              <a:ext cx="46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8" name="Rectangle 31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4929188" y="1431925"/>
            <a:ext cx="3135312" cy="482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u="sng">
                <a:latin typeface="Arial" panose="020B0604020202020204"/>
                <a:cs typeface="Arial" panose="020B0604020202020204"/>
                <a:sym typeface="+mn-ea"/>
              </a:rPr>
              <a:t>竞争性企业</a:t>
            </a:r>
            <a:endParaRPr lang="en-US" sz="2400" u="sng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9" name="Group 52"/>
          <p:cNvGrpSpPr/>
          <p:nvPr/>
        </p:nvGrpSpPr>
        <p:grpSpPr bwMode="auto">
          <a:xfrm>
            <a:off x="3852863" y="4211638"/>
            <a:ext cx="1912937" cy="381000"/>
            <a:chOff x="2388" y="2451"/>
            <a:chExt cx="1205" cy="240"/>
          </a:xfrm>
        </p:grpSpPr>
        <p:sp>
          <p:nvSpPr>
            <p:cNvPr id="80" name="Line 33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H="1" flipV="1">
              <a:off x="2730" y="2571"/>
              <a:ext cx="863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ext Box 34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388" y="2451"/>
              <a:ext cx="29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smtClean="0">
                  <a:latin typeface="Arial" panose="020B0604020202020204"/>
                  <a:cs typeface="Arial" panose="020B0604020202020204"/>
                </a:rPr>
                <a:t>5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2" name="Group 51"/>
          <p:cNvGrpSpPr/>
          <p:nvPr/>
        </p:nvGrpSpPr>
        <p:grpSpPr bwMode="auto">
          <a:xfrm>
            <a:off x="3092450" y="4708525"/>
            <a:ext cx="5534025" cy="473075"/>
            <a:chOff x="1909" y="2764"/>
            <a:chExt cx="3486" cy="298"/>
          </a:xfrm>
        </p:grpSpPr>
        <p:sp>
          <p:nvSpPr>
            <p:cNvPr id="83" name="Line 39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728" y="2915"/>
              <a:ext cx="225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ext Box 40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909" y="2764"/>
              <a:ext cx="829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= </a:t>
              </a:r>
              <a:r>
                <a:rPr lang="en-US" sz="2500" smtClean="0">
                  <a:latin typeface="Arial" panose="020B0604020202020204"/>
                  <a:cs typeface="Arial" panose="020B0604020202020204"/>
                </a:rPr>
                <a:t>3</a:t>
              </a:r>
              <a:endParaRPr lang="en-US" sz="25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ext Box 4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012" y="2791"/>
              <a:ext cx="3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MR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6" name="Group 42"/>
          <p:cNvGrpSpPr/>
          <p:nvPr/>
        </p:nvGrpSpPr>
        <p:grpSpPr bwMode="auto">
          <a:xfrm>
            <a:off x="5549900" y="4329113"/>
            <a:ext cx="422275" cy="1892300"/>
            <a:chOff x="3455" y="2485"/>
            <a:chExt cx="266" cy="1192"/>
          </a:xfrm>
        </p:grpSpPr>
        <p:sp>
          <p:nvSpPr>
            <p:cNvPr id="87" name="Text Box 4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455" y="3437"/>
              <a:ext cx="26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</a:t>
              </a:r>
              <a:endParaRPr lang="en-US" sz="25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Line 44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3593" y="2529"/>
              <a:ext cx="0" cy="90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Oval 4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549" y="283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Oval 46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547" y="248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</a:t>
            </a:r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答案</a:t>
            </a:r>
            <a:endParaRPr lang="zh-CN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69" name="Group 23"/>
          <p:cNvGrpSpPr/>
          <p:nvPr>
            <p:custDataLst>
              <p:tags r:id="rId1"/>
            </p:custDataLst>
          </p:nvPr>
        </p:nvGrpSpPr>
        <p:grpSpPr bwMode="auto">
          <a:xfrm>
            <a:off x="4405313" y="4403725"/>
            <a:ext cx="1360487" cy="528638"/>
            <a:chOff x="2735" y="2534"/>
            <a:chExt cx="857" cy="333"/>
          </a:xfrm>
        </p:grpSpPr>
        <p:sp>
          <p:nvSpPr>
            <p:cNvPr id="70" name="Rectangle 2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735" y="2534"/>
              <a:ext cx="857" cy="333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1" name="Text Box 2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844" y="2548"/>
              <a:ext cx="604" cy="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  <a:sym typeface="+mn-ea"/>
                </a:rPr>
                <a:t>损失 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2" name="Group 43"/>
          <p:cNvGrpSpPr/>
          <p:nvPr>
            <p:custDataLst>
              <p:tags r:id="rId4"/>
            </p:custDataLst>
          </p:nvPr>
        </p:nvGrpSpPr>
        <p:grpSpPr bwMode="auto">
          <a:xfrm>
            <a:off x="3090863" y="4705350"/>
            <a:ext cx="5534025" cy="473075"/>
            <a:chOff x="1909" y="2764"/>
            <a:chExt cx="3486" cy="298"/>
          </a:xfrm>
        </p:grpSpPr>
        <p:sp>
          <p:nvSpPr>
            <p:cNvPr id="73" name="Line 27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2728" y="2915"/>
              <a:ext cx="225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4" name="Text Box 2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012" y="2791"/>
              <a:ext cx="383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i="1" dirty="0">
                  <a:solidFill>
                    <a:srgbClr val="B2B2B2"/>
                  </a:solidFill>
                  <a:latin typeface="Arial" panose="020B0604020202020204"/>
                  <a:cs typeface="Arial" panose="020B0604020202020204"/>
                </a:rPr>
                <a:t>MR</a:t>
              </a:r>
              <a:endParaRPr lang="en-US" sz="2500" i="1" dirty="0">
                <a:solidFill>
                  <a:srgbClr val="B2B2B2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5" name="Text Box 4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909" y="2764"/>
              <a:ext cx="829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= </a:t>
              </a:r>
              <a:r>
                <a:rPr lang="en-US" sz="2500" smtClean="0">
                  <a:latin typeface="Arial" panose="020B0604020202020204"/>
                  <a:cs typeface="Arial" panose="020B0604020202020204"/>
                </a:rPr>
                <a:t>3</a:t>
              </a:r>
              <a:endParaRPr lang="en-US" sz="25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6" name="Group 7"/>
          <p:cNvGrpSpPr/>
          <p:nvPr>
            <p:custDataLst>
              <p:tags r:id="rId8"/>
            </p:custDataLst>
          </p:nvPr>
        </p:nvGrpSpPr>
        <p:grpSpPr bwMode="auto">
          <a:xfrm>
            <a:off x="2714625" y="1938338"/>
            <a:ext cx="5916613" cy="4113212"/>
            <a:chOff x="1672" y="916"/>
            <a:chExt cx="3727" cy="2591"/>
          </a:xfrm>
        </p:grpSpPr>
        <p:grpSp>
          <p:nvGrpSpPr>
            <p:cNvPr id="77" name="Group 8"/>
            <p:cNvGrpSpPr/>
            <p:nvPr/>
          </p:nvGrpSpPr>
          <p:grpSpPr bwMode="auto">
            <a:xfrm>
              <a:off x="2730" y="981"/>
              <a:ext cx="2357" cy="2385"/>
              <a:chOff x="1489" y="785"/>
              <a:chExt cx="3650" cy="2492"/>
            </a:xfrm>
          </p:grpSpPr>
          <p:sp>
            <p:nvSpPr>
              <p:cNvPr id="78" name="Line 9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9" name="Line 10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0" name="Text Box 1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061" y="3209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ext Box 1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672" y="916"/>
              <a:ext cx="1054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  <a:sym typeface="+mn-ea"/>
                </a:rPr>
                <a:t>成本</a:t>
              </a:r>
              <a:r>
                <a:rPr lang="en-US" sz="2400">
                  <a:latin typeface="Arial" panose="020B0604020202020204"/>
                  <a:cs typeface="Arial" panose="020B0604020202020204"/>
                  <a:sym typeface="+mn-ea"/>
                </a:rPr>
                <a:t>,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2" name="Group 13"/>
          <p:cNvGrpSpPr/>
          <p:nvPr>
            <p:custDataLst>
              <p:tags r:id="rId13"/>
            </p:custDataLst>
          </p:nvPr>
        </p:nvGrpSpPr>
        <p:grpSpPr bwMode="auto">
          <a:xfrm>
            <a:off x="5199063" y="2493963"/>
            <a:ext cx="2676525" cy="3181350"/>
            <a:chOff x="3237" y="1266"/>
            <a:chExt cx="1686" cy="2004"/>
          </a:xfrm>
        </p:grpSpPr>
        <p:sp>
          <p:nvSpPr>
            <p:cNvPr id="83" name="Line 1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3237" y="1498"/>
              <a:ext cx="1346" cy="177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ext Box 15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540" y="1266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5" name="Group 16"/>
          <p:cNvGrpSpPr/>
          <p:nvPr>
            <p:custDataLst>
              <p:tags r:id="rId16"/>
            </p:custDataLst>
          </p:nvPr>
        </p:nvGrpSpPr>
        <p:grpSpPr bwMode="auto">
          <a:xfrm>
            <a:off x="4703763" y="2906713"/>
            <a:ext cx="3851275" cy="1516062"/>
            <a:chOff x="2925" y="1526"/>
            <a:chExt cx="2426" cy="955"/>
          </a:xfrm>
        </p:grpSpPr>
        <p:sp>
          <p:nvSpPr>
            <p:cNvPr id="86" name="Arc 17"/>
            <p:cNvSpPr/>
            <p:nvPr>
              <p:custDataLst>
                <p:tags r:id="rId17"/>
              </p:custDataLst>
            </p:nvPr>
          </p:nvSpPr>
          <p:spPr bwMode="auto">
            <a:xfrm flipH="1" flipV="1">
              <a:off x="2925" y="1526"/>
              <a:ext cx="1929" cy="955"/>
            </a:xfrm>
            <a:custGeom>
              <a:avLst/>
              <a:gdLst>
                <a:gd name="T0" fmla="*/ 0 w 32505"/>
                <a:gd name="T1" fmla="*/ 0 h 21600"/>
                <a:gd name="T2" fmla="*/ 0 w 32505"/>
                <a:gd name="T3" fmla="*/ 0 h 21600"/>
                <a:gd name="T4" fmla="*/ 0 w 32505"/>
                <a:gd name="T5" fmla="*/ 0 h 21600"/>
                <a:gd name="T6" fmla="*/ 0 60000 65536"/>
                <a:gd name="T7" fmla="*/ 0 60000 65536"/>
                <a:gd name="T8" fmla="*/ 0 60000 65536"/>
                <a:gd name="T9" fmla="*/ 0 w 32505"/>
                <a:gd name="T10" fmla="*/ 0 h 21600"/>
                <a:gd name="T11" fmla="*/ 32505 w 3250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05" h="21600" fill="none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</a:path>
                <a:path w="32505" h="21600" stroke="0" extrusionOk="0">
                  <a:moveTo>
                    <a:pt x="0" y="8530"/>
                  </a:moveTo>
                  <a:cubicBezTo>
                    <a:pt x="4084" y="3155"/>
                    <a:pt x="10446" y="-1"/>
                    <a:pt x="17197" y="0"/>
                  </a:cubicBezTo>
                  <a:cubicBezTo>
                    <a:pt x="22942" y="0"/>
                    <a:pt x="28451" y="2289"/>
                    <a:pt x="32504" y="6361"/>
                  </a:cubicBezTo>
                  <a:lnTo>
                    <a:pt x="17197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rot="10800000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886" y="1894"/>
              <a:ext cx="46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8" name="Rectangle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927600" y="1428750"/>
            <a:ext cx="3135313" cy="482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669900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u="sng">
                <a:latin typeface="Arial" panose="020B0604020202020204"/>
                <a:cs typeface="Arial" panose="020B0604020202020204"/>
                <a:sym typeface="+mn-ea"/>
              </a:rPr>
              <a:t>竞争性企业</a:t>
            </a:r>
            <a:endParaRPr lang="en-US" sz="2400" u="sng">
              <a:latin typeface="Arial" panose="020B0604020202020204"/>
              <a:cs typeface="Arial" panose="020B0604020202020204"/>
            </a:endParaRPr>
          </a:p>
        </p:txBody>
      </p:sp>
      <p:sp>
        <p:nvSpPr>
          <p:cNvPr id="89" name="Text Box 35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092825" y="4445000"/>
            <a:ext cx="2532063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Arial" panose="020B0604020202020204"/>
                <a:cs typeface="Arial" panose="020B0604020202020204"/>
              </a:rPr>
              <a:t>单位</a:t>
            </a:r>
            <a:r>
              <a:rPr lang="en-US" sz="2400">
                <a:latin typeface="Arial" panose="020B0604020202020204"/>
                <a:cs typeface="Arial" panose="020B0604020202020204"/>
                <a:sym typeface="+mn-ea"/>
              </a:rPr>
              <a:t>损失 </a:t>
            </a:r>
            <a:r>
              <a:rPr lang="en-US" sz="2400">
                <a:latin typeface="Arial" panose="020B0604020202020204"/>
                <a:cs typeface="Arial" panose="020B0604020202020204"/>
              </a:rPr>
              <a:t>= 2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AutoShape 36"/>
          <p:cNvSpPr/>
          <p:nvPr>
            <p:custDataLst>
              <p:tags r:id="rId21"/>
            </p:custDataLst>
          </p:nvPr>
        </p:nvSpPr>
        <p:spPr bwMode="auto">
          <a:xfrm flipH="1">
            <a:off x="5854700" y="4421188"/>
            <a:ext cx="273050" cy="508000"/>
          </a:xfrm>
          <a:prstGeom prst="leftBrace">
            <a:avLst>
              <a:gd name="adj1" fmla="val 34953"/>
              <a:gd name="adj2" fmla="val 50000"/>
            </a:avLst>
          </a:prstGeom>
          <a:noFill/>
          <a:ln w="2857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Text Box 39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939800" y="2505075"/>
            <a:ext cx="2574925" cy="1714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117475" indent="-117475">
              <a:lnSpc>
                <a:spcPct val="110000"/>
              </a:lnSpc>
              <a:spcBef>
                <a:spcPct val="10000"/>
              </a:spcBef>
            </a:pPr>
            <a:r>
              <a:rPr lang="en-US" sz="2400">
                <a:latin typeface="Arial" panose="020B0604020202020204"/>
                <a:cs typeface="Arial" panose="020B0604020202020204"/>
              </a:rPr>
              <a:t>总损失 </a:t>
            </a:r>
            <a:br>
              <a:rPr lang="en-US" sz="2400">
                <a:latin typeface="Arial" panose="020B0604020202020204"/>
                <a:cs typeface="Arial" panose="020B0604020202020204"/>
              </a:rPr>
            </a:br>
            <a:r>
              <a:rPr lang="en-US" sz="2400">
                <a:latin typeface="Arial" panose="020B0604020202020204"/>
                <a:cs typeface="Arial" panose="020B0604020202020204"/>
              </a:rPr>
              <a:t>= (</a:t>
            </a:r>
            <a:r>
              <a:rPr lang="en-US" sz="2400" i="1">
                <a:latin typeface="Arial" panose="020B0604020202020204"/>
                <a:cs typeface="Arial" panose="020B0604020202020204"/>
              </a:rPr>
              <a:t>ATC</a:t>
            </a:r>
            <a:r>
              <a:rPr lang="en-US" sz="2400">
                <a:latin typeface="Arial" panose="020B0604020202020204"/>
                <a:cs typeface="Arial" panose="020B0604020202020204"/>
              </a:rPr>
              <a:t> – </a:t>
            </a:r>
            <a:r>
              <a:rPr lang="en-US" sz="2400" b="1" i="1">
                <a:latin typeface="Arial" panose="020B0604020202020204"/>
                <a:cs typeface="Arial" panose="020B0604020202020204"/>
              </a:rPr>
              <a:t>P</a:t>
            </a:r>
            <a:r>
              <a:rPr lang="en-US" sz="2400">
                <a:latin typeface="Arial" panose="020B0604020202020204"/>
                <a:cs typeface="Arial" panose="020B0604020202020204"/>
              </a:rPr>
              <a:t>) x </a:t>
            </a: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400">
                <a:latin typeface="Arial" panose="020B0604020202020204"/>
                <a:cs typeface="Arial" panose="020B0604020202020204"/>
              </a:rPr>
              <a:t> = 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2 </a:t>
            </a:r>
            <a:r>
              <a:rPr lang="en-US" sz="2400">
                <a:latin typeface="Arial" panose="020B0604020202020204"/>
                <a:cs typeface="Arial" panose="020B0604020202020204"/>
              </a:rPr>
              <a:t>x 30</a:t>
            </a:r>
            <a:br>
              <a:rPr lang="en-US" sz="2400">
                <a:latin typeface="Arial" panose="020B0604020202020204"/>
                <a:cs typeface="Arial" panose="020B0604020202020204"/>
              </a:rPr>
            </a:br>
            <a:r>
              <a:rPr lang="en-US" sz="2400">
                <a:latin typeface="Arial" panose="020B0604020202020204"/>
                <a:cs typeface="Arial" panose="020B0604020202020204"/>
              </a:rPr>
              <a:t>= 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60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2" name="Group 42"/>
          <p:cNvGrpSpPr/>
          <p:nvPr>
            <p:custDataLst>
              <p:tags r:id="rId23"/>
            </p:custDataLst>
          </p:nvPr>
        </p:nvGrpSpPr>
        <p:grpSpPr bwMode="auto">
          <a:xfrm>
            <a:off x="3851275" y="4208463"/>
            <a:ext cx="1912938" cy="381000"/>
            <a:chOff x="2388" y="2451"/>
            <a:chExt cx="1205" cy="240"/>
          </a:xfrm>
        </p:grpSpPr>
        <p:sp>
          <p:nvSpPr>
            <p:cNvPr id="93" name="Line 2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H="1" flipV="1">
              <a:off x="2730" y="2571"/>
              <a:ext cx="863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ext Box 4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388" y="2451"/>
              <a:ext cx="29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smtClean="0">
                  <a:latin typeface="Arial" panose="020B0604020202020204"/>
                  <a:cs typeface="Arial" panose="020B0604020202020204"/>
                </a:rPr>
                <a:t>5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5" name="Group 30"/>
          <p:cNvGrpSpPr/>
          <p:nvPr>
            <p:custDataLst>
              <p:tags r:id="rId26"/>
            </p:custDataLst>
          </p:nvPr>
        </p:nvGrpSpPr>
        <p:grpSpPr bwMode="auto">
          <a:xfrm>
            <a:off x="5548313" y="4325938"/>
            <a:ext cx="422275" cy="1892300"/>
            <a:chOff x="3455" y="2485"/>
            <a:chExt cx="266" cy="1192"/>
          </a:xfrm>
        </p:grpSpPr>
        <p:sp>
          <p:nvSpPr>
            <p:cNvPr id="96" name="Text Box 3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455" y="3437"/>
              <a:ext cx="266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</a:t>
              </a:r>
              <a:endParaRPr lang="en-US" sz="25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3593" y="2529"/>
              <a:ext cx="0" cy="90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Oval 33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549" y="283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Oval 34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547" y="248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 bldLvl="0" animBg="1"/>
      <p:bldP spid="9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市场供给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假设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867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66150" cy="4591050"/>
          </a:xfrm>
        </p:spPr>
        <p:txBody>
          <a:bodyPr>
            <a:normAutofit/>
          </a:bodyPr>
          <a:lstStyle/>
          <a:p>
            <a:pPr marL="511175" indent="-511175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rgbClr val="3399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r>
              <a:rPr lang="en-US" sz="2800" smtClean="0">
                <a:solidFill>
                  <a:srgbClr val="3399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所有市场上的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存量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企业与潜在进入者都有相同的成本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1175" indent="-511175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rgbClr val="3399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</a:t>
            </a:r>
            <a:r>
              <a:rPr lang="en-US" sz="2800" smtClean="0">
                <a:solidFill>
                  <a:srgbClr val="3399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一些企业进入或退出市场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并不影响另外一些企业的成本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1175" indent="-511175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sz="2800" b="1" smtClean="0">
                <a:solidFill>
                  <a:srgbClr val="3399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</a:t>
            </a:r>
            <a:r>
              <a:rPr lang="en-US" sz="2800" smtClean="0">
                <a:solidFill>
                  <a:srgbClr val="3399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市场中企业的数量: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39825" lvl="1" indent="-338455" eaLnBrk="1" hangingPunct="1">
              <a:lnSpc>
                <a:spcPct val="105000"/>
              </a:lnSpc>
              <a:buSzPct val="135000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短期内固定（由于固定成本)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39825" lvl="1" indent="-338455" eaLnBrk="1" hangingPunct="1">
              <a:lnSpc>
                <a:spcPct val="105000"/>
              </a:lnSpc>
              <a:buSzPct val="135000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长期内可变（由于进入与退出市场都无限制)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ldLvl="4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短期市场供给曲线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639810" cy="262088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只要P≥AVC，每个企业都将生产利润最大化的产量，也就是在MR=MC时的产量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我们学过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在每个价格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市场供给量是所有企业的供给量的总和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4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短期市场供给曲线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99" name="Group 3"/>
          <p:cNvGrpSpPr/>
          <p:nvPr/>
        </p:nvGrpSpPr>
        <p:grpSpPr bwMode="auto">
          <a:xfrm>
            <a:off x="1339850" y="2625725"/>
            <a:ext cx="1952625" cy="2203450"/>
            <a:chOff x="837" y="2095"/>
            <a:chExt cx="1230" cy="1388"/>
          </a:xfrm>
        </p:grpSpPr>
        <p:sp>
          <p:nvSpPr>
            <p:cNvPr id="100" name="Line 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 flipV="1">
              <a:off x="837" y="2293"/>
              <a:ext cx="944" cy="119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ext Box 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684" y="2095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2" name="Group 6"/>
          <p:cNvGrpSpPr/>
          <p:nvPr/>
        </p:nvGrpSpPr>
        <p:grpSpPr bwMode="auto">
          <a:xfrm>
            <a:off x="244475" y="3678238"/>
            <a:ext cx="3544888" cy="457200"/>
            <a:chOff x="147" y="2365"/>
            <a:chExt cx="2233" cy="288"/>
          </a:xfrm>
        </p:grpSpPr>
        <p:sp>
          <p:nvSpPr>
            <p:cNvPr id="103" name="Line 7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552" y="2516"/>
              <a:ext cx="1828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ext Box 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47" y="2365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5" name="Group 9"/>
          <p:cNvGrpSpPr/>
          <p:nvPr/>
        </p:nvGrpSpPr>
        <p:grpSpPr bwMode="auto">
          <a:xfrm>
            <a:off x="4583113" y="2168525"/>
            <a:ext cx="4230687" cy="3489325"/>
            <a:chOff x="2880" y="1807"/>
            <a:chExt cx="2665" cy="2198"/>
          </a:xfrm>
        </p:grpSpPr>
        <p:sp>
          <p:nvSpPr>
            <p:cNvPr id="106" name="Text Box 1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553" y="1807"/>
              <a:ext cx="991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u="sng">
                  <a:latin typeface="Arial" panose="020B0604020202020204"/>
                  <a:cs typeface="Arial" panose="020B0604020202020204"/>
                </a:rPr>
                <a:t>市场</a:t>
              </a:r>
              <a:endParaRPr lang="zh-CN" altLang="en-US" sz="2400" u="sng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07" name="Group 11"/>
            <p:cNvGrpSpPr/>
            <p:nvPr/>
          </p:nvGrpSpPr>
          <p:grpSpPr bwMode="auto">
            <a:xfrm>
              <a:off x="2880" y="1982"/>
              <a:ext cx="2665" cy="2023"/>
              <a:chOff x="2880" y="1982"/>
              <a:chExt cx="2665" cy="2023"/>
            </a:xfrm>
          </p:grpSpPr>
          <p:grpSp>
            <p:nvGrpSpPr>
              <p:cNvPr id="108" name="Group 12"/>
              <p:cNvGrpSpPr/>
              <p:nvPr/>
            </p:nvGrpSpPr>
            <p:grpSpPr bwMode="auto">
              <a:xfrm>
                <a:off x="3049" y="2232"/>
                <a:ext cx="1864" cy="1436"/>
                <a:chOff x="3049" y="1681"/>
                <a:chExt cx="1864" cy="1932"/>
              </a:xfrm>
            </p:grpSpPr>
            <p:sp>
              <p:nvSpPr>
                <p:cNvPr id="109" name="Line 13"/>
                <p:cNvSpPr>
                  <a:spLocks noChangeShapeType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3049" y="1681"/>
                  <a:ext cx="0" cy="19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0" name="Line 14"/>
                <p:cNvSpPr>
                  <a:spLocks noChangeShapeType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3049" y="3613"/>
                  <a:ext cx="1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11" name="Text Box 15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886" y="3523"/>
                <a:ext cx="355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" name="Text Box 16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880" y="1982"/>
                <a:ext cx="298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ext Box 17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701" y="3715"/>
                <a:ext cx="844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(</a:t>
                </a:r>
                <a:r>
                  <a:rPr lang="zh-CN" altLang="en-US" sz="240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市场</a:t>
                </a:r>
                <a:r>
                  <a:rPr lang="en-US" sz="240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)</a:t>
                </a:r>
                <a:endParaRPr lang="en-US" sz="240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grpSp>
        <p:nvGrpSpPr>
          <p:cNvPr id="114" name="Group 18"/>
          <p:cNvGrpSpPr/>
          <p:nvPr/>
        </p:nvGrpSpPr>
        <p:grpSpPr bwMode="auto">
          <a:xfrm>
            <a:off x="636588" y="2146300"/>
            <a:ext cx="3811587" cy="3517900"/>
            <a:chOff x="394" y="1793"/>
            <a:chExt cx="2401" cy="2216"/>
          </a:xfrm>
        </p:grpSpPr>
        <p:sp>
          <p:nvSpPr>
            <p:cNvPr id="115" name="Text Box 1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32" y="1793"/>
              <a:ext cx="991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u="sng">
                  <a:latin typeface="Arial" panose="020B0604020202020204"/>
                  <a:cs typeface="Arial" panose="020B0604020202020204"/>
                </a:rPr>
                <a:t>一个企业</a:t>
              </a:r>
              <a:endParaRPr lang="zh-CN" altLang="en-US" sz="2400" u="sng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16" name="Group 20"/>
            <p:cNvGrpSpPr/>
            <p:nvPr/>
          </p:nvGrpSpPr>
          <p:grpSpPr bwMode="auto">
            <a:xfrm>
              <a:off x="394" y="1985"/>
              <a:ext cx="2401" cy="2024"/>
              <a:chOff x="394" y="1985"/>
              <a:chExt cx="2401" cy="2024"/>
            </a:xfrm>
          </p:grpSpPr>
          <p:grpSp>
            <p:nvGrpSpPr>
              <p:cNvPr id="117" name="Group 21"/>
              <p:cNvGrpSpPr/>
              <p:nvPr/>
            </p:nvGrpSpPr>
            <p:grpSpPr bwMode="auto">
              <a:xfrm>
                <a:off x="555" y="2234"/>
                <a:ext cx="1774" cy="1431"/>
                <a:chOff x="1489" y="785"/>
                <a:chExt cx="3650" cy="2492"/>
              </a:xfrm>
            </p:grpSpPr>
            <p:sp>
              <p:nvSpPr>
                <p:cNvPr id="118" name="Line 22"/>
                <p:cNvSpPr>
                  <a:spLocks noChangeShapeType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1489" y="785"/>
                  <a:ext cx="0" cy="24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9" name="Line 23"/>
                <p:cNvSpPr>
                  <a:spLocks noChangeShapeType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1489" y="3277"/>
                  <a:ext cx="36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20" name="Text Box 24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303" y="3520"/>
                <a:ext cx="338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ext Box 25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94" y="1985"/>
                <a:ext cx="284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ext Box 26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2102" y="3719"/>
                <a:ext cx="693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(</a:t>
                </a:r>
                <a:r>
                  <a:rPr lang="zh-CN" altLang="en-US" sz="240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企业</a:t>
                </a:r>
                <a:r>
                  <a:rPr lang="en-US" sz="240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)</a:t>
                </a:r>
                <a:endParaRPr lang="en-US" sz="240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grpSp>
        <p:nvGrpSpPr>
          <p:cNvPr id="123" name="Group 88"/>
          <p:cNvGrpSpPr/>
          <p:nvPr/>
        </p:nvGrpSpPr>
        <p:grpSpPr bwMode="auto">
          <a:xfrm>
            <a:off x="5459413" y="2635250"/>
            <a:ext cx="2519362" cy="1971675"/>
            <a:chOff x="3439" y="1660"/>
            <a:chExt cx="1587" cy="1242"/>
          </a:xfrm>
        </p:grpSpPr>
        <p:sp>
          <p:nvSpPr>
            <p:cNvPr id="124" name="Line 28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3439" y="1848"/>
              <a:ext cx="1366" cy="105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ext Box 2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724" y="1660"/>
              <a:ext cx="302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6" name="Group 30"/>
          <p:cNvGrpSpPr/>
          <p:nvPr/>
        </p:nvGrpSpPr>
        <p:grpSpPr bwMode="auto">
          <a:xfrm>
            <a:off x="244475" y="2998788"/>
            <a:ext cx="3544888" cy="457200"/>
            <a:chOff x="147" y="1895"/>
            <a:chExt cx="2233" cy="288"/>
          </a:xfrm>
        </p:grpSpPr>
        <p:sp>
          <p:nvSpPr>
            <p:cNvPr id="127" name="Line 3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552" y="2046"/>
              <a:ext cx="1828" cy="0"/>
            </a:xfrm>
            <a:prstGeom prst="line">
              <a:avLst/>
            </a:prstGeom>
            <a:noFill/>
            <a:ln w="28575">
              <a:solidFill>
                <a:srgbClr val="996633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ext Box 32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47" y="1895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3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29" name="Text Box 37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23850" y="1268730"/>
            <a:ext cx="7413625" cy="1014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例如:有1000完全相同的企业</a:t>
            </a:r>
            <a:endParaRPr lang="en-US" sz="2500">
              <a:latin typeface="Arial" panose="020B0604020202020204"/>
              <a:cs typeface="Arial" panose="020B0604020202020204"/>
            </a:endParaRPr>
          </a:p>
          <a:p>
            <a:pPr>
              <a:spcBef>
                <a:spcPct val="3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在每个</a:t>
            </a:r>
            <a:r>
              <a:rPr lang="en-US" sz="2500" smtClean="0">
                <a:latin typeface="Arial" panose="020B0604020202020204"/>
                <a:cs typeface="Arial" panose="020B0604020202020204"/>
              </a:rPr>
              <a:t>P</a:t>
            </a:r>
            <a:r>
              <a:rPr lang="zh-CN" altLang="en-US" sz="2500" smtClean="0">
                <a:latin typeface="Arial" panose="020B0604020202020204"/>
                <a:cs typeface="Arial" panose="020B0604020202020204"/>
              </a:rPr>
              <a:t>，</a:t>
            </a:r>
            <a:r>
              <a:rPr lang="en-US" sz="2500" smtClean="0">
                <a:latin typeface="Arial" panose="020B0604020202020204"/>
                <a:cs typeface="Arial" panose="020B0604020202020204"/>
              </a:rPr>
              <a:t>市场</a:t>
            </a:r>
            <a:r>
              <a:rPr lang="en-US" altLang="zh-CN" sz="2500" b="1" i="1">
                <a:latin typeface="Arial" panose="020B0604020202020204"/>
                <a:cs typeface="Arial" panose="020B0604020202020204"/>
              </a:rPr>
              <a:t> Q</a:t>
            </a:r>
            <a:r>
              <a:rPr lang="en-US" altLang="zh-CN" sz="2500" b="1" baseline="30000">
                <a:latin typeface="Arial" panose="020B0604020202020204"/>
                <a:cs typeface="Arial" panose="020B0604020202020204"/>
              </a:rPr>
              <a:t>s </a:t>
            </a:r>
            <a:r>
              <a:rPr lang="en-US" sz="2500" smtClean="0">
                <a:latin typeface="Arial" panose="020B0604020202020204"/>
                <a:cs typeface="Arial" panose="020B0604020202020204"/>
              </a:rPr>
              <a:t>= </a:t>
            </a:r>
            <a:r>
              <a:rPr lang="en-US" sz="2500">
                <a:latin typeface="Arial" panose="020B0604020202020204"/>
                <a:cs typeface="Arial" panose="020B0604020202020204"/>
              </a:rPr>
              <a:t>1000 x </a:t>
            </a:r>
            <a:r>
              <a:rPr lang="en-US" sz="2500" smtClean="0">
                <a:latin typeface="Arial" panose="020B0604020202020204"/>
                <a:cs typeface="Arial" panose="020B0604020202020204"/>
              </a:rPr>
              <a:t>一个企业的</a:t>
            </a:r>
            <a:r>
              <a:rPr lang="en-US" altLang="zh-CN" sz="2500" b="1" i="1">
                <a:latin typeface="Arial" panose="020B0604020202020204"/>
                <a:cs typeface="Arial" panose="020B0604020202020204"/>
              </a:rPr>
              <a:t> Q</a:t>
            </a:r>
            <a:r>
              <a:rPr lang="en-US" altLang="zh-CN" sz="2500" b="1" baseline="30000">
                <a:latin typeface="Arial" panose="020B0604020202020204"/>
                <a:cs typeface="Arial" panose="020B0604020202020204"/>
              </a:rPr>
              <a:t>s</a:t>
            </a:r>
            <a:r>
              <a:rPr lang="en-US" sz="2500" smtClean="0">
                <a:latin typeface="Arial" panose="020B0604020202020204"/>
                <a:cs typeface="Arial" panose="020B0604020202020204"/>
              </a:rPr>
              <a:t>)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0" name="Group 83"/>
          <p:cNvGrpSpPr/>
          <p:nvPr/>
        </p:nvGrpSpPr>
        <p:grpSpPr bwMode="auto">
          <a:xfrm>
            <a:off x="920750" y="1820863"/>
            <a:ext cx="2584450" cy="2759075"/>
            <a:chOff x="580" y="1147"/>
            <a:chExt cx="1628" cy="1738"/>
          </a:xfrm>
        </p:grpSpPr>
        <p:sp>
          <p:nvSpPr>
            <p:cNvPr id="131" name="Arc 38"/>
            <p:cNvSpPr/>
            <p:nvPr>
              <p:custDataLst>
                <p:tags r:id="rId23"/>
              </p:custDataLst>
            </p:nvPr>
          </p:nvSpPr>
          <p:spPr bwMode="auto">
            <a:xfrm rot="-239273" flipH="1" flipV="1">
              <a:off x="580" y="1147"/>
              <a:ext cx="1135" cy="1738"/>
            </a:xfrm>
            <a:custGeom>
              <a:avLst/>
              <a:gdLst>
                <a:gd name="T0" fmla="*/ 0 w 16034"/>
                <a:gd name="T1" fmla="*/ 0 h 21600"/>
                <a:gd name="T2" fmla="*/ 0 w 16034"/>
                <a:gd name="T3" fmla="*/ 0 h 21600"/>
                <a:gd name="T4" fmla="*/ 0 w 16034"/>
                <a:gd name="T5" fmla="*/ 0 h 21600"/>
                <a:gd name="T6" fmla="*/ 0 60000 65536"/>
                <a:gd name="T7" fmla="*/ 0 60000 65536"/>
                <a:gd name="T8" fmla="*/ 0 60000 65536"/>
                <a:gd name="T9" fmla="*/ 0 w 16034"/>
                <a:gd name="T10" fmla="*/ 0 h 21600"/>
                <a:gd name="T11" fmla="*/ 16034 w 1603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34" h="21600" fill="none" extrusionOk="0">
                  <a:moveTo>
                    <a:pt x="-1" y="2700"/>
                  </a:moveTo>
                  <a:cubicBezTo>
                    <a:pt x="3200" y="929"/>
                    <a:pt x="6799" y="-1"/>
                    <a:pt x="10458" y="0"/>
                  </a:cubicBezTo>
                  <a:cubicBezTo>
                    <a:pt x="12340" y="0"/>
                    <a:pt x="14215" y="246"/>
                    <a:pt x="16033" y="732"/>
                  </a:cubicBezTo>
                </a:path>
                <a:path w="16034" h="21600" stroke="0" extrusionOk="0">
                  <a:moveTo>
                    <a:pt x="-1" y="2700"/>
                  </a:moveTo>
                  <a:cubicBezTo>
                    <a:pt x="3200" y="929"/>
                    <a:pt x="6799" y="-1"/>
                    <a:pt x="10458" y="0"/>
                  </a:cubicBezTo>
                  <a:cubicBezTo>
                    <a:pt x="12340" y="0"/>
                    <a:pt x="14215" y="246"/>
                    <a:pt x="16033" y="732"/>
                  </a:cubicBezTo>
                  <a:lnTo>
                    <a:pt x="10458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ext Box 3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773" y="2497"/>
              <a:ext cx="43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AVC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3" name="Group 40"/>
          <p:cNvGrpSpPr/>
          <p:nvPr/>
        </p:nvGrpSpPr>
        <p:grpSpPr bwMode="auto">
          <a:xfrm>
            <a:off x="4208463" y="3675063"/>
            <a:ext cx="3544887" cy="457200"/>
            <a:chOff x="2644" y="2363"/>
            <a:chExt cx="2233" cy="288"/>
          </a:xfrm>
        </p:grpSpPr>
        <p:sp>
          <p:nvSpPr>
            <p:cNvPr id="134" name="Line 41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3049" y="2514"/>
              <a:ext cx="1828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Text Box 4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644" y="2363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6" name="Group 43"/>
          <p:cNvGrpSpPr/>
          <p:nvPr/>
        </p:nvGrpSpPr>
        <p:grpSpPr bwMode="auto">
          <a:xfrm>
            <a:off x="4208463" y="2995613"/>
            <a:ext cx="3544887" cy="457200"/>
            <a:chOff x="2644" y="1893"/>
            <a:chExt cx="2233" cy="288"/>
          </a:xfrm>
        </p:grpSpPr>
        <p:sp>
          <p:nvSpPr>
            <p:cNvPr id="137" name="Line 44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3049" y="2044"/>
              <a:ext cx="1828" cy="0"/>
            </a:xfrm>
            <a:prstGeom prst="line">
              <a:avLst/>
            </a:prstGeom>
            <a:noFill/>
            <a:ln w="28575">
              <a:solidFill>
                <a:srgbClr val="996633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8" name="Text Box 4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644" y="1893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3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9" name="Group 75"/>
          <p:cNvGrpSpPr/>
          <p:nvPr/>
        </p:nvGrpSpPr>
        <p:grpSpPr bwMode="auto">
          <a:xfrm>
            <a:off x="2384425" y="3178176"/>
            <a:ext cx="438150" cy="2347913"/>
            <a:chOff x="1502" y="2002"/>
            <a:chExt cx="276" cy="1479"/>
          </a:xfrm>
        </p:grpSpPr>
        <p:sp>
          <p:nvSpPr>
            <p:cNvPr id="140" name="Line 70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1641" y="2043"/>
              <a:ext cx="0" cy="1182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1" name="Oval 48"/>
            <p:cNvSpPr>
              <a:spLocks noChangeAspect="1"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602" y="2002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2" name="Text Box 49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502" y="3248"/>
              <a:ext cx="27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30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3" name="Group 60"/>
          <p:cNvGrpSpPr/>
          <p:nvPr/>
        </p:nvGrpSpPr>
        <p:grpSpPr bwMode="auto">
          <a:xfrm>
            <a:off x="246063" y="4360863"/>
            <a:ext cx="3544887" cy="457200"/>
            <a:chOff x="147" y="2365"/>
            <a:chExt cx="2233" cy="288"/>
          </a:xfrm>
        </p:grpSpPr>
        <p:sp>
          <p:nvSpPr>
            <p:cNvPr id="144" name="Line 6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552" y="2516"/>
              <a:ext cx="1828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5" name="Text Box 6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47" y="2365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6" name="Group 74"/>
          <p:cNvGrpSpPr/>
          <p:nvPr/>
        </p:nvGrpSpPr>
        <p:grpSpPr bwMode="auto">
          <a:xfrm>
            <a:off x="1841500" y="3856039"/>
            <a:ext cx="438150" cy="1671638"/>
            <a:chOff x="1160" y="2429"/>
            <a:chExt cx="276" cy="1053"/>
          </a:xfrm>
        </p:grpSpPr>
        <p:sp>
          <p:nvSpPr>
            <p:cNvPr id="147" name="Text Box 35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160" y="3249"/>
              <a:ext cx="27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20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8" name="Line 71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1302" y="2457"/>
              <a:ext cx="0" cy="768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9" name="Oval 36"/>
            <p:cNvSpPr>
              <a:spLocks noChangeAspect="1"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66" y="2429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0" name="Group 73"/>
          <p:cNvGrpSpPr/>
          <p:nvPr/>
        </p:nvGrpSpPr>
        <p:grpSpPr bwMode="auto">
          <a:xfrm>
            <a:off x="1303338" y="4541840"/>
            <a:ext cx="438150" cy="985838"/>
            <a:chOff x="821" y="2861"/>
            <a:chExt cx="276" cy="621"/>
          </a:xfrm>
        </p:grpSpPr>
        <p:sp>
          <p:nvSpPr>
            <p:cNvPr id="151" name="Text Box 6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21" y="3249"/>
              <a:ext cx="27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10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2" name="Line 72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963" y="2895"/>
              <a:ext cx="0" cy="32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" name="Oval 67"/>
            <p:cNvSpPr>
              <a:spLocks noChangeAspect="1"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27" y="2861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4" name="Group 76"/>
          <p:cNvGrpSpPr/>
          <p:nvPr/>
        </p:nvGrpSpPr>
        <p:grpSpPr bwMode="auto">
          <a:xfrm>
            <a:off x="4210050" y="4364038"/>
            <a:ext cx="3544888" cy="457200"/>
            <a:chOff x="147" y="2365"/>
            <a:chExt cx="2233" cy="288"/>
          </a:xfrm>
        </p:grpSpPr>
        <p:sp>
          <p:nvSpPr>
            <p:cNvPr id="155" name="Line 77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552" y="2516"/>
              <a:ext cx="1828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6" name="Text Box 7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47" y="2365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7" name="Group 91"/>
          <p:cNvGrpSpPr/>
          <p:nvPr/>
        </p:nvGrpSpPr>
        <p:grpSpPr bwMode="auto">
          <a:xfrm>
            <a:off x="7040563" y="3178176"/>
            <a:ext cx="1063625" cy="3049588"/>
            <a:chOff x="4435" y="2002"/>
            <a:chExt cx="670" cy="1921"/>
          </a:xfrm>
        </p:grpSpPr>
        <p:sp>
          <p:nvSpPr>
            <p:cNvPr id="158" name="Text Box 5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435" y="3690"/>
              <a:ext cx="670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30,000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9" name="Line 59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4558" y="3250"/>
              <a:ext cx="188" cy="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Line 80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4560" y="2040"/>
              <a:ext cx="0" cy="1188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Oval 57"/>
            <p:cNvSpPr>
              <a:spLocks noChangeAspect="1"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522" y="2002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2" name="Group 89"/>
          <p:cNvGrpSpPr/>
          <p:nvPr/>
        </p:nvGrpSpPr>
        <p:grpSpPr bwMode="auto">
          <a:xfrm>
            <a:off x="4532313" y="4546601"/>
            <a:ext cx="1063625" cy="1679576"/>
            <a:chOff x="2855" y="2864"/>
            <a:chExt cx="670" cy="1058"/>
          </a:xfrm>
        </p:grpSpPr>
        <p:sp>
          <p:nvSpPr>
            <p:cNvPr id="163" name="Line 82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3447" y="2901"/>
              <a:ext cx="0" cy="324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Oval 79"/>
            <p:cNvSpPr>
              <a:spLocks noChangeAspect="1"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409" y="2864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Text Box 85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2855" y="3689"/>
              <a:ext cx="670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10,000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6" name="Line 86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V="1">
              <a:off x="3243" y="3253"/>
              <a:ext cx="201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7" name="Group 90"/>
          <p:cNvGrpSpPr/>
          <p:nvPr/>
        </p:nvGrpSpPr>
        <p:grpSpPr bwMode="auto">
          <a:xfrm>
            <a:off x="5813425" y="3854451"/>
            <a:ext cx="1063625" cy="2376488"/>
            <a:chOff x="3662" y="2428"/>
            <a:chExt cx="670" cy="1497"/>
          </a:xfrm>
        </p:grpSpPr>
        <p:sp>
          <p:nvSpPr>
            <p:cNvPr id="168" name="Text Box 53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3662" y="3692"/>
              <a:ext cx="670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20,000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Line 81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>
              <a:off x="4008" y="2466"/>
              <a:ext cx="0" cy="75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0" name="Oval 52"/>
            <p:cNvSpPr>
              <a:spLocks noChangeAspect="1"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3970" y="2428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1" name="Line 87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>
              <a:off x="4009" y="3248"/>
              <a:ext cx="0" cy="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utoUpdateAnimBg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0" name="Rectangle 15"/>
          <p:cNvSpPr>
            <a:spLocks noGrp="1" noChangeArrowheads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23215" y="548323"/>
            <a:ext cx="8229600" cy="612775"/>
          </a:xfrm>
        </p:spPr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sz="3200" smtClean="0"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长期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：</a:t>
            </a:r>
            <a:r>
              <a:rPr sz="3200" smtClean="0"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进入与退出市场</a:t>
            </a:r>
            <a:endParaRPr sz="3200" dirty="0"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71955"/>
            <a:ext cx="8469630" cy="4467860"/>
          </a:xfrm>
        </p:spPr>
        <p:txBody>
          <a:bodyPr>
            <a:normAutofit/>
          </a:bodyPr>
          <a:lstStyle/>
          <a:p>
            <a:pPr eaLnBrk="1" hangingPunct="1">
              <a:lnSpc>
                <a:spcPts val="4000"/>
              </a:lnSpc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长期，由于企业的进入与退出，企业数量会发生变化如果市场上的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存量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企业获得正的经济利润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新企业会进入，短期市场供给向右移动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价格下降，利润降低，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企业进入速度减慢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lnSpc>
                <a:spcPts val="4000"/>
              </a:lnSpc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如果市场上的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存量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企业有亏损</a:t>
            </a:r>
            <a:r>
              <a:rPr 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一些企业会退出市场，短期市场供给向左移动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价格上升，减少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留守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企业的损失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bldLvl="4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722" y="476232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零利润条件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1600200"/>
            <a:ext cx="8298815" cy="4505960"/>
          </a:xfrm>
        </p:spPr>
        <p:txBody>
          <a:bodyPr>
            <a:normAutofit/>
          </a:bodyPr>
          <a:lstStyle/>
          <a:p>
            <a:pPr eaLnBrk="1" hangingPunct="1">
              <a:spcBef>
                <a:spcPct val="55000"/>
              </a:spcBef>
            </a:pPr>
            <a:r>
              <a:rPr 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长期均衡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在进入和退出过程结束时，仍然留在市场中的企业的经济利润必定为零  </a:t>
            </a:r>
            <a:endParaRPr 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5000"/>
              </a:spcBef>
            </a:pPr>
            <a:r>
              <a:rPr 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当P=ATC时，经济利润为零</a:t>
            </a:r>
            <a:endParaRPr 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5000"/>
              </a:spcBef>
            </a:pPr>
            <a:r>
              <a:rPr 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由于企业在P=MR =MC处生产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零利润条件是P= </a:t>
            </a:r>
            <a:r>
              <a:rPr 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 = ATC</a:t>
            </a:r>
            <a:endParaRPr 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5000"/>
              </a:spcBef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</a:t>
            </a:r>
            <a:r>
              <a:rPr 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曲线在ATC曲线的最低点与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曲线相交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因此，长期</a:t>
            </a:r>
            <a:r>
              <a:rPr 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，P=最小的ATC.</a:t>
            </a:r>
            <a:endParaRPr 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4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如果企业利润为零，为什么它们要留在市场?</a:t>
            </a:r>
            <a:endParaRPr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467360" y="1412050"/>
            <a:ext cx="8229600" cy="4979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经济利润是收益减去所有的成本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包括隐性成本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mtClean="0">
                <a:latin typeface="华光楷体一_CNKI" panose="02000500000000000000" charset="-122"/>
                <a:ea typeface="华光楷体一_CNKI" panose="02000500000000000000" charset="-122"/>
                <a:cs typeface="微软雅黑" panose="020B0503020204020204" pitchFamily="34" charset="-122"/>
                <a:sym typeface="+mn-ea"/>
              </a:rPr>
              <a:t>比如所有者用于经营的时间和金钱的</a:t>
            </a:r>
            <a:r>
              <a:rPr lang="zh-CN" altLang="en-US" smtClean="0">
                <a:latin typeface="华光楷体一_CNKI" panose="02000500000000000000" charset="-122"/>
                <a:ea typeface="华光楷体一_CNKI" panose="02000500000000000000" charset="-122"/>
                <a:cs typeface="微软雅黑" panose="020B0503020204020204" pitchFamily="34" charset="-122"/>
                <a:sym typeface="+mn-ea"/>
              </a:rPr>
              <a:t>机会</a:t>
            </a:r>
            <a:r>
              <a:rPr lang="en-US" smtClean="0">
                <a:latin typeface="华光楷体一_CNKI" panose="02000500000000000000" charset="-122"/>
                <a:ea typeface="华光楷体一_CNKI" panose="02000500000000000000" charset="-122"/>
                <a:cs typeface="微软雅黑" panose="020B0503020204020204" pitchFamily="34" charset="-122"/>
                <a:sym typeface="+mn-ea"/>
              </a:rPr>
              <a:t>成本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1200"/>
              </a:spcBef>
              <a:buClr>
                <a:srgbClr val="A3C167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在零利润均衡时: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7250" lvl="3">
              <a:lnSpc>
                <a:spcPct val="150000"/>
              </a:lnSpc>
            </a:pP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企业收益必须能够补偿所有者的上述机会成本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7250" lvl="3">
              <a:lnSpc>
                <a:spcPct val="150000"/>
              </a:lnSpc>
            </a:pPr>
            <a:r>
              <a:rPr lang="zh-CN" alt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但是，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会计利润为正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4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长期市场供给曲线</a:t>
            </a:r>
            <a:endParaRPr lang="zh-CN" altLang="en-US" sz="3200" smtClean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1995488" y="3148013"/>
            <a:ext cx="1952625" cy="2203450"/>
            <a:chOff x="837" y="2095"/>
            <a:chExt cx="1230" cy="1388"/>
          </a:xfrm>
        </p:grpSpPr>
        <p:sp>
          <p:nvSpPr>
            <p:cNvPr id="34852" name="Line 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 flipV="1">
              <a:off x="837" y="2293"/>
              <a:ext cx="944" cy="119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53" name="Text Box 5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684" y="2095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67"/>
          <p:cNvGrpSpPr/>
          <p:nvPr/>
        </p:nvGrpSpPr>
        <p:grpSpPr bwMode="auto">
          <a:xfrm>
            <a:off x="4860925" y="2706688"/>
            <a:ext cx="3975100" cy="3475038"/>
            <a:chOff x="2887" y="1376"/>
            <a:chExt cx="2504" cy="2189"/>
          </a:xfrm>
        </p:grpSpPr>
        <p:sp>
          <p:nvSpPr>
            <p:cNvPr id="34845" name="Text Box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574" y="1376"/>
              <a:ext cx="991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u="sng">
                  <a:latin typeface="Arial" panose="020B0604020202020204"/>
                  <a:cs typeface="Arial" panose="020B0604020202020204"/>
                </a:rPr>
                <a:t>市场</a:t>
              </a:r>
              <a:endParaRPr lang="zh-CN" altLang="en-US" sz="2400" u="sng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7" name="Group 12"/>
            <p:cNvGrpSpPr/>
            <p:nvPr/>
          </p:nvGrpSpPr>
          <p:grpSpPr bwMode="auto">
            <a:xfrm>
              <a:off x="3056" y="1791"/>
              <a:ext cx="1710" cy="1436"/>
              <a:chOff x="3049" y="1681"/>
              <a:chExt cx="1864" cy="1932"/>
            </a:xfrm>
          </p:grpSpPr>
          <p:sp>
            <p:nvSpPr>
              <p:cNvPr id="34850" name="Line 13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049" y="1681"/>
                <a:ext cx="0" cy="19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851" name="Line 14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3049" y="3613"/>
                <a:ext cx="1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4847" name="Text Box 1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732" y="3082"/>
              <a:ext cx="355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48" name="Text Box 1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87" y="1541"/>
              <a:ext cx="29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49" name="Text Box 1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47" y="3274"/>
              <a:ext cx="84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smtClean="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(</a:t>
              </a:r>
              <a:r>
                <a:rPr lang="zh-CN" altLang="en-US" sz="2400" smtClean="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市场</a:t>
              </a:r>
              <a:r>
                <a:rPr lang="en-US" sz="2400" smtClean="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)</a:t>
              </a:r>
              <a:endParaRPr lang="en-US" sz="2400">
                <a:solidFill>
                  <a:srgbClr val="4D4D4D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69"/>
          <p:cNvGrpSpPr/>
          <p:nvPr/>
        </p:nvGrpSpPr>
        <p:grpSpPr bwMode="auto">
          <a:xfrm>
            <a:off x="1236663" y="2668588"/>
            <a:ext cx="3533775" cy="3519488"/>
            <a:chOff x="401" y="1352"/>
            <a:chExt cx="2226" cy="2217"/>
          </a:xfrm>
        </p:grpSpPr>
        <p:sp>
          <p:nvSpPr>
            <p:cNvPr id="34838" name="Text Box 1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97" y="1352"/>
              <a:ext cx="991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u="sng">
                  <a:latin typeface="Arial" panose="020B0604020202020204"/>
                  <a:cs typeface="Arial" panose="020B0604020202020204"/>
                </a:rPr>
                <a:t>单个企业</a:t>
              </a:r>
              <a:endParaRPr lang="zh-CN" altLang="en-US" sz="2400" u="sng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9" name="Group 21"/>
            <p:cNvGrpSpPr/>
            <p:nvPr/>
          </p:nvGrpSpPr>
          <p:grpSpPr bwMode="auto">
            <a:xfrm>
              <a:off x="562" y="1793"/>
              <a:ext cx="1606" cy="1431"/>
              <a:chOff x="1489" y="785"/>
              <a:chExt cx="3650" cy="2492"/>
            </a:xfrm>
          </p:grpSpPr>
          <p:sp>
            <p:nvSpPr>
              <p:cNvPr id="34843" name="Line 22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844" name="Line 23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4840" name="Text Box 2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35" y="3079"/>
              <a:ext cx="33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41" name="Text Box 2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01" y="1544"/>
              <a:ext cx="284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5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42" name="Text Box 2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867" y="3278"/>
              <a:ext cx="760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smtClean="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(</a:t>
              </a:r>
              <a:r>
                <a:rPr lang="zh-CN" altLang="en-US" sz="240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企业</a:t>
              </a:r>
              <a:r>
                <a:rPr lang="en-US" sz="2400" smtClean="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)</a:t>
              </a:r>
              <a:endParaRPr lang="en-US" sz="2400">
                <a:solidFill>
                  <a:srgbClr val="4D4D4D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5445" name="Text Box 3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83578" y="1400175"/>
            <a:ext cx="2808302" cy="94870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在长期中，代表性企业获得零利润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Group 70"/>
          <p:cNvGrpSpPr/>
          <p:nvPr/>
        </p:nvGrpSpPr>
        <p:grpSpPr bwMode="auto">
          <a:xfrm>
            <a:off x="1597025" y="3468688"/>
            <a:ext cx="3003550" cy="1111250"/>
            <a:chOff x="628" y="1856"/>
            <a:chExt cx="1892" cy="700"/>
          </a:xfrm>
        </p:grpSpPr>
        <p:sp>
          <p:nvSpPr>
            <p:cNvPr id="34836" name="Arc 61"/>
            <p:cNvSpPr/>
            <p:nvPr>
              <p:custDataLst>
                <p:tags r:id="rId16"/>
              </p:custDataLst>
            </p:nvPr>
          </p:nvSpPr>
          <p:spPr bwMode="auto">
            <a:xfrm flipH="1" flipV="1">
              <a:off x="628" y="1856"/>
              <a:ext cx="1344" cy="700"/>
            </a:xfrm>
            <a:custGeom>
              <a:avLst/>
              <a:gdLst>
                <a:gd name="T0" fmla="*/ 0 w 34271"/>
                <a:gd name="T1" fmla="*/ 0 h 21600"/>
                <a:gd name="T2" fmla="*/ 0 w 34271"/>
                <a:gd name="T3" fmla="*/ 0 h 21600"/>
                <a:gd name="T4" fmla="*/ 0 w 34271"/>
                <a:gd name="T5" fmla="*/ 0 h 21600"/>
                <a:gd name="T6" fmla="*/ 0 60000 65536"/>
                <a:gd name="T7" fmla="*/ 0 60000 65536"/>
                <a:gd name="T8" fmla="*/ 0 60000 65536"/>
                <a:gd name="T9" fmla="*/ 0 w 34271"/>
                <a:gd name="T10" fmla="*/ 0 h 21600"/>
                <a:gd name="T11" fmla="*/ 34271 w 3427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71" h="21600" fill="none" extrusionOk="0">
                  <a:moveTo>
                    <a:pt x="0" y="9663"/>
                  </a:moveTo>
                  <a:cubicBezTo>
                    <a:pt x="4001" y="3628"/>
                    <a:pt x="10761" y="-1"/>
                    <a:pt x="18002" y="0"/>
                  </a:cubicBezTo>
                  <a:cubicBezTo>
                    <a:pt x="24237" y="0"/>
                    <a:pt x="30168" y="2694"/>
                    <a:pt x="34270" y="7391"/>
                  </a:cubicBezTo>
                </a:path>
                <a:path w="34271" h="21600" stroke="0" extrusionOk="0">
                  <a:moveTo>
                    <a:pt x="0" y="9663"/>
                  </a:moveTo>
                  <a:cubicBezTo>
                    <a:pt x="4001" y="3628"/>
                    <a:pt x="10761" y="-1"/>
                    <a:pt x="18002" y="0"/>
                  </a:cubicBezTo>
                  <a:cubicBezTo>
                    <a:pt x="24237" y="0"/>
                    <a:pt x="30168" y="2694"/>
                    <a:pt x="34270" y="7391"/>
                  </a:cubicBezTo>
                  <a:lnTo>
                    <a:pt x="18002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37" name="Text Box 6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804" y="2016"/>
              <a:ext cx="71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LRATC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65"/>
          <p:cNvGrpSpPr/>
          <p:nvPr/>
        </p:nvGrpSpPr>
        <p:grpSpPr bwMode="auto">
          <a:xfrm>
            <a:off x="5129213" y="4225928"/>
            <a:ext cx="4016374" cy="625475"/>
            <a:chOff x="3056" y="2333"/>
            <a:chExt cx="2530" cy="394"/>
          </a:xfrm>
        </p:grpSpPr>
        <p:sp>
          <p:nvSpPr>
            <p:cNvPr id="34834" name="Line 4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3056" y="2556"/>
              <a:ext cx="1573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35" name="Text Box 6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624" y="2333"/>
              <a:ext cx="962" cy="3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长期供给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74"/>
          <p:cNvGrpSpPr/>
          <p:nvPr/>
        </p:nvGrpSpPr>
        <p:grpSpPr bwMode="auto">
          <a:xfrm>
            <a:off x="320675" y="3963988"/>
            <a:ext cx="1109663" cy="1200150"/>
            <a:chOff x="258" y="2497"/>
            <a:chExt cx="699" cy="756"/>
          </a:xfrm>
        </p:grpSpPr>
        <p:sp>
          <p:nvSpPr>
            <p:cNvPr id="34832" name="Text Box 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58" y="2497"/>
              <a:ext cx="561" cy="7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>
                  <a:latin typeface="Arial" panose="020B0604020202020204"/>
                  <a:cs typeface="Arial" panose="020B0604020202020204"/>
                </a:rPr>
                <a:t> = min. </a:t>
              </a: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833" name="AutoShape 72"/>
            <p:cNvSpPr/>
            <p:nvPr>
              <p:custDataLst>
                <p:tags r:id="rId21"/>
              </p:custDataLst>
            </p:nvPr>
          </p:nvSpPr>
          <p:spPr bwMode="auto">
            <a:xfrm>
              <a:off x="741" y="2542"/>
              <a:ext cx="216" cy="679"/>
            </a:xfrm>
            <a:prstGeom prst="rightBrace">
              <a:avLst>
                <a:gd name="adj1" fmla="val 35466"/>
                <a:gd name="adj2" fmla="val 50000"/>
              </a:avLst>
            </a:prstGeom>
            <a:noFill/>
            <a:ln w="19050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5415" name="Line 7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1490663" y="4576763"/>
            <a:ext cx="3624262" cy="9525"/>
          </a:xfrm>
          <a:prstGeom prst="line">
            <a:avLst/>
          </a:prstGeom>
          <a:noFill/>
          <a:ln w="12700">
            <a:solidFill>
              <a:srgbClr val="CC0000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829" name="Oval 71"/>
          <p:cNvSpPr>
            <a:spLocks noChangeAspect="1" noChangeArrowheads="1"/>
          </p:cNvSpPr>
          <p:nvPr>
            <p:custDataLst>
              <p:tags r:id="rId23"/>
            </p:custDataLst>
          </p:nvPr>
        </p:nvSpPr>
        <p:spPr bwMode="auto">
          <a:xfrm>
            <a:off x="2555875" y="4524375"/>
            <a:ext cx="115888" cy="1143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5481" name="Text Box 73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4860032" y="1484784"/>
            <a:ext cx="3744416" cy="94902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长期市场供给曲线是水平直线，</a:t>
            </a:r>
            <a:r>
              <a:rPr lang="en-US" sz="2500" smtClean="0">
                <a:latin typeface="Arial" panose="020B0604020202020204"/>
                <a:cs typeface="Arial" panose="020B0604020202020204"/>
              </a:rPr>
              <a:t>即 </a:t>
            </a:r>
            <a:r>
              <a:rPr lang="en-US" sz="2500" b="1" i="1" smtClean="0">
                <a:latin typeface="Arial" panose="020B0604020202020204"/>
                <a:cs typeface="Arial" panose="020B0604020202020204"/>
              </a:rPr>
              <a:t>P</a:t>
            </a:r>
            <a:r>
              <a:rPr lang="en-US" sz="2500" smtClean="0">
                <a:latin typeface="Arial" panose="020B0604020202020204"/>
                <a:cs typeface="Arial" panose="020B0604020202020204"/>
              </a:rPr>
              <a:t> </a:t>
            </a:r>
            <a:r>
              <a:rPr lang="en-US" sz="2500">
                <a:latin typeface="Arial" panose="020B0604020202020204"/>
                <a:cs typeface="Arial" panose="020B0604020202020204"/>
              </a:rPr>
              <a:t>= min</a:t>
            </a:r>
            <a:r>
              <a:rPr lang="en-US" sz="2500" i="1">
                <a:latin typeface="Arial" panose="020B0604020202020204"/>
                <a:cs typeface="Arial" panose="020B0604020202020204"/>
              </a:rPr>
              <a:t>ATC</a:t>
            </a:r>
            <a:r>
              <a:rPr lang="en-US" sz="2500">
                <a:latin typeface="Arial" panose="020B0604020202020204"/>
                <a:cs typeface="Arial" panose="020B0604020202020204"/>
              </a:rPr>
              <a:t>.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45" grpId="0" bldLvl="0" animBg="1" autoUpdateAnimBg="0"/>
      <p:bldP spid="145415" grpId="0" bldLvl="0" animBg="1"/>
      <p:bldP spid="145481" grpId="0" bldLvl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6857" y="692132"/>
            <a:ext cx="5262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需求增加的影响:短期与长期</a:t>
            </a:r>
            <a:endParaRPr sz="3200" smtClean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4" name="Group 66"/>
          <p:cNvGrpSpPr/>
          <p:nvPr/>
        </p:nvGrpSpPr>
        <p:grpSpPr bwMode="auto">
          <a:xfrm>
            <a:off x="5101908" y="3100388"/>
            <a:ext cx="2587625" cy="2640012"/>
            <a:chOff x="3217" y="1621"/>
            <a:chExt cx="1630" cy="1663"/>
          </a:xfrm>
        </p:grpSpPr>
        <p:sp>
          <p:nvSpPr>
            <p:cNvPr id="35927" name="Line 33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 flipV="1">
              <a:off x="3217" y="1833"/>
              <a:ext cx="1332" cy="1451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28" name="Text Box 3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545" y="1621"/>
              <a:ext cx="302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79"/>
          <p:cNvGrpSpPr/>
          <p:nvPr/>
        </p:nvGrpSpPr>
        <p:grpSpPr bwMode="auto">
          <a:xfrm>
            <a:off x="879158" y="3884613"/>
            <a:ext cx="1649412" cy="1058862"/>
            <a:chOff x="557" y="2115"/>
            <a:chExt cx="1039" cy="667"/>
          </a:xfrm>
        </p:grpSpPr>
        <p:sp>
          <p:nvSpPr>
            <p:cNvPr id="35924" name="Rectangle 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57" y="2536"/>
              <a:ext cx="1039" cy="246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25" name="Text Box 5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" y="2115"/>
              <a:ext cx="480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Profit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26" name="Line 5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959" y="2342"/>
              <a:ext cx="114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67"/>
          <p:cNvGrpSpPr/>
          <p:nvPr/>
        </p:nvGrpSpPr>
        <p:grpSpPr bwMode="auto">
          <a:xfrm>
            <a:off x="5108258" y="4564064"/>
            <a:ext cx="2808287" cy="1589088"/>
            <a:chOff x="3221" y="2543"/>
            <a:chExt cx="1769" cy="1001"/>
          </a:xfrm>
        </p:grpSpPr>
        <p:sp>
          <p:nvSpPr>
            <p:cNvPr id="35922" name="Line 3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221" y="2543"/>
              <a:ext cx="1459" cy="907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23" name="Text Box 5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88" y="3311"/>
              <a:ext cx="302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61"/>
          <p:cNvGrpSpPr/>
          <p:nvPr/>
        </p:nvGrpSpPr>
        <p:grpSpPr bwMode="auto">
          <a:xfrm>
            <a:off x="4173220" y="4652966"/>
            <a:ext cx="4738688" cy="671513"/>
            <a:chOff x="2632" y="2599"/>
            <a:chExt cx="2985" cy="423"/>
          </a:xfrm>
        </p:grpSpPr>
        <p:sp>
          <p:nvSpPr>
            <p:cNvPr id="35919" name="Line 12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044" y="2819"/>
              <a:ext cx="1882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20" name="Text Box 1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632" y="2668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21" name="Text Box 5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862" y="2599"/>
              <a:ext cx="755" cy="4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long-run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  <a:p>
              <a:pPr>
                <a:lnSpc>
                  <a:spcPct val="90000"/>
                </a:lnSpc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supply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72"/>
          <p:cNvGrpSpPr/>
          <p:nvPr/>
        </p:nvGrpSpPr>
        <p:grpSpPr bwMode="auto">
          <a:xfrm>
            <a:off x="5193983" y="3894137"/>
            <a:ext cx="3057525" cy="1936749"/>
            <a:chOff x="3275" y="2121"/>
            <a:chExt cx="1926" cy="1220"/>
          </a:xfrm>
        </p:grpSpPr>
        <p:sp>
          <p:nvSpPr>
            <p:cNvPr id="35917" name="Line 36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3275" y="2121"/>
              <a:ext cx="1686" cy="10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18" name="Text Box 5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976" y="3108"/>
              <a:ext cx="22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5"/>
          <p:cNvGrpSpPr/>
          <p:nvPr/>
        </p:nvGrpSpPr>
        <p:grpSpPr bwMode="auto">
          <a:xfrm>
            <a:off x="1323658" y="3205163"/>
            <a:ext cx="2493962" cy="2851150"/>
            <a:chOff x="995" y="1624"/>
            <a:chExt cx="1571" cy="1796"/>
          </a:xfrm>
        </p:grpSpPr>
        <p:sp>
          <p:nvSpPr>
            <p:cNvPr id="35915" name="Line 6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V="1">
              <a:off x="995" y="1862"/>
              <a:ext cx="1239" cy="155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16" name="Text Box 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183" y="1624"/>
              <a:ext cx="38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8"/>
          <p:cNvGrpSpPr/>
          <p:nvPr/>
        </p:nvGrpSpPr>
        <p:grpSpPr bwMode="auto">
          <a:xfrm>
            <a:off x="1058545" y="3479800"/>
            <a:ext cx="2936875" cy="1516063"/>
            <a:chOff x="828" y="1797"/>
            <a:chExt cx="1850" cy="955"/>
          </a:xfrm>
        </p:grpSpPr>
        <p:sp>
          <p:nvSpPr>
            <p:cNvPr id="35913" name="Arc 9"/>
            <p:cNvSpPr/>
            <p:nvPr>
              <p:custDataLst>
                <p:tags r:id="rId15"/>
              </p:custDataLst>
            </p:nvPr>
          </p:nvSpPr>
          <p:spPr bwMode="auto">
            <a:xfrm flipH="1" flipV="1">
              <a:off x="828" y="1797"/>
              <a:ext cx="1461" cy="955"/>
            </a:xfrm>
            <a:custGeom>
              <a:avLst/>
              <a:gdLst>
                <a:gd name="T0" fmla="*/ 0 w 34271"/>
                <a:gd name="T1" fmla="*/ 0 h 21600"/>
                <a:gd name="T2" fmla="*/ 0 w 34271"/>
                <a:gd name="T3" fmla="*/ 0 h 21600"/>
                <a:gd name="T4" fmla="*/ 0 w 34271"/>
                <a:gd name="T5" fmla="*/ 0 h 21600"/>
                <a:gd name="T6" fmla="*/ 0 60000 65536"/>
                <a:gd name="T7" fmla="*/ 0 60000 65536"/>
                <a:gd name="T8" fmla="*/ 0 60000 65536"/>
                <a:gd name="T9" fmla="*/ 0 w 34271"/>
                <a:gd name="T10" fmla="*/ 0 h 21600"/>
                <a:gd name="T11" fmla="*/ 34271 w 3427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71" h="21600" fill="none" extrusionOk="0">
                  <a:moveTo>
                    <a:pt x="0" y="9663"/>
                  </a:moveTo>
                  <a:cubicBezTo>
                    <a:pt x="4001" y="3628"/>
                    <a:pt x="10761" y="-1"/>
                    <a:pt x="18002" y="0"/>
                  </a:cubicBezTo>
                  <a:cubicBezTo>
                    <a:pt x="24237" y="0"/>
                    <a:pt x="30168" y="2694"/>
                    <a:pt x="34270" y="7391"/>
                  </a:cubicBezTo>
                </a:path>
                <a:path w="34271" h="21600" stroke="0" extrusionOk="0">
                  <a:moveTo>
                    <a:pt x="0" y="9663"/>
                  </a:moveTo>
                  <a:cubicBezTo>
                    <a:pt x="4001" y="3628"/>
                    <a:pt x="10761" y="-1"/>
                    <a:pt x="18002" y="0"/>
                  </a:cubicBezTo>
                  <a:cubicBezTo>
                    <a:pt x="24237" y="0"/>
                    <a:pt x="30168" y="2694"/>
                    <a:pt x="34270" y="7391"/>
                  </a:cubicBezTo>
                  <a:lnTo>
                    <a:pt x="18002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14" name="Text Box 1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213" y="2101"/>
              <a:ext cx="46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Group 62"/>
          <p:cNvGrpSpPr/>
          <p:nvPr/>
        </p:nvGrpSpPr>
        <p:grpSpPr bwMode="auto">
          <a:xfrm>
            <a:off x="217170" y="4759325"/>
            <a:ext cx="3556000" cy="457200"/>
            <a:chOff x="140" y="2666"/>
            <a:chExt cx="2240" cy="288"/>
          </a:xfrm>
        </p:grpSpPr>
        <p:sp>
          <p:nvSpPr>
            <p:cNvPr id="35911" name="Line 3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552" y="2817"/>
              <a:ext cx="1828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912" name="Text Box 1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40" y="2666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4566920" y="2732088"/>
            <a:ext cx="4208463" cy="4056063"/>
            <a:chOff x="2880" y="1389"/>
            <a:chExt cx="2651" cy="2555"/>
          </a:xfrm>
        </p:grpSpPr>
        <p:sp>
          <p:nvSpPr>
            <p:cNvPr id="35902" name="Text Box 1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609" y="1389"/>
              <a:ext cx="99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u="sng">
                  <a:latin typeface="Arial" panose="020B0604020202020204"/>
                  <a:cs typeface="Arial" panose="020B0604020202020204"/>
                </a:rPr>
                <a:t>市场</a:t>
              </a:r>
              <a:endParaRPr lang="en-US" sz="2400" u="sng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5" name="Group 16"/>
            <p:cNvGrpSpPr/>
            <p:nvPr/>
          </p:nvGrpSpPr>
          <p:grpSpPr bwMode="auto">
            <a:xfrm>
              <a:off x="2880" y="1470"/>
              <a:ext cx="2651" cy="2474"/>
              <a:chOff x="2880" y="1470"/>
              <a:chExt cx="2651" cy="2474"/>
            </a:xfrm>
          </p:grpSpPr>
          <p:grpSp>
            <p:nvGrpSpPr>
              <p:cNvPr id="16" name="Group 17"/>
              <p:cNvGrpSpPr/>
              <p:nvPr/>
            </p:nvGrpSpPr>
            <p:grpSpPr bwMode="auto">
              <a:xfrm>
                <a:off x="2880" y="1470"/>
                <a:ext cx="2361" cy="2309"/>
                <a:chOff x="2880" y="1470"/>
                <a:chExt cx="2361" cy="2309"/>
              </a:xfrm>
            </p:grpSpPr>
            <p:grpSp>
              <p:nvGrpSpPr>
                <p:cNvPr id="17" name="Group 18"/>
                <p:cNvGrpSpPr/>
                <p:nvPr/>
              </p:nvGrpSpPr>
              <p:grpSpPr bwMode="auto">
                <a:xfrm>
                  <a:off x="3049" y="1717"/>
                  <a:ext cx="1864" cy="1896"/>
                  <a:chOff x="3049" y="1681"/>
                  <a:chExt cx="1864" cy="1932"/>
                </a:xfrm>
              </p:grpSpPr>
              <p:sp>
                <p:nvSpPr>
                  <p:cNvPr id="35909" name="Line 19"/>
                  <p:cNvSpPr>
                    <a:spLocks noChangeShapeType="1"/>
                  </p:cNvSpPr>
                  <p:nvPr>
                    <p:custDataLst>
                      <p:tags r:id="rId20"/>
                    </p:custDataLst>
                  </p:nvPr>
                </p:nvSpPr>
                <p:spPr bwMode="auto">
                  <a:xfrm>
                    <a:off x="3049" y="1681"/>
                    <a:ext cx="0" cy="193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35910" name="Line 20"/>
                  <p:cNvSpPr>
                    <a:spLocks noChangeShapeType="1"/>
                  </p:cNvSpPr>
                  <p:nvPr>
                    <p:custDataLst>
                      <p:tags r:id="rId21"/>
                    </p:custDataLst>
                  </p:nvPr>
                </p:nvSpPr>
                <p:spPr bwMode="auto">
                  <a:xfrm>
                    <a:off x="3049" y="3613"/>
                    <a:ext cx="186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35907" name="Text Box 21"/>
                <p:cNvSpPr txBox="1">
                  <a:spLocks noChangeArrowheads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4886" y="3481"/>
                  <a:ext cx="355" cy="2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500" b="1" i="1">
                      <a:latin typeface="Arial" panose="020B0604020202020204"/>
                      <a:cs typeface="Arial" panose="020B0604020202020204"/>
                    </a:rPr>
                    <a:t>Q</a:t>
                  </a:r>
                  <a:endParaRPr lang="en-US" sz="25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5908" name="Text Box 22"/>
                <p:cNvSpPr txBox="1">
                  <a:spLocks noChangeArrowhead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2880" y="1470"/>
                  <a:ext cx="298" cy="2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r">
                    <a:spcBef>
                      <a:spcPct val="50000"/>
                    </a:spcBef>
                  </a:pPr>
                  <a:r>
                    <a:rPr lang="en-US" sz="2500" b="1" i="1">
                      <a:latin typeface="Arial" panose="020B0604020202020204"/>
                      <a:cs typeface="Arial" panose="020B0604020202020204"/>
                    </a:rPr>
                    <a:t>P</a:t>
                  </a:r>
                  <a:endParaRPr lang="en-US" sz="2500" b="1" i="1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35905" name="Text Box 23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687" y="3653"/>
                <a:ext cx="84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smtClean="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(</a:t>
                </a:r>
                <a:r>
                  <a:rPr lang="zh-CN" altLang="en-US" sz="2400" smtClean="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市场</a:t>
                </a:r>
                <a:r>
                  <a:rPr lang="en-US" sz="2400" smtClean="0">
                    <a:solidFill>
                      <a:srgbClr val="4D4D4D"/>
                    </a:solidFill>
                    <a:latin typeface="Arial" panose="020B0604020202020204"/>
                    <a:cs typeface="Arial" panose="020B0604020202020204"/>
                  </a:rPr>
                  <a:t>)</a:t>
                </a:r>
                <a:endParaRPr lang="en-US" sz="240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35854" name="Text Box 24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549083" y="2735263"/>
            <a:ext cx="157321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u="sng" smtClean="0">
                <a:latin typeface="Arial" panose="020B0604020202020204"/>
                <a:cs typeface="Arial" panose="020B0604020202020204"/>
              </a:rPr>
              <a:t>单个企业</a:t>
            </a:r>
            <a:endParaRPr lang="en-US" sz="2400" u="sng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Group 25"/>
          <p:cNvGrpSpPr/>
          <p:nvPr/>
        </p:nvGrpSpPr>
        <p:grpSpPr bwMode="auto">
          <a:xfrm>
            <a:off x="620395" y="2863850"/>
            <a:ext cx="3789363" cy="3930651"/>
            <a:chOff x="394" y="1472"/>
            <a:chExt cx="2387" cy="2476"/>
          </a:xfrm>
        </p:grpSpPr>
        <p:grpSp>
          <p:nvGrpSpPr>
            <p:cNvPr id="19" name="Group 26"/>
            <p:cNvGrpSpPr/>
            <p:nvPr/>
          </p:nvGrpSpPr>
          <p:grpSpPr bwMode="auto">
            <a:xfrm>
              <a:off x="394" y="1472"/>
              <a:ext cx="2247" cy="2303"/>
              <a:chOff x="394" y="1472"/>
              <a:chExt cx="2247" cy="2303"/>
            </a:xfrm>
          </p:grpSpPr>
          <p:grpSp>
            <p:nvGrpSpPr>
              <p:cNvPr id="20" name="Group 27"/>
              <p:cNvGrpSpPr/>
              <p:nvPr/>
            </p:nvGrpSpPr>
            <p:grpSpPr bwMode="auto">
              <a:xfrm>
                <a:off x="555" y="1719"/>
                <a:ext cx="1774" cy="1890"/>
                <a:chOff x="1489" y="785"/>
                <a:chExt cx="3650" cy="2492"/>
              </a:xfrm>
            </p:grpSpPr>
            <p:sp>
              <p:nvSpPr>
                <p:cNvPr id="35900" name="Line 28"/>
                <p:cNvSpPr>
                  <a:spLocks noChangeShapeType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1489" y="785"/>
                  <a:ext cx="0" cy="24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35901" name="Line 29"/>
                <p:cNvSpPr>
                  <a:spLocks noChangeShapeType="1"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1489" y="3277"/>
                  <a:ext cx="36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35898" name="Text Box 30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303" y="3477"/>
                <a:ext cx="338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5899" name="Text Box 31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394" y="1472"/>
                <a:ext cx="284" cy="2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500" b="1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b="1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5896" name="Text Box 3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021" y="3657"/>
              <a:ext cx="760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smtClean="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(</a:t>
              </a:r>
              <a:r>
                <a:rPr lang="zh-CN" altLang="en-US" sz="240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企业</a:t>
              </a:r>
              <a:r>
                <a:rPr lang="en-US" sz="2400" smtClean="0">
                  <a:solidFill>
                    <a:srgbClr val="4D4D4D"/>
                  </a:solidFill>
                  <a:latin typeface="Arial" panose="020B0604020202020204"/>
                  <a:cs typeface="Arial" panose="020B0604020202020204"/>
                </a:rPr>
                <a:t>)</a:t>
              </a:r>
              <a:endParaRPr lang="en-US" sz="2400">
                <a:solidFill>
                  <a:srgbClr val="4D4D4D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68"/>
          <p:cNvGrpSpPr/>
          <p:nvPr/>
        </p:nvGrpSpPr>
        <p:grpSpPr bwMode="auto">
          <a:xfrm>
            <a:off x="4335145" y="4343405"/>
            <a:ext cx="1879600" cy="369888"/>
            <a:chOff x="2734" y="2404"/>
            <a:chExt cx="1184" cy="233"/>
          </a:xfrm>
        </p:grpSpPr>
        <p:sp>
          <p:nvSpPr>
            <p:cNvPr id="35893" name="Text Box 39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734" y="2404"/>
              <a:ext cx="260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94" name="Line 4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3048" y="2523"/>
              <a:ext cx="870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77"/>
          <p:cNvGrpSpPr/>
          <p:nvPr/>
        </p:nvGrpSpPr>
        <p:grpSpPr bwMode="auto">
          <a:xfrm>
            <a:off x="217170" y="4302125"/>
            <a:ext cx="3556000" cy="457200"/>
            <a:chOff x="140" y="2378"/>
            <a:chExt cx="2240" cy="288"/>
          </a:xfrm>
        </p:grpSpPr>
        <p:sp>
          <p:nvSpPr>
            <p:cNvPr id="35891" name="Line 47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552" y="2529"/>
              <a:ext cx="1828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92" name="Text Box 4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40" y="2378"/>
              <a:ext cx="3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8289" name="Oval 49"/>
          <p:cNvSpPr>
            <a:spLocks noChangeAspect="1" noChangeArrowheads="1"/>
          </p:cNvSpPr>
          <p:nvPr>
            <p:custDataLst>
              <p:tags r:id="rId35"/>
            </p:custDataLst>
          </p:nvPr>
        </p:nvSpPr>
        <p:spPr bwMode="auto">
          <a:xfrm>
            <a:off x="2469833" y="4481513"/>
            <a:ext cx="115887" cy="1143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290" name="Oval 50"/>
          <p:cNvSpPr>
            <a:spLocks noChangeAspect="1" noChangeArrowheads="1"/>
          </p:cNvSpPr>
          <p:nvPr>
            <p:custDataLst>
              <p:tags r:id="rId36"/>
            </p:custDataLst>
          </p:nvPr>
        </p:nvSpPr>
        <p:spPr bwMode="auto">
          <a:xfrm>
            <a:off x="2106295" y="4937125"/>
            <a:ext cx="115888" cy="1143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3" name="Group 76"/>
          <p:cNvGrpSpPr/>
          <p:nvPr/>
        </p:nvGrpSpPr>
        <p:grpSpPr bwMode="auto">
          <a:xfrm>
            <a:off x="5571808" y="4943476"/>
            <a:ext cx="438150" cy="1692276"/>
            <a:chOff x="3513" y="2782"/>
            <a:chExt cx="276" cy="1066"/>
          </a:xfrm>
        </p:grpSpPr>
        <p:sp>
          <p:nvSpPr>
            <p:cNvPr id="35888" name="Text Box 40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513" y="3615"/>
              <a:ext cx="27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89" name="Line 42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3652" y="2833"/>
              <a:ext cx="0" cy="77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90" name="Oval 51"/>
            <p:cNvSpPr>
              <a:spLocks noChangeAspect="1"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612" y="2782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4" name="Group 75"/>
          <p:cNvGrpSpPr/>
          <p:nvPr/>
        </p:nvGrpSpPr>
        <p:grpSpPr bwMode="auto">
          <a:xfrm>
            <a:off x="6024245" y="4471989"/>
            <a:ext cx="461963" cy="2163763"/>
            <a:chOff x="3798" y="2485"/>
            <a:chExt cx="291" cy="1363"/>
          </a:xfrm>
        </p:grpSpPr>
        <p:sp>
          <p:nvSpPr>
            <p:cNvPr id="35885" name="Line 44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3919" y="2542"/>
              <a:ext cx="0" cy="106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86" name="Text Box 4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798" y="3615"/>
              <a:ext cx="291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87" name="Oval 52"/>
            <p:cNvSpPr>
              <a:spLocks noChangeAspect="1"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880" y="2485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8294" name="Oval 54"/>
          <p:cNvSpPr>
            <a:spLocks noChangeAspect="1" noChangeArrowheads="1"/>
          </p:cNvSpPr>
          <p:nvPr>
            <p:custDataLst>
              <p:tags r:id="rId43"/>
            </p:custDataLst>
          </p:nvPr>
        </p:nvSpPr>
        <p:spPr bwMode="auto">
          <a:xfrm>
            <a:off x="2466658" y="4881563"/>
            <a:ext cx="115887" cy="1143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03" name="Line 63"/>
          <p:cNvSpPr>
            <a:spLocks noChangeShapeType="1"/>
          </p:cNvSpPr>
          <p:nvPr>
            <p:custDataLst>
              <p:tags r:id="rId44"/>
            </p:custDataLst>
          </p:nvPr>
        </p:nvSpPr>
        <p:spPr bwMode="auto">
          <a:xfrm>
            <a:off x="6830695" y="5522913"/>
            <a:ext cx="812800" cy="0"/>
          </a:xfrm>
          <a:prstGeom prst="line">
            <a:avLst/>
          </a:prstGeom>
          <a:noFill/>
          <a:ln w="44450">
            <a:solidFill>
              <a:srgbClr val="A50021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04" name="Line 64"/>
          <p:cNvSpPr>
            <a:spLocks noChangeShapeType="1"/>
          </p:cNvSpPr>
          <p:nvPr>
            <p:custDataLst>
              <p:tags r:id="rId45"/>
            </p:custDataLst>
          </p:nvPr>
        </p:nvSpPr>
        <p:spPr bwMode="auto">
          <a:xfrm>
            <a:off x="6568758" y="4248150"/>
            <a:ext cx="981075" cy="0"/>
          </a:xfrm>
          <a:prstGeom prst="line">
            <a:avLst/>
          </a:prstGeom>
          <a:noFill/>
          <a:ln w="44450">
            <a:solidFill>
              <a:srgbClr val="006699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Group 65"/>
          <p:cNvGrpSpPr/>
          <p:nvPr/>
        </p:nvGrpSpPr>
        <p:grpSpPr bwMode="auto">
          <a:xfrm>
            <a:off x="6063933" y="3717925"/>
            <a:ext cx="2235200" cy="2257425"/>
            <a:chOff x="3823" y="2010"/>
            <a:chExt cx="1408" cy="1422"/>
          </a:xfrm>
        </p:grpSpPr>
        <p:sp>
          <p:nvSpPr>
            <p:cNvPr id="35883" name="Line 37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V="1">
              <a:off x="3823" y="2222"/>
              <a:ext cx="1111" cy="121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84" name="Text Box 3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4929" y="2010"/>
              <a:ext cx="302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74"/>
          <p:cNvGrpSpPr/>
          <p:nvPr/>
        </p:nvGrpSpPr>
        <p:grpSpPr bwMode="auto">
          <a:xfrm>
            <a:off x="6767195" y="4945064"/>
            <a:ext cx="457200" cy="1690688"/>
            <a:chOff x="4266" y="2783"/>
            <a:chExt cx="288" cy="1065"/>
          </a:xfrm>
        </p:grpSpPr>
        <p:sp>
          <p:nvSpPr>
            <p:cNvPr id="35880" name="Line 43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4396" y="2836"/>
              <a:ext cx="0" cy="77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81" name="Text Box 46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4266" y="361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3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882" name="Oval 53"/>
            <p:cNvSpPr>
              <a:spLocks noChangeAspect="1"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355" y="2783"/>
              <a:ext cx="73" cy="7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8321" name="Text Box 81"/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696595" y="1357313"/>
            <a:ext cx="2547938" cy="8604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一家公司开始于长期</a:t>
            </a:r>
            <a:r>
              <a:rPr lang="zh-CN" altLang="en-US" sz="2500">
                <a:latin typeface="Arial" panose="020B0604020202020204"/>
                <a:cs typeface="Arial" panose="020B0604020202020204"/>
              </a:rPr>
              <a:t>均衡</a:t>
            </a:r>
            <a:r>
              <a:rPr lang="en-US" sz="2500">
                <a:latin typeface="Arial" panose="020B0604020202020204"/>
                <a:cs typeface="Arial" panose="020B0604020202020204"/>
              </a:rPr>
              <a:t>…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2" name="Text Box 82"/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147945" y="1354138"/>
            <a:ext cx="3417888" cy="8604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…但需求的增加会提高</a:t>
            </a:r>
            <a:r>
              <a:rPr lang="zh-CN" altLang="en-US" sz="2500">
                <a:latin typeface="Arial" panose="020B0604020202020204"/>
                <a:cs typeface="Arial" panose="020B0604020202020204"/>
              </a:rPr>
              <a:t>价格</a:t>
            </a:r>
            <a:r>
              <a:rPr lang="en-US" sz="2500">
                <a:latin typeface="Arial" panose="020B0604020202020204"/>
                <a:cs typeface="Arial" panose="020B0604020202020204"/>
              </a:rPr>
              <a:t>，…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3" name="Text Box 83"/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96278" y="1700530"/>
            <a:ext cx="2803525" cy="8604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…为公司带来</a:t>
            </a:r>
            <a:r>
              <a:rPr lang="zh-CN" altLang="en-US" sz="2500">
                <a:latin typeface="Arial" panose="020B0604020202020204"/>
                <a:cs typeface="Arial" panose="020B0604020202020204"/>
              </a:rPr>
              <a:t>短期</a:t>
            </a:r>
            <a:r>
              <a:rPr lang="en-US" sz="2500">
                <a:latin typeface="Arial" panose="020B0604020202020204"/>
                <a:cs typeface="Arial" panose="020B0604020202020204"/>
              </a:rPr>
              <a:t>利润。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4" name="Text Box 84"/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3780155" y="1700530"/>
            <a:ext cx="5121275" cy="8604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>
                <a:latin typeface="Arial" panose="020B0604020202020204"/>
                <a:cs typeface="Arial" panose="020B0604020202020204"/>
              </a:rPr>
              <a:t>当利润引起企业进入时，供给增加，造成价格</a:t>
            </a:r>
            <a:r>
              <a:rPr lang="en-US" sz="2500">
                <a:latin typeface="Arial" panose="020B0604020202020204"/>
                <a:cs typeface="Arial" panose="020B0604020202020204"/>
              </a:rPr>
              <a:t>…</a:t>
            </a:r>
            <a:endParaRPr lang="en-US" sz="25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5" name="Text Box 85"/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2411760" y="1700808"/>
            <a:ext cx="4179887" cy="8604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...使利润趋于零，回到长期均衡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6" name="Line 86"/>
          <p:cNvSpPr>
            <a:spLocks noChangeShapeType="1"/>
          </p:cNvSpPr>
          <p:nvPr>
            <p:custDataLst>
              <p:tags r:id="rId56"/>
            </p:custDataLst>
          </p:nvPr>
        </p:nvSpPr>
        <p:spPr bwMode="auto">
          <a:xfrm flipV="1">
            <a:off x="4833620" y="4541838"/>
            <a:ext cx="0" cy="4381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7" name="Line 87"/>
          <p:cNvSpPr>
            <a:spLocks noChangeShapeType="1"/>
          </p:cNvSpPr>
          <p:nvPr>
            <p:custDataLst>
              <p:tags r:id="rId57"/>
            </p:custDataLst>
          </p:nvPr>
        </p:nvSpPr>
        <p:spPr bwMode="auto">
          <a:xfrm rot="10800000" flipV="1">
            <a:off x="4836795" y="4551363"/>
            <a:ext cx="0" cy="438150"/>
          </a:xfrm>
          <a:prstGeom prst="line">
            <a:avLst/>
          </a:prstGeom>
          <a:noFill/>
          <a:ln w="38100">
            <a:solidFill>
              <a:srgbClr val="006699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8" name="Line 88"/>
          <p:cNvSpPr>
            <a:spLocks noChangeShapeType="1"/>
          </p:cNvSpPr>
          <p:nvPr>
            <p:custDataLst>
              <p:tags r:id="rId58"/>
            </p:custDataLst>
          </p:nvPr>
        </p:nvSpPr>
        <p:spPr bwMode="auto">
          <a:xfrm flipV="1">
            <a:off x="875983" y="4548188"/>
            <a:ext cx="0" cy="4381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29" name="Line 89"/>
          <p:cNvSpPr>
            <a:spLocks noChangeShapeType="1"/>
          </p:cNvSpPr>
          <p:nvPr>
            <p:custDataLst>
              <p:tags r:id="rId59"/>
            </p:custDataLst>
          </p:nvPr>
        </p:nvSpPr>
        <p:spPr bwMode="auto">
          <a:xfrm rot="10800000" flipV="1">
            <a:off x="874395" y="4552950"/>
            <a:ext cx="0" cy="438150"/>
          </a:xfrm>
          <a:prstGeom prst="line">
            <a:avLst/>
          </a:prstGeom>
          <a:noFill/>
          <a:ln w="38100">
            <a:solidFill>
              <a:srgbClr val="006699"/>
            </a:solidFill>
            <a:round/>
            <a:tailEnd type="stealth" w="lg" len="lg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876" name="Text Box 90"/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5628958" y="4552950"/>
            <a:ext cx="26828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latin typeface="Arial" panose="020B0604020202020204"/>
                <a:cs typeface="Arial" panose="020B0604020202020204"/>
              </a:rPr>
              <a:t>A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31" name="Text Box 91"/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065520" y="4103688"/>
            <a:ext cx="268288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latin typeface="Arial" panose="020B0604020202020204"/>
                <a:cs typeface="Arial" panose="020B0604020202020204"/>
              </a:rPr>
              <a:t>B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332" name="Text Box 92"/>
          <p:cNvSpPr txBox="1"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6808470" y="4565650"/>
            <a:ext cx="268288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latin typeface="Arial" panose="020B0604020202020204"/>
                <a:cs typeface="Arial" panose="020B0604020202020204"/>
              </a:rPr>
              <a:t>C</a:t>
            </a:r>
            <a:endParaRPr lang="en-US"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38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8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8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8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8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8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38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38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8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38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38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8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8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8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38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8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8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8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38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8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8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3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38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38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38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38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38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38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3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89" grpId="0" bldLvl="0" animBg="1"/>
      <p:bldP spid="138289" grpId="1" bldLvl="0" animBg="1"/>
      <p:bldP spid="138290" grpId="0" bldLvl="0" animBg="1"/>
      <p:bldP spid="138290" grpId="1" bldLvl="0" animBg="1"/>
      <p:bldP spid="138294" grpId="0" bldLvl="0" animBg="1"/>
      <p:bldP spid="138294" grpId="1" bldLvl="0" animBg="1"/>
      <p:bldP spid="138303" grpId="0" bldLvl="0" animBg="1"/>
      <p:bldP spid="138303" grpId="1" bldLvl="0" animBg="1"/>
      <p:bldP spid="138304" grpId="0" bldLvl="0" animBg="1"/>
      <p:bldP spid="138304" grpId="1" bldLvl="0" animBg="1"/>
      <p:bldP spid="138321" grpId="0" bldLvl="0" animBg="1"/>
      <p:bldP spid="138322" grpId="0" bldLvl="0" animBg="1"/>
      <p:bldP spid="138322" grpId="1" bldLvl="0" animBg="1"/>
      <p:bldP spid="138323" grpId="0" bldLvl="0" animBg="1"/>
      <p:bldP spid="138323" grpId="1" bldLvl="0" animBg="1"/>
      <p:bldP spid="138324" grpId="0" bldLvl="0" animBg="1"/>
      <p:bldP spid="138324" grpId="1" bldLvl="0" animBg="1"/>
      <p:bldP spid="138325" grpId="0" bldLvl="0" animBg="1"/>
      <p:bldP spid="138326" grpId="0" bldLvl="0" animBg="1"/>
      <p:bldP spid="138326" grpId="1" bldLvl="0" animBg="1"/>
      <p:bldP spid="138327" grpId="0" bldLvl="0" animBg="1"/>
      <p:bldP spid="138327" grpId="1" bldLvl="0" animBg="1"/>
      <p:bldP spid="138328" grpId="0" bldLvl="0" animBg="1"/>
      <p:bldP spid="138328" grpId="1" bldLvl="0" animBg="1"/>
      <p:bldP spid="138329" grpId="0" bldLvl="0" animBg="1"/>
      <p:bldP spid="138329" grpId="1" bldLvl="0" animBg="1"/>
      <p:bldP spid="138331" grpId="0"/>
      <p:bldP spid="1383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5417" y="620688"/>
            <a:ext cx="627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为什么长期供给曲线向右上方倾斜</a:t>
            </a:r>
            <a:endParaRPr sz="3200" smtClean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1600201"/>
            <a:ext cx="8579296" cy="2980928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长期市场供给曲线是水平的，如果:</a:t>
            </a:r>
            <a:endParaRPr lang="en-US" sz="24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所有企业都有完全相同的成本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endParaRPr lang="en-US" sz="24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一些企业进入或退出市场并不改变其他企业的成本  </a:t>
            </a:r>
            <a:endParaRPr lang="en-US" sz="24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60000"/>
              </a:spcBef>
            </a:pP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如果任意一个假设不成立</a:t>
            </a:r>
            <a:r>
              <a:rPr lang="en-US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其实就不是完全竞争性市场了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那长期供给曲线会向右上方倾斜</a:t>
            </a:r>
            <a:endParaRPr lang="en-US" sz="24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bldLvl="4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3197" y="620688"/>
            <a:ext cx="37630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>
                <a:solidFill>
                  <a:srgbClr val="002060"/>
                </a:solidFill>
              </a:rPr>
              <a:t>1)有不同成本的企业</a:t>
            </a:r>
            <a:endParaRPr sz="3200">
              <a:solidFill>
                <a:srgbClr val="002060"/>
              </a:solidFill>
            </a:endParaRPr>
          </a:p>
        </p:txBody>
      </p:sp>
      <p:sp>
        <p:nvSpPr>
          <p:cNvPr id="3789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395536" y="1412776"/>
            <a:ext cx="8496944" cy="5168986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如果价格上升，具有低成本的企业将在高成本企业之前进入市场 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价格进一步上升会促使高成本企业也进入市场，这会增加市场供给量 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因此，长期市场供给曲线向右上方倾斜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在任意P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对边际企业而言，</a:t>
            </a:r>
            <a:r>
              <a:rPr lang="en-US" sz="2600" b="1" i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min ATC ，利润= 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sz="2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对低成本企业</a:t>
            </a: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，利润&gt;0.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8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bldLvl="4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15417" y="620688"/>
            <a:ext cx="49822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>
                <a:solidFill>
                  <a:srgbClr val="002060"/>
                </a:solidFill>
              </a:rPr>
              <a:t>2)企业进入市场，成本增加</a:t>
            </a:r>
            <a:endParaRPr sz="3200">
              <a:solidFill>
                <a:srgbClr val="002060"/>
              </a:solidFill>
            </a:endParaRPr>
          </a:p>
        </p:txBody>
      </p:sp>
      <p:sp>
        <p:nvSpPr>
          <p:cNvPr id="2" name="TextBox 4"/>
          <p:cNvSpPr txBox="1"/>
          <p:nvPr>
            <p:custDataLst>
              <p:tags r:id="rId2"/>
            </p:custDataLst>
          </p:nvPr>
        </p:nvSpPr>
        <p:spPr>
          <a:xfrm>
            <a:off x="304800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i="1" dirty="0" err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391525" cy="3845024"/>
          </a:xfrm>
        </p:spPr>
        <p:txBody>
          <a:bodyPr>
            <a:normAutofit lnSpcReduction="10000"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ct val="40000"/>
              </a:spcBef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在某些行业，一些关键投入供给是有限的（</a:t>
            </a:r>
            <a:r>
              <a:rPr lang="en-US" sz="2500" dirty="0" smtClean="0">
                <a:latin typeface="华光楷体一_CNKI" panose="02000500000000000000" charset="-122"/>
                <a:ea typeface="华光楷体一_CNKI" panose="02000500000000000000" charset="-122"/>
                <a:cs typeface="微软雅黑" panose="020B0503020204020204" pitchFamily="34" charset="-122"/>
              </a:rPr>
              <a:t>比如，适宜耕种的土地数量是有限的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40000"/>
              </a:spcBef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新企业的进入使这种投入的需求增加，从而</a:t>
            </a:r>
            <a:r>
              <a:rPr lang="zh-CN" alt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投入品的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价格上升</a:t>
            </a:r>
            <a:r>
              <a:rPr lang="zh-CN" alt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这会增加所有企业的成本 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40000"/>
              </a:spcBef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</a:t>
            </a:r>
            <a:r>
              <a:rPr lang="zh-CN" alt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只有产品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价格上升</a:t>
            </a:r>
            <a:r>
              <a:rPr lang="zh-CN" alt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，才能</a:t>
            </a:r>
            <a:r>
              <a:rPr lang="en-US" sz="2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引致市场供给量增加，长期供给曲线向右上方倾斜</a:t>
            </a:r>
            <a:endParaRPr lang="en-US" sz="25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bldLvl="4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5417" y="620688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结论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竞争市场的效率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290450"/>
            <a:ext cx="8507288" cy="4802845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  <a:spcBef>
                <a:spcPct val="30000"/>
              </a:spcBef>
              <a:tabLst>
                <a:tab pos="5719445" algn="ctr"/>
              </a:tabLst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利润最大化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sz="27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sz="27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MR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tabLst>
                <a:tab pos="5719445" algn="ctr"/>
              </a:tabLst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完全竞争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sz="27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sz="27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MR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tabLst>
                <a:tab pos="5719445" algn="ctr"/>
              </a:tabLst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，竞争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均衡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中：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sz="2700" b="1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sz="27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</a:t>
            </a:r>
            <a:endParaRPr lang="en-US" sz="27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  <a:tabLst>
                <a:tab pos="5719445" algn="ctr"/>
              </a:tabLst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是生产边际单位的成本，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Р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是买者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对边际单位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的评价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  <a:tabLst>
                <a:tab pos="5719445" algn="ctr"/>
              </a:tabLst>
            </a:pP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因此，竞争均衡是有效率的，最大化总剩余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  <a:tabLst>
                <a:tab pos="5719445" algn="ctr"/>
              </a:tabLst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下一章中将讲</a:t>
            </a:r>
            <a:r>
              <a:rPr lang="en-US" sz="27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垄断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定价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、产量、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无谓损失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管制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等，大家会看到不同的市场结果</a:t>
            </a:r>
            <a:r>
              <a:rPr lang="en-US" altLang="zh-CN" sz="27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bldLvl="4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</a:rPr>
              <a:t>总结</a:t>
            </a:r>
            <a:endParaRPr sz="3200">
              <a:solidFill>
                <a:srgbClr val="002060"/>
              </a:solidFill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对于完全竞争市场上的一个企业而言，</a:t>
            </a:r>
            <a:b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价格=边际收益=平均收益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如果P&gt;AVC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利润最大化的企业将生产产量直到MR</a:t>
            </a:r>
            <a:r>
              <a:rPr 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P&lt;AVC，企业将在短期内停止营业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如果P&lt;ATC，企业将在长期内退出市场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自由进入与退出市场，长期中的利润为零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P=minATC.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304800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584" y="3140968"/>
            <a:ext cx="71102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下一章：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垄断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DIAGRAM_VIRTUALLY_FRAME" val="{&quot;height&quot;:337.00000000000006,&quot;left&quot;:213.75,&quot;top&quot;:152.62503937007872,&quot;width&quot;:465.87503937007875}"/>
</p:tagLst>
</file>

<file path=ppt/tags/tag388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389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390.xml><?xml version="1.0" encoding="utf-8"?>
<p:tagLst xmlns:p="http://schemas.openxmlformats.org/presentationml/2006/main">
  <p:tag name="KSO_WM_DIAGRAM_VIRTUALLY_FRAME" val="{&quot;height&quot;:337.00000000000006,&quot;left&quot;:213.75,&quot;top&quot;:152.62503937007872,&quot;width&quot;:465.87503937007875}"/>
</p:tagLst>
</file>

<file path=ppt/tags/tag391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392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DIAGRAM_VIRTUALLY_FRAME" val="{&quot;height&quot;:337.00000000000006,&quot;left&quot;:213.75,&quot;top&quot;:152.62503937007872,&quot;width&quot;:465.87503937007875}"/>
</p:tagLst>
</file>

<file path=ppt/tags/tag395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396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397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DIAGRAM_VIRTUALLY_FRAME" val="{&quot;height&quot;:337.00000000000006,&quot;left&quot;:213.75,&quot;top&quot;:152.62503937007872,&quot;width&quot;:465.87503937007875}"/>
</p:tagLst>
</file>

<file path=ppt/tags/tag400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01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02.xml><?xml version="1.0" encoding="utf-8"?>
<p:tagLst xmlns:p="http://schemas.openxmlformats.org/presentationml/2006/main">
  <p:tag name="KSO_WM_DIAGRAM_VIRTUALLY_FRAME" val="{&quot;height&quot;:337.00000000000006,&quot;left&quot;:213.75,&quot;top&quot;:152.62503937007872,&quot;width&quot;:465.87503937007875}"/>
</p:tagLst>
</file>

<file path=ppt/tags/tag403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04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07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DIAGRAM_VIRTUALLY_FRAME" val="{&quot;height&quot;:337.00000000000006,&quot;left&quot;:213.75,&quot;top&quot;:152.62503937007872,&quot;width&quot;:465.87503937007875}"/>
</p:tagLst>
</file>

<file path=ppt/tags/tag410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11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12.xml><?xml version="1.0" encoding="utf-8"?>
<p:tagLst xmlns:p="http://schemas.openxmlformats.org/presentationml/2006/main">
  <p:tag name="KSO_WM_DIAGRAM_VIRTUALLY_FRAME" val="{&quot;height&quot;:337.00000000000006,&quot;left&quot;:213.75,&quot;top&quot;:152.62503937007872,&quot;width&quot;:465.87503937007875}"/>
</p:tagLst>
</file>

<file path=ppt/tags/tag413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14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15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16.xml><?xml version="1.0" encoding="utf-8"?>
<p:tagLst xmlns:p="http://schemas.openxmlformats.org/presentationml/2006/main">
  <p:tag name="KSO_WM_BEAUTIFY_FLAG" val=""/>
  <p:tag name="KSO_WM_DIAGRAM_VIRTUALLY_FRAME" val="{&quot;height&quot;:337.00000000000006,&quot;left&quot;:213.75,&quot;top&quot;:152.62503937007872,&quot;width&quot;:465.87503937007875}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COMMONDATA" val="eyJoZGlkIjoiMzU4Mjg5YWI3YzZkZTJmNmFjOTAxMWJjOTQwNmUwYTg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02060"/>
    </a:accent1>
    <a:accent2>
      <a:srgbClr val="0070C0"/>
    </a:accent2>
    <a:accent3>
      <a:srgbClr val="00B0F0"/>
    </a:accent3>
    <a:accent4>
      <a:srgbClr val="595959"/>
    </a:accent4>
    <a:accent5>
      <a:srgbClr val="7F7F7F"/>
    </a:accent5>
    <a:accent6>
      <a:srgbClr val="BFBFBF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4536</Words>
  <Application>WPS 演示</Application>
  <PresentationFormat>全屏显示(4:3)</PresentationFormat>
  <Paragraphs>767</Paragraphs>
  <Slides>37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6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微软雅黑</vt:lpstr>
      <vt:lpstr>Arial</vt:lpstr>
      <vt:lpstr>Arial Unicode MS</vt:lpstr>
      <vt:lpstr>等线</vt:lpstr>
      <vt:lpstr>Times New Roman</vt:lpstr>
      <vt:lpstr>Verdana</vt:lpstr>
      <vt:lpstr>Calibri</vt:lpstr>
      <vt:lpstr>Wingdings</vt:lpstr>
      <vt:lpstr>华光中楷_CNKI</vt:lpstr>
      <vt:lpstr>华光楷体一_CNKI</vt:lpstr>
      <vt:lpstr>Office 主题</vt:lpstr>
      <vt:lpstr>PowerPoint 演示文稿</vt:lpstr>
      <vt:lpstr>PowerPoint 演示文稿</vt:lpstr>
      <vt:lpstr>PowerPoint 演示文稿</vt:lpstr>
      <vt:lpstr>PowerPoint 演示文稿</vt:lpstr>
      <vt:lpstr>竞争企业的收益</vt:lpstr>
      <vt:lpstr>习题：计算TR、AR、MR</vt:lpstr>
      <vt:lpstr>习题：答案</vt:lpstr>
      <vt:lpstr>对一个竞争企业而言：MR =P</vt:lpstr>
      <vt:lpstr>利润最大化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长期：进入与退出市场</vt:lpstr>
      <vt:lpstr>PowerPoint 演示文稿</vt:lpstr>
      <vt:lpstr>如果企业利润为零，为什么它们要留在市场?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416</cp:revision>
  <dcterms:created xsi:type="dcterms:W3CDTF">2020-07-01T07:18:00Z</dcterms:created>
  <dcterms:modified xsi:type="dcterms:W3CDTF">2025-10-15T08:31:57Z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A618D274FD7D4634BA18CC34AB65251C_13</vt:lpwstr>
  </property>
</Properties>
</file>