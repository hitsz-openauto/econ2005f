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384" r:id="rId5"/>
    <p:sldId id="381" r:id="rId6"/>
    <p:sldId id="268" r:id="rId7"/>
    <p:sldId id="319" r:id="rId8"/>
    <p:sldId id="324" r:id="rId9"/>
    <p:sldId id="325" r:id="rId10"/>
    <p:sldId id="382" r:id="rId11"/>
    <p:sldId id="383" r:id="rId12"/>
    <p:sldId id="269" r:id="rId13"/>
    <p:sldId id="270" r:id="rId14"/>
    <p:sldId id="335" r:id="rId15"/>
    <p:sldId id="271" r:id="rId16"/>
    <p:sldId id="273" r:id="rId17"/>
    <p:sldId id="327" r:id="rId18"/>
    <p:sldId id="277" r:id="rId19"/>
    <p:sldId id="275" r:id="rId20"/>
    <p:sldId id="336" r:id="rId21"/>
    <p:sldId id="276" r:id="rId22"/>
    <p:sldId id="334" r:id="rId23"/>
    <p:sldId id="337" r:id="rId24"/>
    <p:sldId id="279" r:id="rId25"/>
    <p:sldId id="280" r:id="rId26"/>
    <p:sldId id="440" r:id="rId27"/>
    <p:sldId id="441" r:id="rId28"/>
    <p:sldId id="314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453"/>
    <a:srgbClr val="9D7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9" autoAdjust="0"/>
    <p:restoredTop sz="93727" autoAdjust="0"/>
  </p:normalViewPr>
  <p:slideViewPr>
    <p:cSldViewPr showGuides="1">
      <p:cViewPr varScale="1">
        <p:scale>
          <a:sx n="109" d="100"/>
          <a:sy n="109" d="100"/>
        </p:scale>
        <p:origin x="1578" y="102"/>
      </p:cViewPr>
      <p:guideLst>
        <p:guide orient="horz" pos="2212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62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5" Type="http://schemas.openxmlformats.org/officeDocument/2006/relationships/slideLayout" Target="../slideLayouts/slideLayout6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5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5" Type="http://schemas.openxmlformats.org/officeDocument/2006/relationships/slideLayout" Target="../slideLayouts/slideLayout6.xml"/><Relationship Id="rId34" Type="http://schemas.openxmlformats.org/officeDocument/2006/relationships/tags" Target="../tags/tag70.xml"/><Relationship Id="rId33" Type="http://schemas.openxmlformats.org/officeDocument/2006/relationships/tags" Target="../tags/tag69.xml"/><Relationship Id="rId32" Type="http://schemas.openxmlformats.org/officeDocument/2006/relationships/tags" Target="../tags/tag68.xml"/><Relationship Id="rId31" Type="http://schemas.openxmlformats.org/officeDocument/2006/relationships/tags" Target="../tags/tag67.xml"/><Relationship Id="rId30" Type="http://schemas.openxmlformats.org/officeDocument/2006/relationships/tags" Target="../tags/tag66.xml"/><Relationship Id="rId3" Type="http://schemas.openxmlformats.org/officeDocument/2006/relationships/tags" Target="../tags/tag39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5" Type="http://schemas.openxmlformats.org/officeDocument/2006/relationships/slideLayout" Target="../slideLayouts/slideLayout6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143.xml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19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6826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微观</a:t>
            </a:r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经济学原理部分）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16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：垄断竞争</a:t>
            </a:r>
            <a:endParaRPr lang="zh-CN" altLang="en-US" sz="4000" b="1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043680" cy="607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本章回答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如下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个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7200" y="1590675"/>
            <a:ext cx="8393430" cy="4951730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完全竞争和垄断之间的市场结构是什么？它的特点是什么？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垄断竞争企业如何选择价格和产量？他们获得经济利润吗？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垄断竞争如何影响社会福利？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广告的社会成本和社会效益是什么？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前言：介于垄断与竞争之间</a:t>
            </a:r>
            <a:endParaRPr lang="zh-CN" altLang="en-US" sz="3200" smtClean="0"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323528" y="1700808"/>
            <a:ext cx="8380288" cy="3469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i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两个极端:</a:t>
            </a:r>
            <a:endParaRPr lang="en-US" i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7525" lvl="1" eaLnBrk="1" hangingPunct="1">
              <a:buClr>
                <a:srgbClr val="339966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完全竞争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许多企业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，相同的产品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7525" lvl="1" eaLnBrk="1" hangingPunct="1">
              <a:buClr>
                <a:srgbClr val="339966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垄断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一家企业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eaLnBrk="1" hangingPunct="1">
              <a:spcBef>
                <a:spcPct val="65000"/>
              </a:spcBef>
              <a:buFont typeface="Wingdings" panose="05000000000000000000" pitchFamily="2" charset="2"/>
              <a:buNone/>
            </a:pP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在这两个极端之间</a:t>
            </a:r>
            <a:r>
              <a:rPr lang="zh-CN" alt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不完全竞争</a:t>
            </a:r>
            <a:endParaRPr lang="en-US" i="1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7525" lvl="1">
              <a:spcBef>
                <a:spcPct val="25000"/>
              </a:spcBef>
              <a:buClr>
                <a:srgbClr val="339966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寡头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只有几个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卖者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提供相似或相同产品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7525" lvl="1" eaLnBrk="1" hangingPunct="1">
              <a:lnSpc>
                <a:spcPct val="105000"/>
              </a:lnSpc>
              <a:spcBef>
                <a:spcPct val="25000"/>
              </a:spcBef>
              <a:buClr>
                <a:srgbClr val="339966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垄断竞争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许多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出售相似但不相同产品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4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垄断竞争的特征与例子</a:t>
            </a:r>
            <a:endParaRPr sz="3200" smtClean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315085"/>
            <a:ext cx="8229600" cy="4938395"/>
          </a:xfrm>
        </p:spPr>
        <p:txBody>
          <a:bodyPr>
            <a:normAutofit/>
          </a:bodyPr>
          <a:lstStyle/>
          <a:p>
            <a:pPr eaLnBrk="1" hangingPunct="1">
              <a:lnSpc>
                <a:spcPts val="2600"/>
              </a:lnSpc>
              <a:buFont typeface="Wingdings" panose="05000000000000000000" pitchFamily="2" charset="2"/>
              <a:buNone/>
            </a:pP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</a:t>
            </a:r>
            <a:r>
              <a:rPr lang="en-US" sz="27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许多卖者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产品不同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自由进入与退出市场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ts val="26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例子: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公寓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书籍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矿泉水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衣服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快餐</a:t>
            </a:r>
            <a:endParaRPr lang="zh-CN" altLang="en-US" sz="2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KTV</a:t>
            </a:r>
            <a:endParaRPr lang="en-US" altLang="zh-CN" sz="2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/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ldLvl="5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比较完全竞争与垄断竞争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196" name="Rectangle 15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4175" y="1411923"/>
            <a:ext cx="8345488" cy="50434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Group 158"/>
          <p:cNvGrpSpPr/>
          <p:nvPr/>
        </p:nvGrpSpPr>
        <p:grpSpPr bwMode="auto">
          <a:xfrm>
            <a:off x="377825" y="4932998"/>
            <a:ext cx="8358188" cy="612775"/>
            <a:chOff x="242" y="2811"/>
            <a:chExt cx="5265" cy="386"/>
          </a:xfrm>
        </p:grpSpPr>
        <p:sp>
          <p:nvSpPr>
            <p:cNvPr id="8235" name="Rectangle 12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978" y="2811"/>
              <a:ext cx="1529" cy="3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有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36" name="Rectangle 12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344" y="2811"/>
              <a:ext cx="1634" cy="3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无</a:t>
              </a:r>
              <a:r>
                <a:rPr lang="en-US" sz="240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</a:t>
              </a: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价格接受者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237" name="Rectangle 12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2" y="2811"/>
              <a:ext cx="2102" cy="3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Ins="0"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企业有市场势力吗?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159"/>
          <p:cNvGrpSpPr/>
          <p:nvPr/>
        </p:nvGrpSpPr>
        <p:grpSpPr bwMode="auto">
          <a:xfrm>
            <a:off x="377825" y="5545773"/>
            <a:ext cx="8358188" cy="911225"/>
            <a:chOff x="242" y="3197"/>
            <a:chExt cx="5265" cy="574"/>
          </a:xfrm>
        </p:grpSpPr>
        <p:sp>
          <p:nvSpPr>
            <p:cNvPr id="8232" name="Rectangle 1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978" y="3197"/>
              <a:ext cx="1529" cy="5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向右下方倾斜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33" name="Rectangle 11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4" y="3197"/>
              <a:ext cx="1634" cy="5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水平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34" name="Rectangle 11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42" y="3197"/>
              <a:ext cx="2102" cy="57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企业面临的需求曲线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157"/>
          <p:cNvGrpSpPr/>
          <p:nvPr/>
        </p:nvGrpSpPr>
        <p:grpSpPr bwMode="auto">
          <a:xfrm>
            <a:off x="377825" y="4323398"/>
            <a:ext cx="8358188" cy="609600"/>
            <a:chOff x="242" y="2427"/>
            <a:chExt cx="5265" cy="384"/>
          </a:xfrm>
        </p:grpSpPr>
        <p:sp>
          <p:nvSpPr>
            <p:cNvPr id="8229" name="Rectangle 2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78" y="2427"/>
              <a:ext cx="1529" cy="3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不同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30" name="Rectangle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344" y="2427"/>
              <a:ext cx="1634" cy="3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完全相同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31" name="Rectangle 18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2" y="2427"/>
              <a:ext cx="2102" cy="3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企业出售的产品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156"/>
          <p:cNvGrpSpPr/>
          <p:nvPr/>
        </p:nvGrpSpPr>
        <p:grpSpPr bwMode="auto">
          <a:xfrm>
            <a:off x="377825" y="3707448"/>
            <a:ext cx="8358188" cy="615950"/>
            <a:chOff x="242" y="2039"/>
            <a:chExt cx="5265" cy="388"/>
          </a:xfrm>
        </p:grpSpPr>
        <p:sp>
          <p:nvSpPr>
            <p:cNvPr id="8226" name="Rectangle 17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978" y="2039"/>
              <a:ext cx="1529" cy="3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  <a:sym typeface="+mn-ea"/>
                </a:rPr>
                <a:t>零</a:t>
              </a: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  <a:sym typeface="+mn-ea"/>
                </a:rPr>
                <a:t>利润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227" name="Rectangle 1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344" y="2039"/>
              <a:ext cx="1634" cy="3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零</a:t>
              </a: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利润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228" name="Rectangle 1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2" y="2039"/>
              <a:ext cx="2102" cy="3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长期经济利润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 </a:t>
              </a:r>
              <a:endParaRPr lang="en-US"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155"/>
          <p:cNvGrpSpPr/>
          <p:nvPr/>
        </p:nvGrpSpPr>
        <p:grpSpPr bwMode="auto">
          <a:xfrm>
            <a:off x="377825" y="3096260"/>
            <a:ext cx="8358188" cy="611188"/>
            <a:chOff x="242" y="1654"/>
            <a:chExt cx="5265" cy="385"/>
          </a:xfrm>
        </p:grpSpPr>
        <p:sp>
          <p:nvSpPr>
            <p:cNvPr id="8223" name="Rectangle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78" y="1654"/>
              <a:ext cx="1529" cy="3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是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24" name="Rectangle 1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344" y="1654"/>
              <a:ext cx="1634" cy="3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是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25" name="Rectangle 12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42" y="1654"/>
              <a:ext cx="2102" cy="38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自由进入/退出市场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154"/>
          <p:cNvGrpSpPr/>
          <p:nvPr/>
        </p:nvGrpSpPr>
        <p:grpSpPr bwMode="auto">
          <a:xfrm>
            <a:off x="377825" y="2489835"/>
            <a:ext cx="8358188" cy="606425"/>
            <a:chOff x="242" y="1272"/>
            <a:chExt cx="5265" cy="382"/>
          </a:xfrm>
        </p:grpSpPr>
        <p:sp>
          <p:nvSpPr>
            <p:cNvPr id="8220" name="Rectangle 11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978" y="1272"/>
              <a:ext cx="1529" cy="3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许多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21" name="Rectangle 1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344" y="1272"/>
              <a:ext cx="1634" cy="3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许多</a:t>
              </a:r>
              <a:endParaRPr lang="en-US"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22" name="Rectangle 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2" y="1272"/>
              <a:ext cx="2102" cy="3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Arial" panose="020B0604020202020204"/>
                  <a:cs typeface="Arial" panose="020B0604020202020204"/>
                </a:rPr>
                <a:t>卖者的数量</a:t>
              </a:r>
              <a:endParaRPr lang="en-US" sz="2400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204" name="Rectangle 8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308725" y="1410335"/>
            <a:ext cx="2427288" cy="1079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>
                <a:latin typeface="Arial" panose="020B0604020202020204"/>
                <a:cs typeface="Arial" panose="020B0604020202020204"/>
              </a:rPr>
              <a:t>垄断竞争</a:t>
            </a: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05" name="Rectangle 7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714750" y="1410335"/>
            <a:ext cx="2593975" cy="1079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>
                <a:latin typeface="Arial" panose="020B0604020202020204"/>
                <a:cs typeface="Arial" panose="020B0604020202020204"/>
              </a:rPr>
              <a:t>完全竞争</a:t>
            </a: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06" name="Rectangle 6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77825" y="1410335"/>
            <a:ext cx="3336925" cy="1079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07" name="Line 2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77825" y="1410335"/>
            <a:ext cx="83581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08" name="Line 25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377825" y="2489835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09" name="Line 26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377825" y="3096260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0" name="Line 27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377825" y="3707448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1" name="Line 28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377825" y="4323398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2" name="Line 29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77825" y="4932998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3" name="Line 30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77825" y="6456998"/>
            <a:ext cx="83581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4" name="Line 31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377825" y="1410335"/>
            <a:ext cx="0" cy="50466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5" name="Line 32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3714750" y="1410335"/>
            <a:ext cx="0" cy="5046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6" name="Line 33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6308725" y="1410335"/>
            <a:ext cx="0" cy="5046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7" name="Line 34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8736013" y="1410335"/>
            <a:ext cx="0" cy="50466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18" name="Line 124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377825" y="5545773"/>
            <a:ext cx="8358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24790"/>
            <a:ext cx="7125970" cy="467995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比较垄断与垄断竞争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9220" name="Rectangle 5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52425" y="912813"/>
            <a:ext cx="8415338" cy="54070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Group 59"/>
          <p:cNvGrpSpPr/>
          <p:nvPr/>
        </p:nvGrpSpPr>
        <p:grpSpPr bwMode="auto">
          <a:xfrm>
            <a:off x="350838" y="3751263"/>
            <a:ext cx="8421687" cy="663575"/>
            <a:chOff x="221" y="2363"/>
            <a:chExt cx="5305" cy="418"/>
          </a:xfrm>
        </p:grpSpPr>
        <p:sp>
          <p:nvSpPr>
            <p:cNvPr id="9259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065" y="2363"/>
              <a:ext cx="1461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有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60" name="Rectangle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65" y="2363"/>
              <a:ext cx="1600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有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61" name="Rectangle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1" y="2363"/>
              <a:ext cx="2244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企业有市场势力吗?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60"/>
          <p:cNvGrpSpPr/>
          <p:nvPr/>
        </p:nvGrpSpPr>
        <p:grpSpPr bwMode="auto">
          <a:xfrm>
            <a:off x="350838" y="4414838"/>
            <a:ext cx="8421687" cy="1243012"/>
            <a:chOff x="221" y="2781"/>
            <a:chExt cx="5305" cy="783"/>
          </a:xfrm>
        </p:grpSpPr>
        <p:sp>
          <p:nvSpPr>
            <p:cNvPr id="9256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65" y="2781"/>
              <a:ext cx="1461" cy="7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向右下方倾斜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57" name="Rectangle 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65" y="2781"/>
              <a:ext cx="1600" cy="7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向右下方倾斜</a:t>
              </a:r>
              <a:b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</a:b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(市场需求)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58" name="Rectangle 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1" y="2781"/>
              <a:ext cx="2244" cy="7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企业面临的需求曲线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61"/>
          <p:cNvGrpSpPr/>
          <p:nvPr/>
        </p:nvGrpSpPr>
        <p:grpSpPr bwMode="auto">
          <a:xfrm>
            <a:off x="350838" y="5657850"/>
            <a:ext cx="8421687" cy="663575"/>
            <a:chOff x="221" y="3564"/>
            <a:chExt cx="5305" cy="418"/>
          </a:xfrm>
        </p:grpSpPr>
        <p:sp>
          <p:nvSpPr>
            <p:cNvPr id="9253" name="Rectangle 1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65" y="3564"/>
              <a:ext cx="1461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许多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54" name="Rectangle 1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65" y="3564"/>
              <a:ext cx="1600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没有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55" name="Rectangle 1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1" y="3564"/>
              <a:ext cx="2244" cy="4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相近的替代品</a:t>
              </a: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 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58"/>
          <p:cNvGrpSpPr/>
          <p:nvPr/>
        </p:nvGrpSpPr>
        <p:grpSpPr bwMode="auto">
          <a:xfrm>
            <a:off x="350838" y="3084513"/>
            <a:ext cx="8421687" cy="666750"/>
            <a:chOff x="221" y="1943"/>
            <a:chExt cx="5305" cy="420"/>
          </a:xfrm>
        </p:grpSpPr>
        <p:sp>
          <p:nvSpPr>
            <p:cNvPr id="9250" name="Rectangle 1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065" y="1943"/>
              <a:ext cx="1461" cy="4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零</a:t>
              </a: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利润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9251" name="Rectangle 1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465" y="1943"/>
              <a:ext cx="1600" cy="4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正利润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52" name="Rectangle 18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21" y="1943"/>
              <a:ext cx="2244" cy="4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长期经济利润</a:t>
              </a: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 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57"/>
          <p:cNvGrpSpPr/>
          <p:nvPr/>
        </p:nvGrpSpPr>
        <p:grpSpPr bwMode="auto">
          <a:xfrm>
            <a:off x="350838" y="2424113"/>
            <a:ext cx="8421687" cy="660400"/>
            <a:chOff x="221" y="1527"/>
            <a:chExt cx="5305" cy="416"/>
          </a:xfrm>
        </p:grpSpPr>
        <p:sp>
          <p:nvSpPr>
            <p:cNvPr id="9247" name="Rectangle 19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065" y="1527"/>
              <a:ext cx="1461" cy="4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是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8" name="Rectangle 2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465" y="1527"/>
              <a:ext cx="1600" cy="4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不是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9" name="Rectangle 2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1" y="1527"/>
              <a:ext cx="2244" cy="4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自由进入/退出市场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56"/>
          <p:cNvGrpSpPr/>
          <p:nvPr/>
        </p:nvGrpSpPr>
        <p:grpSpPr bwMode="auto">
          <a:xfrm>
            <a:off x="350838" y="1765300"/>
            <a:ext cx="8421687" cy="658813"/>
            <a:chOff x="221" y="1112"/>
            <a:chExt cx="5305" cy="415"/>
          </a:xfrm>
        </p:grpSpPr>
        <p:sp>
          <p:nvSpPr>
            <p:cNvPr id="9244" name="Rectangle 22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065" y="1112"/>
              <a:ext cx="1461" cy="4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许多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5" name="Rectangle 23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465" y="1112"/>
              <a:ext cx="1600" cy="4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一个</a:t>
              </a:r>
              <a:endParaRPr lang="en-US" sz="24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6" name="Rectangle 2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1" y="1112"/>
              <a:ext cx="2244" cy="4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卖者的数量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228" name="Rectangle 2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53188" y="906463"/>
            <a:ext cx="2319337" cy="858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>
                <a:latin typeface="Arial" panose="020B0604020202020204"/>
                <a:cs typeface="Arial" panose="020B0604020202020204"/>
              </a:rPr>
              <a:t>垄断竞争</a:t>
            </a: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29" name="Rectangle 2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913188" y="906463"/>
            <a:ext cx="2540000" cy="858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>
                <a:latin typeface="Arial" panose="020B0604020202020204"/>
                <a:cs typeface="Arial" panose="020B0604020202020204"/>
              </a:rPr>
              <a:t>垄断</a:t>
            </a:r>
            <a:endParaRPr lang="en-US" sz="24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0" name="Rectangle 2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50838" y="906463"/>
            <a:ext cx="3562350" cy="858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1" name="Line 28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50838" y="906463"/>
            <a:ext cx="84216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2" name="Line 29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350838" y="1765300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3" name="Line 30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350838" y="2424113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4" name="Line 31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350838" y="3084513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5" name="Line 32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350838" y="3751263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6" name="Line 34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50838" y="6321425"/>
            <a:ext cx="84216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7" name="Line 35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50838" y="906463"/>
            <a:ext cx="0" cy="54149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8" name="Line 36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3913188" y="906463"/>
            <a:ext cx="0" cy="5414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39" name="Line 37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6453188" y="906463"/>
            <a:ext cx="0" cy="5414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40" name="Line 38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8772525" y="906463"/>
            <a:ext cx="0" cy="54149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41" name="Line 39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350838" y="5657850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42" name="Line 40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350838" y="4414838"/>
            <a:ext cx="8421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692785"/>
            <a:ext cx="6112510" cy="467995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sym typeface="+mn-ea"/>
              </a:rPr>
              <a:t>垄断</a:t>
            </a:r>
            <a:r>
              <a:rPr lang="en-US" sz="3200" smtClean="0">
                <a:sym typeface="+mn-ea"/>
              </a:rPr>
              <a:t>竞争企业——</a:t>
            </a:r>
            <a:r>
              <a:rPr lang="zh-CN" altLang="en-US" sz="3200" smtClean="0">
                <a:sym typeface="+mn-ea"/>
              </a:rPr>
              <a:t>短期获得利润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16" name="Group 58"/>
          <p:cNvGrpSpPr/>
          <p:nvPr/>
        </p:nvGrpSpPr>
        <p:grpSpPr bwMode="auto">
          <a:xfrm>
            <a:off x="4791075" y="2463801"/>
            <a:ext cx="2066925" cy="1411288"/>
            <a:chOff x="3018" y="1552"/>
            <a:chExt cx="1302" cy="889"/>
          </a:xfrm>
        </p:grpSpPr>
        <p:sp>
          <p:nvSpPr>
            <p:cNvPr id="17" name="Rectangle 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018" y="2053"/>
              <a:ext cx="928" cy="38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8" name="Group 55"/>
            <p:cNvGrpSpPr/>
            <p:nvPr/>
          </p:nvGrpSpPr>
          <p:grpSpPr bwMode="auto">
            <a:xfrm>
              <a:off x="3709" y="1552"/>
              <a:ext cx="611" cy="583"/>
              <a:chOff x="3730" y="1566"/>
              <a:chExt cx="611" cy="583"/>
            </a:xfrm>
          </p:grpSpPr>
          <p:sp>
            <p:nvSpPr>
              <p:cNvPr id="19" name="Text Box 53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3730" y="1566"/>
                <a:ext cx="611" cy="2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>
                    <a:latin typeface="Arial" panose="020B0604020202020204"/>
                    <a:cs typeface="Arial" panose="020B0604020202020204"/>
                  </a:rPr>
                  <a:t>利润</a:t>
                </a:r>
                <a:endParaRPr lang="zh-CN" alt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Line 54"/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 flipV="1">
                <a:off x="3737" y="1833"/>
                <a:ext cx="288" cy="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21" name="Group 51"/>
          <p:cNvGrpSpPr/>
          <p:nvPr/>
        </p:nvGrpSpPr>
        <p:grpSpPr bwMode="auto">
          <a:xfrm>
            <a:off x="4032250" y="3689355"/>
            <a:ext cx="2236788" cy="369888"/>
            <a:chOff x="2540" y="2324"/>
            <a:chExt cx="1409" cy="233"/>
          </a:xfrm>
        </p:grpSpPr>
        <p:sp>
          <p:nvSpPr>
            <p:cNvPr id="22" name="Line 44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3017" y="2443"/>
              <a:ext cx="932" cy="0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Rectangle 4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40" y="2324"/>
              <a:ext cx="427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4" name="Group 52"/>
          <p:cNvGrpSpPr/>
          <p:nvPr/>
        </p:nvGrpSpPr>
        <p:grpSpPr bwMode="auto">
          <a:xfrm>
            <a:off x="4432300" y="3065463"/>
            <a:ext cx="1836738" cy="1393825"/>
            <a:chOff x="2792" y="1931"/>
            <a:chExt cx="1157" cy="878"/>
          </a:xfrm>
        </p:grpSpPr>
        <p:grpSp>
          <p:nvGrpSpPr>
            <p:cNvPr id="25" name="Group 3"/>
            <p:cNvGrpSpPr/>
            <p:nvPr/>
          </p:nvGrpSpPr>
          <p:grpSpPr bwMode="auto">
            <a:xfrm>
              <a:off x="3017" y="2052"/>
              <a:ext cx="932" cy="757"/>
              <a:chOff x="357" y="2450"/>
              <a:chExt cx="795" cy="646"/>
            </a:xfrm>
          </p:grpSpPr>
          <p:sp>
            <p:nvSpPr>
              <p:cNvPr id="26" name="Line 4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B2B2B2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7" name="Line 5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B2B2B2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8" name="Rectangle 4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792" y="1931"/>
              <a:ext cx="170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9" name="Rectangle 7"/>
          <p:cNvSpPr>
            <a:spLocks noGrp="1" noChangeArrowheads="1"/>
          </p:cNvSpPr>
          <p:nvPr>
            <p:ph type="body" idx="4294967295"/>
            <p:custDataLst>
              <p:tags r:id="rId9"/>
            </p:custDataLst>
          </p:nvPr>
        </p:nvSpPr>
        <p:spPr>
          <a:xfrm>
            <a:off x="395536" y="1556792"/>
            <a:ext cx="3392487" cy="3672408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企业面临向下倾斜的需求曲线D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在每个Q，MR&lt;P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为利润最大化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，企业生产直到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MR=MC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企业使用需求曲线D来设定价格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8"/>
          <p:cNvGrpSpPr/>
          <p:nvPr/>
        </p:nvGrpSpPr>
        <p:grpSpPr bwMode="auto">
          <a:xfrm>
            <a:off x="3206750" y="2116138"/>
            <a:ext cx="5376863" cy="3892309"/>
            <a:chOff x="1579" y="1014"/>
            <a:chExt cx="3434" cy="2653"/>
          </a:xfrm>
        </p:grpSpPr>
        <p:grpSp>
          <p:nvGrpSpPr>
            <p:cNvPr id="31" name="Group 9"/>
            <p:cNvGrpSpPr/>
            <p:nvPr/>
          </p:nvGrpSpPr>
          <p:grpSpPr bwMode="auto">
            <a:xfrm>
              <a:off x="2591" y="1080"/>
              <a:ext cx="2262" cy="2284"/>
              <a:chOff x="1489" y="785"/>
              <a:chExt cx="3650" cy="2492"/>
            </a:xfrm>
          </p:grpSpPr>
          <p:sp>
            <p:nvSpPr>
              <p:cNvPr id="32" name="Line 10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3" name="Line 11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4" name="Text Box 1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232" y="3416"/>
              <a:ext cx="781" cy="2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产量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" name="Text Box 1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9" y="1014"/>
              <a:ext cx="1001" cy="3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价格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6" name="Group 39"/>
          <p:cNvGrpSpPr/>
          <p:nvPr/>
        </p:nvGrpSpPr>
        <p:grpSpPr bwMode="auto">
          <a:xfrm>
            <a:off x="5160963" y="1811338"/>
            <a:ext cx="3346450" cy="2127250"/>
            <a:chOff x="2859" y="931"/>
            <a:chExt cx="2108" cy="1340"/>
          </a:xfrm>
        </p:grpSpPr>
        <p:sp>
          <p:nvSpPr>
            <p:cNvPr id="37" name="Arc 15"/>
            <p:cNvSpPr/>
            <p:nvPr>
              <p:custDataLst>
                <p:tags r:id="rId14"/>
              </p:custDataLst>
            </p:nvPr>
          </p:nvSpPr>
          <p:spPr bwMode="auto">
            <a:xfrm flipH="1" flipV="1">
              <a:off x="2859" y="931"/>
              <a:ext cx="1759" cy="1340"/>
            </a:xfrm>
            <a:custGeom>
              <a:avLst/>
              <a:gdLst>
                <a:gd name="T0" fmla="*/ 0 w 33610"/>
                <a:gd name="T1" fmla="*/ 0 h 21600"/>
                <a:gd name="T2" fmla="*/ 0 w 33610"/>
                <a:gd name="T3" fmla="*/ 0 h 21600"/>
                <a:gd name="T4" fmla="*/ 0 w 33610"/>
                <a:gd name="T5" fmla="*/ 0 h 21600"/>
                <a:gd name="T6" fmla="*/ 0 60000 65536"/>
                <a:gd name="T7" fmla="*/ 0 60000 65536"/>
                <a:gd name="T8" fmla="*/ 0 60000 65536"/>
                <a:gd name="T9" fmla="*/ 0 w 33610"/>
                <a:gd name="T10" fmla="*/ 0 h 21600"/>
                <a:gd name="T11" fmla="*/ 33610 w 3361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10" h="21600" fill="none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</a:path>
                <a:path w="33610" h="21600" stroke="0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  <a:lnTo>
                    <a:pt x="15256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Text Box 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444" y="1659"/>
              <a:ext cx="52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9" name="Group 47"/>
          <p:cNvGrpSpPr/>
          <p:nvPr/>
        </p:nvGrpSpPr>
        <p:grpSpPr bwMode="auto">
          <a:xfrm>
            <a:off x="5165725" y="2692401"/>
            <a:ext cx="3117850" cy="1665288"/>
            <a:chOff x="3254" y="1696"/>
            <a:chExt cx="1964" cy="1049"/>
          </a:xfrm>
        </p:grpSpPr>
        <p:sp>
          <p:nvSpPr>
            <p:cNvPr id="40" name="Line 1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3254" y="1696"/>
              <a:ext cx="1736" cy="89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1" name="Text Box 1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944" y="2512"/>
              <a:ext cx="274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8"/>
          <p:cNvGrpSpPr/>
          <p:nvPr/>
        </p:nvGrpSpPr>
        <p:grpSpPr bwMode="auto">
          <a:xfrm>
            <a:off x="5083175" y="3375026"/>
            <a:ext cx="2268538" cy="1898651"/>
            <a:chOff x="3202" y="2126"/>
            <a:chExt cx="1429" cy="1196"/>
          </a:xfrm>
        </p:grpSpPr>
        <p:sp>
          <p:nvSpPr>
            <p:cNvPr id="43" name="Line 2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3202" y="2126"/>
              <a:ext cx="1098" cy="100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4" name="Text Box 2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257" y="3089"/>
              <a:ext cx="374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Group 38"/>
          <p:cNvGrpSpPr/>
          <p:nvPr/>
        </p:nvGrpSpPr>
        <p:grpSpPr bwMode="auto">
          <a:xfrm>
            <a:off x="3109913" y="1430338"/>
            <a:ext cx="4600575" cy="3687762"/>
            <a:chOff x="1591" y="691"/>
            <a:chExt cx="2898" cy="2323"/>
          </a:xfrm>
        </p:grpSpPr>
        <p:sp>
          <p:nvSpPr>
            <p:cNvPr id="46" name="Text Box 2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118" y="1342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7" name="Arc 37"/>
            <p:cNvSpPr/>
            <p:nvPr>
              <p:custDataLst>
                <p:tags r:id="rId21"/>
              </p:custDataLst>
            </p:nvPr>
          </p:nvSpPr>
          <p:spPr bwMode="auto">
            <a:xfrm flipV="1">
              <a:off x="1591" y="691"/>
              <a:ext cx="2653" cy="2323"/>
            </a:xfrm>
            <a:custGeom>
              <a:avLst/>
              <a:gdLst>
                <a:gd name="T0" fmla="*/ 0 w 20469"/>
                <a:gd name="T1" fmla="*/ 0 h 18502"/>
                <a:gd name="T2" fmla="*/ 0 w 20469"/>
                <a:gd name="T3" fmla="*/ 0 h 18502"/>
                <a:gd name="T4" fmla="*/ 0 w 20469"/>
                <a:gd name="T5" fmla="*/ 0 h 18502"/>
                <a:gd name="T6" fmla="*/ 0 60000 65536"/>
                <a:gd name="T7" fmla="*/ 0 60000 65536"/>
                <a:gd name="T8" fmla="*/ 0 60000 65536"/>
                <a:gd name="T9" fmla="*/ 0 w 20469"/>
                <a:gd name="T10" fmla="*/ 0 h 18502"/>
                <a:gd name="T11" fmla="*/ 20469 w 20469"/>
                <a:gd name="T12" fmla="*/ 18502 h 18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69" h="18502" fill="none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</a:path>
                <a:path w="20469" h="18502" stroke="0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  <a:lnTo>
                    <a:pt x="0" y="18502"/>
                  </a:lnTo>
                  <a:close/>
                </a:path>
              </a:pathLst>
            </a:cu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8" name="Group 50"/>
          <p:cNvGrpSpPr/>
          <p:nvPr/>
        </p:nvGrpSpPr>
        <p:grpSpPr bwMode="auto">
          <a:xfrm>
            <a:off x="5989638" y="4398963"/>
            <a:ext cx="517525" cy="1593850"/>
            <a:chOff x="3773" y="2771"/>
            <a:chExt cx="326" cy="1004"/>
          </a:xfrm>
        </p:grpSpPr>
        <p:sp>
          <p:nvSpPr>
            <p:cNvPr id="49" name="Line 49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948" y="2812"/>
              <a:ext cx="0" cy="692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Text Box 2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773" y="3487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1" name="Oval 41"/>
            <p:cNvSpPr>
              <a:spLocks noChangeAspect="1"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10" y="2771"/>
              <a:ext cx="75" cy="74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5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692785"/>
            <a:ext cx="7120890" cy="467995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sym typeface="+mn-ea"/>
              </a:rPr>
              <a:t>垄断</a:t>
            </a:r>
            <a:r>
              <a:rPr lang="en-US" sz="3200" smtClean="0">
                <a:sym typeface="+mn-ea"/>
              </a:rPr>
              <a:t>竞争企业</a:t>
            </a:r>
            <a:r>
              <a:rPr lang="en-US" altLang="zh-CN" sz="3200" smtClean="0">
                <a:sym typeface="+mn-ea"/>
              </a:rPr>
              <a:t>——短期</a:t>
            </a:r>
            <a:r>
              <a:rPr lang="zh-CN" altLang="en-US" sz="3200" smtClean="0">
                <a:sym typeface="+mn-ea"/>
              </a:rPr>
              <a:t>发生亏损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39"/>
          <p:cNvGrpSpPr/>
          <p:nvPr/>
        </p:nvGrpSpPr>
        <p:grpSpPr bwMode="auto">
          <a:xfrm>
            <a:off x="4795838" y="2911475"/>
            <a:ext cx="1960562" cy="1314450"/>
            <a:chOff x="3021" y="1834"/>
            <a:chExt cx="1235" cy="828"/>
          </a:xfrm>
        </p:grpSpPr>
        <p:sp>
          <p:nvSpPr>
            <p:cNvPr id="11298" name="Rectangle 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021" y="2353"/>
              <a:ext cx="712" cy="30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4" name="Group 36"/>
            <p:cNvGrpSpPr/>
            <p:nvPr/>
          </p:nvGrpSpPr>
          <p:grpSpPr bwMode="auto">
            <a:xfrm>
              <a:off x="3526" y="1834"/>
              <a:ext cx="730" cy="582"/>
              <a:chOff x="3730" y="1567"/>
              <a:chExt cx="611" cy="582"/>
            </a:xfrm>
          </p:grpSpPr>
          <p:sp>
            <p:nvSpPr>
              <p:cNvPr id="11300" name="Text Box 37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3730" y="1567"/>
                <a:ext cx="611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smtClean="0">
                    <a:latin typeface="Arial" panose="020B0604020202020204"/>
                    <a:cs typeface="Arial" panose="020B0604020202020204"/>
                  </a:rPr>
                  <a:t>亏损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01" name="Line 38"/>
              <p:cNvSpPr>
                <a:spLocks noChangeShapeType="1"/>
              </p:cNvSpPr>
              <p:nvPr>
                <p:custDataLst>
                  <p:tags r:id="rId3"/>
                </p:custDataLst>
              </p:nvPr>
            </p:nvSpPr>
            <p:spPr bwMode="auto">
              <a:xfrm flipV="1">
                <a:off x="3737" y="1833"/>
                <a:ext cx="288" cy="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 bwMode="auto">
          <a:xfrm>
            <a:off x="4794250" y="3732213"/>
            <a:ext cx="1133475" cy="1833562"/>
            <a:chOff x="357" y="2450"/>
            <a:chExt cx="795" cy="646"/>
          </a:xfrm>
        </p:grpSpPr>
        <p:sp>
          <p:nvSpPr>
            <p:cNvPr id="11296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7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0056" name="Rectangle 8"/>
          <p:cNvSpPr>
            <a:spLocks noGrp="1" noChangeArrowheads="1"/>
          </p:cNvSpPr>
          <p:nvPr>
            <p:ph type="body" idx="4294967295"/>
            <p:custDataLst>
              <p:tags r:id="rId6"/>
            </p:custDataLst>
          </p:nvPr>
        </p:nvSpPr>
        <p:spPr>
          <a:xfrm>
            <a:off x="467544" y="1628800"/>
            <a:ext cx="3114675" cy="345638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对这个企业而言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在MR =MC时生产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此时P&lt;ATC  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这个企业最好的对策是</a:t>
            </a:r>
            <a:r>
              <a:rPr lang="en-US" sz="26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减少损失</a:t>
            </a:r>
            <a:endParaRPr lang="en-US" sz="26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3206750" y="2116138"/>
            <a:ext cx="5376863" cy="3893776"/>
            <a:chOff x="1579" y="1014"/>
            <a:chExt cx="3434" cy="2654"/>
          </a:xfrm>
        </p:grpSpPr>
        <p:grpSp>
          <p:nvGrpSpPr>
            <p:cNvPr id="7" name="Group 10"/>
            <p:cNvGrpSpPr/>
            <p:nvPr/>
          </p:nvGrpSpPr>
          <p:grpSpPr bwMode="auto">
            <a:xfrm>
              <a:off x="2591" y="1080"/>
              <a:ext cx="2262" cy="2284"/>
              <a:chOff x="1489" y="785"/>
              <a:chExt cx="3650" cy="2492"/>
            </a:xfrm>
          </p:grpSpPr>
          <p:sp>
            <p:nvSpPr>
              <p:cNvPr id="11294" name="Line 11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95" name="Line 12"/>
              <p:cNvSpPr>
                <a:spLocks noChangeShapeType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292" name="Text Box 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232" y="3416"/>
              <a:ext cx="781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 smtClean="0">
                  <a:latin typeface="Arial" panose="020B0604020202020204"/>
                  <a:cs typeface="Arial" panose="020B0604020202020204"/>
                </a:rPr>
                <a:t>产量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3" name="Text Box 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579" y="1014"/>
              <a:ext cx="1001" cy="3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 smtClean="0">
                  <a:latin typeface="Arial" panose="020B0604020202020204"/>
                  <a:cs typeface="Arial" panose="020B0604020202020204"/>
                </a:rPr>
                <a:t>价格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15"/>
          <p:cNvGrpSpPr/>
          <p:nvPr/>
        </p:nvGrpSpPr>
        <p:grpSpPr bwMode="auto">
          <a:xfrm>
            <a:off x="5160963" y="1811338"/>
            <a:ext cx="3346450" cy="2127250"/>
            <a:chOff x="2859" y="931"/>
            <a:chExt cx="2108" cy="1340"/>
          </a:xfrm>
        </p:grpSpPr>
        <p:sp>
          <p:nvSpPr>
            <p:cNvPr id="11289" name="Arc 16"/>
            <p:cNvSpPr/>
            <p:nvPr>
              <p:custDataLst>
                <p:tags r:id="rId11"/>
              </p:custDataLst>
            </p:nvPr>
          </p:nvSpPr>
          <p:spPr bwMode="auto">
            <a:xfrm flipH="1" flipV="1">
              <a:off x="2859" y="931"/>
              <a:ext cx="1759" cy="1340"/>
            </a:xfrm>
            <a:custGeom>
              <a:avLst/>
              <a:gdLst>
                <a:gd name="T0" fmla="*/ 0 w 33610"/>
                <a:gd name="T1" fmla="*/ 0 h 21600"/>
                <a:gd name="T2" fmla="*/ 0 w 33610"/>
                <a:gd name="T3" fmla="*/ 0 h 21600"/>
                <a:gd name="T4" fmla="*/ 0 w 33610"/>
                <a:gd name="T5" fmla="*/ 0 h 21600"/>
                <a:gd name="T6" fmla="*/ 0 60000 65536"/>
                <a:gd name="T7" fmla="*/ 0 60000 65536"/>
                <a:gd name="T8" fmla="*/ 0 60000 65536"/>
                <a:gd name="T9" fmla="*/ 0 w 33610"/>
                <a:gd name="T10" fmla="*/ 0 h 21600"/>
                <a:gd name="T11" fmla="*/ 33610 w 3361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10" h="21600" fill="none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</a:path>
                <a:path w="33610" h="21600" stroke="0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  <a:lnTo>
                    <a:pt x="15256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0" name="Text Box 1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44" y="1659"/>
              <a:ext cx="52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274" name="Text Box 2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686425" y="5529263"/>
            <a:ext cx="5175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75" name="Rectangle 23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432145" y="4049713"/>
            <a:ext cx="27003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b="1" i="1">
                <a:latin typeface="Arial" panose="020B0604020202020204"/>
                <a:cs typeface="Arial" panose="020B0604020202020204"/>
              </a:rPr>
              <a:t>P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76" name="Rectangle 2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032250" y="3549650"/>
            <a:ext cx="67786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r"/>
            <a:r>
              <a:rPr lang="en-US" sz="2400" i="1">
                <a:latin typeface="Arial" panose="020B0604020202020204"/>
                <a:cs typeface="Arial" panose="020B0604020202020204"/>
              </a:rPr>
              <a:t>ATC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Group 25"/>
          <p:cNvGrpSpPr/>
          <p:nvPr/>
        </p:nvGrpSpPr>
        <p:grpSpPr bwMode="auto">
          <a:xfrm>
            <a:off x="3109913" y="1430338"/>
            <a:ext cx="4600575" cy="3687762"/>
            <a:chOff x="1591" y="691"/>
            <a:chExt cx="2898" cy="2323"/>
          </a:xfrm>
        </p:grpSpPr>
        <p:sp>
          <p:nvSpPr>
            <p:cNvPr id="11287" name="Text Box 2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118" y="1342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88" name="Arc 27"/>
            <p:cNvSpPr/>
            <p:nvPr>
              <p:custDataLst>
                <p:tags r:id="rId17"/>
              </p:custDataLst>
            </p:nvPr>
          </p:nvSpPr>
          <p:spPr bwMode="auto">
            <a:xfrm flipV="1">
              <a:off x="1591" y="691"/>
              <a:ext cx="2653" cy="2323"/>
            </a:xfrm>
            <a:custGeom>
              <a:avLst/>
              <a:gdLst>
                <a:gd name="T0" fmla="*/ 0 w 20469"/>
                <a:gd name="T1" fmla="*/ 0 h 18502"/>
                <a:gd name="T2" fmla="*/ 0 w 20469"/>
                <a:gd name="T3" fmla="*/ 0 h 18502"/>
                <a:gd name="T4" fmla="*/ 0 w 20469"/>
                <a:gd name="T5" fmla="*/ 0 h 18502"/>
                <a:gd name="T6" fmla="*/ 0 60000 65536"/>
                <a:gd name="T7" fmla="*/ 0 60000 65536"/>
                <a:gd name="T8" fmla="*/ 0 60000 65536"/>
                <a:gd name="T9" fmla="*/ 0 w 20469"/>
                <a:gd name="T10" fmla="*/ 0 h 18502"/>
                <a:gd name="T11" fmla="*/ 20469 w 20469"/>
                <a:gd name="T12" fmla="*/ 18502 h 18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69" h="18502" fill="none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</a:path>
                <a:path w="20469" h="18502" stroke="0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  <a:lnTo>
                    <a:pt x="0" y="18502"/>
                  </a:lnTo>
                  <a:close/>
                </a:path>
              </a:pathLst>
            </a:cu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278" name="Line 2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H="1">
            <a:off x="4787900" y="4227513"/>
            <a:ext cx="114300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Group 30"/>
          <p:cNvGrpSpPr/>
          <p:nvPr/>
        </p:nvGrpSpPr>
        <p:grpSpPr bwMode="auto">
          <a:xfrm>
            <a:off x="4973638" y="3756026"/>
            <a:ext cx="2714625" cy="1368426"/>
            <a:chOff x="3133" y="2366"/>
            <a:chExt cx="1710" cy="862"/>
          </a:xfrm>
        </p:grpSpPr>
        <p:sp>
          <p:nvSpPr>
            <p:cNvPr id="11285" name="Line 18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3133" y="2366"/>
              <a:ext cx="1488" cy="741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86" name="Text Box 1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569" y="2995"/>
              <a:ext cx="274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31"/>
          <p:cNvGrpSpPr/>
          <p:nvPr/>
        </p:nvGrpSpPr>
        <p:grpSpPr bwMode="auto">
          <a:xfrm>
            <a:off x="5019675" y="4119564"/>
            <a:ext cx="2346325" cy="1443038"/>
            <a:chOff x="3162" y="2595"/>
            <a:chExt cx="1478" cy="909"/>
          </a:xfrm>
        </p:grpSpPr>
        <p:sp>
          <p:nvSpPr>
            <p:cNvPr id="11283" name="Line 2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162" y="2595"/>
              <a:ext cx="1124" cy="79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84" name="Text Box 2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266" y="3271"/>
              <a:ext cx="374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MR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281" name="Oval 29"/>
          <p:cNvSpPr>
            <a:spLocks noChangeAspect="1" noChangeArrowheads="1"/>
          </p:cNvSpPr>
          <p:nvPr>
            <p:custDataLst>
              <p:tags r:id="rId23"/>
            </p:custDataLst>
          </p:nvPr>
        </p:nvSpPr>
        <p:spPr bwMode="auto">
          <a:xfrm>
            <a:off x="5862638" y="4699000"/>
            <a:ext cx="119062" cy="117475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692785"/>
            <a:ext cx="7120890" cy="467995"/>
          </a:xfrm>
        </p:spPr>
        <p:txBody>
          <a:bodyPr>
            <a:noAutofit/>
          </a:bodyPr>
          <a:lstStyle/>
          <a:p>
            <a:r>
              <a:rPr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垄断竞争与垄断</a:t>
            </a:r>
            <a:endParaRPr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79704" y="1340485"/>
            <a:ext cx="8784783" cy="4464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短期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垄断竞争条件下企业的行为和垄断企业的行为很相像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垄断竞争条件下，企业自由进入与退出市场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会使市场上企业的经济利润趋于零 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如果市场上企业短期能盈利，新企业会进入市场。这会减少市场上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原来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企业的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需求，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原来企业的产品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如果市场上企业短期有损失，一些企业退出市场。那些留在市场上的企业会面临更高的需求和价格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4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长期中的垄断竞争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者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3316" name="Line 31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4789488" y="4722813"/>
            <a:ext cx="1182687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4802188" y="3771900"/>
            <a:ext cx="1173162" cy="1776413"/>
            <a:chOff x="357" y="2450"/>
            <a:chExt cx="795" cy="646"/>
          </a:xfrm>
        </p:grpSpPr>
        <p:sp>
          <p:nvSpPr>
            <p:cNvPr id="13347" name="Line 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48" name="Line 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8007" name="Rectangle 7"/>
          <p:cNvSpPr>
            <a:spLocks noGrp="1" noChangeArrowheads="1"/>
          </p:cNvSpPr>
          <p:nvPr>
            <p:ph type="body" idx="4294967295"/>
            <p:custDataLst>
              <p:tags r:id="rId5"/>
            </p:custDataLst>
          </p:nvPr>
        </p:nvSpPr>
        <p:spPr>
          <a:xfrm>
            <a:off x="251520" y="1700809"/>
            <a:ext cx="2736304" cy="3600400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进入与退出市场会停止，直到P=ATC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和利润=0 </a:t>
            </a:r>
            <a:endParaRPr lang="en-US" sz="2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注意企业在边际成本上面有一个价格的加成，并没有在ATC的最小处生产</a:t>
            </a:r>
            <a:r>
              <a:rPr 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sz="2600" b="1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8"/>
          <p:cNvGrpSpPr/>
          <p:nvPr/>
        </p:nvGrpSpPr>
        <p:grpSpPr bwMode="auto">
          <a:xfrm>
            <a:off x="3206750" y="2116138"/>
            <a:ext cx="5376863" cy="3892309"/>
            <a:chOff x="1579" y="1014"/>
            <a:chExt cx="3434" cy="2653"/>
          </a:xfrm>
        </p:grpSpPr>
        <p:grpSp>
          <p:nvGrpSpPr>
            <p:cNvPr id="4" name="Group 9"/>
            <p:cNvGrpSpPr/>
            <p:nvPr/>
          </p:nvGrpSpPr>
          <p:grpSpPr bwMode="auto">
            <a:xfrm>
              <a:off x="2591" y="1080"/>
              <a:ext cx="2262" cy="2284"/>
              <a:chOff x="1489" y="785"/>
              <a:chExt cx="3650" cy="2492"/>
            </a:xfrm>
          </p:grpSpPr>
          <p:sp>
            <p:nvSpPr>
              <p:cNvPr id="13345" name="Line 10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489" y="785"/>
                <a:ext cx="0" cy="24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46" name="Line 11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489" y="3277"/>
                <a:ext cx="36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3343" name="Text Box 1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232" y="3416"/>
              <a:ext cx="781" cy="25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产量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44" name="Text Box 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79" y="1014"/>
              <a:ext cx="1001" cy="3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价格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14"/>
          <p:cNvGrpSpPr/>
          <p:nvPr/>
        </p:nvGrpSpPr>
        <p:grpSpPr bwMode="auto">
          <a:xfrm>
            <a:off x="5160963" y="1811338"/>
            <a:ext cx="3346450" cy="2127250"/>
            <a:chOff x="2859" y="931"/>
            <a:chExt cx="2108" cy="1340"/>
          </a:xfrm>
        </p:grpSpPr>
        <p:sp>
          <p:nvSpPr>
            <p:cNvPr id="13340" name="Arc 15"/>
            <p:cNvSpPr/>
            <p:nvPr>
              <p:custDataLst>
                <p:tags r:id="rId10"/>
              </p:custDataLst>
            </p:nvPr>
          </p:nvSpPr>
          <p:spPr bwMode="auto">
            <a:xfrm flipH="1" flipV="1">
              <a:off x="2859" y="931"/>
              <a:ext cx="1759" cy="1340"/>
            </a:xfrm>
            <a:custGeom>
              <a:avLst/>
              <a:gdLst>
                <a:gd name="T0" fmla="*/ 0 w 33610"/>
                <a:gd name="T1" fmla="*/ 0 h 21600"/>
                <a:gd name="T2" fmla="*/ 0 w 33610"/>
                <a:gd name="T3" fmla="*/ 0 h 21600"/>
                <a:gd name="T4" fmla="*/ 0 w 33610"/>
                <a:gd name="T5" fmla="*/ 0 h 21600"/>
                <a:gd name="T6" fmla="*/ 0 60000 65536"/>
                <a:gd name="T7" fmla="*/ 0 60000 65536"/>
                <a:gd name="T8" fmla="*/ 0 60000 65536"/>
                <a:gd name="T9" fmla="*/ 0 w 33610"/>
                <a:gd name="T10" fmla="*/ 0 h 21600"/>
                <a:gd name="T11" fmla="*/ 33610 w 3361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10" h="21600" fill="none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</a:path>
                <a:path w="33610" h="21600" stroke="0" extrusionOk="0">
                  <a:moveTo>
                    <a:pt x="0" y="6309"/>
                  </a:moveTo>
                  <a:cubicBezTo>
                    <a:pt x="4049" y="2268"/>
                    <a:pt x="9535" y="-1"/>
                    <a:pt x="15256" y="0"/>
                  </a:cubicBezTo>
                  <a:cubicBezTo>
                    <a:pt x="22728" y="0"/>
                    <a:pt x="29669" y="3861"/>
                    <a:pt x="33609" y="10211"/>
                  </a:cubicBezTo>
                  <a:lnTo>
                    <a:pt x="15256" y="21600"/>
                  </a:lnTo>
                  <a:close/>
                </a:path>
              </a:pathLst>
            </a:custGeom>
            <a:noFill/>
            <a:ln w="38100">
              <a:solidFill>
                <a:srgbClr val="333399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41" name="Text Box 1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44" y="1659"/>
              <a:ext cx="523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ATC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322" name="Line 17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991100" y="3273425"/>
            <a:ext cx="2755900" cy="1420813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3" name="Text Box 18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662863" y="4581525"/>
            <a:ext cx="43497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Arial" panose="020B0604020202020204"/>
                <a:cs typeface="Arial" panose="020B0604020202020204"/>
              </a:rPr>
              <a:t>D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4" name="Line 19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954588" y="3640138"/>
            <a:ext cx="1450975" cy="1539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5" name="Text Box 20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350000" y="5013325"/>
            <a:ext cx="59372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Arial" panose="020B0604020202020204"/>
                <a:cs typeface="Arial" panose="020B0604020202020204"/>
              </a:rPr>
              <a:t>MR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6" name="Text Box 2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86425" y="5529263"/>
            <a:ext cx="5175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Arial" panose="020B0604020202020204"/>
                <a:cs typeface="Arial" panose="020B0604020202020204"/>
              </a:rPr>
              <a:t>Q</a:t>
            </a:r>
            <a:endParaRPr lang="en-US" sz="2400" b="1" i="1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Group 24"/>
          <p:cNvGrpSpPr/>
          <p:nvPr/>
        </p:nvGrpSpPr>
        <p:grpSpPr bwMode="auto">
          <a:xfrm>
            <a:off x="3109913" y="1430338"/>
            <a:ext cx="4600575" cy="3687762"/>
            <a:chOff x="1591" y="691"/>
            <a:chExt cx="2898" cy="2323"/>
          </a:xfrm>
        </p:grpSpPr>
        <p:sp>
          <p:nvSpPr>
            <p:cNvPr id="13338" name="Text Box 2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118" y="1342"/>
              <a:ext cx="371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MC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39" name="Arc 26"/>
            <p:cNvSpPr/>
            <p:nvPr>
              <p:custDataLst>
                <p:tags r:id="rId18"/>
              </p:custDataLst>
            </p:nvPr>
          </p:nvSpPr>
          <p:spPr bwMode="auto">
            <a:xfrm flipV="1">
              <a:off x="1591" y="691"/>
              <a:ext cx="2653" cy="2323"/>
            </a:xfrm>
            <a:custGeom>
              <a:avLst/>
              <a:gdLst>
                <a:gd name="T0" fmla="*/ 0 w 20469"/>
                <a:gd name="T1" fmla="*/ 0 h 18502"/>
                <a:gd name="T2" fmla="*/ 0 w 20469"/>
                <a:gd name="T3" fmla="*/ 0 h 18502"/>
                <a:gd name="T4" fmla="*/ 0 w 20469"/>
                <a:gd name="T5" fmla="*/ 0 h 18502"/>
                <a:gd name="T6" fmla="*/ 0 60000 65536"/>
                <a:gd name="T7" fmla="*/ 0 60000 65536"/>
                <a:gd name="T8" fmla="*/ 0 60000 65536"/>
                <a:gd name="T9" fmla="*/ 0 w 20469"/>
                <a:gd name="T10" fmla="*/ 0 h 18502"/>
                <a:gd name="T11" fmla="*/ 20469 w 20469"/>
                <a:gd name="T12" fmla="*/ 18502 h 18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69" h="18502" fill="none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</a:path>
                <a:path w="20469" h="18502" stroke="0" extrusionOk="0">
                  <a:moveTo>
                    <a:pt x="11146" y="-1"/>
                  </a:moveTo>
                  <a:cubicBezTo>
                    <a:pt x="15530" y="2641"/>
                    <a:pt x="18834" y="6753"/>
                    <a:pt x="20468" y="11604"/>
                  </a:cubicBezTo>
                  <a:lnTo>
                    <a:pt x="0" y="18502"/>
                  </a:lnTo>
                  <a:close/>
                </a:path>
              </a:pathLst>
            </a:cu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328" name="Oval 27"/>
          <p:cNvSpPr>
            <a:spLocks noChangeAspect="1" noChangeArrowheads="1"/>
          </p:cNvSpPr>
          <p:nvPr>
            <p:custDataLst>
              <p:tags r:id="rId19"/>
            </p:custDataLst>
          </p:nvPr>
        </p:nvSpPr>
        <p:spPr bwMode="auto">
          <a:xfrm>
            <a:off x="5911850" y="4664075"/>
            <a:ext cx="119063" cy="117475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9" name="Oval 28"/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5910263" y="3708400"/>
            <a:ext cx="119062" cy="117475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30" name="Rectangle 29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059238" y="4868863"/>
            <a:ext cx="56515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r"/>
            <a:r>
              <a:rPr lang="en-US" sz="2400" i="1">
                <a:latin typeface="Arial" panose="020B0604020202020204"/>
                <a:cs typeface="Arial" panose="020B0604020202020204"/>
              </a:rPr>
              <a:t>MC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31" name="Rectangle 30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281363" y="3468688"/>
            <a:ext cx="120808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r"/>
            <a:r>
              <a:rPr lang="en-US" sz="2400" i="1">
                <a:latin typeface="Arial" panose="020B0604020202020204"/>
                <a:cs typeface="Arial" panose="020B0604020202020204"/>
              </a:rPr>
              <a:t>P = ATC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32" name="Line 33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4511675" y="3665538"/>
            <a:ext cx="238125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33" name="Line 3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H="1">
            <a:off x="4597400" y="4733925"/>
            <a:ext cx="160338" cy="193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Group 36"/>
          <p:cNvGrpSpPr/>
          <p:nvPr/>
        </p:nvGrpSpPr>
        <p:grpSpPr bwMode="auto">
          <a:xfrm>
            <a:off x="3491880" y="3789040"/>
            <a:ext cx="1216645" cy="1069975"/>
            <a:chOff x="2069" y="2387"/>
            <a:chExt cx="897" cy="674"/>
          </a:xfrm>
        </p:grpSpPr>
        <p:sp>
          <p:nvSpPr>
            <p:cNvPr id="13336" name="AutoShape 32"/>
            <p:cNvSpPr/>
            <p:nvPr>
              <p:custDataLst>
                <p:tags r:id="rId25"/>
              </p:custDataLst>
            </p:nvPr>
          </p:nvSpPr>
          <p:spPr bwMode="auto">
            <a:xfrm>
              <a:off x="2849" y="2387"/>
              <a:ext cx="117" cy="590"/>
            </a:xfrm>
            <a:prstGeom prst="leftBrace">
              <a:avLst>
                <a:gd name="adj1" fmla="val 42023"/>
                <a:gd name="adj2" fmla="val 50000"/>
              </a:avLst>
            </a:prstGeom>
            <a:noFill/>
            <a:ln w="19050">
              <a:solidFill>
                <a:srgbClr val="00CC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37" name="Rectangle 3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069" y="2538"/>
              <a:ext cx="761" cy="523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价格加成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7" grpId="0" bldLvl="5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竞争没有完全竞争有效率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584200" y="1439863"/>
            <a:ext cx="8229600" cy="4957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955" indent="-401955" eaLnBrk="1" hangingPunct="1">
              <a:buFont typeface="Wingdings" panose="05000000000000000000" pitchFamily="2" charset="2"/>
              <a:buNone/>
            </a:pPr>
            <a:r>
              <a:rPr lang="en-US" b="1" smtClean="0">
                <a:solidFill>
                  <a:srgbClr val="9966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en-US" b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生产能力过剩</a:t>
            </a:r>
            <a:endParaRPr lang="en-US" b="1" i="1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2005" lvl="1">
              <a:spcBef>
                <a:spcPct val="25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者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在其ATC曲线的向下倾斜部分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，产量低于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ATC 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最小化的产量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2005" lvl="1" eaLnBrk="1" hangingPunct="1">
              <a:spcBef>
                <a:spcPct val="25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完全竞争下，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产量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ATC最小化。 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01955" indent="-401955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b="1" smtClean="0">
                <a:solidFill>
                  <a:srgbClr val="9966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en-US" b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高于边际成本的价格加成</a:t>
            </a:r>
            <a:endParaRPr lang="en-US" b="1" i="1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2005" lvl="1" eaLnBrk="1" hangingPunct="1">
              <a:spcBef>
                <a:spcPct val="25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垄断竞争下, </a:t>
            </a: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&gt; </a:t>
            </a: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2005" lvl="1" eaLnBrk="1" hangingPunct="1">
              <a:spcBef>
                <a:spcPct val="25000"/>
              </a:spcBef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完全竞争下, </a:t>
            </a: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en-US" i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4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垄断竞争与社会福利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611560" y="1556792"/>
            <a:ext cx="8229600" cy="4979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垄断竞争市场并不具有完全竞争市场所具有的全部福利特点  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因为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P&gt;MC，</a:t>
            </a:r>
            <a:b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垄断竞争市场的产量 &lt; 社会有效率的产量</a:t>
            </a:r>
            <a:endParaRPr lang="en-US" sz="27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，政策制定者解决这个问题很困难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企业获得零利润</a:t>
            </a:r>
            <a:r>
              <a:rPr lang="en-US" sz="27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，因此不能要求它们降低价格</a:t>
            </a:r>
            <a:r>
              <a:rPr lang="en-US" sz="2700" dirty="0" smtClean="0"/>
              <a:t> </a:t>
            </a:r>
            <a:endParaRPr lang="en-US" sz="27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4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垄断竞争与社会福利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323528" y="1340768"/>
            <a:ext cx="8453438" cy="524827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市场上企业的数量可能并不是理想的数量，这是因为新企业进入市场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</a:t>
            </a:r>
            <a:r>
              <a:rPr lang="en-US" sz="270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外部性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4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产品多样化外部性: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b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消费者从新产品引进中得到消费者剩余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4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抢走业</a:t>
            </a:r>
            <a:r>
              <a:rPr lang="en-US" sz="24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务外部性</a:t>
            </a:r>
            <a:r>
              <a:rPr lang="en-US" sz="2400" b="1" smtClean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b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原先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企业因新竞争者进入市场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而遭受损失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垄断竞争的无效率难以衡量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政策制定者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没有简单易行的方法来改善市场结果</a:t>
            </a:r>
            <a:r>
              <a:rPr lang="en-US" sz="2700" smtClean="0"/>
              <a:t>  </a:t>
            </a:r>
            <a:endParaRPr lang="en-US" sz="27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ldLvl="4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习题：广告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9552" y="1484784"/>
            <a:ext cx="8382000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lvl="0" indent="-533400">
              <a:buClrTx/>
              <a:buSzPct val="115000"/>
              <a:buFont typeface="+mj-lt"/>
              <a:buAutoNum type="arabicPeriod"/>
            </a:pP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目前为止</a:t>
            </a:r>
            <a:r>
              <a:rPr 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我们学了三种市场结构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完全竞争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垄断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垄断竞争</a:t>
            </a:r>
            <a:r>
              <a:rPr 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在这三种市场结构中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觉得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花钱为它们的产品做广告吗</a:t>
            </a:r>
            <a:r>
              <a:rPr 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?为什么会或者不会?  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lvl="0" indent="-533400">
              <a:buClrTx/>
              <a:buSzPct val="115000"/>
              <a:buFont typeface="+mj-lt"/>
              <a:buAutoNum type="arabicPeriod"/>
            </a:pP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从社会的角度来说</a:t>
            </a:r>
            <a:r>
              <a:rPr 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广告是好事还是坏事</a:t>
            </a:r>
            <a:r>
              <a:rPr lang="zh-CN" altLang="en-US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广告</a:t>
            </a:r>
            <a:endParaRPr lang="zh-CN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251520" y="1700808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在垄断竞争行业，产品差异与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价格加成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导致了广告的使用 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一般来说，产品之间差别越大，企业在广告上的花费就越多 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经济学家关于广告的社会价值有不同的意见 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4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关于广告的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批判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467544" y="1979261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  <a:buClr>
                <a:schemeClr val="tx1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社会花钱在广告上是浪费资源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0000"/>
              </a:spcBef>
              <a:buClr>
                <a:schemeClr val="tx1"/>
              </a:buClr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广告会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引导控制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人们的品味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0000"/>
              </a:spcBef>
              <a:buClr>
                <a:schemeClr val="tx1"/>
              </a:buClr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广告抑制了竞争。它制造了一种错觉，使消费者认为产品之间的区别要大于它们实际上所具有的区别，这样便可以有更高的价格加成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5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44387" name="Rectangle 3"/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467544" y="1556793"/>
            <a:ext cx="8229600" cy="37444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ct val="25000"/>
              </a:spcBef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广告向买者提供了有用的信息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5000"/>
              </a:spcBef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得到信息的买者能更容易找到和发现价格之间的不同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25000"/>
              </a:spcBef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因此，广告促进了竞争，并减少了市场势力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55000"/>
              </a:spcBef>
              <a:buFont typeface="Wingdings" panose="05000000000000000000" pitchFamily="2" charset="2"/>
              <a:buChar char="Ø"/>
            </a:pP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—个著名研究的结果表明:  禁止眼镜生产者做广告的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地区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的眼镜价格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要高于那些不限制做广告的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地区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的眼镜价格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sz="2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/>
          <p:nvPr>
            <p:custDataLst>
              <p:tags r:id="rId3"/>
            </p:custDataLst>
          </p:nvPr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关于广告的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支持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ldLvl="5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作为质量信号的广告</a:t>
            </a:r>
            <a:endParaRPr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395536" y="1556793"/>
            <a:ext cx="8461375" cy="4032448"/>
          </a:xfrm>
        </p:spPr>
        <p:txBody>
          <a:bodyPr/>
          <a:lstStyle/>
          <a:p>
            <a:pPr marL="0" indent="0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在不考虑广告内容的情况下，如果一个企业愿意花很多钱去</a:t>
            </a:r>
            <a:r>
              <a:rPr lang="zh-CN" alt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</a:t>
            </a:r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广告，这可能是对消费者发出它产品质量的信号   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6905" lvl="1" indent="-457200" eaLnBrk="1" hangingPunct="1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广告可能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说服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买者尝试去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第一次购买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产品，但人们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重复购买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的话，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必须高质量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6905" lvl="1" indent="-457200" eaLnBrk="1" hangingPunct="1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买者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重复购买一种物品</a:t>
            </a: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，价格昂贵的广告才是值得的  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6905" lvl="1" indent="-457200" eaLnBrk="1" hangingPunct="1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当消费者看到价格昂贵的广告，会认为这种产品肯定很好，否则公司不会花这么多钱去做广告</a:t>
            </a:r>
            <a:endParaRPr lang="en-US" sz="28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bldLvl="4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品牌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395536" y="1844825"/>
            <a:ext cx="822960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品牌产品与普通产品在许多市场上共存 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有品牌的企业通常花的广告费更多，而且产品价格也更高  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sz="27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正如对广告存在分歧一样，品牌经济学也存在分歧</a:t>
            </a:r>
            <a:endParaRPr lang="en-US" sz="270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4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5722" y="6419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品牌的批评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539552" y="1772816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品牌使消费者感觉到实际上并不存在的差别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消费者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品牌物品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支付意愿更大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是广告引起的一种非理性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取消政府对商标的保护会减少品牌的影响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势力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，并降低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5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en-US" sz="3200" smtClean="0">
                <a:sym typeface="+mn-ea"/>
              </a:rPr>
              <a:t>品牌的辩护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9722" name="Line 38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419600" y="5635625"/>
            <a:ext cx="0" cy="581025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723" name="Line 39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19100" y="6216650"/>
            <a:ext cx="40005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539552" y="1772817"/>
            <a:ext cx="822960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消费者关于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质量的信息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更有动力去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的质量，这是为了保持品牌的声誉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5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结论</a:t>
            </a:r>
            <a:endParaRPr lang="zh-CN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467544" y="1628800"/>
            <a:ext cx="8229600" cy="2472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有差别的产品到处都是，这都是垄断竞争的例子 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垄断竞争理论描述了经济中的许多市场，然而并没有给政策制定者提供多少促进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这类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改善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资源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 </a:t>
            </a:r>
            <a:endParaRPr 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4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4200" y="1422400"/>
            <a:ext cx="82296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垄断竞争市场有三个特点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许多企业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有差别的产品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自由进入  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垄断竞争市场上的每个企业都有过剩的生产能力——产量都低于平均总成本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最小化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的产量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。每个企业都收取高于边际成本的价格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5536" y="1422400"/>
            <a:ext cx="8418264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垄断竞争并不具有完全竞争的所有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社会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福利性质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价格高于边际成本造成了无谓损失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。此外，公司的数量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品种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可能太大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太小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。政策制定者没有明确的方法来改善市场结果。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23528" y="1422400"/>
            <a:ext cx="864096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产品差异化和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价格加成，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导致广告和品牌的使用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广告和品牌的批评者认为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公司利用它们来减少竞争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利用消费者的非理性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辩护人认为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，公司利用它们来告知消费者，并在价格和产品质量上进行更激烈的竞争。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584" y="3140968"/>
            <a:ext cx="7110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寡头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COMMONDATA" val="eyJoZGlkIjoiMzU4Mjg5YWI3YzZkZTJmNmFjOTAxMWJjOTQwNmUwYTg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WPS 演示</Application>
  <PresentationFormat>全屏显示(4:3)</PresentationFormat>
  <Paragraphs>308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</vt:lpstr>
      <vt:lpstr>Arial Unicode MS</vt:lpstr>
      <vt:lpstr>等线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比较完全竞争与垄断竞争</vt:lpstr>
      <vt:lpstr>比较垄断与垄断竞争</vt:lpstr>
      <vt:lpstr>垄断竞争企业短期获得利润</vt:lpstr>
      <vt:lpstr>垄断竞争企业 短期发生亏损</vt:lpstr>
      <vt:lpstr>垄断竞争与垄断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409</cp:revision>
  <dcterms:created xsi:type="dcterms:W3CDTF">2020-07-01T07:18:00Z</dcterms:created>
  <dcterms:modified xsi:type="dcterms:W3CDTF">2025-10-22T14:09:49Z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4F271D02C4D048EFA1CB2EE4F8A88F60_12</vt:lpwstr>
  </property>
</Properties>
</file>