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68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7" r:id="rId16"/>
    <p:sldId id="356" r:id="rId17"/>
    <p:sldId id="359" r:id="rId18"/>
    <p:sldId id="358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14" r:id="rId39"/>
  </p:sldIdLst>
  <p:sldSz cx="9144000" cy="6858000" type="screen4x3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  <p:cmAuthor id="1" name="潘 柏蕙" initials="潘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9F8453"/>
    <a:srgbClr val="9D7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9" autoAdjust="0"/>
    <p:restoredTop sz="93727" autoAdjust="0"/>
  </p:normalViewPr>
  <p:slideViewPr>
    <p:cSldViewPr showGuides="1">
      <p:cViewPr varScale="1">
        <p:scale>
          <a:sx n="89" d="100"/>
          <a:sy n="89" d="100"/>
        </p:scale>
        <p:origin x="417" y="51"/>
      </p:cViewPr>
      <p:guideLst>
        <p:guide orient="horz" pos="2198"/>
        <p:guide pos="288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gs" Target="tags/tag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134160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（微观经济学原理）</a:t>
            </a:r>
            <a:endParaRPr lang="en-US" altLang="zh-CN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42125" y="3946634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8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章：应用：税收成本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28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576" y="1700808"/>
            <a:ext cx="7345680" cy="2306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税收如何影响消费者剩余、生产者剩余和总剩余？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税收的无谓损失是什么？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什么决定了税收的无谓损失的大小？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税收收入如何取决于税收规模？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回顾第六章税收相关内容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554223"/>
            <a:ext cx="806489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</a:t>
            </a:r>
            <a:endParaRPr lang="en-US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在买家支付的价格和卖家收到的价格之间插入了一个楔（xiē）子。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提高了买家支付的价格，降低了卖家收到的价格。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了买卖的数量。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无论是对买家还是卖家征税，这些影响都是相同的，因此我们在本章中不作区分。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4029843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059" y="3284984"/>
            <a:ext cx="40372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有税收的市场均衡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税收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每单位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买家支付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卖家收到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数量为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436431" y="1340768"/>
            <a:ext cx="4037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无税收的市场均衡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价格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数量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8" name="Group 2"/>
          <p:cNvGrpSpPr/>
          <p:nvPr/>
        </p:nvGrpSpPr>
        <p:grpSpPr bwMode="auto">
          <a:xfrm>
            <a:off x="6182493" y="3480073"/>
            <a:ext cx="588963" cy="3189287"/>
            <a:chOff x="3704" y="1767"/>
            <a:chExt cx="371" cy="2009"/>
          </a:xfrm>
        </p:grpSpPr>
        <p:sp>
          <p:nvSpPr>
            <p:cNvPr id="39" name="Line 3"/>
            <p:cNvSpPr>
              <a:spLocks noChangeShapeType="1"/>
            </p:cNvSpPr>
            <p:nvPr/>
          </p:nvSpPr>
          <p:spPr bwMode="auto">
            <a:xfrm>
              <a:off x="3894" y="1767"/>
              <a:ext cx="0" cy="17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3704" y="3497"/>
              <a:ext cx="37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T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1" name="Group 6"/>
          <p:cNvGrpSpPr/>
          <p:nvPr/>
        </p:nvGrpSpPr>
        <p:grpSpPr bwMode="auto">
          <a:xfrm>
            <a:off x="4371156" y="1602060"/>
            <a:ext cx="4305300" cy="4824413"/>
            <a:chOff x="2563" y="584"/>
            <a:chExt cx="2712" cy="3039"/>
          </a:xfrm>
        </p:grpSpPr>
        <p:grpSp>
          <p:nvGrpSpPr>
            <p:cNvPr id="42" name="Group 7"/>
            <p:cNvGrpSpPr/>
            <p:nvPr/>
          </p:nvGrpSpPr>
          <p:grpSpPr bwMode="auto">
            <a:xfrm>
              <a:off x="2563" y="584"/>
              <a:ext cx="2712" cy="3039"/>
              <a:chOff x="2305" y="942"/>
              <a:chExt cx="2712" cy="2666"/>
            </a:xfrm>
          </p:grpSpPr>
          <p:grpSp>
            <p:nvGrpSpPr>
              <p:cNvPr id="49" name="Group 8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52" name="Line 9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3" name="Line 10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50" name="Text Box 11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1" name="Text Box 12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3" name="Group 13"/>
            <p:cNvGrpSpPr/>
            <p:nvPr/>
          </p:nvGrpSpPr>
          <p:grpSpPr bwMode="auto">
            <a:xfrm>
              <a:off x="2684" y="936"/>
              <a:ext cx="2495" cy="1771"/>
              <a:chOff x="2684" y="936"/>
              <a:chExt cx="2495" cy="1771"/>
            </a:xfrm>
          </p:grpSpPr>
          <p:sp>
            <p:nvSpPr>
              <p:cNvPr id="47" name="Text Box 14"/>
              <p:cNvSpPr txBox="1">
                <a:spLocks noChangeArrowheads="1"/>
              </p:cNvSpPr>
              <p:nvPr/>
            </p:nvSpPr>
            <p:spPr bwMode="auto">
              <a:xfrm>
                <a:off x="4946" y="242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D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8" name="Line 15"/>
              <p:cNvSpPr>
                <a:spLocks noChangeShapeType="1"/>
              </p:cNvSpPr>
              <p:nvPr/>
            </p:nvSpPr>
            <p:spPr bwMode="auto">
              <a:xfrm>
                <a:off x="2684" y="936"/>
                <a:ext cx="2305" cy="1589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4" name="Group 16"/>
            <p:cNvGrpSpPr/>
            <p:nvPr/>
          </p:nvGrpSpPr>
          <p:grpSpPr bwMode="auto">
            <a:xfrm>
              <a:off x="2682" y="1538"/>
              <a:ext cx="2486" cy="1961"/>
              <a:chOff x="2682" y="1538"/>
              <a:chExt cx="2486" cy="1961"/>
            </a:xfrm>
          </p:grpSpPr>
          <p:sp>
            <p:nvSpPr>
              <p:cNvPr id="45" name="Text Box 17"/>
              <p:cNvSpPr txBox="1">
                <a:spLocks noChangeArrowheads="1"/>
              </p:cNvSpPr>
              <p:nvPr/>
            </p:nvSpPr>
            <p:spPr bwMode="auto">
              <a:xfrm>
                <a:off x="4935" y="153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6" name="Line 18"/>
              <p:cNvSpPr>
                <a:spLocks noChangeShapeType="1"/>
              </p:cNvSpPr>
              <p:nvPr/>
            </p:nvSpPr>
            <p:spPr bwMode="auto">
              <a:xfrm flipV="1">
                <a:off x="2682" y="1732"/>
                <a:ext cx="2282" cy="1767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54" name="Line 20"/>
          <p:cNvSpPr>
            <a:spLocks noChangeShapeType="1"/>
          </p:cNvSpPr>
          <p:nvPr/>
        </p:nvSpPr>
        <p:spPr bwMode="auto">
          <a:xfrm>
            <a:off x="6480943" y="3484835"/>
            <a:ext cx="3175" cy="1250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5" name="Group 21"/>
          <p:cNvGrpSpPr/>
          <p:nvPr/>
        </p:nvGrpSpPr>
        <p:grpSpPr bwMode="auto">
          <a:xfrm>
            <a:off x="4029843" y="4511948"/>
            <a:ext cx="2449513" cy="442912"/>
            <a:chOff x="2348" y="2417"/>
            <a:chExt cx="1543" cy="279"/>
          </a:xfrm>
        </p:grpSpPr>
        <p:sp>
          <p:nvSpPr>
            <p:cNvPr id="56" name="Text Box 22"/>
            <p:cNvSpPr txBox="1">
              <a:spLocks noChangeArrowheads="1"/>
            </p:cNvSpPr>
            <p:nvPr/>
          </p:nvSpPr>
          <p:spPr bwMode="auto">
            <a:xfrm>
              <a:off x="2348" y="241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7" name="Line 23"/>
            <p:cNvSpPr>
              <a:spLocks noChangeShapeType="1"/>
            </p:cNvSpPr>
            <p:nvPr/>
          </p:nvSpPr>
          <p:spPr bwMode="auto">
            <a:xfrm flipH="1">
              <a:off x="2682" y="2556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8" name="Group 24"/>
          <p:cNvGrpSpPr/>
          <p:nvPr/>
        </p:nvGrpSpPr>
        <p:grpSpPr bwMode="auto">
          <a:xfrm>
            <a:off x="4025081" y="3259410"/>
            <a:ext cx="2454275" cy="442913"/>
            <a:chOff x="2345" y="1628"/>
            <a:chExt cx="1546" cy="279"/>
          </a:xfrm>
        </p:grpSpPr>
        <p:sp>
          <p:nvSpPr>
            <p:cNvPr id="59" name="Text Box 25"/>
            <p:cNvSpPr txBox="1">
              <a:spLocks noChangeArrowheads="1"/>
            </p:cNvSpPr>
            <p:nvPr/>
          </p:nvSpPr>
          <p:spPr bwMode="auto">
            <a:xfrm>
              <a:off x="2345" y="162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 flipH="1">
              <a:off x="2682" y="1770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1" name="Group 27"/>
          <p:cNvGrpSpPr/>
          <p:nvPr/>
        </p:nvGrpSpPr>
        <p:grpSpPr bwMode="auto">
          <a:xfrm>
            <a:off x="4029843" y="3845198"/>
            <a:ext cx="3598863" cy="2824162"/>
            <a:chOff x="2348" y="1997"/>
            <a:chExt cx="2267" cy="1779"/>
          </a:xfrm>
        </p:grpSpPr>
        <p:sp>
          <p:nvSpPr>
            <p:cNvPr id="62" name="Text Box 28"/>
            <p:cNvSpPr txBox="1">
              <a:spLocks noChangeArrowheads="1"/>
            </p:cNvSpPr>
            <p:nvPr/>
          </p:nvSpPr>
          <p:spPr bwMode="auto">
            <a:xfrm>
              <a:off x="2348" y="199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3" name="Group 29"/>
            <p:cNvGrpSpPr/>
            <p:nvPr/>
          </p:nvGrpSpPr>
          <p:grpSpPr bwMode="auto">
            <a:xfrm>
              <a:off x="2690" y="2142"/>
              <a:ext cx="1743" cy="1354"/>
              <a:chOff x="357" y="2450"/>
              <a:chExt cx="795" cy="646"/>
            </a:xfrm>
          </p:grpSpPr>
          <p:sp>
            <p:nvSpPr>
              <p:cNvPr id="65" name="Line 3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6" name="Line 3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64" name="Text Box 32"/>
            <p:cNvSpPr txBox="1">
              <a:spLocks noChangeArrowheads="1"/>
            </p:cNvSpPr>
            <p:nvPr/>
          </p:nvSpPr>
          <p:spPr bwMode="auto">
            <a:xfrm>
              <a:off x="4244" y="3497"/>
              <a:ext cx="37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7" name="Group 37"/>
          <p:cNvGrpSpPr/>
          <p:nvPr/>
        </p:nvGrpSpPr>
        <p:grpSpPr bwMode="auto">
          <a:xfrm>
            <a:off x="6295206" y="2638698"/>
            <a:ext cx="2344737" cy="2084387"/>
            <a:chOff x="3775" y="1237"/>
            <a:chExt cx="1477" cy="1313"/>
          </a:xfrm>
        </p:grpSpPr>
        <p:sp>
          <p:nvSpPr>
            <p:cNvPr id="68" name="AutoShape 38"/>
            <p:cNvSpPr/>
            <p:nvPr/>
          </p:nvSpPr>
          <p:spPr bwMode="auto">
            <a:xfrm rot="10800000">
              <a:off x="3930" y="1770"/>
              <a:ext cx="129" cy="780"/>
            </a:xfrm>
            <a:prstGeom prst="leftBrace">
              <a:avLst>
                <a:gd name="adj1" fmla="val 50388"/>
                <a:gd name="adj2" fmla="val 61537"/>
              </a:avLst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Text Box 39"/>
            <p:cNvSpPr txBox="1">
              <a:spLocks noChangeArrowheads="1"/>
            </p:cNvSpPr>
            <p:nvPr/>
          </p:nvSpPr>
          <p:spPr bwMode="auto">
            <a:xfrm>
              <a:off x="3775" y="1237"/>
              <a:ext cx="1477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0" dirty="0">
                  <a:latin typeface="Arial" panose="020B0604020202020204"/>
                  <a:cs typeface="Arial" panose="020B0604020202020204"/>
                </a:rPr>
                <a:t>税收规模</a:t>
              </a:r>
              <a:r>
                <a:rPr lang="en-US" sz="2400" b="0" dirty="0">
                  <a:latin typeface="Arial" panose="020B0604020202020204"/>
                  <a:cs typeface="Arial" panose="020B0604020202020204"/>
                </a:rPr>
                <a:t>= </a:t>
              </a:r>
              <a:r>
                <a:rPr lang="en-US" sz="2400" i="1" dirty="0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0" name="Line 40"/>
            <p:cNvSpPr>
              <a:spLocks noChangeShapeType="1"/>
            </p:cNvSpPr>
            <p:nvPr/>
          </p:nvSpPr>
          <p:spPr bwMode="auto">
            <a:xfrm flipV="1">
              <a:off x="4080" y="1500"/>
              <a:ext cx="462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177542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495411" y="1961485"/>
            <a:ext cx="403720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税收收入：</a:t>
            </a:r>
            <a:endParaRPr lang="en-US" altLang="zh-CN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x </a:t>
            </a:r>
            <a:r>
              <a:rPr lang="en-US" altLang="zh-CN" sz="25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5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en-US" altLang="zh-CN" sz="25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6700142" y="3480073"/>
            <a:ext cx="0" cy="2747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780855" y="3486423"/>
            <a:ext cx="1911350" cy="1246187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Group 5"/>
          <p:cNvGrpSpPr/>
          <p:nvPr/>
        </p:nvGrpSpPr>
        <p:grpSpPr bwMode="auto">
          <a:xfrm>
            <a:off x="4587180" y="1602060"/>
            <a:ext cx="4305300" cy="4824413"/>
            <a:chOff x="2305" y="942"/>
            <a:chExt cx="2712" cy="2666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370192" y="4529410"/>
            <a:ext cx="369888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D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779267" y="2160860"/>
            <a:ext cx="3659188" cy="2522538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352730" y="3116535"/>
            <a:ext cx="369887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S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4776092" y="3424510"/>
            <a:ext cx="3622675" cy="2805113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Group 16"/>
          <p:cNvGrpSpPr/>
          <p:nvPr/>
        </p:nvGrpSpPr>
        <p:grpSpPr bwMode="auto">
          <a:xfrm>
            <a:off x="4245867" y="4511948"/>
            <a:ext cx="2449513" cy="442912"/>
            <a:chOff x="2348" y="2417"/>
            <a:chExt cx="1543" cy="279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348" y="241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2682" y="2556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4241105" y="3259410"/>
            <a:ext cx="2454275" cy="442913"/>
            <a:chOff x="2345" y="1628"/>
            <a:chExt cx="1546" cy="279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345" y="162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2682" y="1770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4245867" y="3845198"/>
            <a:ext cx="53181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P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E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Group 23"/>
          <p:cNvGrpSpPr/>
          <p:nvPr/>
        </p:nvGrpSpPr>
        <p:grpSpPr bwMode="auto">
          <a:xfrm>
            <a:off x="4788792" y="4075385"/>
            <a:ext cx="2767013" cy="2149475"/>
            <a:chOff x="357" y="2450"/>
            <a:chExt cx="795" cy="646"/>
          </a:xfrm>
        </p:grpSpPr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725576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E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639851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T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Group 28"/>
          <p:cNvGrpSpPr/>
          <p:nvPr/>
        </p:nvGrpSpPr>
        <p:grpSpPr bwMode="auto">
          <a:xfrm>
            <a:off x="6511230" y="2638698"/>
            <a:ext cx="2344737" cy="2084387"/>
            <a:chOff x="3775" y="1237"/>
            <a:chExt cx="1477" cy="1313"/>
          </a:xfrm>
        </p:grpSpPr>
        <p:sp>
          <p:nvSpPr>
            <p:cNvPr id="29" name="AutoShape 29"/>
            <p:cNvSpPr/>
            <p:nvPr/>
          </p:nvSpPr>
          <p:spPr bwMode="auto">
            <a:xfrm rot="10800000">
              <a:off x="3930" y="1770"/>
              <a:ext cx="129" cy="780"/>
            </a:xfrm>
            <a:prstGeom prst="leftBrace">
              <a:avLst>
                <a:gd name="adj1" fmla="val 50388"/>
                <a:gd name="adj2" fmla="val 61537"/>
              </a:avLst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775" y="1237"/>
              <a:ext cx="1477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0" dirty="0">
                  <a:latin typeface="Arial" panose="020B0604020202020204"/>
                  <a:cs typeface="Arial" panose="020B0604020202020204"/>
                </a:rPr>
                <a:t>税收规模</a:t>
              </a:r>
              <a:r>
                <a:rPr lang="en-US" sz="2400" b="0" dirty="0">
                  <a:latin typeface="Arial" panose="020B0604020202020204"/>
                  <a:cs typeface="Arial" panose="020B0604020202020204"/>
                </a:rPr>
                <a:t>= </a:t>
              </a:r>
              <a:r>
                <a:rPr lang="en-US" sz="2400" i="1" dirty="0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V="1">
              <a:off x="4080" y="1500"/>
              <a:ext cx="462" cy="5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6696967" y="3484835"/>
            <a:ext cx="3175" cy="1250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700808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接下来，我们应用福利经济学来衡量税收的收益和损失。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我们现在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消费者剩余（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生产者剩余（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对比有税和无税两种情况下的总剩余。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税收可以为有益的服务（如教育、公路、警察）提供资金，因此我们将其计入总剩余。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177542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516255" y="1671320"/>
            <a:ext cx="337629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无税的情况：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= A + B + C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= D + E + F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税收收入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0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总剩余</a:t>
            </a:r>
            <a:br>
              <a:rPr lang="pt-B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pt-B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CS + P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pt-B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A+B+C+D+E+F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Line 2"/>
          <p:cNvSpPr>
            <a:spLocks noChangeShapeType="1"/>
          </p:cNvSpPr>
          <p:nvPr/>
        </p:nvSpPr>
        <p:spPr bwMode="auto">
          <a:xfrm>
            <a:off x="6772150" y="3434805"/>
            <a:ext cx="0" cy="2747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4" name="Group 4"/>
          <p:cNvGrpSpPr/>
          <p:nvPr/>
        </p:nvGrpSpPr>
        <p:grpSpPr bwMode="auto">
          <a:xfrm>
            <a:off x="4659188" y="1556792"/>
            <a:ext cx="4305300" cy="4824413"/>
            <a:chOff x="2563" y="584"/>
            <a:chExt cx="2712" cy="3039"/>
          </a:xfrm>
        </p:grpSpPr>
        <p:grpSp>
          <p:nvGrpSpPr>
            <p:cNvPr id="35" name="Group 5"/>
            <p:cNvGrpSpPr/>
            <p:nvPr/>
          </p:nvGrpSpPr>
          <p:grpSpPr bwMode="auto">
            <a:xfrm>
              <a:off x="2563" y="584"/>
              <a:ext cx="2712" cy="3039"/>
              <a:chOff x="2305" y="942"/>
              <a:chExt cx="2712" cy="2666"/>
            </a:xfrm>
          </p:grpSpPr>
          <p:grpSp>
            <p:nvGrpSpPr>
              <p:cNvPr id="41" name="Group 6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44" name="Line 7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5" name="Line 8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42" name="Text Box 9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3" name="Text Box 10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6" name="Text Box 11"/>
            <p:cNvSpPr txBox="1">
              <a:spLocks noChangeArrowheads="1"/>
            </p:cNvSpPr>
            <p:nvPr/>
          </p:nvSpPr>
          <p:spPr bwMode="auto">
            <a:xfrm>
              <a:off x="4946" y="242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Line 12"/>
            <p:cNvSpPr>
              <a:spLocks noChangeShapeType="1"/>
            </p:cNvSpPr>
            <p:nvPr/>
          </p:nvSpPr>
          <p:spPr bwMode="auto">
            <a:xfrm>
              <a:off x="2684" y="936"/>
              <a:ext cx="2305" cy="1589"/>
            </a:xfrm>
            <a:prstGeom prst="line">
              <a:avLst/>
            </a:prstGeom>
            <a:noFill/>
            <a:ln w="28575">
              <a:solidFill>
                <a:srgbClr val="3366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4935" y="153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 flipV="1">
              <a:off x="2682" y="1732"/>
              <a:ext cx="2282" cy="1767"/>
            </a:xfrm>
            <a:prstGeom prst="line">
              <a:avLst/>
            </a:prstGeom>
            <a:noFill/>
            <a:ln w="28575">
              <a:solidFill>
                <a:srgbClr val="3366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6" name="Line 18"/>
          <p:cNvSpPr>
            <a:spLocks noChangeShapeType="1"/>
          </p:cNvSpPr>
          <p:nvPr/>
        </p:nvSpPr>
        <p:spPr bwMode="auto">
          <a:xfrm flipH="1">
            <a:off x="4848100" y="4687342"/>
            <a:ext cx="19192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Line 21"/>
          <p:cNvSpPr>
            <a:spLocks noChangeShapeType="1"/>
          </p:cNvSpPr>
          <p:nvPr/>
        </p:nvSpPr>
        <p:spPr bwMode="auto">
          <a:xfrm flipH="1">
            <a:off x="4848100" y="3439567"/>
            <a:ext cx="19192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8" name="Group 22"/>
          <p:cNvGrpSpPr/>
          <p:nvPr/>
        </p:nvGrpSpPr>
        <p:grpSpPr bwMode="auto">
          <a:xfrm>
            <a:off x="4317875" y="3799930"/>
            <a:ext cx="3598863" cy="2824162"/>
            <a:chOff x="2348" y="1997"/>
            <a:chExt cx="2267" cy="1779"/>
          </a:xfrm>
        </p:grpSpPr>
        <p:sp>
          <p:nvSpPr>
            <p:cNvPr id="49" name="Text Box 23"/>
            <p:cNvSpPr txBox="1">
              <a:spLocks noChangeArrowheads="1"/>
            </p:cNvSpPr>
            <p:nvPr/>
          </p:nvSpPr>
          <p:spPr bwMode="auto">
            <a:xfrm>
              <a:off x="2348" y="199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50" name="Group 24"/>
            <p:cNvGrpSpPr/>
            <p:nvPr/>
          </p:nvGrpSpPr>
          <p:grpSpPr bwMode="auto">
            <a:xfrm>
              <a:off x="2690" y="2142"/>
              <a:ext cx="1743" cy="1354"/>
              <a:chOff x="357" y="2450"/>
              <a:chExt cx="795" cy="646"/>
            </a:xfrm>
          </p:grpSpPr>
          <p:sp>
            <p:nvSpPr>
              <p:cNvPr id="52" name="Line 2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Line 2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1" name="Text Box 27"/>
            <p:cNvSpPr txBox="1">
              <a:spLocks noChangeArrowheads="1"/>
            </p:cNvSpPr>
            <p:nvPr/>
          </p:nvSpPr>
          <p:spPr bwMode="auto">
            <a:xfrm>
              <a:off x="4244" y="3497"/>
              <a:ext cx="37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6470525" y="6181180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T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Text Box 29"/>
          <p:cNvSpPr txBox="1">
            <a:spLocks noChangeArrowheads="1"/>
          </p:cNvSpPr>
          <p:nvPr/>
        </p:nvSpPr>
        <p:spPr bwMode="auto">
          <a:xfrm>
            <a:off x="5276725" y="2810917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A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Text Box 30"/>
          <p:cNvSpPr txBox="1">
            <a:spLocks noChangeArrowheads="1"/>
          </p:cNvSpPr>
          <p:nvPr/>
        </p:nvSpPr>
        <p:spPr bwMode="auto">
          <a:xfrm>
            <a:off x="5600575" y="3515767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B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Text Box 31"/>
          <p:cNvSpPr txBox="1">
            <a:spLocks noChangeArrowheads="1"/>
          </p:cNvSpPr>
          <p:nvPr/>
        </p:nvSpPr>
        <p:spPr bwMode="auto">
          <a:xfrm>
            <a:off x="6791200" y="3591967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C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Text Box 32"/>
          <p:cNvSpPr txBox="1">
            <a:spLocks noChangeArrowheads="1"/>
          </p:cNvSpPr>
          <p:nvPr/>
        </p:nvSpPr>
        <p:spPr bwMode="auto">
          <a:xfrm>
            <a:off x="5619625" y="4134892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D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Text Box 33"/>
          <p:cNvSpPr txBox="1">
            <a:spLocks noChangeArrowheads="1"/>
          </p:cNvSpPr>
          <p:nvPr/>
        </p:nvSpPr>
        <p:spPr bwMode="auto">
          <a:xfrm>
            <a:off x="6791200" y="4030117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E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Text Box 34"/>
          <p:cNvSpPr txBox="1">
            <a:spLocks noChangeArrowheads="1"/>
          </p:cNvSpPr>
          <p:nvPr/>
        </p:nvSpPr>
        <p:spPr bwMode="auto">
          <a:xfrm>
            <a:off x="5362450" y="4858792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F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AutoShape 39"/>
          <p:cNvSpPr>
            <a:spLocks noChangeArrowheads="1"/>
          </p:cNvSpPr>
          <p:nvPr/>
        </p:nvSpPr>
        <p:spPr bwMode="auto">
          <a:xfrm>
            <a:off x="4867150" y="2145755"/>
            <a:ext cx="2714625" cy="1874837"/>
          </a:xfrm>
          <a:prstGeom prst="rtTriangle">
            <a:avLst/>
          </a:prstGeom>
          <a:noFill/>
          <a:ln w="28575">
            <a:solidFill>
              <a:srgbClr val="FFFF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AutoShape 40"/>
          <p:cNvSpPr>
            <a:spLocks noChangeArrowheads="1"/>
          </p:cNvSpPr>
          <p:nvPr/>
        </p:nvSpPr>
        <p:spPr bwMode="auto">
          <a:xfrm flipV="1">
            <a:off x="4862388" y="4039642"/>
            <a:ext cx="2724150" cy="2119313"/>
          </a:xfrm>
          <a:prstGeom prst="rtTriangle">
            <a:avLst/>
          </a:prstGeom>
          <a:noFill/>
          <a:ln w="28575">
            <a:solidFill>
              <a:srgbClr val="00CC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AutoShape 41"/>
          <p:cNvSpPr>
            <a:spLocks noChangeArrowheads="1"/>
          </p:cNvSpPr>
          <p:nvPr/>
        </p:nvSpPr>
        <p:spPr bwMode="auto">
          <a:xfrm rot="5400000">
            <a:off x="4231357" y="2781548"/>
            <a:ext cx="4013200" cy="2732087"/>
          </a:xfrm>
          <a:prstGeom prst="triangle">
            <a:avLst>
              <a:gd name="adj" fmla="val 47056"/>
            </a:avLst>
          </a:prstGeom>
          <a:noFill/>
          <a:ln w="38100">
            <a:solidFill>
              <a:srgbClr val="FF99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8" grpId="0"/>
      <p:bldP spid="59" grpId="0"/>
      <p:bldP spid="60" grpId="0"/>
      <p:bldP spid="61" grpId="0" animBg="1"/>
      <p:bldP spid="62" grpId="0" animBg="1"/>
      <p:bldP spid="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177542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516447" y="1671300"/>
            <a:ext cx="348392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征收税收：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= A 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= F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税收收入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B+D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总剩余</a:t>
            </a:r>
            <a:br>
              <a:rPr lang="pt-B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pt-BR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A+B+ D + F</a:t>
            </a:r>
            <a:endParaRPr lang="pt-BR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税收使总剩余减少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C+E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" name="AutoShape 2"/>
          <p:cNvSpPr>
            <a:spLocks noChangeArrowheads="1"/>
          </p:cNvSpPr>
          <p:nvPr/>
        </p:nvSpPr>
        <p:spPr bwMode="auto">
          <a:xfrm rot="5400000">
            <a:off x="6515199" y="3693591"/>
            <a:ext cx="1212850" cy="830263"/>
          </a:xfrm>
          <a:prstGeom prst="triangle">
            <a:avLst>
              <a:gd name="adj" fmla="val 47644"/>
            </a:avLst>
          </a:prstGeom>
          <a:solidFill>
            <a:srgbClr val="FFCC66"/>
          </a:solidFill>
          <a:ln w="38100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6700142" y="3480073"/>
            <a:ext cx="0" cy="2747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Group 5"/>
          <p:cNvGrpSpPr/>
          <p:nvPr/>
        </p:nvGrpSpPr>
        <p:grpSpPr bwMode="auto">
          <a:xfrm>
            <a:off x="4587180" y="1602060"/>
            <a:ext cx="4305300" cy="4824413"/>
            <a:chOff x="2305" y="942"/>
            <a:chExt cx="2712" cy="2666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370192" y="4529410"/>
            <a:ext cx="369888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D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779267" y="2160860"/>
            <a:ext cx="3659188" cy="2522538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352730" y="3116535"/>
            <a:ext cx="369887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S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4776092" y="3424510"/>
            <a:ext cx="3622675" cy="2805113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4245867" y="4511948"/>
            <a:ext cx="2449513" cy="442912"/>
            <a:chOff x="2348" y="2417"/>
            <a:chExt cx="1543" cy="279"/>
          </a:xfrm>
        </p:grpSpPr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348" y="241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682" y="2556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8"/>
          <p:cNvGrpSpPr/>
          <p:nvPr/>
        </p:nvGrpSpPr>
        <p:grpSpPr bwMode="auto">
          <a:xfrm>
            <a:off x="4241105" y="3259410"/>
            <a:ext cx="2454275" cy="442913"/>
            <a:chOff x="2345" y="1628"/>
            <a:chExt cx="1546" cy="279"/>
          </a:xfrm>
        </p:grpSpPr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345" y="162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2682" y="1770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4788792" y="4075385"/>
            <a:ext cx="2767013" cy="2149475"/>
            <a:chOff x="357" y="2450"/>
            <a:chExt cx="795" cy="646"/>
          </a:xfrm>
        </p:grpSpPr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25576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E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639851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T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5204717" y="285618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A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5528567" y="356103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B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6719192" y="363723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C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5547617" y="4180160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D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6719192" y="407538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E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5290442" y="4904060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F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AutoShape 37"/>
          <p:cNvSpPr>
            <a:spLocks noChangeArrowheads="1"/>
          </p:cNvSpPr>
          <p:nvPr/>
        </p:nvSpPr>
        <p:spPr bwMode="auto">
          <a:xfrm>
            <a:off x="4795142" y="2179910"/>
            <a:ext cx="1866900" cy="1295400"/>
          </a:xfrm>
          <a:prstGeom prst="rtTriangle">
            <a:avLst/>
          </a:prstGeom>
          <a:noFill/>
          <a:ln w="28575">
            <a:solidFill>
              <a:srgbClr val="FFFF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AutoShape 38"/>
          <p:cNvSpPr>
            <a:spLocks noChangeArrowheads="1"/>
          </p:cNvSpPr>
          <p:nvPr/>
        </p:nvSpPr>
        <p:spPr bwMode="auto">
          <a:xfrm flipV="1">
            <a:off x="4795142" y="4742135"/>
            <a:ext cx="1871663" cy="1447800"/>
          </a:xfrm>
          <a:prstGeom prst="rtTriangle">
            <a:avLst/>
          </a:prstGeom>
          <a:noFill/>
          <a:ln w="28575">
            <a:solidFill>
              <a:srgbClr val="00CC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Rectangle 39"/>
          <p:cNvSpPr>
            <a:spLocks noChangeArrowheads="1"/>
          </p:cNvSpPr>
          <p:nvPr/>
        </p:nvSpPr>
        <p:spPr bwMode="auto">
          <a:xfrm>
            <a:off x="4795142" y="3489598"/>
            <a:ext cx="1890713" cy="1238250"/>
          </a:xfrm>
          <a:prstGeom prst="rect">
            <a:avLst/>
          </a:prstGeom>
          <a:noFill/>
          <a:ln w="28575">
            <a:solidFill>
              <a:srgbClr val="FF3399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" name="Group 41"/>
          <p:cNvGrpSpPr/>
          <p:nvPr/>
        </p:nvGrpSpPr>
        <p:grpSpPr bwMode="auto">
          <a:xfrm>
            <a:off x="4787205" y="2164035"/>
            <a:ext cx="1901825" cy="4030663"/>
            <a:chOff x="2689" y="938"/>
            <a:chExt cx="1198" cy="2539"/>
          </a:xfrm>
        </p:grpSpPr>
        <p:sp>
          <p:nvSpPr>
            <p:cNvPr id="68" name="Line 42"/>
            <p:cNvSpPr>
              <a:spLocks noChangeShapeType="1"/>
            </p:cNvSpPr>
            <p:nvPr/>
          </p:nvSpPr>
          <p:spPr bwMode="auto">
            <a:xfrm>
              <a:off x="2693" y="938"/>
              <a:ext cx="0" cy="253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Line 43"/>
            <p:cNvSpPr>
              <a:spLocks noChangeShapeType="1"/>
            </p:cNvSpPr>
            <p:nvPr/>
          </p:nvSpPr>
          <p:spPr bwMode="auto">
            <a:xfrm flipV="1">
              <a:off x="2689" y="2551"/>
              <a:ext cx="1198" cy="92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0" name="Line 44"/>
            <p:cNvSpPr>
              <a:spLocks noChangeShapeType="1"/>
            </p:cNvSpPr>
            <p:nvPr/>
          </p:nvSpPr>
          <p:spPr bwMode="auto">
            <a:xfrm>
              <a:off x="3880" y="1763"/>
              <a:ext cx="0" cy="795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1" name="Line 45"/>
            <p:cNvSpPr>
              <a:spLocks noChangeShapeType="1"/>
            </p:cNvSpPr>
            <p:nvPr/>
          </p:nvSpPr>
          <p:spPr bwMode="auto">
            <a:xfrm>
              <a:off x="2689" y="951"/>
              <a:ext cx="1188" cy="819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4" grpId="0" animBg="1"/>
      <p:bldP spid="65" grpId="0" animBg="1"/>
      <p:bldP spid="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177542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税收的影响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516255" y="1671320"/>
            <a:ext cx="27552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C+E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被称为税收的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无谓损失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DWL: Deadweight Loss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），即市场扭曲（如本章的税收）导致的总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余下降。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2"/>
          <p:cNvSpPr>
            <a:spLocks noChangeArrowheads="1"/>
          </p:cNvSpPr>
          <p:nvPr/>
        </p:nvSpPr>
        <p:spPr bwMode="auto">
          <a:xfrm rot="5400000">
            <a:off x="6515199" y="3693591"/>
            <a:ext cx="1212850" cy="830263"/>
          </a:xfrm>
          <a:prstGeom prst="triangle">
            <a:avLst>
              <a:gd name="adj" fmla="val 47644"/>
            </a:avLst>
          </a:prstGeom>
          <a:solidFill>
            <a:srgbClr val="FFCC66"/>
          </a:solidFill>
          <a:ln w="38100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6700142" y="3480073"/>
            <a:ext cx="0" cy="2747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Group 5"/>
          <p:cNvGrpSpPr/>
          <p:nvPr/>
        </p:nvGrpSpPr>
        <p:grpSpPr bwMode="auto">
          <a:xfrm>
            <a:off x="4587180" y="1602060"/>
            <a:ext cx="4305300" cy="4824413"/>
            <a:chOff x="2305" y="942"/>
            <a:chExt cx="2712" cy="2666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370192" y="4529410"/>
            <a:ext cx="369888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D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779267" y="2160860"/>
            <a:ext cx="3659188" cy="2522538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352730" y="3116535"/>
            <a:ext cx="369887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S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4776092" y="3424510"/>
            <a:ext cx="3622675" cy="2805113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4245867" y="4511948"/>
            <a:ext cx="2449513" cy="442912"/>
            <a:chOff x="2348" y="2417"/>
            <a:chExt cx="1543" cy="279"/>
          </a:xfrm>
        </p:grpSpPr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348" y="241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682" y="2556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8"/>
          <p:cNvGrpSpPr/>
          <p:nvPr/>
        </p:nvGrpSpPr>
        <p:grpSpPr bwMode="auto">
          <a:xfrm>
            <a:off x="4241105" y="3259410"/>
            <a:ext cx="2454275" cy="442913"/>
            <a:chOff x="2345" y="1628"/>
            <a:chExt cx="1546" cy="279"/>
          </a:xfrm>
        </p:grpSpPr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2345" y="162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2682" y="1770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4788792" y="4075385"/>
            <a:ext cx="2767013" cy="2149475"/>
            <a:chOff x="357" y="2450"/>
            <a:chExt cx="795" cy="646"/>
          </a:xfrm>
        </p:grpSpPr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25576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E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6398517" y="6226448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T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5204717" y="285618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A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5528567" y="356103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B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6719192" y="363723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C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5547617" y="4180160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D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6719192" y="4075385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E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5290442" y="4904060"/>
            <a:ext cx="371475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b="0">
                <a:latin typeface="Arial" panose="020B0604020202020204"/>
                <a:cs typeface="Arial" panose="020B0604020202020204"/>
              </a:rPr>
              <a:t>F</a:t>
            </a:r>
            <a:endParaRPr lang="en-US" sz="2300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AutoShape 37"/>
          <p:cNvSpPr>
            <a:spLocks noChangeArrowheads="1"/>
          </p:cNvSpPr>
          <p:nvPr/>
        </p:nvSpPr>
        <p:spPr bwMode="auto">
          <a:xfrm>
            <a:off x="4795142" y="2179910"/>
            <a:ext cx="1866900" cy="1295400"/>
          </a:xfrm>
          <a:prstGeom prst="rtTriangle">
            <a:avLst/>
          </a:prstGeom>
          <a:noFill/>
          <a:ln w="28575">
            <a:solidFill>
              <a:srgbClr val="FFFF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AutoShape 38"/>
          <p:cNvSpPr>
            <a:spLocks noChangeArrowheads="1"/>
          </p:cNvSpPr>
          <p:nvPr/>
        </p:nvSpPr>
        <p:spPr bwMode="auto">
          <a:xfrm flipV="1">
            <a:off x="4795142" y="4742135"/>
            <a:ext cx="1871663" cy="1447800"/>
          </a:xfrm>
          <a:prstGeom prst="rtTriangle">
            <a:avLst/>
          </a:prstGeom>
          <a:noFill/>
          <a:ln w="28575">
            <a:solidFill>
              <a:srgbClr val="00CC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Rectangle 39"/>
          <p:cNvSpPr>
            <a:spLocks noChangeArrowheads="1"/>
          </p:cNvSpPr>
          <p:nvPr/>
        </p:nvSpPr>
        <p:spPr bwMode="auto">
          <a:xfrm>
            <a:off x="4795142" y="3489598"/>
            <a:ext cx="1890713" cy="1238250"/>
          </a:xfrm>
          <a:prstGeom prst="rect">
            <a:avLst/>
          </a:prstGeom>
          <a:noFill/>
          <a:ln w="28575">
            <a:solidFill>
              <a:srgbClr val="FF3399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" name="Group 41"/>
          <p:cNvGrpSpPr/>
          <p:nvPr/>
        </p:nvGrpSpPr>
        <p:grpSpPr bwMode="auto">
          <a:xfrm>
            <a:off x="4787205" y="2164035"/>
            <a:ext cx="1901825" cy="4030663"/>
            <a:chOff x="2689" y="938"/>
            <a:chExt cx="1198" cy="2539"/>
          </a:xfrm>
        </p:grpSpPr>
        <p:sp>
          <p:nvSpPr>
            <p:cNvPr id="68" name="Line 42"/>
            <p:cNvSpPr>
              <a:spLocks noChangeShapeType="1"/>
            </p:cNvSpPr>
            <p:nvPr/>
          </p:nvSpPr>
          <p:spPr bwMode="auto">
            <a:xfrm>
              <a:off x="2693" y="938"/>
              <a:ext cx="0" cy="253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Line 43"/>
            <p:cNvSpPr>
              <a:spLocks noChangeShapeType="1"/>
            </p:cNvSpPr>
            <p:nvPr/>
          </p:nvSpPr>
          <p:spPr bwMode="auto">
            <a:xfrm flipV="1">
              <a:off x="2689" y="2551"/>
              <a:ext cx="1198" cy="92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0" name="Line 44"/>
            <p:cNvSpPr>
              <a:spLocks noChangeShapeType="1"/>
            </p:cNvSpPr>
            <p:nvPr/>
          </p:nvSpPr>
          <p:spPr bwMode="auto">
            <a:xfrm>
              <a:off x="3880" y="1763"/>
              <a:ext cx="0" cy="795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1" name="Line 45"/>
            <p:cNvSpPr>
              <a:spLocks noChangeShapeType="1"/>
            </p:cNvSpPr>
            <p:nvPr/>
          </p:nvSpPr>
          <p:spPr bwMode="auto">
            <a:xfrm>
              <a:off x="2689" y="951"/>
              <a:ext cx="1188" cy="819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177542" y="1602060"/>
            <a:ext cx="4862638" cy="50673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无谓损失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516447" y="1671300"/>
            <a:ext cx="348392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由于税收的原因，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en-US" altLang="zh-CN" sz="2400" i="1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之间的数量没有出售。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这些数量的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买家价值大于卖家成本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因此税收阻止了一些互利的交易。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AutoShape 2"/>
          <p:cNvSpPr>
            <a:spLocks noChangeArrowheads="1"/>
          </p:cNvSpPr>
          <p:nvPr/>
        </p:nvSpPr>
        <p:spPr bwMode="auto">
          <a:xfrm rot="5400000">
            <a:off x="6587207" y="3648323"/>
            <a:ext cx="1212850" cy="830263"/>
          </a:xfrm>
          <a:prstGeom prst="triangle">
            <a:avLst>
              <a:gd name="adj" fmla="val 47644"/>
            </a:avLst>
          </a:prstGeom>
          <a:solidFill>
            <a:srgbClr val="FFCC66"/>
          </a:solidFill>
          <a:ln w="38100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Line 3"/>
          <p:cNvSpPr>
            <a:spLocks noChangeShapeType="1"/>
          </p:cNvSpPr>
          <p:nvPr/>
        </p:nvSpPr>
        <p:spPr bwMode="auto">
          <a:xfrm>
            <a:off x="6772150" y="3434805"/>
            <a:ext cx="0" cy="27479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5" name="Group 5"/>
          <p:cNvGrpSpPr/>
          <p:nvPr/>
        </p:nvGrpSpPr>
        <p:grpSpPr bwMode="auto">
          <a:xfrm>
            <a:off x="4659188" y="1556792"/>
            <a:ext cx="4305300" cy="4824413"/>
            <a:chOff x="2305" y="942"/>
            <a:chExt cx="2712" cy="2666"/>
          </a:xfrm>
        </p:grpSpPr>
        <p:grpSp>
          <p:nvGrpSpPr>
            <p:cNvPr id="36" name="Group 6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40" name="Line 7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1" name="Line 8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8" name="Text Box 9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8442200" y="4484142"/>
            <a:ext cx="369888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D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3" name="Line 12"/>
          <p:cNvSpPr>
            <a:spLocks noChangeShapeType="1"/>
          </p:cNvSpPr>
          <p:nvPr/>
        </p:nvSpPr>
        <p:spPr bwMode="auto">
          <a:xfrm>
            <a:off x="4851275" y="2115592"/>
            <a:ext cx="3659188" cy="2522538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4" name="Text Box 13"/>
          <p:cNvSpPr txBox="1">
            <a:spLocks noChangeArrowheads="1"/>
          </p:cNvSpPr>
          <p:nvPr/>
        </p:nvSpPr>
        <p:spPr bwMode="auto">
          <a:xfrm>
            <a:off x="8424738" y="3071267"/>
            <a:ext cx="369887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S</a:t>
            </a:r>
            <a:endParaRPr lang="en-US" sz="2300" i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Line 14"/>
          <p:cNvSpPr>
            <a:spLocks noChangeShapeType="1"/>
          </p:cNvSpPr>
          <p:nvPr/>
        </p:nvSpPr>
        <p:spPr bwMode="auto">
          <a:xfrm flipV="1">
            <a:off x="4848100" y="3379242"/>
            <a:ext cx="3622675" cy="2805113"/>
          </a:xfrm>
          <a:prstGeom prst="line">
            <a:avLst/>
          </a:prstGeom>
          <a:noFill/>
          <a:ln w="28575">
            <a:solidFill>
              <a:srgbClr val="336699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6" name="Group 15"/>
          <p:cNvGrpSpPr/>
          <p:nvPr/>
        </p:nvGrpSpPr>
        <p:grpSpPr bwMode="auto">
          <a:xfrm>
            <a:off x="4317875" y="4466680"/>
            <a:ext cx="2449513" cy="442912"/>
            <a:chOff x="2348" y="2417"/>
            <a:chExt cx="1543" cy="279"/>
          </a:xfrm>
        </p:grpSpPr>
        <p:sp>
          <p:nvSpPr>
            <p:cNvPr id="47" name="Text Box 16"/>
            <p:cNvSpPr txBox="1">
              <a:spLocks noChangeArrowheads="1"/>
            </p:cNvSpPr>
            <p:nvPr/>
          </p:nvSpPr>
          <p:spPr bwMode="auto">
            <a:xfrm>
              <a:off x="2348" y="2417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8" name="Line 17"/>
            <p:cNvSpPr>
              <a:spLocks noChangeShapeType="1"/>
            </p:cNvSpPr>
            <p:nvPr/>
          </p:nvSpPr>
          <p:spPr bwMode="auto">
            <a:xfrm flipH="1">
              <a:off x="2682" y="2556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9" name="Group 18"/>
          <p:cNvGrpSpPr/>
          <p:nvPr/>
        </p:nvGrpSpPr>
        <p:grpSpPr bwMode="auto">
          <a:xfrm>
            <a:off x="4313113" y="3214142"/>
            <a:ext cx="2454275" cy="442913"/>
            <a:chOff x="2345" y="1628"/>
            <a:chExt cx="1546" cy="279"/>
          </a:xfrm>
        </p:grpSpPr>
        <p:sp>
          <p:nvSpPr>
            <p:cNvPr id="50" name="Text Box 19"/>
            <p:cNvSpPr txBox="1">
              <a:spLocks noChangeArrowheads="1"/>
            </p:cNvSpPr>
            <p:nvPr/>
          </p:nvSpPr>
          <p:spPr bwMode="auto">
            <a:xfrm>
              <a:off x="2345" y="162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1" name="Line 20"/>
            <p:cNvSpPr>
              <a:spLocks noChangeShapeType="1"/>
            </p:cNvSpPr>
            <p:nvPr/>
          </p:nvSpPr>
          <p:spPr bwMode="auto">
            <a:xfrm flipH="1">
              <a:off x="2682" y="1770"/>
              <a:ext cx="1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2" name="Line 21"/>
          <p:cNvSpPr>
            <a:spLocks noChangeShapeType="1"/>
          </p:cNvSpPr>
          <p:nvPr/>
        </p:nvSpPr>
        <p:spPr bwMode="auto">
          <a:xfrm>
            <a:off x="7627813" y="4033292"/>
            <a:ext cx="0" cy="2146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Text Box 22"/>
          <p:cNvSpPr txBox="1">
            <a:spLocks noChangeArrowheads="1"/>
          </p:cNvSpPr>
          <p:nvPr/>
        </p:nvSpPr>
        <p:spPr bwMode="auto">
          <a:xfrm>
            <a:off x="7327775" y="6181180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E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6470525" y="6181180"/>
            <a:ext cx="588963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300" i="1">
                <a:latin typeface="Arial" panose="020B0604020202020204"/>
                <a:cs typeface="Arial" panose="020B0604020202020204"/>
              </a:rPr>
              <a:t>Q</a:t>
            </a:r>
            <a:r>
              <a:rPr lang="en-US" sz="2300" i="1" baseline="-25000">
                <a:latin typeface="Arial" panose="020B0604020202020204"/>
                <a:cs typeface="Arial" panose="020B0604020202020204"/>
              </a:rPr>
              <a:t>T</a:t>
            </a:r>
            <a:endParaRPr lang="en-US" sz="2300" i="1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5" name="AutoShape 25"/>
          <p:cNvSpPr/>
          <p:nvPr/>
        </p:nvSpPr>
        <p:spPr bwMode="auto">
          <a:xfrm rot="5400000">
            <a:off x="7047582" y="5588248"/>
            <a:ext cx="306388" cy="860425"/>
          </a:xfrm>
          <a:prstGeom prst="leftBrace">
            <a:avLst>
              <a:gd name="adj1" fmla="val 41617"/>
              <a:gd name="adj2" fmla="val 50000"/>
            </a:avLst>
          </a:prstGeom>
          <a:noFill/>
          <a:ln w="2857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770573" y="1163587"/>
            <a:ext cx="5269607" cy="557778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习题：税收分析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251460" y="1556385"/>
            <a:ext cx="2484755" cy="5061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03225" indent="-403225">
              <a:lnSpc>
                <a:spcPct val="150000"/>
              </a:lnSpc>
              <a:spcBef>
                <a:spcPct val="6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A.	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计算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和无税总剩余。</a:t>
            </a:r>
            <a:r>
              <a:rPr lang="en-US" sz="24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sz="24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403225" indent="-403225">
              <a:lnSpc>
                <a:spcPct val="150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B.	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如果每张机票收税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元，计算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、税收、总剩余和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DWL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400" b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8" name="Group 16"/>
          <p:cNvGrpSpPr/>
          <p:nvPr/>
        </p:nvGrpSpPr>
        <p:grpSpPr bwMode="auto">
          <a:xfrm>
            <a:off x="4846067" y="1866850"/>
            <a:ext cx="4038600" cy="3098800"/>
            <a:chOff x="2843" y="973"/>
            <a:chExt cx="2544" cy="1952"/>
          </a:xfrm>
        </p:grpSpPr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5108" y="2685"/>
              <a:ext cx="279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843" y="973"/>
              <a:ext cx="2326" cy="177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19"/>
          <p:cNvGrpSpPr/>
          <p:nvPr/>
        </p:nvGrpSpPr>
        <p:grpSpPr bwMode="auto">
          <a:xfrm>
            <a:off x="4854004" y="3016200"/>
            <a:ext cx="3992563" cy="3116262"/>
            <a:chOff x="2848" y="1697"/>
            <a:chExt cx="2515" cy="1963"/>
          </a:xfrm>
        </p:grpSpPr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5091" y="1697"/>
              <a:ext cx="27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rot="5400000">
              <a:off x="3122" y="1620"/>
              <a:ext cx="1766" cy="231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4" name="Group 22"/>
          <p:cNvGrpSpPr/>
          <p:nvPr/>
        </p:nvGrpSpPr>
        <p:grpSpPr bwMode="auto">
          <a:xfrm>
            <a:off x="2881630" y="1025525"/>
            <a:ext cx="6454140" cy="6076315"/>
            <a:chOff x="2196" y="575"/>
            <a:chExt cx="3475" cy="3744"/>
          </a:xfrm>
        </p:grpSpPr>
        <p:grpSp>
          <p:nvGrpSpPr>
            <p:cNvPr id="25" name="Group 23"/>
            <p:cNvGrpSpPr/>
            <p:nvPr/>
          </p:nvGrpSpPr>
          <p:grpSpPr bwMode="auto">
            <a:xfrm>
              <a:off x="2338" y="575"/>
              <a:ext cx="3333" cy="3744"/>
              <a:chOff x="2338" y="575"/>
              <a:chExt cx="3333" cy="3744"/>
            </a:xfrm>
          </p:grpSpPr>
          <p:graphicFrame>
            <p:nvGraphicFramePr>
              <p:cNvPr id="27" name="Object 24"/>
              <p:cNvGraphicFramePr>
                <a:graphicFrameLocks noChangeAspect="1"/>
              </p:cNvGraphicFramePr>
              <p:nvPr/>
            </p:nvGraphicFramePr>
            <p:xfrm>
              <a:off x="2338" y="575"/>
              <a:ext cx="3333" cy="37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78" name="Worksheet" r:id="rId1" imgW="4524375" imgH="5086350" progId="Excel.Sheet.8">
                      <p:embed/>
                    </p:oleObj>
                  </mc:Choice>
                  <mc:Fallback>
                    <p:oleObj name="Worksheet" r:id="rId1" imgW="4524375" imgH="5086350" progId="Excel.Sheet.8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8" y="575"/>
                            <a:ext cx="3333" cy="37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2639" y="577"/>
                <a:ext cx="426" cy="2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 dirty="0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i="1" dirty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9" name="Text Box 26"/>
              <p:cNvSpPr txBox="1">
                <a:spLocks noChangeArrowheads="1"/>
              </p:cNvSpPr>
              <p:nvPr/>
            </p:nvSpPr>
            <p:spPr bwMode="auto">
              <a:xfrm>
                <a:off x="5169" y="3534"/>
                <a:ext cx="359" cy="23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2196" y="825"/>
              <a:ext cx="224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endParaRPr lang="en-US" sz="2200" b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5229666" y="641967"/>
            <a:ext cx="2490787" cy="4770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0" dirty="0">
                <a:latin typeface="Arial" panose="020B0604020202020204"/>
                <a:cs typeface="Arial" panose="020B0604020202020204"/>
              </a:rPr>
              <a:t>机票市场</a:t>
            </a:r>
            <a:endParaRPr lang="en-US" sz="2500" b="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536828" y="1136724"/>
            <a:ext cx="5529016" cy="560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习题：税收分析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172044" y="1472578"/>
            <a:ext cx="2917825" cy="5103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03225" indent="-403225">
              <a:lnSpc>
                <a:spcPct val="150000"/>
              </a:lnSpc>
              <a:spcBef>
                <a:spcPct val="6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endParaRPr lang="en-US" sz="2700" b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5098598" y="641967"/>
            <a:ext cx="2490787" cy="4770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0" dirty="0">
                <a:latin typeface="Arial" panose="020B0604020202020204"/>
                <a:cs typeface="Arial" panose="020B0604020202020204"/>
              </a:rPr>
              <a:t>机票市场</a:t>
            </a:r>
            <a:endParaRPr lang="en-US" sz="2500" b="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Group 9"/>
          <p:cNvGrpSpPr/>
          <p:nvPr/>
        </p:nvGrpSpPr>
        <p:grpSpPr bwMode="auto">
          <a:xfrm>
            <a:off x="4951041" y="1794842"/>
            <a:ext cx="4038600" cy="3098800"/>
            <a:chOff x="2843" y="973"/>
            <a:chExt cx="2544" cy="1952"/>
          </a:xfrm>
        </p:grpSpPr>
        <p:sp>
          <p:nvSpPr>
            <p:cNvPr id="4" name="Text Box 10"/>
            <p:cNvSpPr txBox="1">
              <a:spLocks noChangeArrowheads="1"/>
            </p:cNvSpPr>
            <p:nvPr/>
          </p:nvSpPr>
          <p:spPr bwMode="auto">
            <a:xfrm>
              <a:off x="5108" y="2685"/>
              <a:ext cx="279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" name="Line 11"/>
            <p:cNvSpPr>
              <a:spLocks noChangeShapeType="1"/>
            </p:cNvSpPr>
            <p:nvPr/>
          </p:nvSpPr>
          <p:spPr bwMode="auto">
            <a:xfrm>
              <a:off x="2843" y="973"/>
              <a:ext cx="2326" cy="177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12"/>
          <p:cNvGrpSpPr/>
          <p:nvPr/>
        </p:nvGrpSpPr>
        <p:grpSpPr bwMode="auto">
          <a:xfrm>
            <a:off x="4958978" y="2944192"/>
            <a:ext cx="3992563" cy="3116262"/>
            <a:chOff x="2848" y="1697"/>
            <a:chExt cx="2515" cy="1963"/>
          </a:xfrm>
        </p:grpSpPr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5091" y="1697"/>
              <a:ext cx="27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 rot="5400000">
              <a:off x="3122" y="1620"/>
              <a:ext cx="1766" cy="231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16"/>
          <p:cNvGrpSpPr/>
          <p:nvPr/>
        </p:nvGrpSpPr>
        <p:grpSpPr bwMode="auto">
          <a:xfrm>
            <a:off x="3923928" y="1091579"/>
            <a:ext cx="5289550" cy="5865813"/>
            <a:chOff x="2196" y="530"/>
            <a:chExt cx="3332" cy="3695"/>
          </a:xfrm>
        </p:grpSpPr>
        <p:grpSp>
          <p:nvGrpSpPr>
            <p:cNvPr id="11" name="Group 17"/>
            <p:cNvGrpSpPr/>
            <p:nvPr/>
          </p:nvGrpSpPr>
          <p:grpSpPr bwMode="auto">
            <a:xfrm>
              <a:off x="2233" y="530"/>
              <a:ext cx="3295" cy="3695"/>
              <a:chOff x="2233" y="530"/>
              <a:chExt cx="3295" cy="3695"/>
            </a:xfrm>
          </p:grpSpPr>
          <p:graphicFrame>
            <p:nvGraphicFramePr>
              <p:cNvPr id="13" name="Object 18"/>
              <p:cNvGraphicFramePr>
                <a:graphicFrameLocks noChangeAspect="1"/>
              </p:cNvGraphicFramePr>
              <p:nvPr/>
            </p:nvGraphicFramePr>
            <p:xfrm>
              <a:off x="2233" y="530"/>
              <a:ext cx="3284" cy="36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78" name="Worksheet" r:id="rId1" imgW="3855085" imgH="4341495" progId="Excel.Sheet.8">
                      <p:embed/>
                    </p:oleObj>
                  </mc:Choice>
                  <mc:Fallback>
                    <p:oleObj name="Worksheet" r:id="rId1" imgW="3855085" imgH="4341495" progId="Excel.Sheet.8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3" y="530"/>
                            <a:ext cx="3284" cy="36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Text Box 19"/>
              <p:cNvSpPr txBox="1">
                <a:spLocks noChangeArrowheads="1"/>
              </p:cNvSpPr>
              <p:nvPr/>
            </p:nvSpPr>
            <p:spPr bwMode="auto">
              <a:xfrm>
                <a:off x="2639" y="575"/>
                <a:ext cx="426" cy="2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Text Box 20"/>
              <p:cNvSpPr txBox="1">
                <a:spLocks noChangeArrowheads="1"/>
              </p:cNvSpPr>
              <p:nvPr/>
            </p:nvSpPr>
            <p:spPr bwMode="auto">
              <a:xfrm>
                <a:off x="5169" y="3532"/>
                <a:ext cx="359" cy="2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2196" y="825"/>
              <a:ext cx="224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endParaRPr lang="en-US" sz="2200" b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" name="AutoShape 24"/>
          <p:cNvSpPr>
            <a:spLocks noChangeArrowheads="1"/>
          </p:cNvSpPr>
          <p:nvPr/>
        </p:nvSpPr>
        <p:spPr bwMode="auto">
          <a:xfrm>
            <a:off x="4965328" y="1837704"/>
            <a:ext cx="2714625" cy="2076450"/>
          </a:xfrm>
          <a:prstGeom prst="rtTriangle">
            <a:avLst/>
          </a:prstGeom>
          <a:solidFill>
            <a:srgbClr val="FFFF00">
              <a:alpha val="50195"/>
            </a:srgbClr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AutoShape 25"/>
          <p:cNvSpPr>
            <a:spLocks noChangeArrowheads="1"/>
          </p:cNvSpPr>
          <p:nvPr/>
        </p:nvSpPr>
        <p:spPr bwMode="auto">
          <a:xfrm flipV="1">
            <a:off x="4968503" y="3934792"/>
            <a:ext cx="2719388" cy="2087562"/>
          </a:xfrm>
          <a:prstGeom prst="rtTriangle">
            <a:avLst/>
          </a:prstGeom>
          <a:solidFill>
            <a:srgbClr val="00FF00">
              <a:alpha val="50195"/>
            </a:srgbClr>
          </a:solidFill>
          <a:ln w="28575">
            <a:noFill/>
            <a:miter lim="800000"/>
          </a:ln>
        </p:spPr>
        <p:txBody>
          <a:bodyPr rot="10800000"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AutoShape 26"/>
          <p:cNvSpPr>
            <a:spLocks noChangeArrowheads="1"/>
          </p:cNvSpPr>
          <p:nvPr/>
        </p:nvSpPr>
        <p:spPr bwMode="auto">
          <a:xfrm rot="5400000">
            <a:off x="4270003" y="2583829"/>
            <a:ext cx="4130675" cy="2695575"/>
          </a:xfrm>
          <a:prstGeom prst="triangle">
            <a:avLst>
              <a:gd name="adj" fmla="val 49843"/>
            </a:avLst>
          </a:prstGeom>
          <a:noFill/>
          <a:ln w="50800">
            <a:solidFill>
              <a:srgbClr val="FF9900"/>
            </a:solidFill>
            <a:miter lim="800000"/>
          </a:ln>
        </p:spPr>
        <p:txBody>
          <a:bodyPr rot="10800000" vert="eaVert"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2" name="Group 27"/>
          <p:cNvGrpSpPr/>
          <p:nvPr/>
        </p:nvGrpSpPr>
        <p:grpSpPr bwMode="auto">
          <a:xfrm>
            <a:off x="3498875" y="3675390"/>
            <a:ext cx="4559301" cy="3028950"/>
            <a:chOff x="1919" y="2161"/>
            <a:chExt cx="2872" cy="1908"/>
          </a:xfrm>
        </p:grpSpPr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1919" y="2161"/>
              <a:ext cx="470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300" i="1" dirty="0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b="0" dirty="0">
                  <a:latin typeface="Arial" panose="020B0604020202020204"/>
                  <a:cs typeface="Arial" panose="020B0604020202020204"/>
                </a:rPr>
                <a:t> =</a:t>
              </a:r>
              <a:endParaRPr lang="en-US" sz="2300" i="1" baseline="-25000" dirty="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35" name="Group 29"/>
            <p:cNvGrpSpPr/>
            <p:nvPr/>
          </p:nvGrpSpPr>
          <p:grpSpPr bwMode="auto">
            <a:xfrm>
              <a:off x="2020" y="2172"/>
              <a:ext cx="2771" cy="1897"/>
              <a:chOff x="2020" y="2172"/>
              <a:chExt cx="2771" cy="1897"/>
            </a:xfrm>
          </p:grpSpPr>
          <p:sp>
            <p:nvSpPr>
              <p:cNvPr id="36" name="Line 30"/>
              <p:cNvSpPr>
                <a:spLocks noChangeShapeType="1"/>
              </p:cNvSpPr>
              <p:nvPr/>
            </p:nvSpPr>
            <p:spPr bwMode="auto">
              <a:xfrm>
                <a:off x="2841" y="2313"/>
                <a:ext cx="175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Line 31"/>
              <p:cNvSpPr>
                <a:spLocks noChangeShapeType="1"/>
              </p:cNvSpPr>
              <p:nvPr/>
            </p:nvSpPr>
            <p:spPr bwMode="auto">
              <a:xfrm flipH="1">
                <a:off x="4599" y="2313"/>
                <a:ext cx="3" cy="135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8" name="Rectangle 32"/>
              <p:cNvSpPr>
                <a:spLocks noChangeArrowheads="1"/>
              </p:cNvSpPr>
              <p:nvPr/>
            </p:nvSpPr>
            <p:spPr bwMode="auto">
              <a:xfrm>
                <a:off x="2020" y="2172"/>
                <a:ext cx="721" cy="25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9" name="Rectangle 33"/>
              <p:cNvSpPr>
                <a:spLocks noChangeArrowheads="1"/>
              </p:cNvSpPr>
              <p:nvPr/>
            </p:nvSpPr>
            <p:spPr bwMode="auto">
              <a:xfrm>
                <a:off x="4420" y="3800"/>
                <a:ext cx="371" cy="26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0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42" name="文本框 41"/>
          <p:cNvSpPr txBox="1"/>
          <p:nvPr/>
        </p:nvSpPr>
        <p:spPr>
          <a:xfrm>
            <a:off x="233045" y="1717675"/>
            <a:ext cx="2761615" cy="15386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ct val="15000"/>
              </a:spcBef>
            </a:pPr>
            <a:r>
              <a:rPr lang="en-US" altLang="zh-CN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</a:t>
            </a:r>
            <a:endParaRPr lang="en-US" altLang="zh-CN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altLang="zh-CN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½ x 200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altLang="zh-CN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x 100</a:t>
            </a:r>
            <a:endParaRPr lang="en-US" altLang="zh-CN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altLang="zh-CN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altLang="zh-CN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10,000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" name="Text Box 23"/>
          <p:cNvSpPr txBox="1">
            <a:spLocks noChangeArrowheads="1"/>
          </p:cNvSpPr>
          <p:nvPr/>
        </p:nvSpPr>
        <p:spPr bwMode="auto">
          <a:xfrm>
            <a:off x="233014" y="3121231"/>
            <a:ext cx="3019425" cy="1208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½ x 200 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100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10,000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4" name="Text Box 22"/>
          <p:cNvSpPr txBox="1">
            <a:spLocks noChangeArrowheads="1"/>
          </p:cNvSpPr>
          <p:nvPr/>
        </p:nvSpPr>
        <p:spPr bwMode="auto">
          <a:xfrm>
            <a:off x="233014" y="4609480"/>
            <a:ext cx="3370262" cy="12388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剩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余</a:t>
            </a:r>
            <a:endParaRPr lang="en-US" altLang="zh-CN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10,000 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+ 10,000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20,000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5"/>
      <p:bldP spid="16" grpId="0" animBg="1"/>
      <p:bldP spid="17" grpId="0" animBg="1"/>
      <p:bldP spid="31" grpId="0" animBg="1"/>
      <p:bldP spid="43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3536828" y="1136724"/>
            <a:ext cx="5529016" cy="56046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习题：税收分析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8" name="Text Box 56"/>
          <p:cNvSpPr txBox="1">
            <a:spLocks noChangeArrowheads="1"/>
          </p:cNvSpPr>
          <p:nvPr/>
        </p:nvSpPr>
        <p:spPr bwMode="auto">
          <a:xfrm>
            <a:off x="600075" y="1427163"/>
            <a:ext cx="2668588" cy="1208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CS 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½ x 150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x 75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5,625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9" name="Text Box 63"/>
          <p:cNvSpPr txBox="1">
            <a:spLocks noChangeArrowheads="1"/>
          </p:cNvSpPr>
          <p:nvPr/>
        </p:nvSpPr>
        <p:spPr bwMode="auto">
          <a:xfrm>
            <a:off x="669925" y="4968604"/>
            <a:ext cx="2157413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总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剩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余</a:t>
            </a:r>
            <a:b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18,750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" name="Text Box 64"/>
          <p:cNvSpPr txBox="1">
            <a:spLocks noChangeArrowheads="1"/>
          </p:cNvSpPr>
          <p:nvPr/>
        </p:nvSpPr>
        <p:spPr bwMode="auto">
          <a:xfrm>
            <a:off x="611508" y="2824688"/>
            <a:ext cx="2157413" cy="4298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PS 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5,625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" name="Text Box 65"/>
          <p:cNvSpPr txBox="1">
            <a:spLocks noChangeArrowheads="1"/>
          </p:cNvSpPr>
          <p:nvPr/>
        </p:nvSpPr>
        <p:spPr bwMode="auto">
          <a:xfrm>
            <a:off x="611508" y="3443538"/>
            <a:ext cx="2039937" cy="1208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税收收入</a:t>
            </a: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100 </a:t>
            </a:r>
            <a:r>
              <a:rPr lang="zh-CN" alt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x 75</a:t>
            </a:r>
            <a:endParaRPr lang="en-US" sz="2200" b="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7,500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" name="Text Box 66"/>
          <p:cNvSpPr txBox="1">
            <a:spLocks noChangeArrowheads="1"/>
          </p:cNvSpPr>
          <p:nvPr/>
        </p:nvSpPr>
        <p:spPr bwMode="auto">
          <a:xfrm>
            <a:off x="651669" y="5838105"/>
            <a:ext cx="2360613" cy="4298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</a:pPr>
            <a:r>
              <a:rPr lang="en-US" sz="2200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DWL = </a:t>
            </a:r>
            <a:r>
              <a:rPr 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1,250</a:t>
            </a:r>
            <a:r>
              <a:rPr lang="zh-CN" altLang="en-US" sz="2200" b="0" u="sng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元</a:t>
            </a:r>
            <a:endParaRPr lang="zh-CN" altLang="en-US" sz="2200" b="0" u="sng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3" name="Group 50"/>
          <p:cNvGrpSpPr/>
          <p:nvPr/>
        </p:nvGrpSpPr>
        <p:grpSpPr bwMode="auto">
          <a:xfrm>
            <a:off x="5062091" y="1729334"/>
            <a:ext cx="4038600" cy="3098800"/>
            <a:chOff x="2843" y="973"/>
            <a:chExt cx="2544" cy="1952"/>
          </a:xfrm>
        </p:grpSpPr>
        <p:sp>
          <p:nvSpPr>
            <p:cNvPr id="24" name="Text Box 51"/>
            <p:cNvSpPr txBox="1">
              <a:spLocks noChangeArrowheads="1"/>
            </p:cNvSpPr>
            <p:nvPr/>
          </p:nvSpPr>
          <p:spPr bwMode="auto">
            <a:xfrm>
              <a:off x="5108" y="2685"/>
              <a:ext cx="279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52"/>
            <p:cNvSpPr>
              <a:spLocks noChangeShapeType="1"/>
            </p:cNvSpPr>
            <p:nvPr/>
          </p:nvSpPr>
          <p:spPr bwMode="auto">
            <a:xfrm>
              <a:off x="2843" y="973"/>
              <a:ext cx="2326" cy="177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53"/>
          <p:cNvGrpSpPr/>
          <p:nvPr/>
        </p:nvGrpSpPr>
        <p:grpSpPr bwMode="auto">
          <a:xfrm>
            <a:off x="5070028" y="2878684"/>
            <a:ext cx="3992563" cy="3116262"/>
            <a:chOff x="2848" y="1697"/>
            <a:chExt cx="2515" cy="1963"/>
          </a:xfrm>
        </p:grpSpPr>
        <p:sp>
          <p:nvSpPr>
            <p:cNvPr id="27" name="Text Box 54"/>
            <p:cNvSpPr txBox="1">
              <a:spLocks noChangeArrowheads="1"/>
            </p:cNvSpPr>
            <p:nvPr/>
          </p:nvSpPr>
          <p:spPr bwMode="auto">
            <a:xfrm>
              <a:off x="5091" y="1697"/>
              <a:ext cx="272" cy="2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5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5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Line 55"/>
            <p:cNvSpPr>
              <a:spLocks noChangeShapeType="1"/>
            </p:cNvSpPr>
            <p:nvPr/>
          </p:nvSpPr>
          <p:spPr bwMode="auto">
            <a:xfrm rot="5400000">
              <a:off x="3122" y="1620"/>
              <a:ext cx="1766" cy="2313"/>
            </a:xfrm>
            <a:prstGeom prst="line">
              <a:avLst/>
            </a:prstGeom>
            <a:noFill/>
            <a:ln w="44450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9" name="Group 57"/>
          <p:cNvGrpSpPr/>
          <p:nvPr/>
        </p:nvGrpSpPr>
        <p:grpSpPr bwMode="auto">
          <a:xfrm>
            <a:off x="4034978" y="1026071"/>
            <a:ext cx="5289550" cy="5865813"/>
            <a:chOff x="2196" y="530"/>
            <a:chExt cx="3332" cy="3695"/>
          </a:xfrm>
        </p:grpSpPr>
        <p:grpSp>
          <p:nvGrpSpPr>
            <p:cNvPr id="40" name="Group 58"/>
            <p:cNvGrpSpPr/>
            <p:nvPr/>
          </p:nvGrpSpPr>
          <p:grpSpPr bwMode="auto">
            <a:xfrm>
              <a:off x="2233" y="530"/>
              <a:ext cx="3295" cy="3695"/>
              <a:chOff x="2233" y="530"/>
              <a:chExt cx="3295" cy="3695"/>
            </a:xfrm>
          </p:grpSpPr>
          <p:graphicFrame>
            <p:nvGraphicFramePr>
              <p:cNvPr id="45" name="Object 59"/>
              <p:cNvGraphicFramePr>
                <a:graphicFrameLocks noChangeAspect="1"/>
              </p:cNvGraphicFramePr>
              <p:nvPr/>
            </p:nvGraphicFramePr>
            <p:xfrm>
              <a:off x="2233" y="530"/>
              <a:ext cx="3284" cy="36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78" name="Worksheet" r:id="rId1" imgW="3855085" imgH="4341495" progId="Excel.Sheet.8">
                      <p:embed/>
                    </p:oleObj>
                  </mc:Choice>
                  <mc:Fallback>
                    <p:oleObj name="Worksheet" r:id="rId1" imgW="3855085" imgH="4341495" progId="Excel.Sheet.8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33" y="530"/>
                            <a:ext cx="3284" cy="36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Text Box 60"/>
              <p:cNvSpPr txBox="1">
                <a:spLocks noChangeArrowheads="1"/>
              </p:cNvSpPr>
              <p:nvPr/>
            </p:nvSpPr>
            <p:spPr bwMode="auto">
              <a:xfrm>
                <a:off x="2639" y="575"/>
                <a:ext cx="426" cy="2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5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7" name="Text Box 61"/>
              <p:cNvSpPr txBox="1">
                <a:spLocks noChangeArrowheads="1"/>
              </p:cNvSpPr>
              <p:nvPr/>
            </p:nvSpPr>
            <p:spPr bwMode="auto">
              <a:xfrm>
                <a:off x="5169" y="3532"/>
                <a:ext cx="359" cy="2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5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5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1" name="Text Box 62"/>
            <p:cNvSpPr txBox="1">
              <a:spLocks noChangeArrowheads="1"/>
            </p:cNvSpPr>
            <p:nvPr/>
          </p:nvSpPr>
          <p:spPr bwMode="auto">
            <a:xfrm>
              <a:off x="2196" y="825"/>
              <a:ext cx="224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endParaRPr lang="en-US" sz="2200" b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8" name="AutoShape 67"/>
          <p:cNvSpPr>
            <a:spLocks noChangeArrowheads="1"/>
          </p:cNvSpPr>
          <p:nvPr/>
        </p:nvSpPr>
        <p:spPr bwMode="auto">
          <a:xfrm>
            <a:off x="5076378" y="1772196"/>
            <a:ext cx="2041525" cy="1558925"/>
          </a:xfrm>
          <a:prstGeom prst="rtTriangle">
            <a:avLst/>
          </a:prstGeom>
          <a:solidFill>
            <a:srgbClr val="FFFF00">
              <a:alpha val="50195"/>
            </a:srgbClr>
          </a:solidFill>
          <a:ln w="2857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AutoShape 68"/>
          <p:cNvSpPr>
            <a:spLocks noChangeArrowheads="1"/>
          </p:cNvSpPr>
          <p:nvPr/>
        </p:nvSpPr>
        <p:spPr bwMode="auto">
          <a:xfrm flipV="1">
            <a:off x="5079553" y="4402684"/>
            <a:ext cx="2046288" cy="1554162"/>
          </a:xfrm>
          <a:prstGeom prst="rtTriangle">
            <a:avLst/>
          </a:prstGeom>
          <a:solidFill>
            <a:srgbClr val="00FF00">
              <a:alpha val="50195"/>
            </a:srgbClr>
          </a:solidFill>
          <a:ln w="28575">
            <a:noFill/>
            <a:miter lim="800000"/>
          </a:ln>
        </p:spPr>
        <p:txBody>
          <a:bodyPr rot="10800000"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Rectangle 69"/>
          <p:cNvSpPr>
            <a:spLocks noChangeArrowheads="1"/>
          </p:cNvSpPr>
          <p:nvPr/>
        </p:nvSpPr>
        <p:spPr bwMode="auto">
          <a:xfrm>
            <a:off x="5073203" y="3340646"/>
            <a:ext cx="2079625" cy="1055688"/>
          </a:xfrm>
          <a:prstGeom prst="rect">
            <a:avLst/>
          </a:prstGeom>
          <a:solidFill>
            <a:srgbClr val="FF0000">
              <a:alpha val="30196"/>
            </a:srgbClr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1" name="Group 70"/>
          <p:cNvGrpSpPr/>
          <p:nvPr/>
        </p:nvGrpSpPr>
        <p:grpSpPr bwMode="auto">
          <a:xfrm>
            <a:off x="5097016" y="1781721"/>
            <a:ext cx="2046287" cy="4162425"/>
            <a:chOff x="2857" y="999"/>
            <a:chExt cx="1289" cy="2622"/>
          </a:xfrm>
        </p:grpSpPr>
        <p:sp>
          <p:nvSpPr>
            <p:cNvPr id="52" name="Line 71"/>
            <p:cNvSpPr>
              <a:spLocks noChangeShapeType="1"/>
            </p:cNvSpPr>
            <p:nvPr/>
          </p:nvSpPr>
          <p:spPr bwMode="auto">
            <a:xfrm>
              <a:off x="2865" y="999"/>
              <a:ext cx="0" cy="2621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3" name="Line 72"/>
            <p:cNvSpPr>
              <a:spLocks noChangeShapeType="1"/>
            </p:cNvSpPr>
            <p:nvPr/>
          </p:nvSpPr>
          <p:spPr bwMode="auto">
            <a:xfrm flipV="1">
              <a:off x="2857" y="2631"/>
              <a:ext cx="1289" cy="990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4" name="Line 73"/>
            <p:cNvSpPr>
              <a:spLocks noChangeShapeType="1"/>
            </p:cNvSpPr>
            <p:nvPr/>
          </p:nvSpPr>
          <p:spPr bwMode="auto">
            <a:xfrm>
              <a:off x="4142" y="2005"/>
              <a:ext cx="0" cy="641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5" name="Line 74"/>
            <p:cNvSpPr>
              <a:spLocks noChangeShapeType="1"/>
            </p:cNvSpPr>
            <p:nvPr/>
          </p:nvSpPr>
          <p:spPr bwMode="auto">
            <a:xfrm>
              <a:off x="2857" y="1012"/>
              <a:ext cx="1282" cy="988"/>
            </a:xfrm>
            <a:prstGeom prst="line">
              <a:avLst/>
            </a:prstGeom>
            <a:noFill/>
            <a:ln w="50800">
              <a:solidFill>
                <a:srgbClr val="FF99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6" name="AutoShape 75"/>
          <p:cNvSpPr>
            <a:spLocks noChangeArrowheads="1"/>
          </p:cNvSpPr>
          <p:nvPr/>
        </p:nvSpPr>
        <p:spPr bwMode="auto">
          <a:xfrm rot="5400000">
            <a:off x="6998840" y="3534322"/>
            <a:ext cx="995363" cy="658812"/>
          </a:xfrm>
          <a:prstGeom prst="triangle">
            <a:avLst>
              <a:gd name="adj" fmla="val 50319"/>
            </a:avLst>
          </a:prstGeom>
          <a:solidFill>
            <a:srgbClr val="3366FF">
              <a:alpha val="39999"/>
            </a:srgbClr>
          </a:solidFill>
          <a:ln w="38100">
            <a:noFill/>
            <a:miter lim="800000"/>
          </a:ln>
        </p:spPr>
        <p:txBody>
          <a:bodyPr rot="10800000" vert="eaVert"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7" name="Group 76"/>
          <p:cNvGrpSpPr/>
          <p:nvPr/>
        </p:nvGrpSpPr>
        <p:grpSpPr bwMode="auto">
          <a:xfrm>
            <a:off x="6913116" y="3332709"/>
            <a:ext cx="498475" cy="3311525"/>
            <a:chOff x="4009" y="1983"/>
            <a:chExt cx="314" cy="2086"/>
          </a:xfrm>
        </p:grpSpPr>
        <p:sp>
          <p:nvSpPr>
            <p:cNvPr id="58" name="Rectangle 77"/>
            <p:cNvSpPr>
              <a:spLocks noChangeArrowheads="1"/>
            </p:cNvSpPr>
            <p:nvPr/>
          </p:nvSpPr>
          <p:spPr bwMode="auto">
            <a:xfrm>
              <a:off x="4009" y="3800"/>
              <a:ext cx="314" cy="26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9" name="Line 78"/>
            <p:cNvSpPr>
              <a:spLocks noChangeShapeType="1"/>
            </p:cNvSpPr>
            <p:nvPr/>
          </p:nvSpPr>
          <p:spPr bwMode="auto">
            <a:xfrm>
              <a:off x="4164" y="1983"/>
              <a:ext cx="2" cy="168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0" name="Group 79"/>
          <p:cNvGrpSpPr/>
          <p:nvPr/>
        </p:nvGrpSpPr>
        <p:grpSpPr bwMode="auto">
          <a:xfrm>
            <a:off x="3506341" y="4137571"/>
            <a:ext cx="3654425" cy="496888"/>
            <a:chOff x="1863" y="2490"/>
            <a:chExt cx="2302" cy="313"/>
          </a:xfrm>
        </p:grpSpPr>
        <p:sp>
          <p:nvSpPr>
            <p:cNvPr id="61" name="Text Box 80"/>
            <p:cNvSpPr txBox="1">
              <a:spLocks noChangeArrowheads="1"/>
            </p:cNvSpPr>
            <p:nvPr/>
          </p:nvSpPr>
          <p:spPr bwMode="auto">
            <a:xfrm>
              <a:off x="1863" y="2500"/>
              <a:ext cx="537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300" b="0">
                  <a:latin typeface="Arial" panose="020B0604020202020204"/>
                  <a:cs typeface="Arial" panose="020B0604020202020204"/>
                </a:rPr>
                <a:t> =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2" name="Group 81"/>
            <p:cNvGrpSpPr/>
            <p:nvPr/>
          </p:nvGrpSpPr>
          <p:grpSpPr bwMode="auto">
            <a:xfrm>
              <a:off x="1928" y="2490"/>
              <a:ext cx="2237" cy="313"/>
              <a:chOff x="1928" y="2490"/>
              <a:chExt cx="2237" cy="313"/>
            </a:xfrm>
          </p:grpSpPr>
          <p:sp>
            <p:nvSpPr>
              <p:cNvPr id="63" name="Rectangle 82"/>
              <p:cNvSpPr>
                <a:spLocks noChangeArrowheads="1"/>
              </p:cNvSpPr>
              <p:nvPr/>
            </p:nvSpPr>
            <p:spPr bwMode="auto">
              <a:xfrm>
                <a:off x="1928" y="2490"/>
                <a:ext cx="798" cy="313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4" name="Line 83"/>
              <p:cNvSpPr>
                <a:spLocks noChangeShapeType="1"/>
              </p:cNvSpPr>
              <p:nvPr/>
            </p:nvSpPr>
            <p:spPr bwMode="auto">
              <a:xfrm>
                <a:off x="2846" y="2651"/>
                <a:ext cx="1319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grpSp>
        <p:nvGrpSpPr>
          <p:cNvPr id="65" name="Group 84"/>
          <p:cNvGrpSpPr/>
          <p:nvPr/>
        </p:nvGrpSpPr>
        <p:grpSpPr bwMode="auto">
          <a:xfrm>
            <a:off x="3512691" y="3089821"/>
            <a:ext cx="3643312" cy="477838"/>
            <a:chOff x="1867" y="1830"/>
            <a:chExt cx="2295" cy="301"/>
          </a:xfrm>
        </p:grpSpPr>
        <p:sp>
          <p:nvSpPr>
            <p:cNvPr id="66" name="Text Box 85"/>
            <p:cNvSpPr txBox="1">
              <a:spLocks noChangeArrowheads="1"/>
            </p:cNvSpPr>
            <p:nvPr/>
          </p:nvSpPr>
          <p:spPr bwMode="auto">
            <a:xfrm>
              <a:off x="1867" y="1837"/>
              <a:ext cx="537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r>
                <a:rPr lang="en-US" sz="2300" b="0">
                  <a:latin typeface="Arial" panose="020B0604020202020204"/>
                  <a:cs typeface="Arial" panose="020B0604020202020204"/>
                </a:rPr>
                <a:t> =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67" name="Group 86"/>
            <p:cNvGrpSpPr/>
            <p:nvPr/>
          </p:nvGrpSpPr>
          <p:grpSpPr bwMode="auto">
            <a:xfrm>
              <a:off x="1920" y="1830"/>
              <a:ext cx="2242" cy="301"/>
              <a:chOff x="1920" y="1830"/>
              <a:chExt cx="2242" cy="301"/>
            </a:xfrm>
          </p:grpSpPr>
          <p:sp>
            <p:nvSpPr>
              <p:cNvPr id="68" name="Rectangle 87"/>
              <p:cNvSpPr>
                <a:spLocks noChangeArrowheads="1"/>
              </p:cNvSpPr>
              <p:nvPr/>
            </p:nvSpPr>
            <p:spPr bwMode="auto">
              <a:xfrm>
                <a:off x="1920" y="1830"/>
                <a:ext cx="810" cy="301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miter lim="800000"/>
              </a:ln>
            </p:spPr>
            <p:txBody>
              <a:bodyPr wrap="none" anchor="ctr"/>
              <a:lstStyle/>
              <a:p>
                <a:endParaRPr lang="en-US" b="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9" name="Line 88"/>
              <p:cNvSpPr>
                <a:spLocks noChangeShapeType="1"/>
              </p:cNvSpPr>
              <p:nvPr/>
            </p:nvSpPr>
            <p:spPr bwMode="auto">
              <a:xfrm>
                <a:off x="2846" y="1983"/>
                <a:ext cx="1316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70" name="Text Box 49"/>
          <p:cNvSpPr txBox="1">
            <a:spLocks noChangeArrowheads="1"/>
          </p:cNvSpPr>
          <p:nvPr/>
        </p:nvSpPr>
        <p:spPr bwMode="auto">
          <a:xfrm>
            <a:off x="5363210" y="727710"/>
            <a:ext cx="2916555" cy="47561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500" b="0" dirty="0">
                <a:latin typeface="Arial" panose="020B0604020202020204"/>
                <a:cs typeface="Arial" panose="020B0604020202020204"/>
              </a:rPr>
              <a:t>100</a:t>
            </a:r>
            <a:r>
              <a:rPr lang="zh-CN" altLang="en-US" sz="2500" b="0" dirty="0">
                <a:latin typeface="Arial" panose="020B0604020202020204"/>
                <a:cs typeface="Arial" panose="020B0604020202020204"/>
              </a:rPr>
              <a:t>元</a:t>
            </a:r>
            <a:r>
              <a:rPr lang="en-US" altLang="zh-CN" sz="2500" b="0" dirty="0">
                <a:latin typeface="Arial" panose="020B0604020202020204"/>
                <a:cs typeface="Arial" panose="020B0604020202020204"/>
              </a:rPr>
              <a:t>/</a:t>
            </a:r>
            <a:r>
              <a:rPr lang="zh-CN" altLang="en-US" sz="2500" b="0" dirty="0">
                <a:latin typeface="Arial" panose="020B0604020202020204"/>
                <a:cs typeface="Arial" panose="020B0604020202020204"/>
              </a:rPr>
              <a:t>张的机票税</a:t>
            </a:r>
            <a:endParaRPr lang="en-US" sz="2500" b="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48" grpId="0" animBg="1"/>
      <p:bldP spid="49" grpId="0" animBg="1"/>
      <p:bldP spid="50" grpId="0" animBg="1"/>
      <p:bldP spid="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408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什么决定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的大小？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552" y="1476478"/>
            <a:ext cx="8064896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政府应该对哪些商品或服务征税以增加施政所需的资金？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最小的那些商品和服务。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什么时候小、什么时候大？事实证明，这取决于供求的价格弹性。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复习一下：需求（或供给）的价格弹性衡量了当</a:t>
            </a:r>
            <a:r>
              <a:rPr lang="en-US" altLang="zh-CN" sz="2800" dirty="0">
                <a:solidFill>
                  <a:srgbClr val="002060"/>
                </a:solidFill>
              </a:rPr>
              <a:t> </a:t>
            </a:r>
            <a:r>
              <a:rPr lang="en-US" altLang="zh-CN" sz="2800" b="1" i="1" dirty="0">
                <a:solidFill>
                  <a:srgbClr val="002060"/>
                </a:solidFill>
              </a:rPr>
              <a:t>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变化时 </a:t>
            </a:r>
            <a:r>
              <a:rPr lang="en-US" altLang="zh-CN" sz="2800" b="1" i="1" dirty="0">
                <a:solidFill>
                  <a:srgbClr val="002060"/>
                </a:solidFill>
              </a:rPr>
              <a:t>Q</a:t>
            </a:r>
            <a:r>
              <a:rPr lang="en-US" altLang="zh-CN" sz="2800" b="1" i="1" baseline="30000" dirty="0">
                <a:solidFill>
                  <a:srgbClr val="002060"/>
                </a:solidFill>
              </a:rPr>
              <a:t>D</a:t>
            </a:r>
            <a:r>
              <a:rPr lang="en-US" altLang="zh-CN" sz="2800" dirty="0">
                <a:solidFill>
                  <a:srgbClr val="002060"/>
                </a:solidFill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（或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i="1" dirty="0">
                <a:solidFill>
                  <a:srgbClr val="002060"/>
                </a:solidFill>
              </a:rPr>
              <a:t>Q</a:t>
            </a:r>
            <a:r>
              <a:rPr lang="en-US" altLang="zh-CN" sz="2800" b="1" i="1" baseline="30000" dirty="0">
                <a:solidFill>
                  <a:srgbClr val="002060"/>
                </a:solidFill>
              </a:rPr>
              <a:t>S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）的变化程度。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4216945" y="1602197"/>
            <a:ext cx="4608512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177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与供给弹性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6"/>
          <p:cNvSpPr txBox="1">
            <a:spLocks noChangeArrowheads="1"/>
          </p:cNvSpPr>
          <p:nvPr/>
        </p:nvSpPr>
        <p:spPr>
          <a:xfrm>
            <a:off x="643623" y="1988840"/>
            <a:ext cx="2947987" cy="3528392"/>
          </a:xfrm>
          <a:prstGeom prst="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当供给缺乏弹性时，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税收降低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P</a:t>
            </a:r>
            <a:r>
              <a:rPr lang="en-US" altLang="zh-CN" sz="2400" i="1" baseline="-25000" dirty="0">
                <a:latin typeface="Arial" panose="020B0604020202020204"/>
                <a:cs typeface="Arial" panose="020B0604020202020204"/>
              </a:rPr>
              <a:t>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时，企业更难离开市场。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因此，该税只会稍微降低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Q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并且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较小。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6398964" y="3929534"/>
            <a:ext cx="249238" cy="1076325"/>
            <a:chOff x="3795" y="2297"/>
            <a:chExt cx="157" cy="678"/>
          </a:xfrm>
        </p:grpSpPr>
        <p:sp>
          <p:nvSpPr>
            <p:cNvPr id="4" name="AutoShape 4"/>
            <p:cNvSpPr>
              <a:spLocks noChangeArrowheads="1"/>
            </p:cNvSpPr>
            <p:nvPr/>
          </p:nvSpPr>
          <p:spPr bwMode="auto">
            <a:xfrm>
              <a:off x="3795" y="2297"/>
              <a:ext cx="154" cy="132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 flipV="1">
              <a:off x="3797" y="2428"/>
              <a:ext cx="155" cy="547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rot="10800000"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8"/>
          <p:cNvGrpSpPr/>
          <p:nvPr/>
        </p:nvGrpSpPr>
        <p:grpSpPr bwMode="auto">
          <a:xfrm>
            <a:off x="4443164" y="1807046"/>
            <a:ext cx="4305300" cy="4286250"/>
            <a:chOff x="2305" y="942"/>
            <a:chExt cx="2712" cy="2700"/>
          </a:xfrm>
        </p:grpSpPr>
        <p:grpSp>
          <p:nvGrpSpPr>
            <p:cNvPr id="8" name="Group 9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11" name="Line 10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14"/>
          <p:cNvGrpSpPr/>
          <p:nvPr/>
        </p:nvGrpSpPr>
        <p:grpSpPr bwMode="auto">
          <a:xfrm>
            <a:off x="4632077" y="2369021"/>
            <a:ext cx="3624262" cy="3217863"/>
            <a:chOff x="2682" y="1314"/>
            <a:chExt cx="2283" cy="2027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4732" y="306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2682" y="1314"/>
              <a:ext cx="2094" cy="18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7"/>
          <p:cNvGrpSpPr/>
          <p:nvPr/>
        </p:nvGrpSpPr>
        <p:grpSpPr bwMode="auto">
          <a:xfrm>
            <a:off x="6232277" y="2288059"/>
            <a:ext cx="1057275" cy="3395662"/>
            <a:chOff x="3690" y="1263"/>
            <a:chExt cx="666" cy="2139"/>
          </a:xfrm>
        </p:grpSpPr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4123" y="126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V="1">
              <a:off x="3690" y="1506"/>
              <a:ext cx="516" cy="1896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6394202" y="3921596"/>
            <a:ext cx="0" cy="1114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Group 21"/>
          <p:cNvGrpSpPr/>
          <p:nvPr/>
        </p:nvGrpSpPr>
        <p:grpSpPr bwMode="auto">
          <a:xfrm>
            <a:off x="4722564" y="3935884"/>
            <a:ext cx="1624013" cy="1100137"/>
            <a:chOff x="2739" y="2301"/>
            <a:chExt cx="1023" cy="693"/>
          </a:xfrm>
        </p:grpSpPr>
        <p:sp>
          <p:nvSpPr>
            <p:cNvPr id="21" name="AutoShape 22"/>
            <p:cNvSpPr/>
            <p:nvPr/>
          </p:nvSpPr>
          <p:spPr bwMode="auto">
            <a:xfrm>
              <a:off x="3633" y="2301"/>
              <a:ext cx="129" cy="693"/>
            </a:xfrm>
            <a:prstGeom prst="leftBrace">
              <a:avLst>
                <a:gd name="adj1" fmla="val 447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2739" y="2497"/>
              <a:ext cx="887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 b="0" dirty="0">
                  <a:latin typeface="Arial" panose="020B0604020202020204"/>
                  <a:cs typeface="Arial" panose="020B0604020202020204"/>
                </a:rPr>
                <a:t>税收规模</a:t>
              </a:r>
              <a:endParaRPr lang="en-US" sz="2400" b="0" dirty="0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 uiExpan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4216945" y="1602197"/>
            <a:ext cx="4608512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177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与供给弹性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6"/>
          <p:cNvSpPr txBox="1">
            <a:spLocks noChangeArrowheads="1"/>
          </p:cNvSpPr>
          <p:nvPr/>
        </p:nvSpPr>
        <p:spPr>
          <a:xfrm>
            <a:off x="643623" y="1988840"/>
            <a:ext cx="2947987" cy="3528392"/>
          </a:xfrm>
          <a:prstGeom prst="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当供给越有弹性时，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税收降低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 P</a:t>
            </a:r>
            <a:r>
              <a:rPr lang="en-US" altLang="zh-CN" sz="2400" i="1" baseline="-25000" dirty="0">
                <a:latin typeface="Arial" panose="020B0604020202020204"/>
                <a:cs typeface="Arial" panose="020B0604020202020204"/>
              </a:rPr>
              <a:t>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时，企业就越容易离开市场，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更大量的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Q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下降到总剩余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最大化量以下，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就越大。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5" name="Group 3"/>
          <p:cNvGrpSpPr/>
          <p:nvPr/>
        </p:nvGrpSpPr>
        <p:grpSpPr bwMode="auto">
          <a:xfrm>
            <a:off x="5913189" y="3508846"/>
            <a:ext cx="750888" cy="1085850"/>
            <a:chOff x="3489" y="2032"/>
            <a:chExt cx="473" cy="684"/>
          </a:xfrm>
        </p:grpSpPr>
        <p:sp>
          <p:nvSpPr>
            <p:cNvPr id="26" name="AutoShape 4"/>
            <p:cNvSpPr>
              <a:spLocks noChangeArrowheads="1"/>
            </p:cNvSpPr>
            <p:nvPr/>
          </p:nvSpPr>
          <p:spPr bwMode="auto">
            <a:xfrm>
              <a:off x="3489" y="2032"/>
              <a:ext cx="459" cy="399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AutoShape 5"/>
            <p:cNvSpPr>
              <a:spLocks noChangeArrowheads="1"/>
            </p:cNvSpPr>
            <p:nvPr/>
          </p:nvSpPr>
          <p:spPr bwMode="auto">
            <a:xfrm flipV="1">
              <a:off x="3489" y="2428"/>
              <a:ext cx="473" cy="288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rot="10800000"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8" name="Group 8"/>
          <p:cNvGrpSpPr/>
          <p:nvPr/>
        </p:nvGrpSpPr>
        <p:grpSpPr bwMode="auto">
          <a:xfrm>
            <a:off x="4443164" y="1807046"/>
            <a:ext cx="4305300" cy="4286250"/>
            <a:chOff x="2305" y="942"/>
            <a:chExt cx="2712" cy="2700"/>
          </a:xfrm>
        </p:grpSpPr>
        <p:grpSp>
          <p:nvGrpSpPr>
            <p:cNvPr id="29" name="Group 9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3" name="Line 11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4" name="Group 14"/>
          <p:cNvGrpSpPr/>
          <p:nvPr/>
        </p:nvGrpSpPr>
        <p:grpSpPr bwMode="auto">
          <a:xfrm>
            <a:off x="4632077" y="2369021"/>
            <a:ext cx="3624262" cy="3217863"/>
            <a:chOff x="2682" y="1314"/>
            <a:chExt cx="2283" cy="2027"/>
          </a:xfrm>
        </p:grpSpPr>
        <p:sp>
          <p:nvSpPr>
            <p:cNvPr id="35" name="Text Box 15"/>
            <p:cNvSpPr txBox="1">
              <a:spLocks noChangeArrowheads="1"/>
            </p:cNvSpPr>
            <p:nvPr/>
          </p:nvSpPr>
          <p:spPr bwMode="auto">
            <a:xfrm>
              <a:off x="4732" y="306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Line 16"/>
            <p:cNvSpPr>
              <a:spLocks noChangeShapeType="1"/>
            </p:cNvSpPr>
            <p:nvPr/>
          </p:nvSpPr>
          <p:spPr bwMode="auto">
            <a:xfrm>
              <a:off x="2682" y="1314"/>
              <a:ext cx="2094" cy="18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7" name="Group 17"/>
          <p:cNvGrpSpPr/>
          <p:nvPr/>
        </p:nvGrpSpPr>
        <p:grpSpPr bwMode="auto">
          <a:xfrm>
            <a:off x="4803527" y="3116734"/>
            <a:ext cx="3362325" cy="2157412"/>
            <a:chOff x="2790" y="1785"/>
            <a:chExt cx="2118" cy="1359"/>
          </a:xfrm>
        </p:grpSpPr>
        <p:sp>
          <p:nvSpPr>
            <p:cNvPr id="38" name="Text Box 18"/>
            <p:cNvSpPr txBox="1">
              <a:spLocks noChangeArrowheads="1"/>
            </p:cNvSpPr>
            <p:nvPr/>
          </p:nvSpPr>
          <p:spPr bwMode="auto">
            <a:xfrm>
              <a:off x="4675" y="1785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 flipV="1">
              <a:off x="2790" y="1986"/>
              <a:ext cx="1932" cy="1158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0" name="Line 20"/>
          <p:cNvSpPr>
            <a:spLocks noChangeShapeType="1"/>
          </p:cNvSpPr>
          <p:nvPr/>
        </p:nvSpPr>
        <p:spPr bwMode="auto">
          <a:xfrm>
            <a:off x="5908427" y="3502496"/>
            <a:ext cx="0" cy="1114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AutoShape 22"/>
          <p:cNvSpPr/>
          <p:nvPr/>
        </p:nvSpPr>
        <p:spPr bwMode="auto">
          <a:xfrm>
            <a:off x="5671889" y="3502496"/>
            <a:ext cx="204788" cy="1100138"/>
          </a:xfrm>
          <a:prstGeom prst="leftBrace">
            <a:avLst>
              <a:gd name="adj1" fmla="val 447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Text Box 23"/>
          <p:cNvSpPr txBox="1">
            <a:spLocks noChangeArrowheads="1"/>
          </p:cNvSpPr>
          <p:nvPr/>
        </p:nvSpPr>
        <p:spPr bwMode="auto">
          <a:xfrm>
            <a:off x="4323478" y="3837593"/>
            <a:ext cx="14081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b="0" dirty="0">
                <a:latin typeface="Arial" panose="020B0604020202020204"/>
                <a:cs typeface="Arial" panose="020B0604020202020204"/>
              </a:rPr>
              <a:t>税收规模</a:t>
            </a:r>
            <a:endParaRPr lang="en-US" sz="2400" b="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2" grpId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39552" y="1556792"/>
            <a:ext cx="4608512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177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与需求弹性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6"/>
          <p:cNvSpPr txBox="1">
            <a:spLocks noChangeArrowheads="1"/>
          </p:cNvSpPr>
          <p:nvPr/>
        </p:nvSpPr>
        <p:spPr>
          <a:xfrm>
            <a:off x="5796136" y="1988840"/>
            <a:ext cx="2947987" cy="3528392"/>
          </a:xfrm>
          <a:prstGeom prst="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当需求缺乏弹性时，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税收提高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 P</a:t>
            </a:r>
            <a:r>
              <a:rPr lang="en-US" altLang="zh-CN" sz="2400" i="1" baseline="-25000" dirty="0">
                <a:latin typeface="Arial" panose="020B0604020202020204"/>
                <a:cs typeface="Arial" panose="020B0604020202020204"/>
              </a:rPr>
              <a:t>B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时，消费者更难离开市场。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因此，该税只会稍微降低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Q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并且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较小。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 bwMode="auto">
          <a:xfrm>
            <a:off x="2760588" y="2867943"/>
            <a:ext cx="309563" cy="1120775"/>
            <a:chOff x="3826" y="1719"/>
            <a:chExt cx="195" cy="706"/>
          </a:xfrm>
        </p:grpSpPr>
        <p:sp>
          <p:nvSpPr>
            <p:cNvPr id="5" name="AutoShape 4"/>
            <p:cNvSpPr>
              <a:spLocks noChangeArrowheads="1"/>
            </p:cNvSpPr>
            <p:nvPr/>
          </p:nvSpPr>
          <p:spPr bwMode="auto">
            <a:xfrm>
              <a:off x="3827" y="1719"/>
              <a:ext cx="194" cy="525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 flipV="1">
              <a:off x="3826" y="2241"/>
              <a:ext cx="190" cy="184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rot="10800000"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 bwMode="auto">
          <a:xfrm>
            <a:off x="755576" y="1663030"/>
            <a:ext cx="4305300" cy="4286250"/>
            <a:chOff x="2305" y="942"/>
            <a:chExt cx="2712" cy="2700"/>
          </a:xfrm>
        </p:grpSpPr>
        <p:grpSp>
          <p:nvGrpSpPr>
            <p:cNvPr id="9" name="Group 9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 bwMode="auto">
          <a:xfrm>
            <a:off x="2512938" y="2177380"/>
            <a:ext cx="1268413" cy="3209925"/>
            <a:chOff x="3670" y="1284"/>
            <a:chExt cx="799" cy="2022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236" y="3027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3670" y="1284"/>
              <a:ext cx="655" cy="1794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 bwMode="auto">
          <a:xfrm>
            <a:off x="949251" y="2304380"/>
            <a:ext cx="3505200" cy="3411538"/>
            <a:chOff x="2685" y="1364"/>
            <a:chExt cx="2208" cy="2149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660" y="1364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2685" y="1589"/>
              <a:ext cx="2026" cy="19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2755826" y="2882230"/>
            <a:ext cx="0" cy="1114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AutoShape 22"/>
          <p:cNvSpPr/>
          <p:nvPr/>
        </p:nvSpPr>
        <p:spPr bwMode="auto">
          <a:xfrm>
            <a:off x="2516113" y="2882230"/>
            <a:ext cx="204788" cy="1100138"/>
          </a:xfrm>
          <a:prstGeom prst="leftBrace">
            <a:avLst>
              <a:gd name="adj1" fmla="val 447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Text Box 23"/>
          <p:cNvSpPr txBox="1">
            <a:spLocks noChangeArrowheads="1"/>
          </p:cNvSpPr>
          <p:nvPr/>
        </p:nvSpPr>
        <p:spPr bwMode="auto">
          <a:xfrm>
            <a:off x="1069231" y="3198019"/>
            <a:ext cx="14081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0" dirty="0">
                <a:latin typeface="Arial" panose="020B0604020202020204"/>
                <a:cs typeface="Arial" panose="020B0604020202020204"/>
              </a:rPr>
              <a:t>税收规模</a:t>
            </a:r>
            <a:endParaRPr lang="en-US" sz="2400" b="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39552" y="1556792"/>
            <a:ext cx="4608512" cy="4536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177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与需求弹性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6"/>
          <p:cNvSpPr txBox="1">
            <a:spLocks noChangeArrowheads="1"/>
          </p:cNvSpPr>
          <p:nvPr/>
        </p:nvSpPr>
        <p:spPr>
          <a:xfrm>
            <a:off x="5796136" y="1988840"/>
            <a:ext cx="2947987" cy="3528392"/>
          </a:xfrm>
          <a:prstGeom prst="rect">
            <a:avLst/>
          </a:prstGeom>
          <a:solidFill>
            <a:srgbClr val="FFFF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当需求越有弹性时，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税收增加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P</a:t>
            </a:r>
            <a:r>
              <a:rPr lang="en-US" altLang="zh-CN" sz="2400" i="1" baseline="-25000" dirty="0">
                <a:latin typeface="Arial" panose="020B0604020202020204"/>
                <a:cs typeface="Arial" panose="020B0604020202020204"/>
              </a:rPr>
              <a:t>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时，买家就越容易离开市场，</a:t>
            </a: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 </a:t>
            </a:r>
            <a:endParaRPr lang="en-US" altLang="zh-CN" sz="2400" i="1" dirty="0">
              <a:latin typeface="Arial" panose="020B0604020202020204"/>
              <a:cs typeface="Arial" panose="020B0604020202020204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latin typeface="Arial" panose="020B0604020202020204"/>
                <a:cs typeface="Arial" panose="020B0604020202020204"/>
              </a:rPr>
              <a:t>Q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越低于总剩余最大化量，并且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越大。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2329681" y="3451696"/>
            <a:ext cx="755650" cy="1101725"/>
            <a:chOff x="3545" y="1996"/>
            <a:chExt cx="476" cy="694"/>
          </a:xfrm>
        </p:grpSpPr>
        <p:sp>
          <p:nvSpPr>
            <p:cNvPr id="25" name="AutoShape 4"/>
            <p:cNvSpPr>
              <a:spLocks noChangeArrowheads="1"/>
            </p:cNvSpPr>
            <p:nvPr/>
          </p:nvSpPr>
          <p:spPr bwMode="auto">
            <a:xfrm>
              <a:off x="3546" y="1996"/>
              <a:ext cx="470" cy="250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6" name="AutoShape 5"/>
            <p:cNvSpPr>
              <a:spLocks noChangeArrowheads="1"/>
            </p:cNvSpPr>
            <p:nvPr/>
          </p:nvSpPr>
          <p:spPr bwMode="auto">
            <a:xfrm flipV="1">
              <a:off x="3545" y="2240"/>
              <a:ext cx="476" cy="450"/>
            </a:xfrm>
            <a:prstGeom prst="rtTriangle">
              <a:avLst/>
            </a:prstGeom>
            <a:solidFill>
              <a:srgbClr val="FFFF66"/>
            </a:solidFill>
            <a:ln w="9525">
              <a:noFill/>
              <a:miter lim="800000"/>
            </a:ln>
          </p:spPr>
          <p:txBody>
            <a:bodyPr rot="10800000"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Group 7"/>
          <p:cNvGrpSpPr/>
          <p:nvPr/>
        </p:nvGrpSpPr>
        <p:grpSpPr bwMode="auto">
          <a:xfrm>
            <a:off x="770756" y="1807046"/>
            <a:ext cx="4305300" cy="4286250"/>
            <a:chOff x="2305" y="942"/>
            <a:chExt cx="2712" cy="2700"/>
          </a:xfrm>
        </p:grpSpPr>
        <p:grpSp>
          <p:nvGrpSpPr>
            <p:cNvPr id="28" name="Group 8"/>
            <p:cNvGrpSpPr/>
            <p:nvPr/>
          </p:nvGrpSpPr>
          <p:grpSpPr bwMode="auto">
            <a:xfrm>
              <a:off x="2424" y="1167"/>
              <a:ext cx="2382" cy="2331"/>
              <a:chOff x="2424" y="1167"/>
              <a:chExt cx="2400" cy="2079"/>
            </a:xfrm>
          </p:grpSpPr>
          <p:sp>
            <p:nvSpPr>
              <p:cNvPr id="31" name="Line 9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2" name="Line 10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9" name="Text Box 11"/>
            <p:cNvSpPr txBox="1">
              <a:spLocks noChangeArrowheads="1"/>
            </p:cNvSpPr>
            <p:nvPr/>
          </p:nvSpPr>
          <p:spPr bwMode="auto">
            <a:xfrm>
              <a:off x="2305" y="942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4784" y="3363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3" name="Group 13"/>
          <p:cNvGrpSpPr/>
          <p:nvPr/>
        </p:nvGrpSpPr>
        <p:grpSpPr bwMode="auto">
          <a:xfrm>
            <a:off x="962844" y="2713509"/>
            <a:ext cx="3684587" cy="2073275"/>
            <a:chOff x="2684" y="1531"/>
            <a:chExt cx="2321" cy="1306"/>
          </a:xfrm>
        </p:grpSpPr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4772" y="2558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2684" y="1531"/>
              <a:ext cx="2128" cy="1141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6" name="Group 16"/>
          <p:cNvGrpSpPr/>
          <p:nvPr/>
        </p:nvGrpSpPr>
        <p:grpSpPr bwMode="auto">
          <a:xfrm>
            <a:off x="964431" y="2448396"/>
            <a:ext cx="3505200" cy="3411538"/>
            <a:chOff x="2685" y="1364"/>
            <a:chExt cx="2208" cy="2149"/>
          </a:xfrm>
        </p:grpSpPr>
        <p:sp>
          <p:nvSpPr>
            <p:cNvPr id="37" name="Text Box 17"/>
            <p:cNvSpPr txBox="1">
              <a:spLocks noChangeArrowheads="1"/>
            </p:cNvSpPr>
            <p:nvPr/>
          </p:nvSpPr>
          <p:spPr bwMode="auto">
            <a:xfrm>
              <a:off x="4660" y="1364"/>
              <a:ext cx="233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 flipV="1">
              <a:off x="2685" y="1589"/>
              <a:ext cx="2026" cy="19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9" name="Line 19"/>
          <p:cNvSpPr>
            <a:spLocks noChangeShapeType="1"/>
          </p:cNvSpPr>
          <p:nvPr/>
        </p:nvSpPr>
        <p:spPr bwMode="auto">
          <a:xfrm>
            <a:off x="2324919" y="3438996"/>
            <a:ext cx="0" cy="11144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AutoShape 21"/>
          <p:cNvSpPr/>
          <p:nvPr/>
        </p:nvSpPr>
        <p:spPr bwMode="auto">
          <a:xfrm>
            <a:off x="2078856" y="3450109"/>
            <a:ext cx="204788" cy="1100137"/>
          </a:xfrm>
          <a:prstGeom prst="leftBrace">
            <a:avLst>
              <a:gd name="adj1" fmla="val 447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616769" y="3783484"/>
            <a:ext cx="1408113" cy="4619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zh-CN" altLang="en-US" sz="2400" b="0" dirty="0">
                <a:latin typeface="Arial" panose="020B0604020202020204"/>
                <a:cs typeface="Arial" panose="020B0604020202020204"/>
              </a:rPr>
              <a:t>税收规模</a:t>
            </a:r>
            <a:endParaRPr lang="en-US" sz="2400" b="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450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习题：弹性与税收的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286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如果税收针对以下每组商品或服务，税收的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哪个更大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90880" lvl="1" indent="-520700">
              <a:lnSpc>
                <a:spcPct val="150000"/>
              </a:lnSpc>
              <a:spcBef>
                <a:spcPct val="30000"/>
              </a:spcBef>
              <a:buClr>
                <a:srgbClr val="669900"/>
              </a:buClr>
              <a:buNone/>
            </a:pPr>
            <a:r>
              <a:rPr lang="en-US" altLang="zh-CN" sz="2600" b="1" dirty="0">
                <a:solidFill>
                  <a:srgbClr val="800000"/>
                </a:solidFill>
              </a:rPr>
              <a:t>A.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早餐麦片还是防晒霜？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90880" lvl="1" indent="-520700">
              <a:lnSpc>
                <a:spcPct val="150000"/>
              </a:lnSpc>
              <a:spcBef>
                <a:spcPct val="30000"/>
              </a:spcBef>
              <a:buClr>
                <a:srgbClr val="669900"/>
              </a:buClr>
              <a:buNone/>
            </a:pPr>
            <a:r>
              <a:rPr lang="en-US" altLang="zh-CN" sz="2600" b="1" dirty="0">
                <a:solidFill>
                  <a:srgbClr val="800000"/>
                </a:solidFill>
              </a:rPr>
              <a:t>B.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短期的酒店房间还是长期的酒店房间？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90880" lvl="1" indent="-520700">
              <a:lnSpc>
                <a:spcPct val="150000"/>
              </a:lnSpc>
              <a:spcBef>
                <a:spcPct val="30000"/>
              </a:spcBef>
              <a:buClr>
                <a:srgbClr val="669900"/>
              </a:buClr>
              <a:buNone/>
            </a:pPr>
            <a:r>
              <a:rPr lang="en-US" altLang="zh-CN" sz="2600" b="1" dirty="0">
                <a:solidFill>
                  <a:srgbClr val="800000"/>
                </a:solidFill>
              </a:rPr>
              <a:t>C.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高档餐馆的菜肴还是便利店的杂货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450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习题：弹性与税收的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020" y="1484630"/>
            <a:ext cx="8705215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800000"/>
                </a:solidFill>
              </a:rPr>
              <a:t>A.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早餐麦片还是防晒霜？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由第五章可得：早餐麦片比防晒霜有更接近的替代品，因此早餐麦片的需求比防晒霜的需求更具价格弹性。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因此，对早餐麦片征税会导致更大的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450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习题：弹性与税收的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800000"/>
                </a:solidFill>
              </a:rPr>
              <a:t>B.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短期的酒店房间还是长期的酒店房间？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由第五章可得：从长远来看，酒店客房需求和供给的价格弹性大于短期。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因此，对长期的酒店客房征税将导致更大的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4450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习题：弹性与税收的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800000"/>
                </a:solidFill>
              </a:rPr>
              <a:t>C.</a:t>
            </a:r>
            <a:r>
              <a:rPr lang="en-US" altLang="zh-CN" sz="2600" b="1" dirty="0">
                <a:solidFill>
                  <a:srgbClr val="C00000"/>
                </a:solidFill>
              </a:rPr>
              <a:t>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杂货还是高档餐馆的饭菜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由第五章可得：与高档餐厅的餐食相比，杂货更为必需品，因此价格弹性更小。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因此，对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高档餐馆用餐征税将导致更大的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习题：讨论问题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政府必须增加税收来支付公立学校、警察等费用。为此，政府可以对便利店杂货征税或对高档餐厅的餐食征税。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政府应该向哪个征税？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政府应该有多大？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大型政府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往往提供更多的公共服务，但需要更高的税收，这导致了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。支持小型政府的理由就越大。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个人所得税尤为重要；它是政府收入的最大来源。对于一个普通工人来说，边际税率（对最后一元收入征税）约为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个人所得税税收的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有多大？这取决于弹性。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政府应该有多大？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如果劳动力供应没有弹性，那么这个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就很小。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一些经济学家认为劳动力供应缺乏弹性，认为大多数工人都是全职工作，需要养家糊口，因此对于工资的高低敏感度不高。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政府应该有多大？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020" y="1340485"/>
            <a:ext cx="845947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其他经济学家认为，个人所得税是高度扭曲的，因为一些工人群体的劳动供给弹性较大，可以对激励措施做出反应：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许多工人可以调整工作时间，例如加班。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许多家庭都有第二收入者，他们可以自由决定是否工作以及工作多少。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许多老年人根据工资多少来选择何时退休。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一些人在“地下经济”中工作以逃避高额个人所得税。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改变税费规模的影响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政策制定者经常改变税费，提高一些，降低另一些。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当税费发生变化时，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和税收收入会发生什么变化？我们接下来将对此进行探讨。</a:t>
            </a:r>
            <a:endParaRPr lang="zh-CN" altLang="en-US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499992" y="1628800"/>
            <a:ext cx="4464496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82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与税费规模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6619" y="1949500"/>
            <a:ext cx="4085855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最初，税费是每单位</a:t>
            </a:r>
            <a:r>
              <a:rPr lang="en-US" altLang="zh-CN" sz="2600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税费翻倍，导致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增加一倍以上。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5885755" y="3039765"/>
            <a:ext cx="557212" cy="3557587"/>
            <a:chOff x="3381" y="1539"/>
            <a:chExt cx="351" cy="2241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3553" y="1539"/>
              <a:ext cx="0" cy="19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3381" y="3501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 bwMode="auto">
          <a:xfrm>
            <a:off x="6563617" y="3508077"/>
            <a:ext cx="557213" cy="3082925"/>
            <a:chOff x="3808" y="1834"/>
            <a:chExt cx="351" cy="1942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808" y="3497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989" y="1834"/>
              <a:ext cx="0" cy="1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4587180" y="1704677"/>
            <a:ext cx="4305300" cy="4659313"/>
            <a:chOff x="2563" y="698"/>
            <a:chExt cx="2712" cy="2935"/>
          </a:xfrm>
        </p:grpSpPr>
        <p:grpSp>
          <p:nvGrpSpPr>
            <p:cNvPr id="10" name="Group 10"/>
            <p:cNvGrpSpPr/>
            <p:nvPr/>
          </p:nvGrpSpPr>
          <p:grpSpPr bwMode="auto">
            <a:xfrm>
              <a:off x="2563" y="698"/>
              <a:ext cx="2712" cy="2935"/>
              <a:chOff x="2305" y="942"/>
              <a:chExt cx="2712" cy="2675"/>
            </a:xfrm>
          </p:grpSpPr>
          <p:grpSp>
            <p:nvGrpSpPr>
              <p:cNvPr id="18" name="Group 11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21" name="Line 12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2" name="Line 13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9" name="Text Box 14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0" name="Text Box 15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1" name="Group 16"/>
            <p:cNvGrpSpPr/>
            <p:nvPr/>
          </p:nvGrpSpPr>
          <p:grpSpPr bwMode="auto">
            <a:xfrm>
              <a:off x="2816" y="1025"/>
              <a:ext cx="2363" cy="1682"/>
              <a:chOff x="2816" y="1025"/>
              <a:chExt cx="2363" cy="1682"/>
            </a:xfrm>
          </p:grpSpPr>
          <p:sp>
            <p:nvSpPr>
              <p:cNvPr id="15" name="Text Box 17"/>
              <p:cNvSpPr txBox="1">
                <a:spLocks noChangeArrowheads="1"/>
              </p:cNvSpPr>
              <p:nvPr/>
            </p:nvSpPr>
            <p:spPr bwMode="auto">
              <a:xfrm>
                <a:off x="4946" y="242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D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7" name="Line 18"/>
              <p:cNvSpPr>
                <a:spLocks noChangeShapeType="1"/>
              </p:cNvSpPr>
              <p:nvPr/>
            </p:nvSpPr>
            <p:spPr bwMode="auto">
              <a:xfrm>
                <a:off x="2816" y="1025"/>
                <a:ext cx="2173" cy="1500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2" name="Group 19"/>
            <p:cNvGrpSpPr/>
            <p:nvPr/>
          </p:nvGrpSpPr>
          <p:grpSpPr bwMode="auto">
            <a:xfrm>
              <a:off x="2766" y="1538"/>
              <a:ext cx="2402" cy="1893"/>
              <a:chOff x="2766" y="1538"/>
              <a:chExt cx="2402" cy="1893"/>
            </a:xfrm>
          </p:grpSpPr>
          <p:sp>
            <p:nvSpPr>
              <p:cNvPr id="13" name="Text Box 20"/>
              <p:cNvSpPr txBox="1">
                <a:spLocks noChangeArrowheads="1"/>
              </p:cNvSpPr>
              <p:nvPr/>
            </p:nvSpPr>
            <p:spPr bwMode="auto">
              <a:xfrm>
                <a:off x="4935" y="153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Line 21"/>
              <p:cNvSpPr>
                <a:spLocks noChangeShapeType="1"/>
              </p:cNvSpPr>
              <p:nvPr/>
            </p:nvSpPr>
            <p:spPr bwMode="auto">
              <a:xfrm flipV="1">
                <a:off x="2766" y="1732"/>
                <a:ext cx="2198" cy="1699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3" name="Line 24"/>
          <p:cNvSpPr>
            <a:spLocks noChangeShapeType="1"/>
          </p:cNvSpPr>
          <p:nvPr/>
        </p:nvSpPr>
        <p:spPr bwMode="auto">
          <a:xfrm flipH="1" flipV="1">
            <a:off x="6850955" y="3514427"/>
            <a:ext cx="1587" cy="10239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 flipV="1">
            <a:off x="6157217" y="3033415"/>
            <a:ext cx="1588" cy="20399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5" name="Group 26"/>
          <p:cNvGrpSpPr/>
          <p:nvPr/>
        </p:nvGrpSpPr>
        <p:grpSpPr bwMode="auto">
          <a:xfrm>
            <a:off x="5350767" y="3038177"/>
            <a:ext cx="736600" cy="2020888"/>
            <a:chOff x="3044" y="1538"/>
            <a:chExt cx="464" cy="1273"/>
          </a:xfrm>
        </p:grpSpPr>
        <p:sp>
          <p:nvSpPr>
            <p:cNvPr id="26" name="AutoShape 27"/>
            <p:cNvSpPr/>
            <p:nvPr/>
          </p:nvSpPr>
          <p:spPr bwMode="auto">
            <a:xfrm>
              <a:off x="3379" y="1538"/>
              <a:ext cx="129" cy="1273"/>
            </a:xfrm>
            <a:prstGeom prst="leftBrace">
              <a:avLst>
                <a:gd name="adj1" fmla="val 82235"/>
                <a:gd name="adj2" fmla="val 47602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3044" y="2000"/>
              <a:ext cx="36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0">
                  <a:latin typeface="Arial" panose="020B0604020202020204"/>
                  <a:cs typeface="Arial" panose="020B0604020202020204"/>
                </a:rPr>
                <a:t>2</a:t>
              </a: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8" name="Group 29"/>
          <p:cNvGrpSpPr/>
          <p:nvPr/>
        </p:nvGrpSpPr>
        <p:grpSpPr bwMode="auto">
          <a:xfrm>
            <a:off x="6192142" y="3511252"/>
            <a:ext cx="595313" cy="1022350"/>
            <a:chOff x="3574" y="1836"/>
            <a:chExt cx="375" cy="644"/>
          </a:xfrm>
        </p:grpSpPr>
        <p:sp>
          <p:nvSpPr>
            <p:cNvPr id="29" name="AutoShape 30"/>
            <p:cNvSpPr/>
            <p:nvPr/>
          </p:nvSpPr>
          <p:spPr bwMode="auto">
            <a:xfrm>
              <a:off x="3820" y="1836"/>
              <a:ext cx="129" cy="644"/>
            </a:xfrm>
            <a:prstGeom prst="leftBrace">
              <a:avLst>
                <a:gd name="adj1" fmla="val 41602"/>
                <a:gd name="adj2" fmla="val 47514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3574" y="1996"/>
              <a:ext cx="28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1" name="AutoShape 32"/>
          <p:cNvSpPr>
            <a:spLocks noChangeArrowheads="1"/>
          </p:cNvSpPr>
          <p:nvPr/>
        </p:nvSpPr>
        <p:spPr bwMode="auto">
          <a:xfrm rot="5400000">
            <a:off x="6735861" y="3715246"/>
            <a:ext cx="908050" cy="620712"/>
          </a:xfrm>
          <a:prstGeom prst="triangle">
            <a:avLst>
              <a:gd name="adj" fmla="val 47500"/>
            </a:avLst>
          </a:prstGeom>
          <a:solidFill>
            <a:srgbClr val="FFFF99"/>
          </a:solidFill>
          <a:ln w="38100">
            <a:solidFill>
              <a:srgbClr val="FFFF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AutoShape 33"/>
          <p:cNvSpPr>
            <a:spLocks noChangeArrowheads="1"/>
          </p:cNvSpPr>
          <p:nvPr/>
        </p:nvSpPr>
        <p:spPr bwMode="auto">
          <a:xfrm rot="5400000">
            <a:off x="5875436" y="3392983"/>
            <a:ext cx="1931988" cy="1311275"/>
          </a:xfrm>
          <a:prstGeom prst="triangle">
            <a:avLst>
              <a:gd name="adj" fmla="val 47315"/>
            </a:avLst>
          </a:prstGeom>
          <a:solidFill>
            <a:srgbClr val="FF0066">
              <a:alpha val="25098"/>
            </a:srgbClr>
          </a:solidFill>
          <a:ln w="38100">
            <a:solidFill>
              <a:srgbClr val="FF0066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3" name="Group 35"/>
          <p:cNvGrpSpPr/>
          <p:nvPr/>
        </p:nvGrpSpPr>
        <p:grpSpPr bwMode="auto">
          <a:xfrm>
            <a:off x="7108130" y="4043067"/>
            <a:ext cx="1050925" cy="1541463"/>
            <a:chOff x="4158" y="2192"/>
            <a:chExt cx="662" cy="971"/>
          </a:xfrm>
        </p:grpSpPr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4166" y="2620"/>
              <a:ext cx="654" cy="543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b="0" dirty="0">
                  <a:latin typeface="Arial" panose="020B0604020202020204"/>
                  <a:cs typeface="Arial" panose="020B0604020202020204"/>
                </a:rPr>
                <a:t>初始</a:t>
              </a:r>
              <a:r>
                <a:rPr lang="en-US" sz="2500" b="0" dirty="0">
                  <a:latin typeface="Arial" panose="020B0604020202020204"/>
                  <a:cs typeface="Arial" panose="020B0604020202020204"/>
                </a:rPr>
                <a:t> DWL</a:t>
              </a:r>
              <a:endParaRPr lang="en-US" sz="2500" b="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flipH="1" flipV="1">
              <a:off x="4158" y="2192"/>
              <a:ext cx="302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6" name="Group 38"/>
          <p:cNvGrpSpPr/>
          <p:nvPr/>
        </p:nvGrpSpPr>
        <p:grpSpPr bwMode="auto">
          <a:xfrm>
            <a:off x="6495355" y="2103140"/>
            <a:ext cx="1038225" cy="1649412"/>
            <a:chOff x="3765" y="949"/>
            <a:chExt cx="654" cy="1039"/>
          </a:xfrm>
        </p:grpSpPr>
        <p:sp>
          <p:nvSpPr>
            <p:cNvPr id="37" name="Text Box 39"/>
            <p:cNvSpPr txBox="1">
              <a:spLocks noChangeArrowheads="1"/>
            </p:cNvSpPr>
            <p:nvPr/>
          </p:nvSpPr>
          <p:spPr bwMode="auto">
            <a:xfrm>
              <a:off x="3815" y="949"/>
              <a:ext cx="604" cy="543"/>
            </a:xfrm>
            <a:prstGeom prst="rect">
              <a:avLst/>
            </a:prstGeom>
            <a:solidFill>
              <a:srgbClr val="FF99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dirty="0">
                  <a:latin typeface="Arial" panose="020B0604020202020204"/>
                  <a:cs typeface="Arial" panose="020B0604020202020204"/>
                </a:rPr>
                <a:t>新的</a:t>
              </a:r>
              <a:r>
                <a:rPr lang="en-US" sz="2500" b="0" dirty="0">
                  <a:latin typeface="Arial" panose="020B0604020202020204"/>
                  <a:cs typeface="Arial" panose="020B0604020202020204"/>
                </a:rPr>
                <a:t> DWL</a:t>
              </a:r>
              <a:endParaRPr lang="en-US" sz="2500" b="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 flipV="1">
              <a:off x="3765" y="1482"/>
              <a:ext cx="337" cy="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499992" y="1628800"/>
            <a:ext cx="4464496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82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与税费规模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929136"/>
            <a:ext cx="408585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如果税费增加三倍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导致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增加三倍以上。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Group 2"/>
          <p:cNvGrpSpPr/>
          <p:nvPr/>
        </p:nvGrpSpPr>
        <p:grpSpPr bwMode="auto">
          <a:xfrm>
            <a:off x="5225033" y="2692549"/>
            <a:ext cx="557212" cy="4038600"/>
            <a:chOff x="2929" y="1232"/>
            <a:chExt cx="351" cy="2544"/>
          </a:xfrm>
        </p:grpSpPr>
        <p:sp>
          <p:nvSpPr>
            <p:cNvPr id="41" name="Line 3"/>
            <p:cNvSpPr>
              <a:spLocks noChangeShapeType="1"/>
            </p:cNvSpPr>
            <p:nvPr/>
          </p:nvSpPr>
          <p:spPr bwMode="auto">
            <a:xfrm>
              <a:off x="3110" y="1232"/>
              <a:ext cx="0" cy="2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2929" y="3497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3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6"/>
          <p:cNvGrpSpPr/>
          <p:nvPr/>
        </p:nvGrpSpPr>
        <p:grpSpPr bwMode="auto">
          <a:xfrm>
            <a:off x="4644008" y="1844824"/>
            <a:ext cx="4305300" cy="4659313"/>
            <a:chOff x="2563" y="698"/>
            <a:chExt cx="2712" cy="2935"/>
          </a:xfrm>
        </p:grpSpPr>
        <p:grpSp>
          <p:nvGrpSpPr>
            <p:cNvPr id="44" name="Group 7"/>
            <p:cNvGrpSpPr/>
            <p:nvPr/>
          </p:nvGrpSpPr>
          <p:grpSpPr bwMode="auto">
            <a:xfrm>
              <a:off x="2563" y="698"/>
              <a:ext cx="2712" cy="2935"/>
              <a:chOff x="2305" y="942"/>
              <a:chExt cx="2712" cy="2675"/>
            </a:xfrm>
          </p:grpSpPr>
          <p:grpSp>
            <p:nvGrpSpPr>
              <p:cNvPr id="51" name="Group 8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54" name="Line 9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5" name="Line 10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52" name="Text Box 11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Text Box 12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5" name="Group 13"/>
            <p:cNvGrpSpPr/>
            <p:nvPr/>
          </p:nvGrpSpPr>
          <p:grpSpPr bwMode="auto">
            <a:xfrm>
              <a:off x="2816" y="1025"/>
              <a:ext cx="2363" cy="1682"/>
              <a:chOff x="2816" y="1025"/>
              <a:chExt cx="2363" cy="1682"/>
            </a:xfrm>
          </p:grpSpPr>
          <p:sp>
            <p:nvSpPr>
              <p:cNvPr id="49" name="Text Box 14"/>
              <p:cNvSpPr txBox="1">
                <a:spLocks noChangeArrowheads="1"/>
              </p:cNvSpPr>
              <p:nvPr/>
            </p:nvSpPr>
            <p:spPr bwMode="auto">
              <a:xfrm>
                <a:off x="4946" y="242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D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>
                <a:off x="2816" y="1025"/>
                <a:ext cx="2173" cy="1500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6" name="Group 16"/>
            <p:cNvGrpSpPr/>
            <p:nvPr/>
          </p:nvGrpSpPr>
          <p:grpSpPr bwMode="auto">
            <a:xfrm>
              <a:off x="2766" y="1538"/>
              <a:ext cx="2402" cy="1893"/>
              <a:chOff x="2766" y="1538"/>
              <a:chExt cx="2402" cy="1893"/>
            </a:xfrm>
          </p:grpSpPr>
          <p:sp>
            <p:nvSpPr>
              <p:cNvPr id="47" name="Text Box 17"/>
              <p:cNvSpPr txBox="1">
                <a:spLocks noChangeArrowheads="1"/>
              </p:cNvSpPr>
              <p:nvPr/>
            </p:nvSpPr>
            <p:spPr bwMode="auto">
              <a:xfrm>
                <a:off x="4935" y="153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8" name="Line 18"/>
              <p:cNvSpPr>
                <a:spLocks noChangeShapeType="1"/>
              </p:cNvSpPr>
              <p:nvPr/>
            </p:nvSpPr>
            <p:spPr bwMode="auto">
              <a:xfrm flipV="1">
                <a:off x="2766" y="1732"/>
                <a:ext cx="2198" cy="1699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56" name="Line 19"/>
          <p:cNvSpPr>
            <a:spLocks noChangeShapeType="1"/>
          </p:cNvSpPr>
          <p:nvPr/>
        </p:nvSpPr>
        <p:spPr bwMode="auto">
          <a:xfrm flipV="1">
            <a:off x="5512370" y="2687787"/>
            <a:ext cx="0" cy="30638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H="1" flipV="1">
            <a:off x="6907783" y="3654574"/>
            <a:ext cx="1587" cy="10239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8" name="Group 21"/>
          <p:cNvGrpSpPr/>
          <p:nvPr/>
        </p:nvGrpSpPr>
        <p:grpSpPr bwMode="auto">
          <a:xfrm>
            <a:off x="6620445" y="3648224"/>
            <a:ext cx="557213" cy="3082925"/>
            <a:chOff x="3808" y="1834"/>
            <a:chExt cx="351" cy="1942"/>
          </a:xfrm>
        </p:grpSpPr>
        <p:sp>
          <p:nvSpPr>
            <p:cNvPr id="59" name="Text Box 22"/>
            <p:cNvSpPr txBox="1">
              <a:spLocks noChangeArrowheads="1"/>
            </p:cNvSpPr>
            <p:nvPr/>
          </p:nvSpPr>
          <p:spPr bwMode="auto">
            <a:xfrm>
              <a:off x="3808" y="3497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Line 23"/>
            <p:cNvSpPr>
              <a:spLocks noChangeShapeType="1"/>
            </p:cNvSpPr>
            <p:nvPr/>
          </p:nvSpPr>
          <p:spPr bwMode="auto">
            <a:xfrm>
              <a:off x="3989" y="1834"/>
              <a:ext cx="0" cy="1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1" name="AutoShape 24"/>
          <p:cNvSpPr>
            <a:spLocks noChangeArrowheads="1"/>
          </p:cNvSpPr>
          <p:nvPr/>
        </p:nvSpPr>
        <p:spPr bwMode="auto">
          <a:xfrm rot="5400000">
            <a:off x="6792689" y="3855393"/>
            <a:ext cx="908050" cy="620712"/>
          </a:xfrm>
          <a:prstGeom prst="triangle">
            <a:avLst>
              <a:gd name="adj" fmla="val 47500"/>
            </a:avLst>
          </a:prstGeom>
          <a:solidFill>
            <a:srgbClr val="FFFF99"/>
          </a:solidFill>
          <a:ln w="38100">
            <a:solidFill>
              <a:srgbClr val="FFFF00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2" name="Group 25"/>
          <p:cNvGrpSpPr/>
          <p:nvPr/>
        </p:nvGrpSpPr>
        <p:grpSpPr bwMode="auto">
          <a:xfrm>
            <a:off x="4723383" y="2694137"/>
            <a:ext cx="730250" cy="3062287"/>
            <a:chOff x="2613" y="1233"/>
            <a:chExt cx="460" cy="1929"/>
          </a:xfrm>
        </p:grpSpPr>
        <p:sp>
          <p:nvSpPr>
            <p:cNvPr id="63" name="AutoShape 26"/>
            <p:cNvSpPr/>
            <p:nvPr/>
          </p:nvSpPr>
          <p:spPr bwMode="auto">
            <a:xfrm>
              <a:off x="2944" y="1233"/>
              <a:ext cx="129" cy="1929"/>
            </a:xfrm>
            <a:prstGeom prst="leftBrace">
              <a:avLst>
                <a:gd name="adj1" fmla="val 124612"/>
                <a:gd name="adj2" fmla="val 47278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4" name="Text Box 27"/>
            <p:cNvSpPr txBox="1">
              <a:spLocks noChangeArrowheads="1"/>
            </p:cNvSpPr>
            <p:nvPr/>
          </p:nvSpPr>
          <p:spPr bwMode="auto">
            <a:xfrm>
              <a:off x="2613" y="2001"/>
              <a:ext cx="36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0">
                  <a:latin typeface="Arial" panose="020B0604020202020204"/>
                  <a:cs typeface="Arial" panose="020B0604020202020204"/>
                </a:rPr>
                <a:t>3</a:t>
              </a: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5" name="AutoShape 28"/>
          <p:cNvSpPr/>
          <p:nvPr/>
        </p:nvSpPr>
        <p:spPr bwMode="auto">
          <a:xfrm>
            <a:off x="6639495" y="3651399"/>
            <a:ext cx="204788" cy="1022350"/>
          </a:xfrm>
          <a:prstGeom prst="leftBrace">
            <a:avLst>
              <a:gd name="adj1" fmla="val 41602"/>
              <a:gd name="adj2" fmla="val 47514"/>
            </a:avLst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Text Box 29"/>
          <p:cNvSpPr txBox="1">
            <a:spLocks noChangeArrowheads="1"/>
          </p:cNvSpPr>
          <p:nvPr/>
        </p:nvSpPr>
        <p:spPr bwMode="auto">
          <a:xfrm>
            <a:off x="6248970" y="3905399"/>
            <a:ext cx="4445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Arial" panose="020B0604020202020204"/>
                <a:cs typeface="Arial" panose="020B0604020202020204"/>
              </a:rPr>
              <a:t>T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" name="Group 33"/>
          <p:cNvGrpSpPr/>
          <p:nvPr/>
        </p:nvGrpSpPr>
        <p:grpSpPr bwMode="auto">
          <a:xfrm>
            <a:off x="7164958" y="4183213"/>
            <a:ext cx="1050925" cy="1541463"/>
            <a:chOff x="4158" y="2192"/>
            <a:chExt cx="662" cy="971"/>
          </a:xfrm>
        </p:grpSpPr>
        <p:sp>
          <p:nvSpPr>
            <p:cNvPr id="68" name="Text Box 34"/>
            <p:cNvSpPr txBox="1">
              <a:spLocks noChangeArrowheads="1"/>
            </p:cNvSpPr>
            <p:nvPr/>
          </p:nvSpPr>
          <p:spPr bwMode="auto">
            <a:xfrm>
              <a:off x="4166" y="2620"/>
              <a:ext cx="654" cy="543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b="0" dirty="0">
                  <a:latin typeface="Arial" panose="020B0604020202020204"/>
                  <a:cs typeface="Arial" panose="020B0604020202020204"/>
                </a:rPr>
                <a:t>初始</a:t>
              </a:r>
              <a:r>
                <a:rPr lang="en-US" sz="2500" b="0" dirty="0">
                  <a:latin typeface="Arial" panose="020B0604020202020204"/>
                  <a:cs typeface="Arial" panose="020B0604020202020204"/>
                </a:rPr>
                <a:t>DWL</a:t>
              </a:r>
              <a:endParaRPr lang="en-US" sz="2500" b="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Line 35"/>
            <p:cNvSpPr>
              <a:spLocks noChangeShapeType="1"/>
            </p:cNvSpPr>
            <p:nvPr/>
          </p:nvSpPr>
          <p:spPr bwMode="auto">
            <a:xfrm flipH="1" flipV="1">
              <a:off x="4158" y="2192"/>
              <a:ext cx="302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0" name="Group 36"/>
          <p:cNvGrpSpPr/>
          <p:nvPr/>
        </p:nvGrpSpPr>
        <p:grpSpPr bwMode="auto">
          <a:xfrm>
            <a:off x="6150545" y="1986112"/>
            <a:ext cx="1060450" cy="1682750"/>
            <a:chOff x="3512" y="787"/>
            <a:chExt cx="668" cy="1060"/>
          </a:xfrm>
        </p:grpSpPr>
        <p:sp>
          <p:nvSpPr>
            <p:cNvPr id="71" name="Text Box 37"/>
            <p:cNvSpPr txBox="1">
              <a:spLocks noChangeArrowheads="1"/>
            </p:cNvSpPr>
            <p:nvPr/>
          </p:nvSpPr>
          <p:spPr bwMode="auto">
            <a:xfrm>
              <a:off x="3576" y="787"/>
              <a:ext cx="604" cy="543"/>
            </a:xfrm>
            <a:prstGeom prst="rect">
              <a:avLst/>
            </a:prstGeom>
            <a:solidFill>
              <a:srgbClr val="FF99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500" b="0" dirty="0">
                  <a:latin typeface="Arial" panose="020B0604020202020204"/>
                  <a:cs typeface="Arial" panose="020B0604020202020204"/>
                </a:rPr>
                <a:t>新的</a:t>
              </a:r>
              <a:r>
                <a:rPr lang="en-US" sz="2500" b="0" dirty="0">
                  <a:latin typeface="Arial" panose="020B0604020202020204"/>
                  <a:cs typeface="Arial" panose="020B0604020202020204"/>
                </a:rPr>
                <a:t> DWL</a:t>
              </a:r>
              <a:endParaRPr lang="en-US" sz="2500" b="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" name="Line 38"/>
            <p:cNvSpPr>
              <a:spLocks noChangeShapeType="1"/>
            </p:cNvSpPr>
            <p:nvPr/>
          </p:nvSpPr>
          <p:spPr bwMode="auto">
            <a:xfrm flipV="1">
              <a:off x="3512" y="1327"/>
              <a:ext cx="316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3" name="AutoShape 39"/>
          <p:cNvSpPr>
            <a:spLocks noChangeArrowheads="1"/>
          </p:cNvSpPr>
          <p:nvPr/>
        </p:nvSpPr>
        <p:spPr bwMode="auto">
          <a:xfrm rot="5400000">
            <a:off x="5073427" y="3212455"/>
            <a:ext cx="2951162" cy="2016125"/>
          </a:xfrm>
          <a:prstGeom prst="triangle">
            <a:avLst>
              <a:gd name="adj" fmla="val 47315"/>
            </a:avLst>
          </a:prstGeom>
          <a:solidFill>
            <a:srgbClr val="FF0066">
              <a:alpha val="25098"/>
            </a:srgbClr>
          </a:solidFill>
          <a:ln w="38100">
            <a:solidFill>
              <a:srgbClr val="FF0066"/>
            </a:solidFill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499992" y="1628800"/>
            <a:ext cx="4464496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282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DWL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与税费规模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Rectangle 11"/>
          <p:cNvSpPr>
            <a:spLocks noChangeArrowheads="1"/>
          </p:cNvSpPr>
          <p:nvPr/>
        </p:nvSpPr>
        <p:spPr bwMode="auto">
          <a:xfrm>
            <a:off x="349820" y="1442511"/>
            <a:ext cx="3455988" cy="477352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2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600" b="1" u="sng" dirty="0">
                <a:latin typeface="Arial" panose="020B0604020202020204"/>
                <a:cs typeface="Arial" panose="020B0604020202020204"/>
              </a:rPr>
              <a:t>政策建议：</a:t>
            </a:r>
            <a:endParaRPr lang="en-US" altLang="zh-CN" sz="2600" b="1" u="sng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600" i="1" dirty="0">
                <a:latin typeface="Arial" panose="020B0604020202020204"/>
                <a:cs typeface="Arial" panose="020B0604020202020204"/>
              </a:rPr>
              <a:t>当税率较低时，提高税率不会造成太大伤害，降低税率也不会带来太多好处。</a:t>
            </a:r>
            <a:endParaRPr lang="en-US" sz="2600" b="0" i="1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endParaRPr lang="en-US" altLang="zh-CN" sz="2600" i="1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2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600" i="1" dirty="0">
                <a:latin typeface="Arial" panose="020B0604020202020204"/>
                <a:cs typeface="Arial" panose="020B0604020202020204"/>
              </a:rPr>
              <a:t>当税率很高时，提高税率是非常有害的，而削减税率是非常有益的。</a:t>
            </a:r>
            <a:endParaRPr lang="en-US" sz="2600" b="0" i="1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Group 3"/>
          <p:cNvGrpSpPr/>
          <p:nvPr/>
        </p:nvGrpSpPr>
        <p:grpSpPr bwMode="auto">
          <a:xfrm>
            <a:off x="4427984" y="2859931"/>
            <a:ext cx="4508500" cy="3883024"/>
            <a:chOff x="2401" y="1130"/>
            <a:chExt cx="2840" cy="2446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2712" y="1401"/>
              <a:ext cx="2382" cy="1897"/>
              <a:chOff x="2424" y="1167"/>
              <a:chExt cx="2400" cy="2079"/>
            </a:xfrm>
          </p:grpSpPr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" name="Line 6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5" name="Text Box 7"/>
            <p:cNvSpPr txBox="1">
              <a:spLocks noChangeArrowheads="1"/>
            </p:cNvSpPr>
            <p:nvPr/>
          </p:nvSpPr>
          <p:spPr bwMode="auto">
            <a:xfrm>
              <a:off x="2401" y="1130"/>
              <a:ext cx="557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DWL</a:t>
              </a:r>
              <a:endParaRPr lang="en-US" sz="2300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4247" y="3296"/>
              <a:ext cx="994" cy="2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300" b="0">
                  <a:latin typeface="Arial" panose="020B0604020202020204"/>
                  <a:cs typeface="Arial" panose="020B0604020202020204"/>
                </a:rPr>
                <a:t>税费规模</a:t>
              </a:r>
              <a:endParaRPr lang="zh-CN" altLang="en-US" sz="2300" b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52640" y="1598662"/>
            <a:ext cx="3759200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600" i="1" u="sng" dirty="0">
                <a:solidFill>
                  <a:srgbClr val="339966"/>
                </a:solidFill>
                <a:latin typeface="Arial" panose="020B0604020202020204"/>
                <a:cs typeface="Arial" panose="020B0604020202020204"/>
              </a:rPr>
              <a:t>总结</a:t>
            </a:r>
            <a:endParaRPr lang="en-US" altLang="zh-CN" sz="2600" i="1" u="sng" dirty="0">
              <a:solidFill>
                <a:srgbClr val="339966"/>
              </a:solidFill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600" i="1" dirty="0">
                <a:solidFill>
                  <a:srgbClr val="339966"/>
                </a:solidFill>
                <a:latin typeface="Arial" panose="020B0604020202020204"/>
                <a:cs typeface="Arial" panose="020B0604020202020204"/>
              </a:rPr>
              <a:t>当税费规模增加时，</a:t>
            </a:r>
            <a:r>
              <a:rPr lang="en-US" altLang="zh-CN" sz="2600" i="1" dirty="0">
                <a:solidFill>
                  <a:srgbClr val="339966"/>
                </a:solidFill>
                <a:latin typeface="Arial" panose="020B0604020202020204"/>
                <a:cs typeface="Arial" panose="020B0604020202020204"/>
              </a:rPr>
              <a:t>DWL</a:t>
            </a:r>
            <a:r>
              <a:rPr lang="zh-CN" altLang="en-US" sz="2600" i="1" dirty="0">
                <a:solidFill>
                  <a:srgbClr val="339966"/>
                </a:solidFill>
                <a:latin typeface="Arial" panose="020B0604020202020204"/>
                <a:cs typeface="Arial" panose="020B0604020202020204"/>
              </a:rPr>
              <a:t>会增加更多。</a:t>
            </a:r>
            <a:endParaRPr lang="en-US" sz="2600" i="1" dirty="0">
              <a:solidFill>
                <a:srgbClr val="339966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Arc 10"/>
          <p:cNvSpPr/>
          <p:nvPr/>
        </p:nvSpPr>
        <p:spPr bwMode="auto">
          <a:xfrm flipV="1">
            <a:off x="4931222" y="1953468"/>
            <a:ext cx="3267075" cy="4332288"/>
          </a:xfrm>
          <a:custGeom>
            <a:avLst/>
            <a:gdLst>
              <a:gd name="T0" fmla="*/ 0 w 20026"/>
              <a:gd name="T1" fmla="*/ 0 h 21600"/>
              <a:gd name="T2" fmla="*/ 2147483647 w 20026"/>
              <a:gd name="T3" fmla="*/ 2147483647 h 21600"/>
              <a:gd name="T4" fmla="*/ 0 w 20026"/>
              <a:gd name="T5" fmla="*/ 2147483647 h 21600"/>
              <a:gd name="T6" fmla="*/ 0 60000 65536"/>
              <a:gd name="T7" fmla="*/ 0 60000 65536"/>
              <a:gd name="T8" fmla="*/ 0 60000 65536"/>
              <a:gd name="T9" fmla="*/ 0 w 20026"/>
              <a:gd name="T10" fmla="*/ 0 h 21600"/>
              <a:gd name="T11" fmla="*/ 20026 w 2002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26" h="21600" fill="none" extrusionOk="0">
                <a:moveTo>
                  <a:pt x="-1" y="0"/>
                </a:moveTo>
                <a:cubicBezTo>
                  <a:pt x="8803" y="0"/>
                  <a:pt x="16725" y="5342"/>
                  <a:pt x="20025" y="13504"/>
                </a:cubicBezTo>
              </a:path>
              <a:path w="20026" h="21600" stroke="0" extrusionOk="0">
                <a:moveTo>
                  <a:pt x="-1" y="0"/>
                </a:moveTo>
                <a:cubicBezTo>
                  <a:pt x="8803" y="0"/>
                  <a:pt x="16725" y="5342"/>
                  <a:pt x="20025" y="13504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193158" y="1628800"/>
            <a:ext cx="4771330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收入与税收规模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929136"/>
            <a:ext cx="3779021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当税费较少时，提高税费会导致税收收入增加。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6000626" y="3327797"/>
            <a:ext cx="557212" cy="3557587"/>
            <a:chOff x="3381" y="1539"/>
            <a:chExt cx="351" cy="2241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3553" y="1539"/>
              <a:ext cx="0" cy="19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3381" y="3501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94138" y="3805634"/>
            <a:ext cx="2057400" cy="1016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Group 7"/>
          <p:cNvGrpSpPr/>
          <p:nvPr/>
        </p:nvGrpSpPr>
        <p:grpSpPr bwMode="auto">
          <a:xfrm>
            <a:off x="4702051" y="1992709"/>
            <a:ext cx="4305300" cy="4659313"/>
            <a:chOff x="2563" y="698"/>
            <a:chExt cx="2712" cy="2935"/>
          </a:xfrm>
        </p:grpSpPr>
        <p:grpSp>
          <p:nvGrpSpPr>
            <p:cNvPr id="8" name="Group 8"/>
            <p:cNvGrpSpPr/>
            <p:nvPr/>
          </p:nvGrpSpPr>
          <p:grpSpPr bwMode="auto">
            <a:xfrm>
              <a:off x="2563" y="698"/>
              <a:ext cx="2712" cy="2935"/>
              <a:chOff x="2305" y="942"/>
              <a:chExt cx="2712" cy="2675"/>
            </a:xfrm>
          </p:grpSpPr>
          <p:grpSp>
            <p:nvGrpSpPr>
              <p:cNvPr id="15" name="Group 9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19" name="Line 10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20" name="Line 11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8" name="Text Box 13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9" name="Group 14"/>
            <p:cNvGrpSpPr/>
            <p:nvPr/>
          </p:nvGrpSpPr>
          <p:grpSpPr bwMode="auto">
            <a:xfrm>
              <a:off x="2816" y="1025"/>
              <a:ext cx="2363" cy="1682"/>
              <a:chOff x="2816" y="1025"/>
              <a:chExt cx="2363" cy="1682"/>
            </a:xfrm>
          </p:grpSpPr>
          <p:sp>
            <p:nvSpPr>
              <p:cNvPr id="13" name="Text Box 15"/>
              <p:cNvSpPr txBox="1">
                <a:spLocks noChangeArrowheads="1"/>
              </p:cNvSpPr>
              <p:nvPr/>
            </p:nvSpPr>
            <p:spPr bwMode="auto">
              <a:xfrm>
                <a:off x="4946" y="242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D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2816" y="1025"/>
                <a:ext cx="2173" cy="1500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10" name="Group 17"/>
            <p:cNvGrpSpPr/>
            <p:nvPr/>
          </p:nvGrpSpPr>
          <p:grpSpPr bwMode="auto">
            <a:xfrm>
              <a:off x="2766" y="1538"/>
              <a:ext cx="2402" cy="1893"/>
              <a:chOff x="2766" y="1538"/>
              <a:chExt cx="2402" cy="1893"/>
            </a:xfrm>
          </p:grpSpPr>
          <p:sp>
            <p:nvSpPr>
              <p:cNvPr id="11" name="Text Box 18"/>
              <p:cNvSpPr txBox="1">
                <a:spLocks noChangeArrowheads="1"/>
              </p:cNvSpPr>
              <p:nvPr/>
            </p:nvSpPr>
            <p:spPr bwMode="auto">
              <a:xfrm>
                <a:off x="4935" y="153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Line 19"/>
              <p:cNvSpPr>
                <a:spLocks noChangeShapeType="1"/>
              </p:cNvSpPr>
              <p:nvPr/>
            </p:nvSpPr>
            <p:spPr bwMode="auto">
              <a:xfrm flipV="1">
                <a:off x="2766" y="1732"/>
                <a:ext cx="2198" cy="1699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21" name="Line 20"/>
          <p:cNvSpPr>
            <a:spLocks noChangeShapeType="1"/>
          </p:cNvSpPr>
          <p:nvPr/>
        </p:nvSpPr>
        <p:spPr bwMode="auto">
          <a:xfrm flipH="1" flipV="1">
            <a:off x="6965826" y="3802459"/>
            <a:ext cx="1587" cy="10239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V="1">
            <a:off x="6272088" y="3321447"/>
            <a:ext cx="1588" cy="20399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3" name="Group 22"/>
          <p:cNvGrpSpPr/>
          <p:nvPr/>
        </p:nvGrpSpPr>
        <p:grpSpPr bwMode="auto">
          <a:xfrm>
            <a:off x="6678488" y="3796109"/>
            <a:ext cx="557213" cy="3082925"/>
            <a:chOff x="3808" y="1834"/>
            <a:chExt cx="351" cy="1942"/>
          </a:xfrm>
        </p:grpSpPr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3808" y="3497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3989" y="1834"/>
              <a:ext cx="0" cy="1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5"/>
          <p:cNvGrpSpPr/>
          <p:nvPr/>
        </p:nvGrpSpPr>
        <p:grpSpPr bwMode="auto">
          <a:xfrm>
            <a:off x="4355976" y="3577034"/>
            <a:ext cx="2616200" cy="442913"/>
            <a:chOff x="2345" y="1696"/>
            <a:chExt cx="1648" cy="279"/>
          </a:xfrm>
        </p:grpSpPr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2345" y="1696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2679" y="1836"/>
              <a:ext cx="1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9" name="Group 28"/>
          <p:cNvGrpSpPr/>
          <p:nvPr/>
        </p:nvGrpSpPr>
        <p:grpSpPr bwMode="auto">
          <a:xfrm>
            <a:off x="4355976" y="4605734"/>
            <a:ext cx="2609850" cy="442913"/>
            <a:chOff x="2345" y="2344"/>
            <a:chExt cx="1644" cy="279"/>
          </a:xfrm>
        </p:grpSpPr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2345" y="2344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H="1">
              <a:off x="2675" y="2486"/>
              <a:ext cx="1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31"/>
          <p:cNvGrpSpPr/>
          <p:nvPr/>
        </p:nvGrpSpPr>
        <p:grpSpPr bwMode="auto">
          <a:xfrm>
            <a:off x="4359151" y="3096022"/>
            <a:ext cx="1912937" cy="442912"/>
            <a:chOff x="2347" y="1393"/>
            <a:chExt cx="1205" cy="279"/>
          </a:xfrm>
        </p:grpSpPr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2347" y="1393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flipH="1">
              <a:off x="2679" y="1533"/>
              <a:ext cx="8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5" name="Group 34"/>
          <p:cNvGrpSpPr/>
          <p:nvPr/>
        </p:nvGrpSpPr>
        <p:grpSpPr bwMode="auto">
          <a:xfrm>
            <a:off x="4359151" y="5145484"/>
            <a:ext cx="1911350" cy="442913"/>
            <a:chOff x="2347" y="2684"/>
            <a:chExt cx="1204" cy="279"/>
          </a:xfrm>
        </p:grpSpPr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2347" y="2684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>
              <a:off x="2678" y="2825"/>
              <a:ext cx="8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4894138" y="3323034"/>
            <a:ext cx="1365250" cy="2038350"/>
          </a:xfrm>
          <a:prstGeom prst="rect">
            <a:avLst/>
          </a:prstGeom>
          <a:solidFill>
            <a:srgbClr val="FF0000">
              <a:alpha val="25098"/>
            </a:srgbClr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4" name="Group 38"/>
          <p:cNvGrpSpPr/>
          <p:nvPr/>
        </p:nvGrpSpPr>
        <p:grpSpPr bwMode="auto">
          <a:xfrm>
            <a:off x="6321301" y="3332559"/>
            <a:ext cx="685800" cy="2020888"/>
            <a:chOff x="3583" y="1542"/>
            <a:chExt cx="432" cy="1273"/>
          </a:xfrm>
        </p:grpSpPr>
        <p:sp>
          <p:nvSpPr>
            <p:cNvPr id="75" name="AutoShape 39"/>
            <p:cNvSpPr/>
            <p:nvPr/>
          </p:nvSpPr>
          <p:spPr bwMode="auto">
            <a:xfrm rot="10800000">
              <a:off x="3583" y="1542"/>
              <a:ext cx="129" cy="1273"/>
            </a:xfrm>
            <a:prstGeom prst="leftBrace">
              <a:avLst>
                <a:gd name="adj1" fmla="val 47285"/>
                <a:gd name="adj2" fmla="val 52630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ext Box 40"/>
            <p:cNvSpPr txBox="1">
              <a:spLocks noChangeArrowheads="1"/>
            </p:cNvSpPr>
            <p:nvPr/>
          </p:nvSpPr>
          <p:spPr bwMode="auto">
            <a:xfrm>
              <a:off x="3647" y="2001"/>
              <a:ext cx="36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0">
                  <a:latin typeface="Arial" panose="020B0604020202020204"/>
                  <a:cs typeface="Arial" panose="020B0604020202020204"/>
                </a:rPr>
                <a:t>2</a:t>
              </a: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7" name="Group 41"/>
          <p:cNvGrpSpPr/>
          <p:nvPr/>
        </p:nvGrpSpPr>
        <p:grpSpPr bwMode="auto">
          <a:xfrm>
            <a:off x="7015038" y="3799284"/>
            <a:ext cx="539750" cy="1022350"/>
            <a:chOff x="4020" y="1836"/>
            <a:chExt cx="340" cy="644"/>
          </a:xfrm>
        </p:grpSpPr>
        <p:sp>
          <p:nvSpPr>
            <p:cNvPr id="78" name="AutoShape 42"/>
            <p:cNvSpPr/>
            <p:nvPr/>
          </p:nvSpPr>
          <p:spPr bwMode="auto">
            <a:xfrm rot="10800000">
              <a:off x="4020" y="1836"/>
              <a:ext cx="129" cy="644"/>
            </a:xfrm>
            <a:prstGeom prst="leftBrace">
              <a:avLst>
                <a:gd name="adj1" fmla="val 27896"/>
                <a:gd name="adj2" fmla="val 52171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ext Box 43"/>
            <p:cNvSpPr txBox="1">
              <a:spLocks noChangeArrowheads="1"/>
            </p:cNvSpPr>
            <p:nvPr/>
          </p:nvSpPr>
          <p:spPr bwMode="auto">
            <a:xfrm>
              <a:off x="4080" y="1999"/>
              <a:ext cx="28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4193158" y="1628800"/>
            <a:ext cx="4771330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收入与税费规模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929136"/>
            <a:ext cx="3779021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当税费较多时，提高税费会导致税收收入减少。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Group 2"/>
          <p:cNvGrpSpPr/>
          <p:nvPr/>
        </p:nvGrpSpPr>
        <p:grpSpPr bwMode="auto">
          <a:xfrm>
            <a:off x="5240213" y="2768426"/>
            <a:ext cx="557212" cy="4038600"/>
            <a:chOff x="2929" y="1232"/>
            <a:chExt cx="351" cy="2544"/>
          </a:xfrm>
        </p:grpSpPr>
        <p:sp>
          <p:nvSpPr>
            <p:cNvPr id="41" name="Line 3"/>
            <p:cNvSpPr>
              <a:spLocks noChangeShapeType="1"/>
            </p:cNvSpPr>
            <p:nvPr/>
          </p:nvSpPr>
          <p:spPr bwMode="auto">
            <a:xfrm>
              <a:off x="3110" y="1232"/>
              <a:ext cx="0" cy="2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2929" y="3497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3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Group 6"/>
          <p:cNvGrpSpPr/>
          <p:nvPr/>
        </p:nvGrpSpPr>
        <p:grpSpPr bwMode="auto">
          <a:xfrm>
            <a:off x="4659188" y="1920701"/>
            <a:ext cx="4305300" cy="4659313"/>
            <a:chOff x="2563" y="698"/>
            <a:chExt cx="2712" cy="2935"/>
          </a:xfrm>
        </p:grpSpPr>
        <p:grpSp>
          <p:nvGrpSpPr>
            <p:cNvPr id="44" name="Group 7"/>
            <p:cNvGrpSpPr/>
            <p:nvPr/>
          </p:nvGrpSpPr>
          <p:grpSpPr bwMode="auto">
            <a:xfrm>
              <a:off x="2563" y="698"/>
              <a:ext cx="2712" cy="2935"/>
              <a:chOff x="2305" y="942"/>
              <a:chExt cx="2712" cy="2675"/>
            </a:xfrm>
          </p:grpSpPr>
          <p:grpSp>
            <p:nvGrpSpPr>
              <p:cNvPr id="51" name="Group 8"/>
              <p:cNvGrpSpPr/>
              <p:nvPr/>
            </p:nvGrpSpPr>
            <p:grpSpPr bwMode="auto">
              <a:xfrm>
                <a:off x="2424" y="1167"/>
                <a:ext cx="2382" cy="2331"/>
                <a:chOff x="2424" y="1167"/>
                <a:chExt cx="2400" cy="2079"/>
              </a:xfrm>
            </p:grpSpPr>
            <p:sp>
              <p:nvSpPr>
                <p:cNvPr id="54" name="Line 9"/>
                <p:cNvSpPr>
                  <a:spLocks noChangeShapeType="1"/>
                </p:cNvSpPr>
                <p:nvPr/>
              </p:nvSpPr>
              <p:spPr bwMode="auto">
                <a:xfrm>
                  <a:off x="2424" y="1167"/>
                  <a:ext cx="0" cy="207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55" name="Line 10"/>
                <p:cNvSpPr>
                  <a:spLocks noChangeShapeType="1"/>
                </p:cNvSpPr>
                <p:nvPr/>
              </p:nvSpPr>
              <p:spPr bwMode="auto">
                <a:xfrm>
                  <a:off x="2424" y="3246"/>
                  <a:ext cx="2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52" name="Text Box 11"/>
              <p:cNvSpPr txBox="1">
                <a:spLocks noChangeArrowheads="1"/>
              </p:cNvSpPr>
              <p:nvPr/>
            </p:nvSpPr>
            <p:spPr bwMode="auto">
              <a:xfrm>
                <a:off x="2305" y="942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P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3" name="Text Box 12"/>
              <p:cNvSpPr txBox="1">
                <a:spLocks noChangeArrowheads="1"/>
              </p:cNvSpPr>
              <p:nvPr/>
            </p:nvSpPr>
            <p:spPr bwMode="auto">
              <a:xfrm>
                <a:off x="4784" y="3363"/>
                <a:ext cx="233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Q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5" name="Group 13"/>
            <p:cNvGrpSpPr/>
            <p:nvPr/>
          </p:nvGrpSpPr>
          <p:grpSpPr bwMode="auto">
            <a:xfrm>
              <a:off x="2816" y="1025"/>
              <a:ext cx="2363" cy="1682"/>
              <a:chOff x="2816" y="1025"/>
              <a:chExt cx="2363" cy="1682"/>
            </a:xfrm>
          </p:grpSpPr>
          <p:sp>
            <p:nvSpPr>
              <p:cNvPr id="49" name="Text Box 14"/>
              <p:cNvSpPr txBox="1">
                <a:spLocks noChangeArrowheads="1"/>
              </p:cNvSpPr>
              <p:nvPr/>
            </p:nvSpPr>
            <p:spPr bwMode="auto">
              <a:xfrm>
                <a:off x="4946" y="242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D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>
                <a:off x="2816" y="1025"/>
                <a:ext cx="2173" cy="1500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46" name="Group 16"/>
            <p:cNvGrpSpPr/>
            <p:nvPr/>
          </p:nvGrpSpPr>
          <p:grpSpPr bwMode="auto">
            <a:xfrm>
              <a:off x="2766" y="1538"/>
              <a:ext cx="2402" cy="1893"/>
              <a:chOff x="2766" y="1538"/>
              <a:chExt cx="2402" cy="1893"/>
            </a:xfrm>
          </p:grpSpPr>
          <p:sp>
            <p:nvSpPr>
              <p:cNvPr id="47" name="Text Box 17"/>
              <p:cNvSpPr txBox="1">
                <a:spLocks noChangeArrowheads="1"/>
              </p:cNvSpPr>
              <p:nvPr/>
            </p:nvSpPr>
            <p:spPr bwMode="auto">
              <a:xfrm>
                <a:off x="4935" y="1538"/>
                <a:ext cx="233" cy="27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300" i="1">
                    <a:latin typeface="Arial" panose="020B0604020202020204"/>
                    <a:cs typeface="Arial" panose="020B0604020202020204"/>
                  </a:rPr>
                  <a:t>S</a:t>
                </a:r>
                <a:endParaRPr lang="en-US" sz="2300" i="1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8" name="Line 18"/>
              <p:cNvSpPr>
                <a:spLocks noChangeShapeType="1"/>
              </p:cNvSpPr>
              <p:nvPr/>
            </p:nvSpPr>
            <p:spPr bwMode="auto">
              <a:xfrm flipV="1">
                <a:off x="2766" y="1732"/>
                <a:ext cx="2198" cy="1699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56" name="Line 19"/>
          <p:cNvSpPr>
            <a:spLocks noChangeShapeType="1"/>
          </p:cNvSpPr>
          <p:nvPr/>
        </p:nvSpPr>
        <p:spPr bwMode="auto">
          <a:xfrm flipV="1">
            <a:off x="5527550" y="2763664"/>
            <a:ext cx="0" cy="30638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V="1">
            <a:off x="6229225" y="3249439"/>
            <a:ext cx="1588" cy="20399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8" name="Group 21"/>
          <p:cNvGrpSpPr/>
          <p:nvPr/>
        </p:nvGrpSpPr>
        <p:grpSpPr bwMode="auto">
          <a:xfrm>
            <a:off x="5957763" y="3255789"/>
            <a:ext cx="557212" cy="3557587"/>
            <a:chOff x="3381" y="1539"/>
            <a:chExt cx="351" cy="2241"/>
          </a:xfrm>
        </p:grpSpPr>
        <p:sp>
          <p:nvSpPr>
            <p:cNvPr id="59" name="Line 22"/>
            <p:cNvSpPr>
              <a:spLocks noChangeShapeType="1"/>
            </p:cNvSpPr>
            <p:nvPr/>
          </p:nvSpPr>
          <p:spPr bwMode="auto">
            <a:xfrm>
              <a:off x="3553" y="1539"/>
              <a:ext cx="0" cy="19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0" name="Text Box 23"/>
            <p:cNvSpPr txBox="1">
              <a:spLocks noChangeArrowheads="1"/>
            </p:cNvSpPr>
            <p:nvPr/>
          </p:nvSpPr>
          <p:spPr bwMode="auto">
            <a:xfrm>
              <a:off x="3381" y="3501"/>
              <a:ext cx="351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300" b="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300" b="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1" name="Group 24"/>
          <p:cNvGrpSpPr/>
          <p:nvPr/>
        </p:nvGrpSpPr>
        <p:grpSpPr bwMode="auto">
          <a:xfrm>
            <a:off x="4316288" y="3024014"/>
            <a:ext cx="1912937" cy="442912"/>
            <a:chOff x="2347" y="1393"/>
            <a:chExt cx="1205" cy="279"/>
          </a:xfrm>
        </p:grpSpPr>
        <p:sp>
          <p:nvSpPr>
            <p:cNvPr id="62" name="Text Box 25"/>
            <p:cNvSpPr txBox="1">
              <a:spLocks noChangeArrowheads="1"/>
            </p:cNvSpPr>
            <p:nvPr/>
          </p:nvSpPr>
          <p:spPr bwMode="auto">
            <a:xfrm>
              <a:off x="2347" y="1393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3" name="Line 26"/>
            <p:cNvSpPr>
              <a:spLocks noChangeShapeType="1"/>
            </p:cNvSpPr>
            <p:nvPr/>
          </p:nvSpPr>
          <p:spPr bwMode="auto">
            <a:xfrm flipH="1">
              <a:off x="2679" y="1533"/>
              <a:ext cx="8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4" name="Group 27"/>
          <p:cNvGrpSpPr/>
          <p:nvPr/>
        </p:nvGrpSpPr>
        <p:grpSpPr bwMode="auto">
          <a:xfrm>
            <a:off x="4316288" y="5073476"/>
            <a:ext cx="1911350" cy="442913"/>
            <a:chOff x="2347" y="2684"/>
            <a:chExt cx="1204" cy="279"/>
          </a:xfrm>
        </p:grpSpPr>
        <p:sp>
          <p:nvSpPr>
            <p:cNvPr id="65" name="Text Box 28"/>
            <p:cNvSpPr txBox="1">
              <a:spLocks noChangeArrowheads="1"/>
            </p:cNvSpPr>
            <p:nvPr/>
          </p:nvSpPr>
          <p:spPr bwMode="auto">
            <a:xfrm>
              <a:off x="2347" y="2684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FF0000"/>
                  </a:solidFill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solidFill>
                  <a:srgbClr val="FF0000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6" name="Line 29"/>
            <p:cNvSpPr>
              <a:spLocks noChangeShapeType="1"/>
            </p:cNvSpPr>
            <p:nvPr/>
          </p:nvSpPr>
          <p:spPr bwMode="auto">
            <a:xfrm flipH="1">
              <a:off x="2678" y="2825"/>
              <a:ext cx="8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7" name="Group 30"/>
          <p:cNvGrpSpPr/>
          <p:nvPr/>
        </p:nvGrpSpPr>
        <p:grpSpPr bwMode="auto">
          <a:xfrm>
            <a:off x="4309938" y="2539826"/>
            <a:ext cx="1223962" cy="442913"/>
            <a:chOff x="2343" y="1088"/>
            <a:chExt cx="771" cy="279"/>
          </a:xfrm>
        </p:grpSpPr>
        <p:sp>
          <p:nvSpPr>
            <p:cNvPr id="68" name="Text Box 31"/>
            <p:cNvSpPr txBox="1">
              <a:spLocks noChangeArrowheads="1"/>
            </p:cNvSpPr>
            <p:nvPr/>
          </p:nvSpPr>
          <p:spPr bwMode="auto">
            <a:xfrm>
              <a:off x="2343" y="1088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B</a:t>
              </a:r>
              <a:endParaRPr lang="en-US" sz="2300" i="1" baseline="-250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9" name="Line 32"/>
            <p:cNvSpPr>
              <a:spLocks noChangeShapeType="1"/>
            </p:cNvSpPr>
            <p:nvPr/>
          </p:nvSpPr>
          <p:spPr bwMode="auto">
            <a:xfrm flipH="1">
              <a:off x="2679" y="1230"/>
              <a:ext cx="4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0" name="Group 33"/>
          <p:cNvGrpSpPr/>
          <p:nvPr/>
        </p:nvGrpSpPr>
        <p:grpSpPr bwMode="auto">
          <a:xfrm>
            <a:off x="4314700" y="5611639"/>
            <a:ext cx="1217613" cy="442912"/>
            <a:chOff x="2346" y="3023"/>
            <a:chExt cx="767" cy="279"/>
          </a:xfrm>
        </p:grpSpPr>
        <p:sp>
          <p:nvSpPr>
            <p:cNvPr id="71" name="Text Box 34"/>
            <p:cNvSpPr txBox="1">
              <a:spLocks noChangeArrowheads="1"/>
            </p:cNvSpPr>
            <p:nvPr/>
          </p:nvSpPr>
          <p:spPr bwMode="auto">
            <a:xfrm>
              <a:off x="2346" y="3023"/>
              <a:ext cx="335" cy="27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300" i="1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300" i="1" baseline="-25000">
                  <a:solidFill>
                    <a:srgbClr val="0000FF"/>
                  </a:solidFill>
                  <a:latin typeface="Arial" panose="020B0604020202020204"/>
                  <a:cs typeface="Arial" panose="020B0604020202020204"/>
                </a:rPr>
                <a:t>S</a:t>
              </a:r>
              <a:endParaRPr lang="en-US" sz="2300" i="1" baseline="-25000">
                <a:solidFill>
                  <a:srgbClr val="0000FF"/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" name="Line 35"/>
            <p:cNvSpPr>
              <a:spLocks noChangeShapeType="1"/>
            </p:cNvSpPr>
            <p:nvPr/>
          </p:nvSpPr>
          <p:spPr bwMode="auto">
            <a:xfrm flipH="1">
              <a:off x="2678" y="3164"/>
              <a:ext cx="4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3" name="Rectangle 36"/>
          <p:cNvSpPr>
            <a:spLocks noChangeArrowheads="1"/>
          </p:cNvSpPr>
          <p:nvPr/>
        </p:nvSpPr>
        <p:spPr bwMode="auto">
          <a:xfrm>
            <a:off x="4851275" y="3251026"/>
            <a:ext cx="1365250" cy="2038350"/>
          </a:xfrm>
          <a:prstGeom prst="rect">
            <a:avLst/>
          </a:prstGeom>
          <a:solidFill>
            <a:srgbClr val="FF0000">
              <a:alpha val="25098"/>
            </a:srgbClr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0" name="Rectangle 37"/>
          <p:cNvSpPr>
            <a:spLocks noChangeArrowheads="1"/>
          </p:cNvSpPr>
          <p:nvPr/>
        </p:nvSpPr>
        <p:spPr bwMode="auto">
          <a:xfrm>
            <a:off x="4851275" y="2768426"/>
            <a:ext cx="673100" cy="3060700"/>
          </a:xfrm>
          <a:prstGeom prst="rect">
            <a:avLst/>
          </a:prstGeom>
          <a:solidFill>
            <a:srgbClr val="0000FF">
              <a:alpha val="25098"/>
            </a:srgbClr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1" name="Group 38"/>
          <p:cNvGrpSpPr/>
          <p:nvPr/>
        </p:nvGrpSpPr>
        <p:grpSpPr bwMode="auto">
          <a:xfrm>
            <a:off x="5592638" y="2766839"/>
            <a:ext cx="682625" cy="3062287"/>
            <a:chOff x="3151" y="1231"/>
            <a:chExt cx="430" cy="1929"/>
          </a:xfrm>
        </p:grpSpPr>
        <p:sp>
          <p:nvSpPr>
            <p:cNvPr id="82" name="AutoShape 39"/>
            <p:cNvSpPr/>
            <p:nvPr/>
          </p:nvSpPr>
          <p:spPr bwMode="auto">
            <a:xfrm rot="10800000">
              <a:off x="3151" y="1231"/>
              <a:ext cx="129" cy="1929"/>
            </a:xfrm>
            <a:prstGeom prst="leftBrace">
              <a:avLst>
                <a:gd name="adj1" fmla="val 65837"/>
                <a:gd name="adj2" fmla="val 52616"/>
              </a:avLst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b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ext Box 40"/>
            <p:cNvSpPr txBox="1">
              <a:spLocks noChangeArrowheads="1"/>
            </p:cNvSpPr>
            <p:nvPr/>
          </p:nvSpPr>
          <p:spPr bwMode="auto">
            <a:xfrm>
              <a:off x="3213" y="1999"/>
              <a:ext cx="36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0">
                  <a:latin typeface="Arial" panose="020B0604020202020204"/>
                  <a:cs typeface="Arial" panose="020B0604020202020204"/>
                </a:rPr>
                <a:t>3</a:t>
              </a:r>
              <a:r>
                <a:rPr lang="en-US" sz="2400" i="1">
                  <a:latin typeface="Arial" panose="020B0604020202020204"/>
                  <a:cs typeface="Arial" panose="020B0604020202020204"/>
                </a:rPr>
                <a:t>T</a:t>
              </a:r>
              <a:endParaRPr lang="en-US" sz="2400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4" name="AutoShape 41"/>
          <p:cNvSpPr/>
          <p:nvPr/>
        </p:nvSpPr>
        <p:spPr bwMode="auto">
          <a:xfrm rot="10800000">
            <a:off x="6278438" y="3260551"/>
            <a:ext cx="204787" cy="2020888"/>
          </a:xfrm>
          <a:prstGeom prst="leftBrace">
            <a:avLst>
              <a:gd name="adj1" fmla="val 47285"/>
              <a:gd name="adj2" fmla="val 52630"/>
            </a:avLst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b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Text Box 42"/>
          <p:cNvSpPr txBox="1">
            <a:spLocks noChangeArrowheads="1"/>
          </p:cNvSpPr>
          <p:nvPr/>
        </p:nvSpPr>
        <p:spPr bwMode="auto">
          <a:xfrm>
            <a:off x="6380038" y="3989214"/>
            <a:ext cx="584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0">
                <a:latin typeface="Arial" panose="020B0604020202020204"/>
                <a:cs typeface="Arial" panose="020B0604020202020204"/>
              </a:rPr>
              <a:t>2</a:t>
            </a:r>
            <a:r>
              <a:rPr lang="en-US" sz="2400" i="1">
                <a:latin typeface="Arial" panose="020B0604020202020204"/>
                <a:cs typeface="Arial" panose="020B0604020202020204"/>
              </a:rPr>
              <a:t>T</a:t>
            </a:r>
            <a:endParaRPr lang="en-US" sz="2400" i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8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3707904" y="1628800"/>
            <a:ext cx="5256584" cy="5112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137" y="6419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收入与税费规模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8" y="1929136"/>
            <a:ext cx="2762328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拉弗曲线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显示了税费规模和税收收入之间的关系。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Group 4"/>
          <p:cNvGrpSpPr/>
          <p:nvPr/>
        </p:nvGrpSpPr>
        <p:grpSpPr bwMode="auto">
          <a:xfrm>
            <a:off x="3595563" y="2470547"/>
            <a:ext cx="5368925" cy="3886200"/>
            <a:chOff x="1845" y="1135"/>
            <a:chExt cx="3382" cy="2448"/>
          </a:xfrm>
        </p:grpSpPr>
        <p:grpSp>
          <p:nvGrpSpPr>
            <p:cNvPr id="11" name="Group 5"/>
            <p:cNvGrpSpPr/>
            <p:nvPr/>
          </p:nvGrpSpPr>
          <p:grpSpPr bwMode="auto">
            <a:xfrm>
              <a:off x="2712" y="1206"/>
              <a:ext cx="2382" cy="2092"/>
              <a:chOff x="2424" y="1167"/>
              <a:chExt cx="2400" cy="2079"/>
            </a:xfrm>
          </p:grpSpPr>
          <p:sp>
            <p:nvSpPr>
              <p:cNvPr id="14" name="Line 6"/>
              <p:cNvSpPr>
                <a:spLocks noChangeShapeType="1"/>
              </p:cNvSpPr>
              <p:nvPr/>
            </p:nvSpPr>
            <p:spPr bwMode="auto">
              <a:xfrm>
                <a:off x="2424" y="1167"/>
                <a:ext cx="0" cy="20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Line 7"/>
              <p:cNvSpPr>
                <a:spLocks noChangeShapeType="1"/>
              </p:cNvSpPr>
              <p:nvPr/>
            </p:nvSpPr>
            <p:spPr bwMode="auto">
              <a:xfrm>
                <a:off x="2424" y="324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229" y="3303"/>
              <a:ext cx="998" cy="28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300" b="0" dirty="0">
                  <a:latin typeface="Arial" panose="020B0604020202020204"/>
                  <a:cs typeface="Arial" panose="020B0604020202020204"/>
                </a:rPr>
                <a:t>税费规模</a:t>
              </a:r>
              <a:endParaRPr lang="en-US" sz="2300" b="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1845" y="1135"/>
              <a:ext cx="854" cy="2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300" b="0" dirty="0">
                  <a:latin typeface="Arial" panose="020B0604020202020204"/>
                  <a:cs typeface="Arial" panose="020B0604020202020204"/>
                </a:rPr>
                <a:t>税收收入</a:t>
              </a:r>
              <a:endParaRPr lang="en-US" sz="2300" b="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7" name="Group 10"/>
          <p:cNvGrpSpPr/>
          <p:nvPr/>
        </p:nvGrpSpPr>
        <p:grpSpPr bwMode="auto">
          <a:xfrm>
            <a:off x="4984625" y="3632597"/>
            <a:ext cx="3338513" cy="3446462"/>
            <a:chOff x="2720" y="1867"/>
            <a:chExt cx="2103" cy="2171"/>
          </a:xfrm>
        </p:grpSpPr>
        <p:sp>
          <p:nvSpPr>
            <p:cNvPr id="18" name="Arc 11"/>
            <p:cNvSpPr/>
            <p:nvPr/>
          </p:nvSpPr>
          <p:spPr bwMode="auto">
            <a:xfrm flipH="1">
              <a:off x="2720" y="1867"/>
              <a:ext cx="1125" cy="2170"/>
            </a:xfrm>
            <a:custGeom>
              <a:avLst/>
              <a:gdLst>
                <a:gd name="T0" fmla="*/ 0 w 20396"/>
                <a:gd name="T1" fmla="*/ 0 h 21600"/>
                <a:gd name="T2" fmla="*/ 0 w 20396"/>
                <a:gd name="T3" fmla="*/ 0 h 21600"/>
                <a:gd name="T4" fmla="*/ 0 w 20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0396"/>
                <a:gd name="T10" fmla="*/ 0 h 21600"/>
                <a:gd name="T11" fmla="*/ 20396 w 20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96" h="21600" fill="none" extrusionOk="0">
                  <a:moveTo>
                    <a:pt x="0" y="0"/>
                  </a:moveTo>
                  <a:cubicBezTo>
                    <a:pt x="29" y="0"/>
                    <a:pt x="58" y="-1"/>
                    <a:pt x="87" y="0"/>
                  </a:cubicBezTo>
                  <a:cubicBezTo>
                    <a:pt x="9180" y="0"/>
                    <a:pt x="17299" y="5695"/>
                    <a:pt x="20396" y="14244"/>
                  </a:cubicBezTo>
                </a:path>
                <a:path w="20396" h="21600" stroke="0" extrusionOk="0">
                  <a:moveTo>
                    <a:pt x="0" y="0"/>
                  </a:moveTo>
                  <a:cubicBezTo>
                    <a:pt x="29" y="0"/>
                    <a:pt x="58" y="-1"/>
                    <a:pt x="87" y="0"/>
                  </a:cubicBezTo>
                  <a:cubicBezTo>
                    <a:pt x="9180" y="0"/>
                    <a:pt x="17299" y="5695"/>
                    <a:pt x="20396" y="14244"/>
                  </a:cubicBezTo>
                  <a:lnTo>
                    <a:pt x="87" y="21600"/>
                  </a:lnTo>
                  <a:close/>
                </a:path>
              </a:pathLst>
            </a:custGeom>
            <a:noFill/>
            <a:ln w="28575">
              <a:solidFill>
                <a:srgbClr val="00CC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" name="Arc 12"/>
            <p:cNvSpPr/>
            <p:nvPr/>
          </p:nvSpPr>
          <p:spPr bwMode="auto">
            <a:xfrm>
              <a:off x="3843" y="1868"/>
              <a:ext cx="980" cy="2170"/>
            </a:xfrm>
            <a:custGeom>
              <a:avLst/>
              <a:gdLst>
                <a:gd name="T0" fmla="*/ 0 w 20396"/>
                <a:gd name="T1" fmla="*/ 0 h 21600"/>
                <a:gd name="T2" fmla="*/ 0 w 20396"/>
                <a:gd name="T3" fmla="*/ 0 h 21600"/>
                <a:gd name="T4" fmla="*/ 0 w 20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0396"/>
                <a:gd name="T10" fmla="*/ 0 h 21600"/>
                <a:gd name="T11" fmla="*/ 20396 w 20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96" h="21600" fill="none" extrusionOk="0">
                  <a:moveTo>
                    <a:pt x="0" y="0"/>
                  </a:moveTo>
                  <a:cubicBezTo>
                    <a:pt x="29" y="0"/>
                    <a:pt x="58" y="-1"/>
                    <a:pt x="87" y="0"/>
                  </a:cubicBezTo>
                  <a:cubicBezTo>
                    <a:pt x="9180" y="0"/>
                    <a:pt x="17299" y="5695"/>
                    <a:pt x="20396" y="14244"/>
                  </a:cubicBezTo>
                </a:path>
                <a:path w="20396" h="21600" stroke="0" extrusionOk="0">
                  <a:moveTo>
                    <a:pt x="0" y="0"/>
                  </a:moveTo>
                  <a:cubicBezTo>
                    <a:pt x="29" y="0"/>
                    <a:pt x="58" y="-1"/>
                    <a:pt x="87" y="0"/>
                  </a:cubicBezTo>
                  <a:cubicBezTo>
                    <a:pt x="9180" y="0"/>
                    <a:pt x="17299" y="5695"/>
                    <a:pt x="20396" y="14244"/>
                  </a:cubicBezTo>
                  <a:lnTo>
                    <a:pt x="87" y="21600"/>
                  </a:lnTo>
                  <a:close/>
                </a:path>
              </a:pathLst>
            </a:custGeom>
            <a:noFill/>
            <a:ln w="28575">
              <a:solidFill>
                <a:srgbClr val="00CC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5548188" y="2276872"/>
            <a:ext cx="2689225" cy="488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b="0" u="sng" dirty="0">
                <a:latin typeface="Arial" panose="020B0604020202020204"/>
                <a:cs typeface="Arial" panose="020B0604020202020204"/>
              </a:rPr>
              <a:t>拉弗曲线</a:t>
            </a:r>
            <a:endParaRPr lang="en-US" sz="2600" b="0" u="sng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对商品征税降低了买卖双方的福利。这种福利损失通常超过政府增加的税收收入。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总剩余（消费者剩余、生产者剩余和税收收入）的下降被称为税收的无谓损失（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征税产生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，因为它会导致消费者购买量减少，生产者销售量减少，从而将市场缩小到总剩余最大化的数量水平以下。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137" y="1484784"/>
            <a:ext cx="8064896" cy="309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需求和供给的价格弹性衡量买家和卖家对价格变化的反应程度。因此，更高的弹性意味着更高的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税费规模的增加会导致</a:t>
            </a:r>
            <a:r>
              <a:rPr lang="en-US" altLang="zh-CN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DWL</a:t>
            </a: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的上涨幅度更大。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税费规模的增加最初会导致税收收入增加，但最终税收收入会下降，因为收费使得市场规模缩小。</a:t>
            </a:r>
            <a:endParaRPr lang="en-US" altLang="zh-CN" sz="2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156" y="3264142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章：应用：国际贸易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GEyYTQ3YzBjNDdiNmY2MWY1ZjA1Njc3MjE3YzgwODU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3062</Words>
  <Application>WPS 演示</Application>
  <PresentationFormat>全屏显示(4:3)</PresentationFormat>
  <Paragraphs>569</Paragraphs>
  <Slides>36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微软雅黑</vt:lpstr>
      <vt:lpstr>Arial</vt:lpstr>
      <vt:lpstr>Arial Unicode MS</vt:lpstr>
      <vt:lpstr>等线</vt:lpstr>
      <vt:lpstr>Calibri</vt:lpstr>
      <vt:lpstr>Office 主题</vt:lpstr>
      <vt:lpstr>Excel.Sheet.8</vt:lpstr>
      <vt:lpstr>Excel.Sheet.8</vt:lpstr>
      <vt:lpstr>Excel.Sheet.8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406</cp:revision>
  <dcterms:created xsi:type="dcterms:W3CDTF">2020-07-01T07:18:00Z</dcterms:created>
  <dcterms:modified xsi:type="dcterms:W3CDTF">2025-09-17T12:54:41Z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B9114CD6B4244EF28F0A2B03DCD3C337_12</vt:lpwstr>
  </property>
</Properties>
</file>