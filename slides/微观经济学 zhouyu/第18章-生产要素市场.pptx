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6" r:id="rId3"/>
    <p:sldId id="268" r:id="rId5"/>
    <p:sldId id="346" r:id="rId6"/>
    <p:sldId id="433" r:id="rId7"/>
    <p:sldId id="434" r:id="rId8"/>
    <p:sldId id="435" r:id="rId9"/>
    <p:sldId id="436" r:id="rId10"/>
    <p:sldId id="437" r:id="rId11"/>
    <p:sldId id="438" r:id="rId12"/>
    <p:sldId id="465" r:id="rId13"/>
    <p:sldId id="439" r:id="rId14"/>
    <p:sldId id="441" r:id="rId15"/>
    <p:sldId id="442" r:id="rId16"/>
    <p:sldId id="443" r:id="rId17"/>
    <p:sldId id="444" r:id="rId18"/>
    <p:sldId id="445" r:id="rId19"/>
    <p:sldId id="446" r:id="rId20"/>
    <p:sldId id="440" r:id="rId21"/>
    <p:sldId id="447" r:id="rId22"/>
    <p:sldId id="448" r:id="rId23"/>
    <p:sldId id="449" r:id="rId24"/>
    <p:sldId id="450" r:id="rId25"/>
    <p:sldId id="451" r:id="rId26"/>
    <p:sldId id="452" r:id="rId27"/>
    <p:sldId id="454" r:id="rId28"/>
    <p:sldId id="453" r:id="rId29"/>
    <p:sldId id="455" r:id="rId30"/>
    <p:sldId id="456" r:id="rId31"/>
    <p:sldId id="457" r:id="rId32"/>
    <p:sldId id="406" r:id="rId33"/>
    <p:sldId id="458" r:id="rId34"/>
    <p:sldId id="459" r:id="rId35"/>
    <p:sldId id="460" r:id="rId36"/>
    <p:sldId id="408" r:id="rId37"/>
    <p:sldId id="461" r:id="rId38"/>
    <p:sldId id="462" r:id="rId39"/>
    <p:sldId id="463" r:id="rId40"/>
    <p:sldId id="464" r:id="rId41"/>
    <p:sldId id="314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C1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13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AF09FA-53E9-42AC-BCDF-BAFC9353B0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A4F2C4-0AF9-4CDD-B437-6CD2129DB95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AA64FD-7149-435D-96E3-3ACA0174F5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AA64FD-7149-435D-96E3-3ACA0174F5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AA64FD-7149-435D-96E3-3ACA0174F5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哈尔滨工业大学（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深圳）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经济管理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学院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9D7B55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THE HITSZ SCHOOL OF ECONOMICS AND MANAGEMENT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9D7B55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67744" y="1412776"/>
            <a:ext cx="4745210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《</a:t>
            </a:r>
            <a:r>
              <a:rPr kumimoji="0" lang="zh-CN" altLang="en-US" sz="4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经济学原理</a:t>
            </a:r>
            <a:r>
              <a:rPr kumimoji="0" lang="en-US" altLang="zh-CN" sz="4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》</a:t>
            </a:r>
            <a:endParaRPr kumimoji="0" lang="en-US" altLang="zh-CN" sz="4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（</a:t>
            </a:r>
            <a:r>
              <a:rPr lang="zh-CN" altLang="en-US" sz="3000" smtClean="0">
                <a:solidFill>
                  <a:prstClr val="white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微观</a:t>
            </a:r>
            <a:r>
              <a:rPr kumimoji="0" lang="zh-CN" altLang="en-US" sz="3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经济学原理部分）</a:t>
            </a:r>
            <a:endParaRPr kumimoji="0" lang="en-US" altLang="zh-CN" sz="3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3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主讲人：周豫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59632" y="3933056"/>
            <a:ext cx="711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第</a:t>
            </a:r>
            <a:r>
              <a:rPr lang="en-US" altLang="zh-CN" sz="4000" b="1">
                <a:solidFill>
                  <a:prstClr val="white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18</a:t>
            </a: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章：</a:t>
            </a:r>
            <a:r>
              <a:rPr lang="zh-CN" altLang="en-US" sz="4000" b="1">
                <a:solidFill>
                  <a:prstClr val="white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生产要素市场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41184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本章回答如下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4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个问题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3568" y="1631714"/>
            <a:ext cx="806489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什么决定了一个竞争性企业的劳动力需求？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劳动力供给如何取决于工资？还有哪些因素影响劳动力供给？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各种事件如何影响劳动力均衡工资和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就业量？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如何确定其他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投入品的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均衡价格和数量？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生产要素：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用于生产商品和服务的投入。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劳动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土地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lvl="1" indent="-34290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资本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商品和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服务所需要的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设备、厂房等等。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这些投入的价格和数量由要素市场的供求关系决定。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生产要素与要素市场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生产要素市场类似于商品和服务市场，除了：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对生产要素的需求是</a:t>
            </a:r>
            <a:b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衍生需求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衍生于一家企业在商品和服务市场里的供给决策。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衍生需求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）所有市场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都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竞争性的。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代表性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公司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是价格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接受者：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在其生产的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产品市场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在其雇佣工人的劳动力市场上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公司只关心利润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最大化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每个企业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产量供给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和要素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投入需求都源于这一目标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两个假设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5230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农场主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在一个完全竞争市场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上卖小麦。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他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在一个完全竞争的劳动力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市场上雇佣工人。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在决定雇佣多少工人时，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农场主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边际量：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lvl="1" indent="-34290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如果额外雇佣一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名工人的收益超过成本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，农场主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雇佣该名工人。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例子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农场主</a:t>
            </a:r>
            <a:r>
              <a:rPr lang="en-US" altLang="zh-CN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A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雇佣额外一名工人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的成本：</a:t>
            </a:r>
            <a:b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工资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劳动力的价格。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雇佣额外一名工人的收益：</a:t>
            </a:r>
            <a:b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农场主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可以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生产和销售更多的小麦，增加了他的收入。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这种收益的大小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取决于</a:t>
            </a:r>
            <a:r>
              <a:rPr lang="zh-CN" altLang="en-US" sz="24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农场主</a:t>
            </a:r>
            <a:r>
              <a:rPr lang="en-US" altLang="zh-CN" sz="240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生产函数：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用于生产商品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的投入量和该商品的产出量之间的关系。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例子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农场主</a:t>
            </a:r>
            <a:r>
              <a:rPr lang="en-US" altLang="zh-CN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A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矩形 539"/>
          <p:cNvSpPr/>
          <p:nvPr/>
        </p:nvSpPr>
        <p:spPr>
          <a:xfrm>
            <a:off x="270456" y="5911582"/>
            <a:ext cx="2063381" cy="815975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9" name="Group 2"/>
          <p:cNvGrpSpPr>
            <a:grpSpLocks noChangeAspect="1"/>
          </p:cNvGrpSpPr>
          <p:nvPr/>
        </p:nvGrpSpPr>
        <p:grpSpPr bwMode="auto">
          <a:xfrm>
            <a:off x="3966073" y="1236395"/>
            <a:ext cx="4900613" cy="5722937"/>
            <a:chOff x="2500" y="503"/>
            <a:chExt cx="3087" cy="3605"/>
          </a:xfrm>
          <a:noFill/>
        </p:grpSpPr>
        <p:sp>
          <p:nvSpPr>
            <p:cNvPr id="480" name="AutoShape 3"/>
            <p:cNvSpPr>
              <a:spLocks noChangeAspect="1" noChangeArrowheads="1" noTextEdit="1"/>
            </p:cNvSpPr>
            <p:nvPr/>
          </p:nvSpPr>
          <p:spPr bwMode="auto">
            <a:xfrm>
              <a:off x="2500" y="503"/>
              <a:ext cx="3087" cy="3605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81" name="Rectangle 4"/>
            <p:cNvSpPr>
              <a:spLocks noChangeArrowheads="1"/>
            </p:cNvSpPr>
            <p:nvPr/>
          </p:nvSpPr>
          <p:spPr bwMode="auto">
            <a:xfrm>
              <a:off x="3364" y="731"/>
              <a:ext cx="1995" cy="267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82" name="Line 5"/>
            <p:cNvSpPr>
              <a:spLocks noChangeShapeType="1"/>
            </p:cNvSpPr>
            <p:nvPr/>
          </p:nvSpPr>
          <p:spPr bwMode="auto">
            <a:xfrm>
              <a:off x="3364" y="731"/>
              <a:ext cx="1" cy="2670"/>
            </a:xfrm>
            <a:prstGeom prst="line">
              <a:avLst/>
            </a:prstGeom>
            <a:grpFill/>
            <a:ln w="2540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83" name="Line 6"/>
            <p:cNvSpPr>
              <a:spLocks noChangeShapeType="1"/>
            </p:cNvSpPr>
            <p:nvPr/>
          </p:nvSpPr>
          <p:spPr bwMode="auto">
            <a:xfrm>
              <a:off x="3317" y="3401"/>
              <a:ext cx="47" cy="1"/>
            </a:xfrm>
            <a:prstGeom prst="line">
              <a:avLst/>
            </a:prstGeom>
            <a:grpFill/>
            <a:ln w="2540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84" name="Line 7"/>
            <p:cNvSpPr>
              <a:spLocks noChangeShapeType="1"/>
            </p:cNvSpPr>
            <p:nvPr/>
          </p:nvSpPr>
          <p:spPr bwMode="auto">
            <a:xfrm>
              <a:off x="3317" y="2993"/>
              <a:ext cx="47" cy="1"/>
            </a:xfrm>
            <a:prstGeom prst="line">
              <a:avLst/>
            </a:prstGeom>
            <a:grpFill/>
            <a:ln w="2540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85" name="Line 8"/>
            <p:cNvSpPr>
              <a:spLocks noChangeShapeType="1"/>
            </p:cNvSpPr>
            <p:nvPr/>
          </p:nvSpPr>
          <p:spPr bwMode="auto">
            <a:xfrm>
              <a:off x="3317" y="2592"/>
              <a:ext cx="47" cy="1"/>
            </a:xfrm>
            <a:prstGeom prst="line">
              <a:avLst/>
            </a:prstGeom>
            <a:grpFill/>
            <a:ln w="2540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86" name="Line 9"/>
            <p:cNvSpPr>
              <a:spLocks noChangeShapeType="1"/>
            </p:cNvSpPr>
            <p:nvPr/>
          </p:nvSpPr>
          <p:spPr bwMode="auto">
            <a:xfrm>
              <a:off x="3317" y="2184"/>
              <a:ext cx="47" cy="1"/>
            </a:xfrm>
            <a:prstGeom prst="line">
              <a:avLst/>
            </a:prstGeom>
            <a:grpFill/>
            <a:ln w="2540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87" name="Line 10"/>
            <p:cNvSpPr>
              <a:spLocks noChangeShapeType="1"/>
            </p:cNvSpPr>
            <p:nvPr/>
          </p:nvSpPr>
          <p:spPr bwMode="auto">
            <a:xfrm>
              <a:off x="3317" y="1783"/>
              <a:ext cx="47" cy="1"/>
            </a:xfrm>
            <a:prstGeom prst="line">
              <a:avLst/>
            </a:prstGeom>
            <a:grpFill/>
            <a:ln w="2540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88" name="Line 11"/>
            <p:cNvSpPr>
              <a:spLocks noChangeShapeType="1"/>
            </p:cNvSpPr>
            <p:nvPr/>
          </p:nvSpPr>
          <p:spPr bwMode="auto">
            <a:xfrm>
              <a:off x="3317" y="1375"/>
              <a:ext cx="47" cy="1"/>
            </a:xfrm>
            <a:prstGeom prst="line">
              <a:avLst/>
            </a:prstGeom>
            <a:grpFill/>
            <a:ln w="2540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89" name="Line 12"/>
            <p:cNvSpPr>
              <a:spLocks noChangeShapeType="1"/>
            </p:cNvSpPr>
            <p:nvPr/>
          </p:nvSpPr>
          <p:spPr bwMode="auto">
            <a:xfrm>
              <a:off x="3317" y="974"/>
              <a:ext cx="47" cy="1"/>
            </a:xfrm>
            <a:prstGeom prst="line">
              <a:avLst/>
            </a:prstGeom>
            <a:grpFill/>
            <a:ln w="2540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90" name="Line 13"/>
            <p:cNvSpPr>
              <a:spLocks noChangeShapeType="1"/>
            </p:cNvSpPr>
            <p:nvPr/>
          </p:nvSpPr>
          <p:spPr bwMode="auto">
            <a:xfrm>
              <a:off x="3364" y="3401"/>
              <a:ext cx="1995" cy="1"/>
            </a:xfrm>
            <a:prstGeom prst="line">
              <a:avLst/>
            </a:prstGeom>
            <a:grpFill/>
            <a:ln w="2540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91" name="Line 14"/>
            <p:cNvSpPr>
              <a:spLocks noChangeShapeType="1"/>
            </p:cNvSpPr>
            <p:nvPr/>
          </p:nvSpPr>
          <p:spPr bwMode="auto">
            <a:xfrm flipV="1">
              <a:off x="3364" y="3401"/>
              <a:ext cx="1" cy="47"/>
            </a:xfrm>
            <a:prstGeom prst="line">
              <a:avLst/>
            </a:prstGeom>
            <a:grpFill/>
            <a:ln w="2540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92" name="Line 15"/>
            <p:cNvSpPr>
              <a:spLocks noChangeShapeType="1"/>
            </p:cNvSpPr>
            <p:nvPr/>
          </p:nvSpPr>
          <p:spPr bwMode="auto">
            <a:xfrm flipV="1">
              <a:off x="3725" y="3401"/>
              <a:ext cx="1" cy="47"/>
            </a:xfrm>
            <a:prstGeom prst="line">
              <a:avLst/>
            </a:prstGeom>
            <a:grpFill/>
            <a:ln w="2540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93" name="Line 16"/>
            <p:cNvSpPr>
              <a:spLocks noChangeShapeType="1"/>
            </p:cNvSpPr>
            <p:nvPr/>
          </p:nvSpPr>
          <p:spPr bwMode="auto">
            <a:xfrm flipV="1">
              <a:off x="4087" y="3401"/>
              <a:ext cx="1" cy="47"/>
            </a:xfrm>
            <a:prstGeom prst="line">
              <a:avLst/>
            </a:prstGeom>
            <a:grpFill/>
            <a:ln w="2540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94" name="Line 17"/>
            <p:cNvSpPr>
              <a:spLocks noChangeShapeType="1"/>
            </p:cNvSpPr>
            <p:nvPr/>
          </p:nvSpPr>
          <p:spPr bwMode="auto">
            <a:xfrm flipV="1">
              <a:off x="4456" y="3401"/>
              <a:ext cx="1" cy="47"/>
            </a:xfrm>
            <a:prstGeom prst="line">
              <a:avLst/>
            </a:prstGeom>
            <a:grpFill/>
            <a:ln w="2540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95" name="Line 18"/>
            <p:cNvSpPr>
              <a:spLocks noChangeShapeType="1"/>
            </p:cNvSpPr>
            <p:nvPr/>
          </p:nvSpPr>
          <p:spPr bwMode="auto">
            <a:xfrm flipV="1">
              <a:off x="4817" y="3401"/>
              <a:ext cx="1" cy="47"/>
            </a:xfrm>
            <a:prstGeom prst="line">
              <a:avLst/>
            </a:prstGeom>
            <a:grpFill/>
            <a:ln w="2540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96" name="Line 19"/>
            <p:cNvSpPr>
              <a:spLocks noChangeShapeType="1"/>
            </p:cNvSpPr>
            <p:nvPr/>
          </p:nvSpPr>
          <p:spPr bwMode="auto">
            <a:xfrm flipV="1">
              <a:off x="5178" y="3401"/>
              <a:ext cx="1" cy="47"/>
            </a:xfrm>
            <a:prstGeom prst="line">
              <a:avLst/>
            </a:prstGeom>
            <a:grpFill/>
            <a:ln w="2540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97" name="Rectangle 20"/>
            <p:cNvSpPr>
              <a:spLocks noChangeArrowheads="1"/>
            </p:cNvSpPr>
            <p:nvPr/>
          </p:nvSpPr>
          <p:spPr bwMode="auto">
            <a:xfrm>
              <a:off x="3168" y="3323"/>
              <a:ext cx="81" cy="17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Arial" panose="020B0604020202020204"/>
                  <a:cs typeface="Arial" panose="020B0604020202020204"/>
                </a:rPr>
                <a:t>0</a:t>
              </a:r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98" name="Rectangle 21"/>
            <p:cNvSpPr>
              <a:spLocks noChangeArrowheads="1"/>
            </p:cNvSpPr>
            <p:nvPr/>
          </p:nvSpPr>
          <p:spPr bwMode="auto">
            <a:xfrm>
              <a:off x="3011" y="2914"/>
              <a:ext cx="243" cy="17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Arial" panose="020B0604020202020204"/>
                  <a:cs typeface="Arial" panose="020B0604020202020204"/>
                </a:rPr>
                <a:t>500</a:t>
              </a:r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99" name="Rectangle 22"/>
            <p:cNvSpPr>
              <a:spLocks noChangeArrowheads="1"/>
            </p:cNvSpPr>
            <p:nvPr/>
          </p:nvSpPr>
          <p:spPr bwMode="auto">
            <a:xfrm>
              <a:off x="2893" y="2514"/>
              <a:ext cx="364" cy="17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Arial" panose="020B0604020202020204"/>
                  <a:cs typeface="Arial" panose="020B0604020202020204"/>
                </a:rPr>
                <a:t>1000</a:t>
              </a:r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00" name="Rectangle 23"/>
            <p:cNvSpPr>
              <a:spLocks noChangeArrowheads="1"/>
            </p:cNvSpPr>
            <p:nvPr/>
          </p:nvSpPr>
          <p:spPr bwMode="auto">
            <a:xfrm>
              <a:off x="2893" y="2105"/>
              <a:ext cx="364" cy="17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Arial" panose="020B0604020202020204"/>
                  <a:cs typeface="Arial" panose="020B0604020202020204"/>
                </a:rPr>
                <a:t>1500</a:t>
              </a:r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01" name="Rectangle 24"/>
            <p:cNvSpPr>
              <a:spLocks noChangeArrowheads="1"/>
            </p:cNvSpPr>
            <p:nvPr/>
          </p:nvSpPr>
          <p:spPr bwMode="auto">
            <a:xfrm>
              <a:off x="2893" y="1705"/>
              <a:ext cx="364" cy="17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Arial" panose="020B0604020202020204"/>
                  <a:cs typeface="Arial" panose="020B0604020202020204"/>
                </a:rPr>
                <a:t>2000</a:t>
              </a:r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02" name="Rectangle 25"/>
            <p:cNvSpPr>
              <a:spLocks noChangeArrowheads="1"/>
            </p:cNvSpPr>
            <p:nvPr/>
          </p:nvSpPr>
          <p:spPr bwMode="auto">
            <a:xfrm>
              <a:off x="2893" y="1296"/>
              <a:ext cx="364" cy="17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Arial" panose="020B0604020202020204"/>
                  <a:cs typeface="Arial" panose="020B0604020202020204"/>
                </a:rPr>
                <a:t>2500</a:t>
              </a:r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03" name="Rectangle 26"/>
            <p:cNvSpPr>
              <a:spLocks noChangeArrowheads="1"/>
            </p:cNvSpPr>
            <p:nvPr/>
          </p:nvSpPr>
          <p:spPr bwMode="auto">
            <a:xfrm>
              <a:off x="2893" y="896"/>
              <a:ext cx="364" cy="17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Arial" panose="020B0604020202020204"/>
                  <a:cs typeface="Arial" panose="020B0604020202020204"/>
                </a:rPr>
                <a:t>3000</a:t>
              </a:r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04" name="Rectangle 27"/>
            <p:cNvSpPr>
              <a:spLocks noChangeArrowheads="1"/>
            </p:cNvSpPr>
            <p:nvPr/>
          </p:nvSpPr>
          <p:spPr bwMode="auto">
            <a:xfrm>
              <a:off x="3325" y="3535"/>
              <a:ext cx="81" cy="17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Arial" panose="020B0604020202020204"/>
                  <a:cs typeface="Arial" panose="020B0604020202020204"/>
                </a:rPr>
                <a:t>0</a:t>
              </a:r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05" name="Rectangle 28"/>
            <p:cNvSpPr>
              <a:spLocks noChangeArrowheads="1"/>
            </p:cNvSpPr>
            <p:nvPr/>
          </p:nvSpPr>
          <p:spPr bwMode="auto">
            <a:xfrm>
              <a:off x="3686" y="3535"/>
              <a:ext cx="81" cy="17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Arial" panose="020B0604020202020204"/>
                  <a:cs typeface="Arial" panose="020B0604020202020204"/>
                </a:rPr>
                <a:t>1</a:t>
              </a:r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06" name="Rectangle 29"/>
            <p:cNvSpPr>
              <a:spLocks noChangeArrowheads="1"/>
            </p:cNvSpPr>
            <p:nvPr/>
          </p:nvSpPr>
          <p:spPr bwMode="auto">
            <a:xfrm>
              <a:off x="4047" y="3535"/>
              <a:ext cx="81" cy="17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Arial" panose="020B0604020202020204"/>
                  <a:cs typeface="Arial" panose="020B0604020202020204"/>
                </a:rPr>
                <a:t>2</a:t>
              </a:r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07" name="Rectangle 30"/>
            <p:cNvSpPr>
              <a:spLocks noChangeArrowheads="1"/>
            </p:cNvSpPr>
            <p:nvPr/>
          </p:nvSpPr>
          <p:spPr bwMode="auto">
            <a:xfrm>
              <a:off x="4417" y="3535"/>
              <a:ext cx="81" cy="17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Arial" panose="020B0604020202020204"/>
                  <a:cs typeface="Arial" panose="020B0604020202020204"/>
                </a:rPr>
                <a:t>3</a:t>
              </a:r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08" name="Rectangle 31"/>
            <p:cNvSpPr>
              <a:spLocks noChangeArrowheads="1"/>
            </p:cNvSpPr>
            <p:nvPr/>
          </p:nvSpPr>
          <p:spPr bwMode="auto">
            <a:xfrm>
              <a:off x="4778" y="3535"/>
              <a:ext cx="81" cy="17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Arial" panose="020B0604020202020204"/>
                  <a:cs typeface="Arial" panose="020B0604020202020204"/>
                </a:rPr>
                <a:t>4</a:t>
              </a:r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09" name="Rectangle 32"/>
            <p:cNvSpPr>
              <a:spLocks noChangeArrowheads="1"/>
            </p:cNvSpPr>
            <p:nvPr/>
          </p:nvSpPr>
          <p:spPr bwMode="auto">
            <a:xfrm>
              <a:off x="5139" y="3535"/>
              <a:ext cx="81" cy="17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Arial" panose="020B0604020202020204"/>
                  <a:cs typeface="Arial" panose="020B0604020202020204"/>
                </a:rPr>
                <a:t>5</a:t>
              </a:r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10" name="Rectangle 33"/>
            <p:cNvSpPr>
              <a:spLocks noChangeArrowheads="1"/>
            </p:cNvSpPr>
            <p:nvPr/>
          </p:nvSpPr>
          <p:spPr bwMode="auto">
            <a:xfrm>
              <a:off x="3835" y="3778"/>
              <a:ext cx="608" cy="18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工人人数</a:t>
              </a:r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11" name="Rectangle 34"/>
            <p:cNvSpPr>
              <a:spLocks noChangeArrowheads="1"/>
            </p:cNvSpPr>
            <p:nvPr/>
          </p:nvSpPr>
          <p:spPr bwMode="auto">
            <a:xfrm rot="16200000">
              <a:off x="2355" y="2225"/>
              <a:ext cx="615" cy="18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zh-CN" altLang="en-US" sz="19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产</a:t>
              </a:r>
              <a:r>
                <a:rPr lang="en-US" sz="19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出数量</a:t>
              </a:r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农场主</a:t>
            </a:r>
            <a:r>
              <a:rPr lang="en-US" altLang="zh-CN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A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的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生产函数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251" name="组合 250"/>
          <p:cNvGrpSpPr/>
          <p:nvPr/>
        </p:nvGrpSpPr>
        <p:grpSpPr>
          <a:xfrm>
            <a:off x="1253286" y="1604382"/>
            <a:ext cx="2342775" cy="4886570"/>
            <a:chOff x="1414272" y="1417638"/>
            <a:chExt cx="2516188" cy="5248275"/>
          </a:xfrm>
        </p:grpSpPr>
        <p:grpSp>
          <p:nvGrpSpPr>
            <p:cNvPr id="218" name="Group 36"/>
            <p:cNvGrpSpPr/>
            <p:nvPr/>
          </p:nvGrpSpPr>
          <p:grpSpPr bwMode="auto">
            <a:xfrm>
              <a:off x="1414272" y="6084888"/>
              <a:ext cx="2349500" cy="581025"/>
              <a:chOff x="210" y="3557"/>
              <a:chExt cx="1480" cy="366"/>
            </a:xfrm>
          </p:grpSpPr>
          <p:sp>
            <p:nvSpPr>
              <p:cNvPr id="249" name="Rectangle 37"/>
              <p:cNvSpPr>
                <a:spLocks noChangeArrowheads="1"/>
              </p:cNvSpPr>
              <p:nvPr/>
            </p:nvSpPr>
            <p:spPr bwMode="auto">
              <a:xfrm>
                <a:off x="958" y="3557"/>
                <a:ext cx="732" cy="36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rIns="22860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3000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50" name="Rectangle 38"/>
              <p:cNvSpPr>
                <a:spLocks noChangeArrowheads="1"/>
              </p:cNvSpPr>
              <p:nvPr/>
            </p:nvSpPr>
            <p:spPr bwMode="auto">
              <a:xfrm>
                <a:off x="210" y="3557"/>
                <a:ext cx="748" cy="36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rIns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5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219" name="Group 39"/>
            <p:cNvGrpSpPr/>
            <p:nvPr/>
          </p:nvGrpSpPr>
          <p:grpSpPr bwMode="auto">
            <a:xfrm>
              <a:off x="1414272" y="5503863"/>
              <a:ext cx="2349500" cy="581025"/>
              <a:chOff x="210" y="3191"/>
              <a:chExt cx="1480" cy="366"/>
            </a:xfrm>
          </p:grpSpPr>
          <p:sp>
            <p:nvSpPr>
              <p:cNvPr id="247" name="Rectangle 40"/>
              <p:cNvSpPr>
                <a:spLocks noChangeArrowheads="1"/>
              </p:cNvSpPr>
              <p:nvPr/>
            </p:nvSpPr>
            <p:spPr bwMode="auto">
              <a:xfrm>
                <a:off x="958" y="3191"/>
                <a:ext cx="732" cy="36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rIns="22860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2800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48" name="Rectangle 41"/>
              <p:cNvSpPr>
                <a:spLocks noChangeArrowheads="1"/>
              </p:cNvSpPr>
              <p:nvPr/>
            </p:nvSpPr>
            <p:spPr bwMode="auto">
              <a:xfrm>
                <a:off x="210" y="3191"/>
                <a:ext cx="748" cy="36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rIns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4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220" name="Group 42"/>
            <p:cNvGrpSpPr/>
            <p:nvPr/>
          </p:nvGrpSpPr>
          <p:grpSpPr bwMode="auto">
            <a:xfrm>
              <a:off x="1414272" y="4864100"/>
              <a:ext cx="2349500" cy="639763"/>
              <a:chOff x="210" y="2788"/>
              <a:chExt cx="1480" cy="403"/>
            </a:xfrm>
          </p:grpSpPr>
          <p:sp>
            <p:nvSpPr>
              <p:cNvPr id="245" name="Rectangle 43"/>
              <p:cNvSpPr>
                <a:spLocks noChangeArrowheads="1"/>
              </p:cNvSpPr>
              <p:nvPr/>
            </p:nvSpPr>
            <p:spPr bwMode="auto">
              <a:xfrm>
                <a:off x="958" y="2788"/>
                <a:ext cx="732" cy="40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rIns="22860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2400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46" name="Rectangle 44"/>
              <p:cNvSpPr>
                <a:spLocks noChangeArrowheads="1"/>
              </p:cNvSpPr>
              <p:nvPr/>
            </p:nvSpPr>
            <p:spPr bwMode="auto">
              <a:xfrm>
                <a:off x="210" y="2788"/>
                <a:ext cx="748" cy="40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rIns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3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221" name="Group 45"/>
            <p:cNvGrpSpPr/>
            <p:nvPr/>
          </p:nvGrpSpPr>
          <p:grpSpPr bwMode="auto">
            <a:xfrm>
              <a:off x="1414272" y="4210050"/>
              <a:ext cx="2349500" cy="654050"/>
              <a:chOff x="210" y="2376"/>
              <a:chExt cx="1480" cy="412"/>
            </a:xfrm>
          </p:grpSpPr>
          <p:sp>
            <p:nvSpPr>
              <p:cNvPr id="243" name="Rectangle 46"/>
              <p:cNvSpPr>
                <a:spLocks noChangeArrowheads="1"/>
              </p:cNvSpPr>
              <p:nvPr/>
            </p:nvSpPr>
            <p:spPr bwMode="auto">
              <a:xfrm>
                <a:off x="958" y="2376"/>
                <a:ext cx="732" cy="41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rIns="22860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1800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44" name="Rectangle 47"/>
              <p:cNvSpPr>
                <a:spLocks noChangeArrowheads="1"/>
              </p:cNvSpPr>
              <p:nvPr/>
            </p:nvSpPr>
            <p:spPr bwMode="auto">
              <a:xfrm>
                <a:off x="210" y="2376"/>
                <a:ext cx="748" cy="41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rIns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2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222" name="Group 48"/>
            <p:cNvGrpSpPr/>
            <p:nvPr/>
          </p:nvGrpSpPr>
          <p:grpSpPr bwMode="auto">
            <a:xfrm>
              <a:off x="1414272" y="3570288"/>
              <a:ext cx="2349500" cy="639762"/>
              <a:chOff x="210" y="1973"/>
              <a:chExt cx="1480" cy="403"/>
            </a:xfrm>
          </p:grpSpPr>
          <p:sp>
            <p:nvSpPr>
              <p:cNvPr id="241" name="Rectangle 49"/>
              <p:cNvSpPr>
                <a:spLocks noChangeArrowheads="1"/>
              </p:cNvSpPr>
              <p:nvPr/>
            </p:nvSpPr>
            <p:spPr bwMode="auto">
              <a:xfrm>
                <a:off x="958" y="1973"/>
                <a:ext cx="732" cy="40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rIns="22860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1000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42" name="Rectangle 50"/>
              <p:cNvSpPr>
                <a:spLocks noChangeArrowheads="1"/>
              </p:cNvSpPr>
              <p:nvPr/>
            </p:nvSpPr>
            <p:spPr bwMode="auto">
              <a:xfrm>
                <a:off x="210" y="1973"/>
                <a:ext cx="748" cy="40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rIns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1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223" name="Group 51"/>
            <p:cNvGrpSpPr/>
            <p:nvPr/>
          </p:nvGrpSpPr>
          <p:grpSpPr bwMode="auto">
            <a:xfrm>
              <a:off x="1414272" y="2890838"/>
              <a:ext cx="2349500" cy="679450"/>
              <a:chOff x="210" y="1545"/>
              <a:chExt cx="1480" cy="428"/>
            </a:xfrm>
          </p:grpSpPr>
          <p:sp>
            <p:nvSpPr>
              <p:cNvPr id="239" name="Rectangle 52"/>
              <p:cNvSpPr>
                <a:spLocks noChangeArrowheads="1"/>
              </p:cNvSpPr>
              <p:nvPr/>
            </p:nvSpPr>
            <p:spPr bwMode="auto">
              <a:xfrm>
                <a:off x="958" y="1545"/>
                <a:ext cx="732" cy="42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rIns="22860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40" name="Rectangle 53"/>
              <p:cNvSpPr>
                <a:spLocks noChangeArrowheads="1"/>
              </p:cNvSpPr>
              <p:nvPr/>
            </p:nvSpPr>
            <p:spPr bwMode="auto">
              <a:xfrm>
                <a:off x="210" y="1545"/>
                <a:ext cx="748" cy="42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rIns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224" name="Line 54"/>
            <p:cNvSpPr>
              <a:spLocks noChangeShapeType="1"/>
            </p:cNvSpPr>
            <p:nvPr/>
          </p:nvSpPr>
          <p:spPr bwMode="auto">
            <a:xfrm>
              <a:off x="1414272" y="1577975"/>
              <a:ext cx="1187450" cy="0"/>
            </a:xfrm>
            <a:prstGeom prst="line">
              <a:avLst/>
            </a:prstGeom>
            <a:noFill/>
            <a:ln w="28575" cap="sq">
              <a:noFill/>
              <a:round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25" name="Line 55"/>
            <p:cNvSpPr>
              <a:spLocks noChangeShapeType="1"/>
            </p:cNvSpPr>
            <p:nvPr/>
          </p:nvSpPr>
          <p:spPr bwMode="auto">
            <a:xfrm>
              <a:off x="1414272" y="6665913"/>
              <a:ext cx="1187450" cy="0"/>
            </a:xfrm>
            <a:prstGeom prst="line">
              <a:avLst/>
            </a:prstGeom>
            <a:noFill/>
            <a:ln w="28575" cap="sq">
              <a:noFill/>
              <a:round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26" name="Line 56"/>
            <p:cNvSpPr>
              <a:spLocks noChangeShapeType="1"/>
            </p:cNvSpPr>
            <p:nvPr/>
          </p:nvSpPr>
          <p:spPr bwMode="auto">
            <a:xfrm>
              <a:off x="1414272" y="1577975"/>
              <a:ext cx="0" cy="1312863"/>
            </a:xfrm>
            <a:prstGeom prst="line">
              <a:avLst/>
            </a:prstGeom>
            <a:noFill/>
            <a:ln w="28575" cap="sq">
              <a:noFill/>
              <a:round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27" name="Line 58"/>
            <p:cNvSpPr>
              <a:spLocks noChangeShapeType="1"/>
            </p:cNvSpPr>
            <p:nvPr/>
          </p:nvSpPr>
          <p:spPr bwMode="auto">
            <a:xfrm>
              <a:off x="2601722" y="1577975"/>
              <a:ext cx="1328738" cy="0"/>
            </a:xfrm>
            <a:prstGeom prst="line">
              <a:avLst/>
            </a:prstGeom>
            <a:noFill/>
            <a:ln w="28575" cap="sq">
              <a:noFill/>
              <a:round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28" name="Line 59"/>
            <p:cNvSpPr>
              <a:spLocks noChangeShapeType="1"/>
            </p:cNvSpPr>
            <p:nvPr/>
          </p:nvSpPr>
          <p:spPr bwMode="auto">
            <a:xfrm>
              <a:off x="1414272" y="2890838"/>
              <a:ext cx="0" cy="679450"/>
            </a:xfrm>
            <a:prstGeom prst="line">
              <a:avLst/>
            </a:prstGeom>
            <a:noFill/>
            <a:ln w="28575" cap="sq">
              <a:noFill/>
              <a:round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29" name="Line 62"/>
            <p:cNvSpPr>
              <a:spLocks noChangeShapeType="1"/>
            </p:cNvSpPr>
            <p:nvPr/>
          </p:nvSpPr>
          <p:spPr bwMode="auto">
            <a:xfrm>
              <a:off x="1414272" y="3570288"/>
              <a:ext cx="0" cy="639762"/>
            </a:xfrm>
            <a:prstGeom prst="line">
              <a:avLst/>
            </a:prstGeom>
            <a:noFill/>
            <a:ln w="28575" cap="sq">
              <a:noFill/>
              <a:round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30" name="Line 64"/>
            <p:cNvSpPr>
              <a:spLocks noChangeShapeType="1"/>
            </p:cNvSpPr>
            <p:nvPr/>
          </p:nvSpPr>
          <p:spPr bwMode="auto">
            <a:xfrm>
              <a:off x="1414272" y="4210050"/>
              <a:ext cx="0" cy="654050"/>
            </a:xfrm>
            <a:prstGeom prst="line">
              <a:avLst/>
            </a:prstGeom>
            <a:noFill/>
            <a:ln w="28575" cap="sq">
              <a:noFill/>
              <a:round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31" name="Line 66"/>
            <p:cNvSpPr>
              <a:spLocks noChangeShapeType="1"/>
            </p:cNvSpPr>
            <p:nvPr/>
          </p:nvSpPr>
          <p:spPr bwMode="auto">
            <a:xfrm>
              <a:off x="1414272" y="4864100"/>
              <a:ext cx="0" cy="639763"/>
            </a:xfrm>
            <a:prstGeom prst="line">
              <a:avLst/>
            </a:prstGeom>
            <a:noFill/>
            <a:ln w="28575" cap="sq">
              <a:noFill/>
              <a:round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32" name="Line 68"/>
            <p:cNvSpPr>
              <a:spLocks noChangeShapeType="1"/>
            </p:cNvSpPr>
            <p:nvPr/>
          </p:nvSpPr>
          <p:spPr bwMode="auto">
            <a:xfrm>
              <a:off x="1414272" y="5503863"/>
              <a:ext cx="0" cy="581025"/>
            </a:xfrm>
            <a:prstGeom prst="line">
              <a:avLst/>
            </a:prstGeom>
            <a:noFill/>
            <a:ln w="28575" cap="sq">
              <a:noFill/>
              <a:round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33" name="Line 70"/>
            <p:cNvSpPr>
              <a:spLocks noChangeShapeType="1"/>
            </p:cNvSpPr>
            <p:nvPr/>
          </p:nvSpPr>
          <p:spPr bwMode="auto">
            <a:xfrm>
              <a:off x="1414272" y="6084888"/>
              <a:ext cx="0" cy="581025"/>
            </a:xfrm>
            <a:prstGeom prst="line">
              <a:avLst/>
            </a:prstGeom>
            <a:noFill/>
            <a:ln w="28575" cap="sq">
              <a:noFill/>
              <a:round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34" name="Line 72"/>
            <p:cNvSpPr>
              <a:spLocks noChangeShapeType="1"/>
            </p:cNvSpPr>
            <p:nvPr/>
          </p:nvSpPr>
          <p:spPr bwMode="auto">
            <a:xfrm>
              <a:off x="2601722" y="6665913"/>
              <a:ext cx="1328738" cy="0"/>
            </a:xfrm>
            <a:prstGeom prst="line">
              <a:avLst/>
            </a:prstGeom>
            <a:noFill/>
            <a:ln w="28575" cap="sq">
              <a:noFill/>
              <a:round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235" name="Group 74"/>
            <p:cNvGrpSpPr/>
            <p:nvPr/>
          </p:nvGrpSpPr>
          <p:grpSpPr bwMode="auto">
            <a:xfrm>
              <a:off x="1414272" y="1417638"/>
              <a:ext cx="2516188" cy="1485900"/>
              <a:chOff x="210" y="718"/>
              <a:chExt cx="1585" cy="835"/>
            </a:xfrm>
          </p:grpSpPr>
          <p:sp>
            <p:nvSpPr>
              <p:cNvPr id="236" name="Rectangle 75"/>
              <p:cNvSpPr>
                <a:spLocks noChangeArrowheads="1"/>
              </p:cNvSpPr>
              <p:nvPr/>
            </p:nvSpPr>
            <p:spPr bwMode="auto">
              <a:xfrm>
                <a:off x="874" y="718"/>
                <a:ext cx="921" cy="8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rIns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9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000" b="1" i="1" smtClean="0">
                    <a:latin typeface="Arial" panose="020B0604020202020204"/>
                    <a:cs typeface="Arial" panose="020B0604020202020204"/>
                  </a:rPr>
                  <a:t>Q</a:t>
                </a:r>
                <a:br>
                  <a:rPr lang="en-US" sz="2200">
                    <a:latin typeface="Arial" panose="020B0604020202020204"/>
                    <a:cs typeface="Arial" panose="020B0604020202020204"/>
                  </a:rPr>
                </a:br>
                <a:r>
                  <a:rPr lang="zh-CN" altLang="en-US" sz="220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（</a:t>
                </a:r>
                <a:r>
                  <a:rPr lang="en-US" sz="220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每周小麦产量</a:t>
                </a:r>
                <a:r>
                  <a:rPr lang="en-US" sz="22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）</a:t>
                </a:r>
                <a:endParaRPr lang="en-US" sz="2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37" name="Rectangle 76"/>
              <p:cNvSpPr>
                <a:spLocks noChangeArrowheads="1"/>
              </p:cNvSpPr>
              <p:nvPr/>
            </p:nvSpPr>
            <p:spPr bwMode="auto">
              <a:xfrm>
                <a:off x="210" y="718"/>
                <a:ext cx="748" cy="8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rIns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L</a:t>
                </a:r>
                <a:br>
                  <a:rPr lang="en-US" sz="2400">
                    <a:latin typeface="Arial" panose="020B0604020202020204"/>
                    <a:cs typeface="Arial" panose="020B0604020202020204"/>
                  </a:rPr>
                </a:br>
                <a:r>
                  <a:rPr lang="en-US" sz="22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（工人人数）</a:t>
                </a:r>
                <a:endParaRPr lang="en-US" sz="2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38" name="Line 77"/>
              <p:cNvSpPr>
                <a:spLocks noChangeShapeType="1"/>
              </p:cNvSpPr>
              <p:nvPr/>
            </p:nvSpPr>
            <p:spPr bwMode="auto">
              <a:xfrm>
                <a:off x="216" y="1553"/>
                <a:ext cx="154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468" name="Line 105"/>
          <p:cNvSpPr>
            <a:spLocks noChangeShapeType="1"/>
          </p:cNvSpPr>
          <p:nvPr/>
        </p:nvSpPr>
        <p:spPr bwMode="auto">
          <a:xfrm flipV="1">
            <a:off x="5362735" y="4555397"/>
            <a:ext cx="574675" cy="127635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69" name="Line 106"/>
          <p:cNvSpPr>
            <a:spLocks noChangeShapeType="1"/>
          </p:cNvSpPr>
          <p:nvPr/>
        </p:nvSpPr>
        <p:spPr bwMode="auto">
          <a:xfrm flipV="1">
            <a:off x="5951698" y="3504472"/>
            <a:ext cx="547688" cy="104616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70" name="Line 107"/>
          <p:cNvSpPr>
            <a:spLocks noChangeShapeType="1"/>
          </p:cNvSpPr>
          <p:nvPr/>
        </p:nvSpPr>
        <p:spPr bwMode="auto">
          <a:xfrm flipV="1">
            <a:off x="6513673" y="2736122"/>
            <a:ext cx="587375" cy="7604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71" name="Line 108"/>
          <p:cNvSpPr>
            <a:spLocks noChangeShapeType="1"/>
          </p:cNvSpPr>
          <p:nvPr/>
        </p:nvSpPr>
        <p:spPr bwMode="auto">
          <a:xfrm flipV="1">
            <a:off x="7096285" y="2199547"/>
            <a:ext cx="587375" cy="53498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72" name="Line 109"/>
          <p:cNvSpPr>
            <a:spLocks noChangeShapeType="1"/>
          </p:cNvSpPr>
          <p:nvPr/>
        </p:nvSpPr>
        <p:spPr bwMode="auto">
          <a:xfrm flipV="1">
            <a:off x="7693185" y="1983647"/>
            <a:ext cx="558800" cy="22066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14" name="Group 94"/>
          <p:cNvGrpSpPr/>
          <p:nvPr/>
        </p:nvGrpSpPr>
        <p:grpSpPr bwMode="auto">
          <a:xfrm>
            <a:off x="5329735" y="3481120"/>
            <a:ext cx="1212850" cy="2405062"/>
            <a:chOff x="3364" y="1885"/>
            <a:chExt cx="764" cy="1515"/>
          </a:xfrm>
        </p:grpSpPr>
        <p:grpSp>
          <p:nvGrpSpPr>
            <p:cNvPr id="515" name="Group 95"/>
            <p:cNvGrpSpPr/>
            <p:nvPr/>
          </p:nvGrpSpPr>
          <p:grpSpPr bwMode="auto">
            <a:xfrm>
              <a:off x="3364" y="1930"/>
              <a:ext cx="721" cy="1470"/>
              <a:chOff x="357" y="2450"/>
              <a:chExt cx="795" cy="646"/>
            </a:xfrm>
          </p:grpSpPr>
          <p:sp>
            <p:nvSpPr>
              <p:cNvPr id="517" name="Line 96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18" name="Line 97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516" name="Oval 98"/>
            <p:cNvSpPr>
              <a:spLocks noChangeArrowheads="1"/>
            </p:cNvSpPr>
            <p:nvPr/>
          </p:nvSpPr>
          <p:spPr bwMode="auto">
            <a:xfrm>
              <a:off x="4040" y="1885"/>
              <a:ext cx="88" cy="87"/>
            </a:xfrm>
            <a:prstGeom prst="ellipse">
              <a:avLst/>
            </a:prstGeom>
            <a:solidFill>
              <a:srgbClr val="CC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19" name="Group 99"/>
          <p:cNvGrpSpPr/>
          <p:nvPr/>
        </p:nvGrpSpPr>
        <p:grpSpPr bwMode="auto">
          <a:xfrm>
            <a:off x="5336983" y="4494902"/>
            <a:ext cx="652463" cy="1339850"/>
            <a:chOff x="3360" y="2552"/>
            <a:chExt cx="411" cy="844"/>
          </a:xfrm>
        </p:grpSpPr>
        <p:grpSp>
          <p:nvGrpSpPr>
            <p:cNvPr id="520" name="Group 100"/>
            <p:cNvGrpSpPr/>
            <p:nvPr/>
          </p:nvGrpSpPr>
          <p:grpSpPr bwMode="auto">
            <a:xfrm>
              <a:off x="3360" y="2589"/>
              <a:ext cx="365" cy="807"/>
              <a:chOff x="357" y="2450"/>
              <a:chExt cx="795" cy="646"/>
            </a:xfrm>
          </p:grpSpPr>
          <p:sp>
            <p:nvSpPr>
              <p:cNvPr id="522" name="Line 101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23" name="Line 102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521" name="Oval 103"/>
            <p:cNvSpPr>
              <a:spLocks noChangeArrowheads="1"/>
            </p:cNvSpPr>
            <p:nvPr/>
          </p:nvSpPr>
          <p:spPr bwMode="auto">
            <a:xfrm>
              <a:off x="3683" y="2552"/>
              <a:ext cx="88" cy="87"/>
            </a:xfrm>
            <a:prstGeom prst="ellipse">
              <a:avLst/>
            </a:prstGeom>
            <a:solidFill>
              <a:srgbClr val="CC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24" name="Group 89"/>
          <p:cNvGrpSpPr/>
          <p:nvPr/>
        </p:nvGrpSpPr>
        <p:grpSpPr bwMode="auto">
          <a:xfrm>
            <a:off x="5345611" y="2686331"/>
            <a:ext cx="1801812" cy="3168650"/>
            <a:chOff x="3361" y="1402"/>
            <a:chExt cx="1135" cy="1996"/>
          </a:xfrm>
        </p:grpSpPr>
        <p:grpSp>
          <p:nvGrpSpPr>
            <p:cNvPr id="525" name="Group 90"/>
            <p:cNvGrpSpPr/>
            <p:nvPr/>
          </p:nvGrpSpPr>
          <p:grpSpPr bwMode="auto">
            <a:xfrm>
              <a:off x="3361" y="1442"/>
              <a:ext cx="1092" cy="1956"/>
              <a:chOff x="357" y="2450"/>
              <a:chExt cx="795" cy="646"/>
            </a:xfrm>
          </p:grpSpPr>
          <p:sp>
            <p:nvSpPr>
              <p:cNvPr id="527" name="Line 91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28" name="Line 92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526" name="Oval 93"/>
            <p:cNvSpPr>
              <a:spLocks noChangeArrowheads="1"/>
            </p:cNvSpPr>
            <p:nvPr/>
          </p:nvSpPr>
          <p:spPr bwMode="auto">
            <a:xfrm>
              <a:off x="4408" y="1402"/>
              <a:ext cx="88" cy="87"/>
            </a:xfrm>
            <a:prstGeom prst="ellipse">
              <a:avLst/>
            </a:prstGeom>
            <a:solidFill>
              <a:srgbClr val="CC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29" name="Group 84"/>
          <p:cNvGrpSpPr/>
          <p:nvPr/>
        </p:nvGrpSpPr>
        <p:grpSpPr bwMode="auto">
          <a:xfrm>
            <a:off x="5347199" y="2136815"/>
            <a:ext cx="2374900" cy="3690937"/>
            <a:chOff x="3364" y="1075"/>
            <a:chExt cx="1496" cy="2325"/>
          </a:xfrm>
        </p:grpSpPr>
        <p:grpSp>
          <p:nvGrpSpPr>
            <p:cNvPr id="530" name="Group 85"/>
            <p:cNvGrpSpPr/>
            <p:nvPr/>
          </p:nvGrpSpPr>
          <p:grpSpPr bwMode="auto">
            <a:xfrm>
              <a:off x="3364" y="1116"/>
              <a:ext cx="1454" cy="2284"/>
              <a:chOff x="357" y="2450"/>
              <a:chExt cx="795" cy="646"/>
            </a:xfrm>
          </p:grpSpPr>
          <p:sp>
            <p:nvSpPr>
              <p:cNvPr id="532" name="Line 86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33" name="Line 87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531" name="Oval 88"/>
            <p:cNvSpPr>
              <a:spLocks noChangeArrowheads="1"/>
            </p:cNvSpPr>
            <p:nvPr/>
          </p:nvSpPr>
          <p:spPr bwMode="auto">
            <a:xfrm>
              <a:off x="4772" y="1075"/>
              <a:ext cx="88" cy="87"/>
            </a:xfrm>
            <a:prstGeom prst="ellipse">
              <a:avLst/>
            </a:prstGeom>
            <a:solidFill>
              <a:srgbClr val="CC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35" name="Group 79"/>
          <p:cNvGrpSpPr/>
          <p:nvPr/>
        </p:nvGrpSpPr>
        <p:grpSpPr bwMode="auto">
          <a:xfrm>
            <a:off x="5336982" y="1907460"/>
            <a:ext cx="2949575" cy="3903662"/>
            <a:chOff x="3362" y="935"/>
            <a:chExt cx="1858" cy="2459"/>
          </a:xfrm>
        </p:grpSpPr>
        <p:grpSp>
          <p:nvGrpSpPr>
            <p:cNvPr id="536" name="Group 80"/>
            <p:cNvGrpSpPr/>
            <p:nvPr/>
          </p:nvGrpSpPr>
          <p:grpSpPr bwMode="auto">
            <a:xfrm>
              <a:off x="3362" y="978"/>
              <a:ext cx="1816" cy="2416"/>
              <a:chOff x="357" y="2450"/>
              <a:chExt cx="795" cy="646"/>
            </a:xfrm>
          </p:grpSpPr>
          <p:sp>
            <p:nvSpPr>
              <p:cNvPr id="538" name="Line 81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39" name="Line 82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537" name="Oval 83"/>
            <p:cNvSpPr>
              <a:spLocks noChangeArrowheads="1"/>
            </p:cNvSpPr>
            <p:nvPr/>
          </p:nvSpPr>
          <p:spPr bwMode="auto">
            <a:xfrm>
              <a:off x="5132" y="935"/>
              <a:ext cx="88" cy="87"/>
            </a:xfrm>
            <a:prstGeom prst="ellipse">
              <a:avLst/>
            </a:prstGeom>
            <a:solidFill>
              <a:srgbClr val="CC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"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9"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边际劳动产品：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增加一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个单位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劳动所带来的产出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量的增加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边际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劳动产品（</a:t>
            </a:r>
            <a:r>
              <a:rPr lang="en-US" altLang="zh-CN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MPL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2" name="Group 10"/>
          <p:cNvGrpSpPr/>
          <p:nvPr/>
        </p:nvGrpSpPr>
        <p:grpSpPr bwMode="auto">
          <a:xfrm>
            <a:off x="2399496" y="2633260"/>
            <a:ext cx="1955800" cy="995363"/>
            <a:chOff x="509" y="3181"/>
            <a:chExt cx="1232" cy="627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1268" y="3181"/>
              <a:ext cx="473" cy="627"/>
              <a:chOff x="558" y="2708"/>
              <a:chExt cx="297" cy="627"/>
            </a:xfrm>
          </p:grpSpPr>
          <p:sp>
            <p:nvSpPr>
              <p:cNvPr id="6" name="Rectangle 5"/>
              <p:cNvSpPr>
                <a:spLocks noChangeArrowheads="1"/>
              </p:cNvSpPr>
              <p:nvPr/>
            </p:nvSpPr>
            <p:spPr bwMode="auto">
              <a:xfrm>
                <a:off x="558" y="2708"/>
                <a:ext cx="297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2800" b="1">
                    <a:latin typeface="Arial" panose="020B0604020202020204"/>
                    <a:cs typeface="Arial" panose="020B0604020202020204"/>
                  </a:rPr>
                  <a:t>∆Q</a:t>
                </a:r>
                <a:endParaRPr lang="en-US" sz="2800" b="1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7" name="Rectangle 6"/>
              <p:cNvSpPr>
                <a:spLocks noChangeArrowheads="1"/>
              </p:cNvSpPr>
              <p:nvPr/>
            </p:nvSpPr>
            <p:spPr bwMode="auto">
              <a:xfrm>
                <a:off x="584" y="3005"/>
                <a:ext cx="271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2800" b="1">
                    <a:latin typeface="Arial" panose="020B0604020202020204"/>
                    <a:cs typeface="Arial" panose="020B0604020202020204"/>
                  </a:rPr>
                  <a:t>∆L</a:t>
                </a:r>
                <a:endParaRPr lang="en-US" sz="2800" b="1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" name="Line 7"/>
              <p:cNvSpPr>
                <a:spLocks noChangeShapeType="1"/>
              </p:cNvSpPr>
              <p:nvPr/>
            </p:nvSpPr>
            <p:spPr bwMode="auto">
              <a:xfrm>
                <a:off x="600" y="3023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4" name="Rectangle 9"/>
            <p:cNvSpPr>
              <a:spLocks noChangeArrowheads="1"/>
            </p:cNvSpPr>
            <p:nvPr/>
          </p:nvSpPr>
          <p:spPr bwMode="auto">
            <a:xfrm>
              <a:off x="509" y="3330"/>
              <a:ext cx="788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2800" i="1">
                  <a:latin typeface="Arial" panose="020B0604020202020204"/>
                  <a:cs typeface="Arial" panose="020B0604020202020204"/>
                </a:rPr>
                <a:t>MPL=</a:t>
              </a:r>
              <a:endParaRPr lang="en-US" sz="28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0" name="TextBox 15"/>
          <p:cNvSpPr txBox="1"/>
          <p:nvPr/>
        </p:nvSpPr>
        <p:spPr>
          <a:xfrm>
            <a:off x="2488353" y="3844380"/>
            <a:ext cx="29253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∆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Q=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产出量的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变化</a:t>
            </a:r>
            <a:b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∆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L=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劳动力的变化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520227" y="1355292"/>
            <a:ext cx="80648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雇佣工人的成本（工资）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以货币来衡量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雇佣工人的收益（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MPL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）以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产出量来衡量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解决措施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MPL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转化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为货币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边际产品价值：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边际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产品乘以产出的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价格，即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VMPL=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劳动的边际产品价值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=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P×MPL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边际产品价值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299140" y="2057400"/>
            <a:ext cx="271100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P=5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单位，找到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MPL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VMPL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b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把它们填在表格的空白处。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然后画一个图，纵坐标是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VMPL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，横坐标是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习题：计算</a:t>
            </a:r>
            <a:r>
              <a:rPr lang="en-US" altLang="zh-CN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MPL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和</a:t>
            </a:r>
            <a:r>
              <a:rPr lang="en-US" altLang="zh-CN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VMPL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1" name="Rectangle 358"/>
          <p:cNvSpPr>
            <a:spLocks noChangeArrowheads="1"/>
          </p:cNvSpPr>
          <p:nvPr/>
        </p:nvSpPr>
        <p:spPr bwMode="auto">
          <a:xfrm>
            <a:off x="3369603" y="2195512"/>
            <a:ext cx="5624513" cy="43592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Rectangle 34"/>
          <p:cNvSpPr>
            <a:spLocks noChangeArrowheads="1"/>
          </p:cNvSpPr>
          <p:nvPr/>
        </p:nvSpPr>
        <p:spPr bwMode="auto">
          <a:xfrm>
            <a:off x="4812641" y="6035675"/>
            <a:ext cx="1501775" cy="522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Ins="274320" anchor="ctr"/>
          <a:lstStyle/>
          <a:p>
            <a:pPr algn="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3000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Rectangle 33"/>
          <p:cNvSpPr>
            <a:spLocks noChangeArrowheads="1"/>
          </p:cNvSpPr>
          <p:nvPr/>
        </p:nvSpPr>
        <p:spPr bwMode="auto">
          <a:xfrm>
            <a:off x="3368016" y="6035675"/>
            <a:ext cx="1444625" cy="522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Ins="182880" anchor="ctr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5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Rectangle 30"/>
          <p:cNvSpPr>
            <a:spLocks noChangeArrowheads="1"/>
          </p:cNvSpPr>
          <p:nvPr/>
        </p:nvSpPr>
        <p:spPr bwMode="auto">
          <a:xfrm>
            <a:off x="4812641" y="5516562"/>
            <a:ext cx="1501775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Ins="274320" anchor="ctr"/>
          <a:lstStyle/>
          <a:p>
            <a:pPr algn="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2800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3368016" y="5516562"/>
            <a:ext cx="1444625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Ins="182880" anchor="ctr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4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Rectangle 26"/>
          <p:cNvSpPr>
            <a:spLocks noChangeArrowheads="1"/>
          </p:cNvSpPr>
          <p:nvPr/>
        </p:nvSpPr>
        <p:spPr bwMode="auto">
          <a:xfrm>
            <a:off x="4812641" y="4992687"/>
            <a:ext cx="150177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Ins="274320" anchor="ctr"/>
          <a:lstStyle/>
          <a:p>
            <a:pPr algn="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2400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Rectangle 25"/>
          <p:cNvSpPr>
            <a:spLocks noChangeArrowheads="1"/>
          </p:cNvSpPr>
          <p:nvPr/>
        </p:nvSpPr>
        <p:spPr bwMode="auto">
          <a:xfrm>
            <a:off x="3368016" y="4992687"/>
            <a:ext cx="144462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Ins="182880" anchor="ctr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3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Rectangle 22"/>
          <p:cNvSpPr>
            <a:spLocks noChangeArrowheads="1"/>
          </p:cNvSpPr>
          <p:nvPr/>
        </p:nvSpPr>
        <p:spPr bwMode="auto">
          <a:xfrm>
            <a:off x="4812641" y="4470400"/>
            <a:ext cx="1501775" cy="522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Ins="274320" anchor="ctr"/>
          <a:lstStyle/>
          <a:p>
            <a:pPr algn="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1800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Rectangle 21"/>
          <p:cNvSpPr>
            <a:spLocks noChangeArrowheads="1"/>
          </p:cNvSpPr>
          <p:nvPr/>
        </p:nvSpPr>
        <p:spPr bwMode="auto">
          <a:xfrm>
            <a:off x="3368016" y="4470400"/>
            <a:ext cx="1444625" cy="522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Ins="182880" anchor="ctr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2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4812641" y="3949700"/>
            <a:ext cx="1501775" cy="520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Ins="274320" anchor="ctr"/>
          <a:lstStyle/>
          <a:p>
            <a:pPr algn="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1000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3368016" y="3949700"/>
            <a:ext cx="1444625" cy="520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Ins="182880" anchor="ctr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1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Rectangle 16"/>
          <p:cNvSpPr>
            <a:spLocks noChangeArrowheads="1"/>
          </p:cNvSpPr>
          <p:nvPr/>
        </p:nvSpPr>
        <p:spPr bwMode="auto">
          <a:xfrm>
            <a:off x="7554253" y="3429000"/>
            <a:ext cx="1446213" cy="520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Ins="182880" anchor="ctr"/>
          <a:lstStyle/>
          <a:p>
            <a:pPr algn="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Rectangle 15"/>
          <p:cNvSpPr>
            <a:spLocks noChangeArrowheads="1"/>
          </p:cNvSpPr>
          <p:nvPr/>
        </p:nvSpPr>
        <p:spPr bwMode="auto">
          <a:xfrm>
            <a:off x="6314416" y="3429000"/>
            <a:ext cx="1239837" cy="520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Ins="182880" anchor="ctr"/>
          <a:lstStyle/>
          <a:p>
            <a:pPr algn="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4812641" y="3429000"/>
            <a:ext cx="1501775" cy="520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Ins="274320" anchor="ctr"/>
          <a:lstStyle/>
          <a:p>
            <a:pPr algn="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0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3368016" y="3429000"/>
            <a:ext cx="1444625" cy="520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Ins="182880" anchor="ctr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0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7554253" y="2187575"/>
            <a:ext cx="1446213" cy="1241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lnSpc>
                <a:spcPct val="105000"/>
              </a:lnSpc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 i="1">
                <a:latin typeface="Arial" panose="020B0604020202020204"/>
                <a:cs typeface="Arial" panose="020B0604020202020204"/>
              </a:rPr>
              <a:t>VMPL</a:t>
            </a:r>
            <a:endParaRPr lang="en-US" sz="25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6314416" y="2187575"/>
            <a:ext cx="1239837" cy="1241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lnSpc>
                <a:spcPct val="105000"/>
              </a:lnSpc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 i="1">
                <a:latin typeface="Arial" panose="020B0604020202020204"/>
                <a:cs typeface="Arial" panose="020B0604020202020204"/>
              </a:rPr>
              <a:t>MPL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Rectangle 10"/>
          <p:cNvSpPr>
            <a:spLocks noChangeArrowheads="1"/>
          </p:cNvSpPr>
          <p:nvPr/>
        </p:nvSpPr>
        <p:spPr bwMode="auto">
          <a:xfrm>
            <a:off x="4812641" y="2187575"/>
            <a:ext cx="1501775" cy="1241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bIns="91440" anchor="ctr"/>
          <a:lstStyle/>
          <a:p>
            <a:pPr algn="ctr">
              <a:lnSpc>
                <a:spcPct val="95000"/>
              </a:lnSpc>
              <a:spcBef>
                <a:spcPct val="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 b="1" i="1">
                <a:latin typeface="Arial" panose="020B0604020202020204"/>
                <a:cs typeface="Arial" panose="020B0604020202020204"/>
              </a:rPr>
              <a:t>Q</a:t>
            </a:r>
            <a:endParaRPr lang="en-US" sz="25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95000"/>
              </a:lnSpc>
              <a:spcBef>
                <a:spcPct val="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（</a:t>
            </a:r>
            <a:r>
              <a:rPr lang="en-US" sz="25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小麦</a:t>
            </a:r>
            <a:r>
              <a:rPr lang="zh-CN" altLang="en-US" sz="25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产出</a:t>
            </a:r>
            <a:r>
              <a:rPr lang="en-US" sz="2500">
                <a:latin typeface="Arial" panose="020B0604020202020204"/>
                <a:cs typeface="Arial" panose="020B0604020202020204"/>
              </a:rPr>
              <a:t>）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Rectangle 9"/>
          <p:cNvSpPr>
            <a:spLocks noChangeArrowheads="1"/>
          </p:cNvSpPr>
          <p:nvPr/>
        </p:nvSpPr>
        <p:spPr bwMode="auto">
          <a:xfrm>
            <a:off x="3368016" y="2187575"/>
            <a:ext cx="1444625" cy="1241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bIns="91440" anchor="ctr"/>
          <a:lstStyle/>
          <a:p>
            <a:pPr algn="ctr">
              <a:lnSpc>
                <a:spcPct val="95000"/>
              </a:lnSpc>
              <a:spcBef>
                <a:spcPct val="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 b="1" i="1">
                <a:latin typeface="Arial" panose="020B0604020202020204"/>
                <a:cs typeface="Arial" panose="020B0604020202020204"/>
              </a:rPr>
              <a:t>L</a:t>
            </a:r>
            <a:endParaRPr lang="en-US" sz="25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95000"/>
              </a:lnSpc>
              <a:spcBef>
                <a:spcPct val="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（</a:t>
            </a:r>
            <a:r>
              <a:rPr lang="en-US" sz="25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工人人数）</a:t>
            </a:r>
            <a:endParaRPr lang="en-US" sz="25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0" name="Line 37"/>
          <p:cNvSpPr>
            <a:spLocks noChangeShapeType="1"/>
          </p:cNvSpPr>
          <p:nvPr/>
        </p:nvSpPr>
        <p:spPr bwMode="auto">
          <a:xfrm>
            <a:off x="3368016" y="2187575"/>
            <a:ext cx="563245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</p:spPr>
        <p:txBody>
          <a:bodyPr rIns="182880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Line 38"/>
          <p:cNvSpPr>
            <a:spLocks noChangeShapeType="1"/>
          </p:cNvSpPr>
          <p:nvPr/>
        </p:nvSpPr>
        <p:spPr bwMode="auto">
          <a:xfrm>
            <a:off x="3368016" y="3429000"/>
            <a:ext cx="5632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rIns="182880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Line 39"/>
          <p:cNvSpPr>
            <a:spLocks noChangeShapeType="1"/>
          </p:cNvSpPr>
          <p:nvPr/>
        </p:nvSpPr>
        <p:spPr bwMode="auto">
          <a:xfrm>
            <a:off x="3368016" y="3949700"/>
            <a:ext cx="5632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rIns="182880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Line 40"/>
          <p:cNvSpPr>
            <a:spLocks noChangeShapeType="1"/>
          </p:cNvSpPr>
          <p:nvPr/>
        </p:nvSpPr>
        <p:spPr bwMode="auto">
          <a:xfrm>
            <a:off x="3368016" y="4470400"/>
            <a:ext cx="5632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rIns="182880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Line 41"/>
          <p:cNvSpPr>
            <a:spLocks noChangeShapeType="1"/>
          </p:cNvSpPr>
          <p:nvPr/>
        </p:nvSpPr>
        <p:spPr bwMode="auto">
          <a:xfrm>
            <a:off x="3368016" y="4992687"/>
            <a:ext cx="5632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rIns="182880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Line 42"/>
          <p:cNvSpPr>
            <a:spLocks noChangeShapeType="1"/>
          </p:cNvSpPr>
          <p:nvPr/>
        </p:nvSpPr>
        <p:spPr bwMode="auto">
          <a:xfrm>
            <a:off x="3368016" y="5516562"/>
            <a:ext cx="5632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rIns="182880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Line 43"/>
          <p:cNvSpPr>
            <a:spLocks noChangeShapeType="1"/>
          </p:cNvSpPr>
          <p:nvPr/>
        </p:nvSpPr>
        <p:spPr bwMode="auto">
          <a:xfrm>
            <a:off x="3368016" y="6035675"/>
            <a:ext cx="5632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rIns="182880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Line 44"/>
          <p:cNvSpPr>
            <a:spLocks noChangeShapeType="1"/>
          </p:cNvSpPr>
          <p:nvPr/>
        </p:nvSpPr>
        <p:spPr bwMode="auto">
          <a:xfrm>
            <a:off x="3368016" y="6557962"/>
            <a:ext cx="563245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</p:spPr>
        <p:txBody>
          <a:bodyPr rIns="182880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Line 45"/>
          <p:cNvSpPr>
            <a:spLocks noChangeShapeType="1"/>
          </p:cNvSpPr>
          <p:nvPr/>
        </p:nvSpPr>
        <p:spPr bwMode="auto">
          <a:xfrm>
            <a:off x="3368016" y="2187575"/>
            <a:ext cx="0" cy="437038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</p:spPr>
        <p:txBody>
          <a:bodyPr rIns="182880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Line 46"/>
          <p:cNvSpPr>
            <a:spLocks noChangeShapeType="1"/>
          </p:cNvSpPr>
          <p:nvPr/>
        </p:nvSpPr>
        <p:spPr bwMode="auto">
          <a:xfrm>
            <a:off x="4812641" y="2187575"/>
            <a:ext cx="0" cy="4370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rIns="182880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Line 47"/>
          <p:cNvSpPr>
            <a:spLocks noChangeShapeType="1"/>
          </p:cNvSpPr>
          <p:nvPr/>
        </p:nvSpPr>
        <p:spPr bwMode="auto">
          <a:xfrm>
            <a:off x="6314416" y="2187575"/>
            <a:ext cx="0" cy="4370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rIns="182880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Line 48"/>
          <p:cNvSpPr>
            <a:spLocks noChangeShapeType="1"/>
          </p:cNvSpPr>
          <p:nvPr/>
        </p:nvSpPr>
        <p:spPr bwMode="auto">
          <a:xfrm>
            <a:off x="7554253" y="2187575"/>
            <a:ext cx="0" cy="4370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rIns="182880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Line 49"/>
          <p:cNvSpPr>
            <a:spLocks noChangeShapeType="1"/>
          </p:cNvSpPr>
          <p:nvPr/>
        </p:nvSpPr>
        <p:spPr bwMode="auto">
          <a:xfrm>
            <a:off x="9000466" y="2187575"/>
            <a:ext cx="0" cy="437038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</p:spPr>
        <p:txBody>
          <a:bodyPr rIns="182880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Rectangle 36"/>
          <p:cNvSpPr>
            <a:spLocks noChangeArrowheads="1"/>
          </p:cNvSpPr>
          <p:nvPr/>
        </p:nvSpPr>
        <p:spPr bwMode="auto">
          <a:xfrm>
            <a:off x="7554253" y="5772150"/>
            <a:ext cx="1446213" cy="5222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rIns="182880" anchor="ctr"/>
          <a:lstStyle/>
          <a:p>
            <a:pPr algn="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 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4" name="Rectangle 35"/>
          <p:cNvSpPr>
            <a:spLocks noChangeArrowheads="1"/>
          </p:cNvSpPr>
          <p:nvPr/>
        </p:nvSpPr>
        <p:spPr bwMode="auto">
          <a:xfrm>
            <a:off x="6314416" y="5772150"/>
            <a:ext cx="1239837" cy="5222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rIns="182880" anchor="ctr"/>
          <a:lstStyle/>
          <a:p>
            <a:pPr algn="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 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Rectangle 32"/>
          <p:cNvSpPr>
            <a:spLocks noChangeArrowheads="1"/>
          </p:cNvSpPr>
          <p:nvPr/>
        </p:nvSpPr>
        <p:spPr bwMode="auto">
          <a:xfrm>
            <a:off x="7554253" y="5253037"/>
            <a:ext cx="1446213" cy="5191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rIns="182880" anchor="ctr"/>
          <a:lstStyle/>
          <a:p>
            <a:pPr algn="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 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Rectangle 31"/>
          <p:cNvSpPr>
            <a:spLocks noChangeArrowheads="1"/>
          </p:cNvSpPr>
          <p:nvPr/>
        </p:nvSpPr>
        <p:spPr bwMode="auto">
          <a:xfrm>
            <a:off x="6314416" y="5253037"/>
            <a:ext cx="1239837" cy="5191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rIns="182880" anchor="ctr"/>
          <a:lstStyle/>
          <a:p>
            <a:pPr algn="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 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Rectangle 28"/>
          <p:cNvSpPr>
            <a:spLocks noChangeArrowheads="1"/>
          </p:cNvSpPr>
          <p:nvPr/>
        </p:nvSpPr>
        <p:spPr bwMode="auto">
          <a:xfrm>
            <a:off x="7554253" y="4729162"/>
            <a:ext cx="1446213" cy="523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rIns="182880" anchor="ctr"/>
          <a:lstStyle/>
          <a:p>
            <a:pPr algn="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 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Rectangle 27"/>
          <p:cNvSpPr>
            <a:spLocks noChangeArrowheads="1"/>
          </p:cNvSpPr>
          <p:nvPr/>
        </p:nvSpPr>
        <p:spPr bwMode="auto">
          <a:xfrm>
            <a:off x="6314416" y="4729162"/>
            <a:ext cx="1239837" cy="523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rIns="182880" anchor="ctr"/>
          <a:lstStyle/>
          <a:p>
            <a:pPr algn="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 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Rectangle 24"/>
          <p:cNvSpPr>
            <a:spLocks noChangeArrowheads="1"/>
          </p:cNvSpPr>
          <p:nvPr/>
        </p:nvSpPr>
        <p:spPr bwMode="auto">
          <a:xfrm>
            <a:off x="7554253" y="4206875"/>
            <a:ext cx="1446213" cy="5222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rIns="182880" anchor="ctr"/>
          <a:lstStyle/>
          <a:p>
            <a:pPr algn="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 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Rectangle 23"/>
          <p:cNvSpPr>
            <a:spLocks noChangeArrowheads="1"/>
          </p:cNvSpPr>
          <p:nvPr/>
        </p:nvSpPr>
        <p:spPr bwMode="auto">
          <a:xfrm>
            <a:off x="6314416" y="4206875"/>
            <a:ext cx="1239837" cy="5222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rIns="182880" anchor="ctr"/>
          <a:lstStyle/>
          <a:p>
            <a:pPr algn="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 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1" name="Rectangle 20"/>
          <p:cNvSpPr>
            <a:spLocks noChangeArrowheads="1"/>
          </p:cNvSpPr>
          <p:nvPr/>
        </p:nvSpPr>
        <p:spPr bwMode="auto">
          <a:xfrm>
            <a:off x="7554253" y="3686175"/>
            <a:ext cx="1446213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rIns="182880" anchor="ctr"/>
          <a:lstStyle/>
          <a:p>
            <a:pPr algn="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 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2" name="Rectangle 19"/>
          <p:cNvSpPr>
            <a:spLocks noChangeArrowheads="1"/>
          </p:cNvSpPr>
          <p:nvPr/>
        </p:nvSpPr>
        <p:spPr bwMode="auto">
          <a:xfrm>
            <a:off x="6314416" y="3686175"/>
            <a:ext cx="1239837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rIns="182880" anchor="ctr"/>
          <a:lstStyle/>
          <a:p>
            <a:pPr algn="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Arial" panose="020B0604020202020204"/>
                <a:cs typeface="Arial" panose="020B0604020202020204"/>
              </a:rPr>
              <a:t> 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3" name="Rectangle 359" descr="Wide upward diagonal"/>
          <p:cNvSpPr>
            <a:spLocks noChangeArrowheads="1"/>
          </p:cNvSpPr>
          <p:nvPr/>
        </p:nvSpPr>
        <p:spPr bwMode="auto">
          <a:xfrm>
            <a:off x="6320766" y="6300787"/>
            <a:ext cx="1223962" cy="250825"/>
          </a:xfrm>
          <a:prstGeom prst="rect">
            <a:avLst/>
          </a:prstGeom>
          <a:pattFill prst="wdUpDiag">
            <a:fgClr>
              <a:srgbClr val="C0C0C0"/>
            </a:fgClr>
            <a:bgClr>
              <a:schemeClr val="bg1"/>
            </a:bgClr>
          </a:patt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4" name="Rectangle 360" descr="Wide upward diagonal"/>
          <p:cNvSpPr>
            <a:spLocks noChangeArrowheads="1"/>
          </p:cNvSpPr>
          <p:nvPr/>
        </p:nvSpPr>
        <p:spPr bwMode="auto">
          <a:xfrm>
            <a:off x="7562191" y="6300787"/>
            <a:ext cx="1427162" cy="250825"/>
          </a:xfrm>
          <a:prstGeom prst="rect">
            <a:avLst/>
          </a:prstGeom>
          <a:pattFill prst="wdUpDiag">
            <a:fgClr>
              <a:srgbClr val="C0C0C0"/>
            </a:fgClr>
            <a:bgClr>
              <a:schemeClr val="bg1"/>
            </a:bgClr>
          </a:patt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5" name="Rectangle 363" descr="Wide upward diagonal"/>
          <p:cNvSpPr>
            <a:spLocks noChangeArrowheads="1"/>
          </p:cNvSpPr>
          <p:nvPr/>
        </p:nvSpPr>
        <p:spPr bwMode="auto">
          <a:xfrm>
            <a:off x="6320766" y="3433762"/>
            <a:ext cx="1223962" cy="250825"/>
          </a:xfrm>
          <a:prstGeom prst="rect">
            <a:avLst/>
          </a:prstGeom>
          <a:pattFill prst="wdUpDiag">
            <a:fgClr>
              <a:srgbClr val="C0C0C0"/>
            </a:fgClr>
            <a:bgClr>
              <a:schemeClr val="bg1"/>
            </a:bgClr>
          </a:patt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6" name="Rectangle 364" descr="Wide upward diagonal"/>
          <p:cNvSpPr>
            <a:spLocks noChangeArrowheads="1"/>
          </p:cNvSpPr>
          <p:nvPr/>
        </p:nvSpPr>
        <p:spPr bwMode="auto">
          <a:xfrm>
            <a:off x="7562191" y="3433762"/>
            <a:ext cx="1427162" cy="250825"/>
          </a:xfrm>
          <a:prstGeom prst="rect">
            <a:avLst/>
          </a:prstGeom>
          <a:pattFill prst="wdUpDiag">
            <a:fgClr>
              <a:srgbClr val="C0C0C0"/>
            </a:fgClr>
            <a:bgClr>
              <a:schemeClr val="bg1"/>
            </a:bgClr>
          </a:patt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72998" y="2282081"/>
            <a:ext cx="27597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农场主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生产函数表现为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边际劳动产品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递减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的特性：当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增加时，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MPL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这种特性很常见。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254666" y="2127184"/>
            <a:ext cx="5632450" cy="4370387"/>
            <a:chOff x="3119438" y="1560513"/>
            <a:chExt cx="5632450" cy="4370387"/>
          </a:xfrm>
        </p:grpSpPr>
        <p:sp>
          <p:nvSpPr>
            <p:cNvPr id="3" name="Rectangle 2"/>
            <p:cNvSpPr>
              <a:spLocks noChangeArrowheads="1"/>
            </p:cNvSpPr>
            <p:nvPr/>
          </p:nvSpPr>
          <p:spPr bwMode="auto">
            <a:xfrm>
              <a:off x="3121025" y="1568450"/>
              <a:ext cx="5624513" cy="435927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" name="Rectangle 9"/>
            <p:cNvSpPr>
              <a:spLocks noChangeArrowheads="1"/>
            </p:cNvSpPr>
            <p:nvPr/>
          </p:nvSpPr>
          <p:spPr bwMode="auto">
            <a:xfrm>
              <a:off x="4564063" y="5408613"/>
              <a:ext cx="1501775" cy="522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Ins="274320" anchor="ctr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3000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" name="Rectangle 10"/>
            <p:cNvSpPr>
              <a:spLocks noChangeArrowheads="1"/>
            </p:cNvSpPr>
            <p:nvPr/>
          </p:nvSpPr>
          <p:spPr bwMode="auto">
            <a:xfrm>
              <a:off x="3119438" y="5408613"/>
              <a:ext cx="1444625" cy="522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Ins="182880"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5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" name="Rectangle 11"/>
            <p:cNvSpPr>
              <a:spLocks noChangeArrowheads="1"/>
            </p:cNvSpPr>
            <p:nvPr/>
          </p:nvSpPr>
          <p:spPr bwMode="auto">
            <a:xfrm>
              <a:off x="4564063" y="4889500"/>
              <a:ext cx="1501775" cy="5191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Ins="274320" anchor="ctr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2800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" name="Rectangle 12"/>
            <p:cNvSpPr>
              <a:spLocks noChangeArrowheads="1"/>
            </p:cNvSpPr>
            <p:nvPr/>
          </p:nvSpPr>
          <p:spPr bwMode="auto">
            <a:xfrm>
              <a:off x="3119438" y="4889500"/>
              <a:ext cx="1444625" cy="5191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Ins="182880"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4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4564063" y="4365625"/>
              <a:ext cx="1501775" cy="5238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Ins="274320" anchor="ctr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2400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7" name="Rectangle 14"/>
            <p:cNvSpPr>
              <a:spLocks noChangeArrowheads="1"/>
            </p:cNvSpPr>
            <p:nvPr/>
          </p:nvSpPr>
          <p:spPr bwMode="auto">
            <a:xfrm>
              <a:off x="3119438" y="4365625"/>
              <a:ext cx="1444625" cy="5238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Ins="182880"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3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8" name="Rectangle 15"/>
            <p:cNvSpPr>
              <a:spLocks noChangeArrowheads="1"/>
            </p:cNvSpPr>
            <p:nvPr/>
          </p:nvSpPr>
          <p:spPr bwMode="auto">
            <a:xfrm>
              <a:off x="4564063" y="3843338"/>
              <a:ext cx="1501775" cy="522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Ins="274320" anchor="ctr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1800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9" name="Rectangle 16"/>
            <p:cNvSpPr>
              <a:spLocks noChangeArrowheads="1"/>
            </p:cNvSpPr>
            <p:nvPr/>
          </p:nvSpPr>
          <p:spPr bwMode="auto">
            <a:xfrm>
              <a:off x="3119438" y="3843338"/>
              <a:ext cx="1444625" cy="522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Ins="182880"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2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0" name="Rectangle 17"/>
            <p:cNvSpPr>
              <a:spLocks noChangeArrowheads="1"/>
            </p:cNvSpPr>
            <p:nvPr/>
          </p:nvSpPr>
          <p:spPr bwMode="auto">
            <a:xfrm>
              <a:off x="4564063" y="3322638"/>
              <a:ext cx="1501775" cy="5207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Ins="274320" anchor="ctr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1000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1" name="Rectangle 18"/>
            <p:cNvSpPr>
              <a:spLocks noChangeArrowheads="1"/>
            </p:cNvSpPr>
            <p:nvPr/>
          </p:nvSpPr>
          <p:spPr bwMode="auto">
            <a:xfrm>
              <a:off x="3119438" y="3322638"/>
              <a:ext cx="1444625" cy="5207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Ins="182880"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1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2" name="Rectangle 19"/>
            <p:cNvSpPr>
              <a:spLocks noChangeArrowheads="1"/>
            </p:cNvSpPr>
            <p:nvPr/>
          </p:nvSpPr>
          <p:spPr bwMode="auto">
            <a:xfrm>
              <a:off x="7305675" y="2801938"/>
              <a:ext cx="1446213" cy="5207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Ins="182880" anchor="ctr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3" name="Rectangle 20"/>
            <p:cNvSpPr>
              <a:spLocks noChangeArrowheads="1"/>
            </p:cNvSpPr>
            <p:nvPr/>
          </p:nvSpPr>
          <p:spPr bwMode="auto">
            <a:xfrm>
              <a:off x="6065838" y="2801938"/>
              <a:ext cx="1239837" cy="5207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Ins="182880" anchor="ctr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4" name="Rectangle 21"/>
            <p:cNvSpPr>
              <a:spLocks noChangeArrowheads="1"/>
            </p:cNvSpPr>
            <p:nvPr/>
          </p:nvSpPr>
          <p:spPr bwMode="auto">
            <a:xfrm>
              <a:off x="4564063" y="2801938"/>
              <a:ext cx="1501775" cy="5207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Ins="274320" anchor="ctr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5" name="Rectangle 22"/>
            <p:cNvSpPr>
              <a:spLocks noChangeArrowheads="1"/>
            </p:cNvSpPr>
            <p:nvPr/>
          </p:nvSpPr>
          <p:spPr bwMode="auto">
            <a:xfrm>
              <a:off x="3119438" y="2801938"/>
              <a:ext cx="1444625" cy="5207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Ins="182880"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6" name="Rectangle 23"/>
            <p:cNvSpPr>
              <a:spLocks noChangeArrowheads="1"/>
            </p:cNvSpPr>
            <p:nvPr/>
          </p:nvSpPr>
          <p:spPr bwMode="auto">
            <a:xfrm>
              <a:off x="7305675" y="1560513"/>
              <a:ext cx="1446213" cy="12414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 i="1">
                  <a:latin typeface="Arial" panose="020B0604020202020204"/>
                  <a:cs typeface="Arial" panose="020B0604020202020204"/>
                </a:rPr>
                <a:t>VMPL = </a:t>
              </a:r>
              <a:r>
                <a:rPr lang="en-US" sz="25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500" i="1">
                  <a:latin typeface="Arial" panose="020B0604020202020204"/>
                  <a:cs typeface="Arial" panose="020B0604020202020204"/>
                </a:rPr>
                <a:t> x MPL</a:t>
              </a:r>
              <a:endParaRPr lang="en-US" sz="25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7" name="Rectangle 24"/>
            <p:cNvSpPr>
              <a:spLocks noChangeArrowheads="1"/>
            </p:cNvSpPr>
            <p:nvPr/>
          </p:nvSpPr>
          <p:spPr bwMode="auto">
            <a:xfrm>
              <a:off x="6065838" y="1560513"/>
              <a:ext cx="1239837" cy="12414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 i="1">
                  <a:latin typeface="Arial" panose="020B0604020202020204"/>
                  <a:cs typeface="Arial" panose="020B0604020202020204"/>
                </a:rPr>
                <a:t>MPL = </a:t>
              </a:r>
              <a:r>
                <a:rPr lang="en-US" sz="2500" b="1">
                  <a:latin typeface="Arial" panose="020B0604020202020204"/>
                  <a:cs typeface="Arial" panose="020B0604020202020204"/>
                </a:rPr>
                <a:t>∆</a:t>
              </a:r>
              <a:r>
                <a:rPr lang="en-US" sz="2500" b="1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/</a:t>
              </a:r>
              <a:r>
                <a:rPr lang="en-US" sz="2500" b="1">
                  <a:latin typeface="Arial" panose="020B0604020202020204"/>
                  <a:cs typeface="Arial" panose="020B0604020202020204"/>
                </a:rPr>
                <a:t>∆</a:t>
              </a:r>
              <a:r>
                <a:rPr lang="en-US" sz="2500" b="1" i="1">
                  <a:latin typeface="Arial" panose="020B0604020202020204"/>
                  <a:cs typeface="Arial" panose="020B0604020202020204"/>
                </a:rPr>
                <a:t>L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 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8" name="Rectangle 25"/>
            <p:cNvSpPr>
              <a:spLocks noChangeArrowheads="1"/>
            </p:cNvSpPr>
            <p:nvPr/>
          </p:nvSpPr>
          <p:spPr bwMode="auto">
            <a:xfrm>
              <a:off x="4564063" y="1560513"/>
              <a:ext cx="1501775" cy="12414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bIns="91440" anchor="ctr"/>
            <a:lstStyle/>
            <a:p>
              <a:pPr algn="ctr">
                <a:lnSpc>
                  <a:spcPct val="95000"/>
                </a:lnSpc>
                <a:spcBef>
                  <a:spcPct val="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 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  <a:p>
              <a:pPr>
                <a:lnSpc>
                  <a:spcPct val="95000"/>
                </a:lnSpc>
                <a:spcBef>
                  <a:spcPct val="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(</a:t>
              </a:r>
              <a:r>
                <a:rPr lang="zh-CN" altLang="en-US" sz="25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小麦产出</a:t>
              </a:r>
              <a:r>
                <a:rPr lang="en-US" sz="25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)</a:t>
              </a:r>
              <a:endParaRPr lang="en-US" sz="25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9" name="Rectangle 26"/>
            <p:cNvSpPr>
              <a:spLocks noChangeArrowheads="1"/>
            </p:cNvSpPr>
            <p:nvPr/>
          </p:nvSpPr>
          <p:spPr bwMode="auto">
            <a:xfrm>
              <a:off x="3119438" y="1560513"/>
              <a:ext cx="1444625" cy="12414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bIns="91440" anchor="ctr"/>
            <a:lstStyle/>
            <a:p>
              <a:pPr algn="ctr">
                <a:lnSpc>
                  <a:spcPct val="95000"/>
                </a:lnSpc>
                <a:spcBef>
                  <a:spcPct val="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L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 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  <a:p>
              <a:pPr>
                <a:lnSpc>
                  <a:spcPct val="95000"/>
                </a:lnSpc>
                <a:spcBef>
                  <a:spcPct val="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(</a:t>
              </a:r>
              <a:r>
                <a:rPr lang="zh-CN" altLang="en-US" sz="25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工人数量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)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0" name="Line 27"/>
            <p:cNvSpPr>
              <a:spLocks noChangeShapeType="1"/>
            </p:cNvSpPr>
            <p:nvPr/>
          </p:nvSpPr>
          <p:spPr bwMode="auto">
            <a:xfrm>
              <a:off x="3119438" y="1560513"/>
              <a:ext cx="563245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</p:spPr>
          <p:txBody>
            <a:bodyPr rIns="182880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1" name="Line 28"/>
            <p:cNvSpPr>
              <a:spLocks noChangeShapeType="1"/>
            </p:cNvSpPr>
            <p:nvPr/>
          </p:nvSpPr>
          <p:spPr bwMode="auto">
            <a:xfrm>
              <a:off x="3119438" y="2801938"/>
              <a:ext cx="56324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rIns="182880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2" name="Line 29"/>
            <p:cNvSpPr>
              <a:spLocks noChangeShapeType="1"/>
            </p:cNvSpPr>
            <p:nvPr/>
          </p:nvSpPr>
          <p:spPr bwMode="auto">
            <a:xfrm>
              <a:off x="3119438" y="3322638"/>
              <a:ext cx="56324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rIns="182880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3" name="Line 30"/>
            <p:cNvSpPr>
              <a:spLocks noChangeShapeType="1"/>
            </p:cNvSpPr>
            <p:nvPr/>
          </p:nvSpPr>
          <p:spPr bwMode="auto">
            <a:xfrm>
              <a:off x="3119438" y="3843338"/>
              <a:ext cx="56324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rIns="182880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4" name="Line 31"/>
            <p:cNvSpPr>
              <a:spLocks noChangeShapeType="1"/>
            </p:cNvSpPr>
            <p:nvPr/>
          </p:nvSpPr>
          <p:spPr bwMode="auto">
            <a:xfrm>
              <a:off x="3119438" y="4365625"/>
              <a:ext cx="56324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rIns="182880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5" name="Line 32"/>
            <p:cNvSpPr>
              <a:spLocks noChangeShapeType="1"/>
            </p:cNvSpPr>
            <p:nvPr/>
          </p:nvSpPr>
          <p:spPr bwMode="auto">
            <a:xfrm>
              <a:off x="3119438" y="4889500"/>
              <a:ext cx="56324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rIns="182880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6" name="Line 33"/>
            <p:cNvSpPr>
              <a:spLocks noChangeShapeType="1"/>
            </p:cNvSpPr>
            <p:nvPr/>
          </p:nvSpPr>
          <p:spPr bwMode="auto">
            <a:xfrm>
              <a:off x="3119438" y="5408613"/>
              <a:ext cx="56324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rIns="182880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7" name="Line 34"/>
            <p:cNvSpPr>
              <a:spLocks noChangeShapeType="1"/>
            </p:cNvSpPr>
            <p:nvPr/>
          </p:nvSpPr>
          <p:spPr bwMode="auto">
            <a:xfrm>
              <a:off x="3119438" y="5930900"/>
              <a:ext cx="563245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</p:spPr>
          <p:txBody>
            <a:bodyPr rIns="182880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8" name="Line 35"/>
            <p:cNvSpPr>
              <a:spLocks noChangeShapeType="1"/>
            </p:cNvSpPr>
            <p:nvPr/>
          </p:nvSpPr>
          <p:spPr bwMode="auto">
            <a:xfrm>
              <a:off x="3119438" y="1560513"/>
              <a:ext cx="0" cy="437038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</p:spPr>
          <p:txBody>
            <a:bodyPr rIns="182880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9" name="Line 36"/>
            <p:cNvSpPr>
              <a:spLocks noChangeShapeType="1"/>
            </p:cNvSpPr>
            <p:nvPr/>
          </p:nvSpPr>
          <p:spPr bwMode="auto">
            <a:xfrm>
              <a:off x="4564063" y="1560513"/>
              <a:ext cx="0" cy="43703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rIns="182880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0" name="Line 37"/>
            <p:cNvSpPr>
              <a:spLocks noChangeShapeType="1"/>
            </p:cNvSpPr>
            <p:nvPr/>
          </p:nvSpPr>
          <p:spPr bwMode="auto">
            <a:xfrm>
              <a:off x="6065838" y="1560513"/>
              <a:ext cx="0" cy="43703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rIns="182880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1" name="Line 38"/>
            <p:cNvSpPr>
              <a:spLocks noChangeShapeType="1"/>
            </p:cNvSpPr>
            <p:nvPr/>
          </p:nvSpPr>
          <p:spPr bwMode="auto">
            <a:xfrm>
              <a:off x="7305675" y="1560513"/>
              <a:ext cx="0" cy="43703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rIns="182880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" name="Line 39"/>
            <p:cNvSpPr>
              <a:spLocks noChangeShapeType="1"/>
            </p:cNvSpPr>
            <p:nvPr/>
          </p:nvSpPr>
          <p:spPr bwMode="auto">
            <a:xfrm>
              <a:off x="8751888" y="1560513"/>
              <a:ext cx="0" cy="437038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</p:spPr>
          <p:txBody>
            <a:bodyPr rIns="182880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3" name="Rectangle 40"/>
            <p:cNvSpPr>
              <a:spLocks noChangeArrowheads="1"/>
            </p:cNvSpPr>
            <p:nvPr/>
          </p:nvSpPr>
          <p:spPr bwMode="auto">
            <a:xfrm>
              <a:off x="7305675" y="5145088"/>
              <a:ext cx="1446213" cy="52228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rIns="182880" anchor="ctr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 dirty="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1000</a:t>
              </a:r>
              <a:endParaRPr lang="en-US" sz="25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4" name="Rectangle 41"/>
            <p:cNvSpPr>
              <a:spLocks noChangeArrowheads="1"/>
            </p:cNvSpPr>
            <p:nvPr/>
          </p:nvSpPr>
          <p:spPr bwMode="auto">
            <a:xfrm>
              <a:off x="6065838" y="5145088"/>
              <a:ext cx="1239837" cy="52228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rIns="182880" anchor="ctr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200</a:t>
              </a:r>
              <a:endParaRPr lang="en-US" sz="25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5" name="Rectangle 42"/>
            <p:cNvSpPr>
              <a:spLocks noChangeArrowheads="1"/>
            </p:cNvSpPr>
            <p:nvPr/>
          </p:nvSpPr>
          <p:spPr bwMode="auto">
            <a:xfrm>
              <a:off x="7305675" y="4625975"/>
              <a:ext cx="1446213" cy="51911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rIns="182880" anchor="ctr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 dirty="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2000</a:t>
              </a:r>
              <a:endParaRPr lang="en-US" sz="25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6" name="Rectangle 43"/>
            <p:cNvSpPr>
              <a:spLocks noChangeArrowheads="1"/>
            </p:cNvSpPr>
            <p:nvPr/>
          </p:nvSpPr>
          <p:spPr bwMode="auto">
            <a:xfrm>
              <a:off x="6065838" y="4625975"/>
              <a:ext cx="1239837" cy="51911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rIns="182880" anchor="ctr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400</a:t>
              </a:r>
              <a:endParaRPr lang="en-US" sz="25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7" name="Rectangle 44"/>
            <p:cNvSpPr>
              <a:spLocks noChangeArrowheads="1"/>
            </p:cNvSpPr>
            <p:nvPr/>
          </p:nvSpPr>
          <p:spPr bwMode="auto">
            <a:xfrm>
              <a:off x="7305675" y="4102100"/>
              <a:ext cx="1446213" cy="523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rIns="182880" anchor="ctr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 dirty="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3000</a:t>
              </a:r>
              <a:endParaRPr lang="en-US" sz="25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8" name="Rectangle 45"/>
            <p:cNvSpPr>
              <a:spLocks noChangeArrowheads="1"/>
            </p:cNvSpPr>
            <p:nvPr/>
          </p:nvSpPr>
          <p:spPr bwMode="auto">
            <a:xfrm>
              <a:off x="6065838" y="4102100"/>
              <a:ext cx="1239837" cy="523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rIns="182880" anchor="ctr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600</a:t>
              </a:r>
              <a:endParaRPr lang="en-US" sz="25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9" name="Rectangle 46"/>
            <p:cNvSpPr>
              <a:spLocks noChangeArrowheads="1"/>
            </p:cNvSpPr>
            <p:nvPr/>
          </p:nvSpPr>
          <p:spPr bwMode="auto">
            <a:xfrm>
              <a:off x="7305675" y="3579813"/>
              <a:ext cx="1446213" cy="52228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rIns="182880" anchor="ctr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 dirty="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4000</a:t>
              </a:r>
              <a:endParaRPr lang="en-US" sz="25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0" name="Rectangle 47"/>
            <p:cNvSpPr>
              <a:spLocks noChangeArrowheads="1"/>
            </p:cNvSpPr>
            <p:nvPr/>
          </p:nvSpPr>
          <p:spPr bwMode="auto">
            <a:xfrm>
              <a:off x="6065838" y="3579813"/>
              <a:ext cx="1239837" cy="52228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rIns="182880" anchor="ctr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800</a:t>
              </a:r>
              <a:endParaRPr lang="en-US" sz="25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1" name="Rectangle 48"/>
            <p:cNvSpPr>
              <a:spLocks noChangeArrowheads="1"/>
            </p:cNvSpPr>
            <p:nvPr/>
          </p:nvSpPr>
          <p:spPr bwMode="auto">
            <a:xfrm>
              <a:off x="7305675" y="3059113"/>
              <a:ext cx="1446213" cy="5207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rIns="182880" anchor="ctr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 smtClean="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5000</a:t>
              </a:r>
              <a:r>
                <a:rPr lang="zh-CN" altLang="en-US" sz="2500" smtClean="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元</a:t>
              </a:r>
              <a:endParaRPr lang="en-US" sz="25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" name="Rectangle 49"/>
            <p:cNvSpPr>
              <a:spLocks noChangeArrowheads="1"/>
            </p:cNvSpPr>
            <p:nvPr/>
          </p:nvSpPr>
          <p:spPr bwMode="auto">
            <a:xfrm>
              <a:off x="6065838" y="3059113"/>
              <a:ext cx="1239837" cy="5207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rIns="182880" anchor="ctr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1000</a:t>
              </a:r>
              <a:endParaRPr lang="en-US" sz="25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3" name="Rectangle 50" descr="Wide upward diagonal"/>
            <p:cNvSpPr>
              <a:spLocks noChangeArrowheads="1"/>
            </p:cNvSpPr>
            <p:nvPr/>
          </p:nvSpPr>
          <p:spPr bwMode="auto">
            <a:xfrm>
              <a:off x="6072188" y="5673725"/>
              <a:ext cx="1223962" cy="250825"/>
            </a:xfrm>
            <a:prstGeom prst="rect">
              <a:avLst/>
            </a:prstGeom>
            <a:pattFill prst="wdUpDiag">
              <a:fgClr>
                <a:srgbClr val="C0C0C0"/>
              </a:fgClr>
              <a:bgClr>
                <a:schemeClr val="bg1"/>
              </a:bgClr>
            </a:patt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4" name="Rectangle 51" descr="Wide upward diagonal"/>
            <p:cNvSpPr>
              <a:spLocks noChangeArrowheads="1"/>
            </p:cNvSpPr>
            <p:nvPr/>
          </p:nvSpPr>
          <p:spPr bwMode="auto">
            <a:xfrm>
              <a:off x="7313613" y="5673725"/>
              <a:ext cx="1427162" cy="250825"/>
            </a:xfrm>
            <a:prstGeom prst="rect">
              <a:avLst/>
            </a:prstGeom>
            <a:pattFill prst="wdUpDiag">
              <a:fgClr>
                <a:srgbClr val="C0C0C0"/>
              </a:fgClr>
              <a:bgClr>
                <a:schemeClr val="bg1"/>
              </a:bgClr>
            </a:patt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5" name="Rectangle 52" descr="Wide upward diagonal"/>
            <p:cNvSpPr>
              <a:spLocks noChangeArrowheads="1"/>
            </p:cNvSpPr>
            <p:nvPr/>
          </p:nvSpPr>
          <p:spPr bwMode="auto">
            <a:xfrm>
              <a:off x="6072188" y="2806700"/>
              <a:ext cx="1223962" cy="247650"/>
            </a:xfrm>
            <a:prstGeom prst="rect">
              <a:avLst/>
            </a:prstGeom>
            <a:pattFill prst="wdUpDiag">
              <a:fgClr>
                <a:srgbClr val="C0C0C0"/>
              </a:fgClr>
              <a:bgClr>
                <a:schemeClr val="bg1"/>
              </a:bgClr>
            </a:patt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6" name="Rectangle 53" descr="Wide upward diagonal"/>
            <p:cNvSpPr>
              <a:spLocks noChangeArrowheads="1"/>
            </p:cNvSpPr>
            <p:nvPr/>
          </p:nvSpPr>
          <p:spPr bwMode="auto">
            <a:xfrm>
              <a:off x="7313613" y="2806700"/>
              <a:ext cx="1427162" cy="247650"/>
            </a:xfrm>
            <a:prstGeom prst="rect">
              <a:avLst/>
            </a:prstGeom>
            <a:pattFill prst="wdUpDiag">
              <a:fgClr>
                <a:srgbClr val="C0C0C0"/>
              </a:fgClr>
              <a:bgClr>
                <a:schemeClr val="bg1"/>
              </a:bgClr>
            </a:patt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97" name="TextBox 15"/>
          <p:cNvSpPr txBox="1"/>
          <p:nvPr/>
        </p:nvSpPr>
        <p:spPr>
          <a:xfrm>
            <a:off x="457200" y="1481882"/>
            <a:ext cx="2759788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答案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习题：计算</a:t>
            </a:r>
            <a:r>
              <a:rPr lang="en-US" altLang="zh-CN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MPL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和</a:t>
            </a:r>
            <a:r>
              <a:rPr lang="en-US" altLang="zh-CN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VMPL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4855" y="1523545"/>
            <a:ext cx="2514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由于边际产品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递减，农场主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VMPL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曲线向下倾斜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7" name="组合 106"/>
          <p:cNvGrpSpPr/>
          <p:nvPr/>
        </p:nvGrpSpPr>
        <p:grpSpPr>
          <a:xfrm>
            <a:off x="3044114" y="1209049"/>
            <a:ext cx="5765800" cy="5603875"/>
            <a:chOff x="3248025" y="796925"/>
            <a:chExt cx="5765800" cy="5603875"/>
          </a:xfrm>
        </p:grpSpPr>
        <p:sp>
          <p:nvSpPr>
            <p:cNvPr id="108" name="AutoShape 25"/>
            <p:cNvSpPr>
              <a:spLocks noChangeAspect="1" noChangeArrowheads="1" noTextEdit="1"/>
            </p:cNvSpPr>
            <p:nvPr/>
          </p:nvSpPr>
          <p:spPr bwMode="auto">
            <a:xfrm>
              <a:off x="3248025" y="1003300"/>
              <a:ext cx="5765800" cy="517683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109" name="Group 70"/>
            <p:cNvGrpSpPr/>
            <p:nvPr/>
          </p:nvGrpSpPr>
          <p:grpSpPr bwMode="auto">
            <a:xfrm>
              <a:off x="4503738" y="1303338"/>
              <a:ext cx="4183062" cy="4133850"/>
              <a:chOff x="2837" y="856"/>
              <a:chExt cx="2635" cy="2604"/>
            </a:xfrm>
          </p:grpSpPr>
          <p:sp>
            <p:nvSpPr>
              <p:cNvPr id="150" name="Rectangle 27"/>
              <p:cNvSpPr>
                <a:spLocks noChangeArrowheads="1"/>
              </p:cNvSpPr>
              <p:nvPr/>
            </p:nvSpPr>
            <p:spPr bwMode="auto">
              <a:xfrm>
                <a:off x="2837" y="856"/>
                <a:ext cx="2635" cy="260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1" name="Line 28"/>
              <p:cNvSpPr>
                <a:spLocks noChangeShapeType="1"/>
              </p:cNvSpPr>
              <p:nvPr/>
            </p:nvSpPr>
            <p:spPr bwMode="auto">
              <a:xfrm>
                <a:off x="2837" y="3022"/>
                <a:ext cx="263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2" name="Line 29"/>
              <p:cNvSpPr>
                <a:spLocks noChangeShapeType="1"/>
              </p:cNvSpPr>
              <p:nvPr/>
            </p:nvSpPr>
            <p:spPr bwMode="auto">
              <a:xfrm>
                <a:off x="2837" y="2594"/>
                <a:ext cx="263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3" name="Line 30"/>
              <p:cNvSpPr>
                <a:spLocks noChangeShapeType="1"/>
              </p:cNvSpPr>
              <p:nvPr/>
            </p:nvSpPr>
            <p:spPr bwMode="auto">
              <a:xfrm>
                <a:off x="2837" y="2158"/>
                <a:ext cx="263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4" name="Line 31"/>
              <p:cNvSpPr>
                <a:spLocks noChangeShapeType="1"/>
              </p:cNvSpPr>
              <p:nvPr/>
            </p:nvSpPr>
            <p:spPr bwMode="auto">
              <a:xfrm>
                <a:off x="2837" y="1721"/>
                <a:ext cx="263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5" name="Line 32"/>
              <p:cNvSpPr>
                <a:spLocks noChangeShapeType="1"/>
              </p:cNvSpPr>
              <p:nvPr/>
            </p:nvSpPr>
            <p:spPr bwMode="auto">
              <a:xfrm>
                <a:off x="2837" y="1293"/>
                <a:ext cx="263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6" name="Line 34"/>
              <p:cNvSpPr>
                <a:spLocks noChangeShapeType="1"/>
              </p:cNvSpPr>
              <p:nvPr/>
            </p:nvSpPr>
            <p:spPr bwMode="auto">
              <a:xfrm>
                <a:off x="3364" y="856"/>
                <a:ext cx="1" cy="260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7" name="Line 35"/>
              <p:cNvSpPr>
                <a:spLocks noChangeShapeType="1"/>
              </p:cNvSpPr>
              <p:nvPr/>
            </p:nvSpPr>
            <p:spPr bwMode="auto">
              <a:xfrm>
                <a:off x="3891" y="856"/>
                <a:ext cx="1" cy="260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8" name="Line 36"/>
              <p:cNvSpPr>
                <a:spLocks noChangeShapeType="1"/>
              </p:cNvSpPr>
              <p:nvPr/>
            </p:nvSpPr>
            <p:spPr bwMode="auto">
              <a:xfrm>
                <a:off x="4418" y="856"/>
                <a:ext cx="1" cy="260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9" name="Line 37"/>
              <p:cNvSpPr>
                <a:spLocks noChangeShapeType="1"/>
              </p:cNvSpPr>
              <p:nvPr/>
            </p:nvSpPr>
            <p:spPr bwMode="auto">
              <a:xfrm>
                <a:off x="4945" y="856"/>
                <a:ext cx="1" cy="260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60" name="Line 40"/>
              <p:cNvSpPr>
                <a:spLocks noChangeShapeType="1"/>
              </p:cNvSpPr>
              <p:nvPr/>
            </p:nvSpPr>
            <p:spPr bwMode="auto">
              <a:xfrm>
                <a:off x="2837" y="856"/>
                <a:ext cx="1" cy="260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61" name="Line 48"/>
              <p:cNvSpPr>
                <a:spLocks noChangeShapeType="1"/>
              </p:cNvSpPr>
              <p:nvPr/>
            </p:nvSpPr>
            <p:spPr bwMode="auto">
              <a:xfrm>
                <a:off x="2837" y="3459"/>
                <a:ext cx="263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10" name="Text Box 15"/>
            <p:cNvSpPr txBox="1">
              <a:spLocks noChangeArrowheads="1"/>
            </p:cNvSpPr>
            <p:nvPr/>
          </p:nvSpPr>
          <p:spPr bwMode="auto">
            <a:xfrm>
              <a:off x="4802188" y="5943600"/>
              <a:ext cx="3816350" cy="4572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L</a:t>
              </a:r>
              <a:r>
                <a:rPr lang="en-US" sz="2400">
                  <a:latin typeface="Arial" panose="020B0604020202020204"/>
                  <a:cs typeface="Arial" panose="020B0604020202020204"/>
                </a:rPr>
                <a:t>（工人人数）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111" name="Group 21"/>
            <p:cNvGrpSpPr/>
            <p:nvPr/>
          </p:nvGrpSpPr>
          <p:grpSpPr bwMode="auto">
            <a:xfrm>
              <a:off x="4872038" y="1943100"/>
              <a:ext cx="3462337" cy="2851150"/>
              <a:chOff x="2957" y="1294"/>
              <a:chExt cx="2181" cy="1796"/>
            </a:xfrm>
          </p:grpSpPr>
          <p:sp>
            <p:nvSpPr>
              <p:cNvPr id="144" name="Line 17"/>
              <p:cNvSpPr>
                <a:spLocks noChangeShapeType="1"/>
              </p:cNvSpPr>
              <p:nvPr/>
            </p:nvSpPr>
            <p:spPr bwMode="auto">
              <a:xfrm>
                <a:off x="2989" y="1326"/>
                <a:ext cx="2117" cy="1735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5" name="Oval 18"/>
              <p:cNvSpPr>
                <a:spLocks noChangeAspect="1" noChangeArrowheads="1"/>
              </p:cNvSpPr>
              <p:nvPr/>
            </p:nvSpPr>
            <p:spPr bwMode="auto">
              <a:xfrm>
                <a:off x="5069" y="3022"/>
                <a:ext cx="69" cy="68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6" name="Oval 19"/>
              <p:cNvSpPr>
                <a:spLocks noChangeAspect="1" noChangeArrowheads="1"/>
              </p:cNvSpPr>
              <p:nvPr/>
            </p:nvSpPr>
            <p:spPr bwMode="auto">
              <a:xfrm>
                <a:off x="4541" y="2596"/>
                <a:ext cx="69" cy="68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7" name="Oval 20"/>
              <p:cNvSpPr>
                <a:spLocks noChangeAspect="1" noChangeArrowheads="1"/>
              </p:cNvSpPr>
              <p:nvPr/>
            </p:nvSpPr>
            <p:spPr bwMode="auto">
              <a:xfrm>
                <a:off x="4008" y="2155"/>
                <a:ext cx="69" cy="68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8" name="Oval 21"/>
              <p:cNvSpPr>
                <a:spLocks noChangeAspect="1" noChangeArrowheads="1"/>
              </p:cNvSpPr>
              <p:nvPr/>
            </p:nvSpPr>
            <p:spPr bwMode="auto">
              <a:xfrm>
                <a:off x="3482" y="1724"/>
                <a:ext cx="69" cy="68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9" name="Oval 22"/>
              <p:cNvSpPr>
                <a:spLocks noChangeAspect="1" noChangeArrowheads="1"/>
              </p:cNvSpPr>
              <p:nvPr/>
            </p:nvSpPr>
            <p:spPr bwMode="auto">
              <a:xfrm>
                <a:off x="2957" y="1294"/>
                <a:ext cx="69" cy="68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12" name="Text Box 24"/>
            <p:cNvSpPr txBox="1">
              <a:spLocks noChangeArrowheads="1"/>
            </p:cNvSpPr>
            <p:nvPr/>
          </p:nvSpPr>
          <p:spPr bwMode="auto">
            <a:xfrm>
              <a:off x="5089525" y="796925"/>
              <a:ext cx="2925763" cy="4730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 i="1">
                  <a:latin typeface="Arial" panose="020B0604020202020204"/>
                  <a:cs typeface="Arial" panose="020B0604020202020204"/>
                </a:rPr>
                <a:t>VMPL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曲线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3" name="Line 33"/>
            <p:cNvSpPr>
              <a:spLocks noChangeShapeType="1"/>
            </p:cNvSpPr>
            <p:nvPr/>
          </p:nvSpPr>
          <p:spPr bwMode="auto">
            <a:xfrm>
              <a:off x="4503738" y="1303338"/>
              <a:ext cx="4183062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4" name="Line 38"/>
            <p:cNvSpPr>
              <a:spLocks noChangeShapeType="1"/>
            </p:cNvSpPr>
            <p:nvPr/>
          </p:nvSpPr>
          <p:spPr bwMode="auto">
            <a:xfrm>
              <a:off x="8686800" y="1303338"/>
              <a:ext cx="1588" cy="413226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5" name="Rectangle 39"/>
            <p:cNvSpPr>
              <a:spLocks noChangeArrowheads="1"/>
            </p:cNvSpPr>
            <p:nvPr/>
          </p:nvSpPr>
          <p:spPr bwMode="auto">
            <a:xfrm>
              <a:off x="4503738" y="1303338"/>
              <a:ext cx="4183062" cy="4132262"/>
            </a:xfrm>
            <a:prstGeom prst="rect">
              <a:avLst/>
            </a:prstGeom>
            <a:noFill/>
            <a:ln w="12700">
              <a:solidFill>
                <a:srgbClr val="808080"/>
              </a:solidFill>
              <a:miter lim="800000"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6" name="Line 41"/>
            <p:cNvSpPr>
              <a:spLocks noChangeShapeType="1"/>
            </p:cNvSpPr>
            <p:nvPr/>
          </p:nvSpPr>
          <p:spPr bwMode="auto">
            <a:xfrm>
              <a:off x="4411663" y="5435600"/>
              <a:ext cx="920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7" name="Line 42"/>
            <p:cNvSpPr>
              <a:spLocks noChangeShapeType="1"/>
            </p:cNvSpPr>
            <p:nvPr/>
          </p:nvSpPr>
          <p:spPr bwMode="auto">
            <a:xfrm>
              <a:off x="4411663" y="4741863"/>
              <a:ext cx="9207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8" name="Line 43"/>
            <p:cNvSpPr>
              <a:spLocks noChangeShapeType="1"/>
            </p:cNvSpPr>
            <p:nvPr/>
          </p:nvSpPr>
          <p:spPr bwMode="auto">
            <a:xfrm>
              <a:off x="4411663" y="4062413"/>
              <a:ext cx="9207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9" name="Line 44"/>
            <p:cNvSpPr>
              <a:spLocks noChangeShapeType="1"/>
            </p:cNvSpPr>
            <p:nvPr/>
          </p:nvSpPr>
          <p:spPr bwMode="auto">
            <a:xfrm>
              <a:off x="4411663" y="3370263"/>
              <a:ext cx="9207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0" name="Line 45"/>
            <p:cNvSpPr>
              <a:spLocks noChangeShapeType="1"/>
            </p:cNvSpPr>
            <p:nvPr/>
          </p:nvSpPr>
          <p:spPr bwMode="auto">
            <a:xfrm>
              <a:off x="4411663" y="2676525"/>
              <a:ext cx="920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1" name="Line 46"/>
            <p:cNvSpPr>
              <a:spLocks noChangeShapeType="1"/>
            </p:cNvSpPr>
            <p:nvPr/>
          </p:nvSpPr>
          <p:spPr bwMode="auto">
            <a:xfrm>
              <a:off x="4411663" y="1997075"/>
              <a:ext cx="920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2" name="Line 47"/>
            <p:cNvSpPr>
              <a:spLocks noChangeShapeType="1"/>
            </p:cNvSpPr>
            <p:nvPr/>
          </p:nvSpPr>
          <p:spPr bwMode="auto">
            <a:xfrm>
              <a:off x="4411663" y="1303338"/>
              <a:ext cx="9207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" name="Line 49"/>
            <p:cNvSpPr>
              <a:spLocks noChangeShapeType="1"/>
            </p:cNvSpPr>
            <p:nvPr/>
          </p:nvSpPr>
          <p:spPr bwMode="auto">
            <a:xfrm flipV="1">
              <a:off x="4503738" y="5435600"/>
              <a:ext cx="1587" cy="904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4" name="Line 50"/>
            <p:cNvSpPr>
              <a:spLocks noChangeShapeType="1"/>
            </p:cNvSpPr>
            <p:nvPr/>
          </p:nvSpPr>
          <p:spPr bwMode="auto">
            <a:xfrm flipV="1">
              <a:off x="5340350" y="5435600"/>
              <a:ext cx="1588" cy="904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5" name="Line 51"/>
            <p:cNvSpPr>
              <a:spLocks noChangeShapeType="1"/>
            </p:cNvSpPr>
            <p:nvPr/>
          </p:nvSpPr>
          <p:spPr bwMode="auto">
            <a:xfrm flipV="1">
              <a:off x="6176963" y="5435600"/>
              <a:ext cx="1587" cy="904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6" name="Line 52"/>
            <p:cNvSpPr>
              <a:spLocks noChangeShapeType="1"/>
            </p:cNvSpPr>
            <p:nvPr/>
          </p:nvSpPr>
          <p:spPr bwMode="auto">
            <a:xfrm flipV="1">
              <a:off x="7013575" y="5435600"/>
              <a:ext cx="1588" cy="904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7" name="Line 53"/>
            <p:cNvSpPr>
              <a:spLocks noChangeShapeType="1"/>
            </p:cNvSpPr>
            <p:nvPr/>
          </p:nvSpPr>
          <p:spPr bwMode="auto">
            <a:xfrm flipV="1">
              <a:off x="7850188" y="5435600"/>
              <a:ext cx="1587" cy="904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8" name="Line 54"/>
            <p:cNvSpPr>
              <a:spLocks noChangeShapeType="1"/>
            </p:cNvSpPr>
            <p:nvPr/>
          </p:nvSpPr>
          <p:spPr bwMode="auto">
            <a:xfrm flipV="1">
              <a:off x="8686800" y="5435600"/>
              <a:ext cx="1588" cy="904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129" name="Group 68"/>
            <p:cNvGrpSpPr/>
            <p:nvPr/>
          </p:nvGrpSpPr>
          <p:grpSpPr bwMode="auto">
            <a:xfrm>
              <a:off x="3349625" y="1127125"/>
              <a:ext cx="1004888" cy="4484688"/>
              <a:chOff x="2110" y="745"/>
              <a:chExt cx="633" cy="2825"/>
            </a:xfrm>
          </p:grpSpPr>
          <p:sp>
            <p:nvSpPr>
              <p:cNvPr id="137" name="Rectangle 55"/>
              <p:cNvSpPr>
                <a:spLocks noChangeArrowheads="1"/>
              </p:cNvSpPr>
              <p:nvPr/>
            </p:nvSpPr>
            <p:spPr bwMode="auto">
              <a:xfrm>
                <a:off x="2617" y="3347"/>
                <a:ext cx="103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0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8" name="Rectangle 56"/>
              <p:cNvSpPr>
                <a:spLocks noChangeArrowheads="1"/>
              </p:cNvSpPr>
              <p:nvPr/>
            </p:nvSpPr>
            <p:spPr bwMode="auto">
              <a:xfrm>
                <a:off x="2278" y="2911"/>
                <a:ext cx="465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1000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9" name="Rectangle 57"/>
              <p:cNvSpPr>
                <a:spLocks noChangeArrowheads="1"/>
              </p:cNvSpPr>
              <p:nvPr/>
            </p:nvSpPr>
            <p:spPr bwMode="auto">
              <a:xfrm>
                <a:off x="2278" y="2482"/>
                <a:ext cx="465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2000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0" name="Rectangle 58"/>
              <p:cNvSpPr>
                <a:spLocks noChangeArrowheads="1"/>
              </p:cNvSpPr>
              <p:nvPr/>
            </p:nvSpPr>
            <p:spPr bwMode="auto">
              <a:xfrm>
                <a:off x="2278" y="2046"/>
                <a:ext cx="465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3000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1" name="Rectangle 59"/>
              <p:cNvSpPr>
                <a:spLocks noChangeArrowheads="1"/>
              </p:cNvSpPr>
              <p:nvPr/>
            </p:nvSpPr>
            <p:spPr bwMode="auto">
              <a:xfrm>
                <a:off x="2278" y="1609"/>
                <a:ext cx="465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4000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2" name="Rectangle 60"/>
              <p:cNvSpPr>
                <a:spLocks noChangeArrowheads="1"/>
              </p:cNvSpPr>
              <p:nvPr/>
            </p:nvSpPr>
            <p:spPr bwMode="auto">
              <a:xfrm>
                <a:off x="2278" y="1181"/>
                <a:ext cx="465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5000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3" name="Rectangle 61"/>
              <p:cNvSpPr>
                <a:spLocks noChangeArrowheads="1"/>
              </p:cNvSpPr>
              <p:nvPr/>
            </p:nvSpPr>
            <p:spPr bwMode="auto">
              <a:xfrm>
                <a:off x="2110" y="745"/>
                <a:ext cx="627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r"/>
                <a:r>
                  <a:rPr lang="en-US" sz="2300" smtClea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6000</a:t>
                </a:r>
                <a:r>
                  <a:rPr lang="zh-CN" altLang="en-US" sz="2300" smtClea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元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30" name="Group 69"/>
            <p:cNvGrpSpPr/>
            <p:nvPr/>
          </p:nvGrpSpPr>
          <p:grpSpPr bwMode="auto">
            <a:xfrm>
              <a:off x="4424364" y="5565775"/>
              <a:ext cx="4348163" cy="354013"/>
              <a:chOff x="2787" y="3541"/>
              <a:chExt cx="2739" cy="223"/>
            </a:xfrm>
          </p:grpSpPr>
          <p:sp>
            <p:nvSpPr>
              <p:cNvPr id="131" name="Rectangle 62"/>
              <p:cNvSpPr>
                <a:spLocks noChangeArrowheads="1"/>
              </p:cNvSpPr>
              <p:nvPr/>
            </p:nvSpPr>
            <p:spPr bwMode="auto">
              <a:xfrm>
                <a:off x="2787" y="3541"/>
                <a:ext cx="103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0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2" name="Rectangle 63"/>
              <p:cNvSpPr>
                <a:spLocks noChangeArrowheads="1"/>
              </p:cNvSpPr>
              <p:nvPr/>
            </p:nvSpPr>
            <p:spPr bwMode="auto">
              <a:xfrm>
                <a:off x="3314" y="3541"/>
                <a:ext cx="103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1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3" name="Rectangle 64"/>
              <p:cNvSpPr>
                <a:spLocks noChangeArrowheads="1"/>
              </p:cNvSpPr>
              <p:nvPr/>
            </p:nvSpPr>
            <p:spPr bwMode="auto">
              <a:xfrm>
                <a:off x="3841" y="3541"/>
                <a:ext cx="103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2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4" name="Rectangle 65"/>
              <p:cNvSpPr>
                <a:spLocks noChangeArrowheads="1"/>
              </p:cNvSpPr>
              <p:nvPr/>
            </p:nvSpPr>
            <p:spPr bwMode="auto">
              <a:xfrm>
                <a:off x="4369" y="3541"/>
                <a:ext cx="103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3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5" name="Rectangle 66"/>
              <p:cNvSpPr>
                <a:spLocks noChangeArrowheads="1"/>
              </p:cNvSpPr>
              <p:nvPr/>
            </p:nvSpPr>
            <p:spPr bwMode="auto">
              <a:xfrm>
                <a:off x="4896" y="3541"/>
                <a:ext cx="103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4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6" name="Rectangle 67"/>
              <p:cNvSpPr>
                <a:spLocks noChangeArrowheads="1"/>
              </p:cNvSpPr>
              <p:nvPr/>
            </p:nvSpPr>
            <p:spPr bwMode="auto">
              <a:xfrm>
                <a:off x="5423" y="3541"/>
                <a:ext cx="103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5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61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4758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习题：计算</a:t>
            </a:r>
            <a:r>
              <a:rPr lang="en-US" altLang="zh-CN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MPL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和</a:t>
            </a:r>
            <a:r>
              <a:rPr lang="en-US" altLang="zh-CN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VMPL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205957" y="1267908"/>
            <a:ext cx="325884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假设工资</a:t>
            </a:r>
            <a:b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W=2500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雇佣多少工人？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答案：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L=3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在任何较大的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，可以通过少雇佣一名工人来增加利润。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在任何较小的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，都可以通过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雇佣额外一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名工人来增加利润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农场主</a:t>
            </a:r>
            <a:r>
              <a:rPr lang="en-US" altLang="zh-CN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A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的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劳动力需求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600763" y="1254125"/>
            <a:ext cx="5422902" cy="5603875"/>
            <a:chOff x="3349625" y="796925"/>
            <a:chExt cx="5422902" cy="5603875"/>
          </a:xfrm>
        </p:grpSpPr>
        <p:grpSp>
          <p:nvGrpSpPr>
            <p:cNvPr id="3" name="Group 5"/>
            <p:cNvGrpSpPr/>
            <p:nvPr/>
          </p:nvGrpSpPr>
          <p:grpSpPr bwMode="auto">
            <a:xfrm>
              <a:off x="4503738" y="1303338"/>
              <a:ext cx="4183062" cy="4133850"/>
              <a:chOff x="2837" y="856"/>
              <a:chExt cx="2635" cy="2604"/>
            </a:xfrm>
          </p:grpSpPr>
          <p:sp>
            <p:nvSpPr>
              <p:cNvPr id="52" name="Rectangle 6"/>
              <p:cNvSpPr>
                <a:spLocks noChangeArrowheads="1"/>
              </p:cNvSpPr>
              <p:nvPr/>
            </p:nvSpPr>
            <p:spPr bwMode="auto">
              <a:xfrm>
                <a:off x="2837" y="856"/>
                <a:ext cx="2635" cy="260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3" name="Line 7"/>
              <p:cNvSpPr>
                <a:spLocks noChangeShapeType="1"/>
              </p:cNvSpPr>
              <p:nvPr/>
            </p:nvSpPr>
            <p:spPr bwMode="auto">
              <a:xfrm>
                <a:off x="2837" y="3022"/>
                <a:ext cx="263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4" name="Line 8"/>
              <p:cNvSpPr>
                <a:spLocks noChangeShapeType="1"/>
              </p:cNvSpPr>
              <p:nvPr/>
            </p:nvSpPr>
            <p:spPr bwMode="auto">
              <a:xfrm>
                <a:off x="2837" y="2594"/>
                <a:ext cx="263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5" name="Line 9"/>
              <p:cNvSpPr>
                <a:spLocks noChangeShapeType="1"/>
              </p:cNvSpPr>
              <p:nvPr/>
            </p:nvSpPr>
            <p:spPr bwMode="auto">
              <a:xfrm>
                <a:off x="2837" y="2158"/>
                <a:ext cx="263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6" name="Line 10"/>
              <p:cNvSpPr>
                <a:spLocks noChangeShapeType="1"/>
              </p:cNvSpPr>
              <p:nvPr/>
            </p:nvSpPr>
            <p:spPr bwMode="auto">
              <a:xfrm>
                <a:off x="2837" y="1721"/>
                <a:ext cx="263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7" name="Line 11"/>
              <p:cNvSpPr>
                <a:spLocks noChangeShapeType="1"/>
              </p:cNvSpPr>
              <p:nvPr/>
            </p:nvSpPr>
            <p:spPr bwMode="auto">
              <a:xfrm>
                <a:off x="2837" y="1293"/>
                <a:ext cx="263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8" name="Line 12"/>
              <p:cNvSpPr>
                <a:spLocks noChangeShapeType="1"/>
              </p:cNvSpPr>
              <p:nvPr/>
            </p:nvSpPr>
            <p:spPr bwMode="auto">
              <a:xfrm>
                <a:off x="3364" y="856"/>
                <a:ext cx="1" cy="260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9" name="Line 13"/>
              <p:cNvSpPr>
                <a:spLocks noChangeShapeType="1"/>
              </p:cNvSpPr>
              <p:nvPr/>
            </p:nvSpPr>
            <p:spPr bwMode="auto">
              <a:xfrm>
                <a:off x="3891" y="856"/>
                <a:ext cx="1" cy="260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60" name="Line 14"/>
              <p:cNvSpPr>
                <a:spLocks noChangeShapeType="1"/>
              </p:cNvSpPr>
              <p:nvPr/>
            </p:nvSpPr>
            <p:spPr bwMode="auto">
              <a:xfrm>
                <a:off x="4418" y="856"/>
                <a:ext cx="1" cy="260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61" name="Line 15"/>
              <p:cNvSpPr>
                <a:spLocks noChangeShapeType="1"/>
              </p:cNvSpPr>
              <p:nvPr/>
            </p:nvSpPr>
            <p:spPr bwMode="auto">
              <a:xfrm>
                <a:off x="4945" y="856"/>
                <a:ext cx="1" cy="260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62" name="Line 16"/>
              <p:cNvSpPr>
                <a:spLocks noChangeShapeType="1"/>
              </p:cNvSpPr>
              <p:nvPr/>
            </p:nvSpPr>
            <p:spPr bwMode="auto">
              <a:xfrm>
                <a:off x="2837" y="856"/>
                <a:ext cx="1" cy="260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63" name="Line 17"/>
              <p:cNvSpPr>
                <a:spLocks noChangeShapeType="1"/>
              </p:cNvSpPr>
              <p:nvPr/>
            </p:nvSpPr>
            <p:spPr bwMode="auto">
              <a:xfrm>
                <a:off x="2837" y="3459"/>
                <a:ext cx="263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4" name="Text Box 18"/>
            <p:cNvSpPr txBox="1">
              <a:spLocks noChangeArrowheads="1"/>
            </p:cNvSpPr>
            <p:nvPr/>
          </p:nvSpPr>
          <p:spPr bwMode="auto">
            <a:xfrm>
              <a:off x="4802188" y="5943600"/>
              <a:ext cx="3816350" cy="4572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L（工人人数）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6" name="Group 19"/>
            <p:cNvGrpSpPr/>
            <p:nvPr/>
          </p:nvGrpSpPr>
          <p:grpSpPr bwMode="auto">
            <a:xfrm>
              <a:off x="4872038" y="1943100"/>
              <a:ext cx="3462337" cy="2851150"/>
              <a:chOff x="2957" y="1294"/>
              <a:chExt cx="2181" cy="1796"/>
            </a:xfrm>
          </p:grpSpPr>
          <p:sp>
            <p:nvSpPr>
              <p:cNvPr id="46" name="Line 20"/>
              <p:cNvSpPr>
                <a:spLocks noChangeShapeType="1"/>
              </p:cNvSpPr>
              <p:nvPr/>
            </p:nvSpPr>
            <p:spPr bwMode="auto">
              <a:xfrm>
                <a:off x="2989" y="1326"/>
                <a:ext cx="2117" cy="1735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7" name="Oval 21"/>
              <p:cNvSpPr>
                <a:spLocks noChangeAspect="1" noChangeArrowheads="1"/>
              </p:cNvSpPr>
              <p:nvPr/>
            </p:nvSpPr>
            <p:spPr bwMode="auto">
              <a:xfrm>
                <a:off x="5069" y="3022"/>
                <a:ext cx="69" cy="68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8" name="Oval 22"/>
              <p:cNvSpPr>
                <a:spLocks noChangeAspect="1" noChangeArrowheads="1"/>
              </p:cNvSpPr>
              <p:nvPr/>
            </p:nvSpPr>
            <p:spPr bwMode="auto">
              <a:xfrm>
                <a:off x="4541" y="2596"/>
                <a:ext cx="69" cy="68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9" name="Oval 23"/>
              <p:cNvSpPr>
                <a:spLocks noChangeAspect="1" noChangeArrowheads="1"/>
              </p:cNvSpPr>
              <p:nvPr/>
            </p:nvSpPr>
            <p:spPr bwMode="auto">
              <a:xfrm>
                <a:off x="4008" y="2155"/>
                <a:ext cx="69" cy="68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0" name="Oval 24"/>
              <p:cNvSpPr>
                <a:spLocks noChangeAspect="1" noChangeArrowheads="1"/>
              </p:cNvSpPr>
              <p:nvPr/>
            </p:nvSpPr>
            <p:spPr bwMode="auto">
              <a:xfrm>
                <a:off x="3482" y="1724"/>
                <a:ext cx="69" cy="68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1" name="Oval 25"/>
              <p:cNvSpPr>
                <a:spLocks noChangeAspect="1" noChangeArrowheads="1"/>
              </p:cNvSpPr>
              <p:nvPr/>
            </p:nvSpPr>
            <p:spPr bwMode="auto">
              <a:xfrm>
                <a:off x="2957" y="1294"/>
                <a:ext cx="69" cy="68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7" name="Text Box 26"/>
            <p:cNvSpPr txBox="1">
              <a:spLocks noChangeArrowheads="1"/>
            </p:cNvSpPr>
            <p:nvPr/>
          </p:nvSpPr>
          <p:spPr bwMode="auto">
            <a:xfrm>
              <a:off x="5089525" y="796925"/>
              <a:ext cx="2925763" cy="4730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 b="1">
                  <a:latin typeface="Arial" panose="020B0604020202020204"/>
                  <a:cs typeface="Arial" panose="020B0604020202020204"/>
                </a:rPr>
                <a:t>VMPL曲线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" name="Line 27"/>
            <p:cNvSpPr>
              <a:spLocks noChangeShapeType="1"/>
            </p:cNvSpPr>
            <p:nvPr/>
          </p:nvSpPr>
          <p:spPr bwMode="auto">
            <a:xfrm>
              <a:off x="4503738" y="1303338"/>
              <a:ext cx="4183062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" name="Line 28"/>
            <p:cNvSpPr>
              <a:spLocks noChangeShapeType="1"/>
            </p:cNvSpPr>
            <p:nvPr/>
          </p:nvSpPr>
          <p:spPr bwMode="auto">
            <a:xfrm>
              <a:off x="8686800" y="1303338"/>
              <a:ext cx="1588" cy="413226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" name="Rectangle 29"/>
            <p:cNvSpPr>
              <a:spLocks noChangeArrowheads="1"/>
            </p:cNvSpPr>
            <p:nvPr/>
          </p:nvSpPr>
          <p:spPr bwMode="auto">
            <a:xfrm>
              <a:off x="4503738" y="1303338"/>
              <a:ext cx="4183062" cy="4132262"/>
            </a:xfrm>
            <a:prstGeom prst="rect">
              <a:avLst/>
            </a:prstGeom>
            <a:noFill/>
            <a:ln w="12700">
              <a:solidFill>
                <a:srgbClr val="808080"/>
              </a:solidFill>
              <a:miter lim="800000"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" name="Line 30"/>
            <p:cNvSpPr>
              <a:spLocks noChangeShapeType="1"/>
            </p:cNvSpPr>
            <p:nvPr/>
          </p:nvSpPr>
          <p:spPr bwMode="auto">
            <a:xfrm>
              <a:off x="4411663" y="5435600"/>
              <a:ext cx="920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" name="Line 31"/>
            <p:cNvSpPr>
              <a:spLocks noChangeShapeType="1"/>
            </p:cNvSpPr>
            <p:nvPr/>
          </p:nvSpPr>
          <p:spPr bwMode="auto">
            <a:xfrm>
              <a:off x="4411663" y="4741863"/>
              <a:ext cx="9207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" name="Line 32"/>
            <p:cNvSpPr>
              <a:spLocks noChangeShapeType="1"/>
            </p:cNvSpPr>
            <p:nvPr/>
          </p:nvSpPr>
          <p:spPr bwMode="auto">
            <a:xfrm>
              <a:off x="4411663" y="4062413"/>
              <a:ext cx="9207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" name="Line 33"/>
            <p:cNvSpPr>
              <a:spLocks noChangeShapeType="1"/>
            </p:cNvSpPr>
            <p:nvPr/>
          </p:nvSpPr>
          <p:spPr bwMode="auto">
            <a:xfrm>
              <a:off x="4411663" y="3370263"/>
              <a:ext cx="9207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" name="Line 34"/>
            <p:cNvSpPr>
              <a:spLocks noChangeShapeType="1"/>
            </p:cNvSpPr>
            <p:nvPr/>
          </p:nvSpPr>
          <p:spPr bwMode="auto">
            <a:xfrm>
              <a:off x="4411663" y="2676525"/>
              <a:ext cx="920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Line 35"/>
            <p:cNvSpPr>
              <a:spLocks noChangeShapeType="1"/>
            </p:cNvSpPr>
            <p:nvPr/>
          </p:nvSpPr>
          <p:spPr bwMode="auto">
            <a:xfrm>
              <a:off x="4411663" y="1997075"/>
              <a:ext cx="920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8" name="Line 36"/>
            <p:cNvSpPr>
              <a:spLocks noChangeShapeType="1"/>
            </p:cNvSpPr>
            <p:nvPr/>
          </p:nvSpPr>
          <p:spPr bwMode="auto">
            <a:xfrm>
              <a:off x="4411663" y="1303338"/>
              <a:ext cx="9207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9" name="Line 37"/>
            <p:cNvSpPr>
              <a:spLocks noChangeShapeType="1"/>
            </p:cNvSpPr>
            <p:nvPr/>
          </p:nvSpPr>
          <p:spPr bwMode="auto">
            <a:xfrm flipV="1">
              <a:off x="4503738" y="5435600"/>
              <a:ext cx="1587" cy="904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0" name="Line 38"/>
            <p:cNvSpPr>
              <a:spLocks noChangeShapeType="1"/>
            </p:cNvSpPr>
            <p:nvPr/>
          </p:nvSpPr>
          <p:spPr bwMode="auto">
            <a:xfrm flipV="1">
              <a:off x="5340350" y="5435600"/>
              <a:ext cx="1588" cy="904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1" name="Line 39"/>
            <p:cNvSpPr>
              <a:spLocks noChangeShapeType="1"/>
            </p:cNvSpPr>
            <p:nvPr/>
          </p:nvSpPr>
          <p:spPr bwMode="auto">
            <a:xfrm flipV="1">
              <a:off x="6176963" y="5435600"/>
              <a:ext cx="1587" cy="904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2" name="Line 40"/>
            <p:cNvSpPr>
              <a:spLocks noChangeShapeType="1"/>
            </p:cNvSpPr>
            <p:nvPr/>
          </p:nvSpPr>
          <p:spPr bwMode="auto">
            <a:xfrm flipV="1">
              <a:off x="7013575" y="5435600"/>
              <a:ext cx="1588" cy="904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3" name="Line 41"/>
            <p:cNvSpPr>
              <a:spLocks noChangeShapeType="1"/>
            </p:cNvSpPr>
            <p:nvPr/>
          </p:nvSpPr>
          <p:spPr bwMode="auto">
            <a:xfrm flipV="1">
              <a:off x="7850188" y="5435600"/>
              <a:ext cx="1587" cy="904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4" name="Line 42"/>
            <p:cNvSpPr>
              <a:spLocks noChangeShapeType="1"/>
            </p:cNvSpPr>
            <p:nvPr/>
          </p:nvSpPr>
          <p:spPr bwMode="auto">
            <a:xfrm flipV="1">
              <a:off x="8686800" y="5435600"/>
              <a:ext cx="1588" cy="904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25" name="Group 43"/>
            <p:cNvGrpSpPr/>
            <p:nvPr/>
          </p:nvGrpSpPr>
          <p:grpSpPr bwMode="auto">
            <a:xfrm>
              <a:off x="3349625" y="1127125"/>
              <a:ext cx="1004888" cy="4484688"/>
              <a:chOff x="2110" y="745"/>
              <a:chExt cx="633" cy="2825"/>
            </a:xfrm>
          </p:grpSpPr>
          <p:sp>
            <p:nvSpPr>
              <p:cNvPr id="39" name="Rectangle 44"/>
              <p:cNvSpPr>
                <a:spLocks noChangeArrowheads="1"/>
              </p:cNvSpPr>
              <p:nvPr/>
            </p:nvSpPr>
            <p:spPr bwMode="auto">
              <a:xfrm>
                <a:off x="2617" y="3347"/>
                <a:ext cx="103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0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0" name="Rectangle 45"/>
              <p:cNvSpPr>
                <a:spLocks noChangeArrowheads="1"/>
              </p:cNvSpPr>
              <p:nvPr/>
            </p:nvSpPr>
            <p:spPr bwMode="auto">
              <a:xfrm>
                <a:off x="2278" y="2911"/>
                <a:ext cx="465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1000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1" name="Rectangle 46"/>
              <p:cNvSpPr>
                <a:spLocks noChangeArrowheads="1"/>
              </p:cNvSpPr>
              <p:nvPr/>
            </p:nvSpPr>
            <p:spPr bwMode="auto">
              <a:xfrm>
                <a:off x="2278" y="2482"/>
                <a:ext cx="465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2000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2" name="Rectangle 47"/>
              <p:cNvSpPr>
                <a:spLocks noChangeArrowheads="1"/>
              </p:cNvSpPr>
              <p:nvPr/>
            </p:nvSpPr>
            <p:spPr bwMode="auto">
              <a:xfrm>
                <a:off x="2278" y="2046"/>
                <a:ext cx="465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3000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3" name="Rectangle 48"/>
              <p:cNvSpPr>
                <a:spLocks noChangeArrowheads="1"/>
              </p:cNvSpPr>
              <p:nvPr/>
            </p:nvSpPr>
            <p:spPr bwMode="auto">
              <a:xfrm>
                <a:off x="2278" y="1609"/>
                <a:ext cx="465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4000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4" name="Rectangle 49"/>
              <p:cNvSpPr>
                <a:spLocks noChangeArrowheads="1"/>
              </p:cNvSpPr>
              <p:nvPr/>
            </p:nvSpPr>
            <p:spPr bwMode="auto">
              <a:xfrm>
                <a:off x="2278" y="1181"/>
                <a:ext cx="465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5000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5" name="Rectangle 50"/>
              <p:cNvSpPr>
                <a:spLocks noChangeArrowheads="1"/>
              </p:cNvSpPr>
              <p:nvPr/>
            </p:nvSpPr>
            <p:spPr bwMode="auto">
              <a:xfrm>
                <a:off x="2110" y="745"/>
                <a:ext cx="627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r"/>
                <a:r>
                  <a:rPr lang="en-US" sz="2300" smtClea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6000</a:t>
                </a:r>
                <a:r>
                  <a:rPr lang="zh-CN" altLang="en-US" sz="2300" smtClea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元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26" name="Group 51"/>
            <p:cNvGrpSpPr/>
            <p:nvPr/>
          </p:nvGrpSpPr>
          <p:grpSpPr bwMode="auto">
            <a:xfrm>
              <a:off x="4424364" y="5565775"/>
              <a:ext cx="4348163" cy="354013"/>
              <a:chOff x="2787" y="3541"/>
              <a:chExt cx="2739" cy="223"/>
            </a:xfrm>
          </p:grpSpPr>
          <p:sp>
            <p:nvSpPr>
              <p:cNvPr id="33" name="Rectangle 52"/>
              <p:cNvSpPr>
                <a:spLocks noChangeArrowheads="1"/>
              </p:cNvSpPr>
              <p:nvPr/>
            </p:nvSpPr>
            <p:spPr bwMode="auto">
              <a:xfrm>
                <a:off x="2787" y="3541"/>
                <a:ext cx="103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0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4" name="Rectangle 53"/>
              <p:cNvSpPr>
                <a:spLocks noChangeArrowheads="1"/>
              </p:cNvSpPr>
              <p:nvPr/>
            </p:nvSpPr>
            <p:spPr bwMode="auto">
              <a:xfrm>
                <a:off x="3314" y="3541"/>
                <a:ext cx="103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1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5" name="Rectangle 54"/>
              <p:cNvSpPr>
                <a:spLocks noChangeArrowheads="1"/>
              </p:cNvSpPr>
              <p:nvPr/>
            </p:nvSpPr>
            <p:spPr bwMode="auto">
              <a:xfrm>
                <a:off x="3841" y="3541"/>
                <a:ext cx="103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2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6" name="Rectangle 55"/>
              <p:cNvSpPr>
                <a:spLocks noChangeArrowheads="1"/>
              </p:cNvSpPr>
              <p:nvPr/>
            </p:nvSpPr>
            <p:spPr bwMode="auto">
              <a:xfrm>
                <a:off x="4369" y="3541"/>
                <a:ext cx="103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3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7" name="Rectangle 56"/>
              <p:cNvSpPr>
                <a:spLocks noChangeArrowheads="1"/>
              </p:cNvSpPr>
              <p:nvPr/>
            </p:nvSpPr>
            <p:spPr bwMode="auto">
              <a:xfrm>
                <a:off x="4896" y="3541"/>
                <a:ext cx="103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4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8" name="Rectangle 57"/>
              <p:cNvSpPr>
                <a:spLocks noChangeArrowheads="1"/>
              </p:cNvSpPr>
              <p:nvPr/>
            </p:nvSpPr>
            <p:spPr bwMode="auto">
              <a:xfrm>
                <a:off x="5423" y="3541"/>
                <a:ext cx="103" cy="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5</a:t>
                </a:r>
                <a:endParaRPr lang="en-US" sz="23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27" name="Group 65"/>
            <p:cNvGrpSpPr/>
            <p:nvPr/>
          </p:nvGrpSpPr>
          <p:grpSpPr bwMode="auto">
            <a:xfrm>
              <a:off x="3509963" y="3494088"/>
              <a:ext cx="5176837" cy="446087"/>
              <a:chOff x="2211" y="2201"/>
              <a:chExt cx="3261" cy="281"/>
            </a:xfrm>
          </p:grpSpPr>
          <p:sp>
            <p:nvSpPr>
              <p:cNvPr id="31" name="Line 59"/>
              <p:cNvSpPr>
                <a:spLocks noChangeShapeType="1"/>
              </p:cNvSpPr>
              <p:nvPr/>
            </p:nvSpPr>
            <p:spPr bwMode="auto">
              <a:xfrm>
                <a:off x="2832" y="2340"/>
                <a:ext cx="2640" cy="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2" name="Rectangle 61"/>
              <p:cNvSpPr>
                <a:spLocks noChangeArrowheads="1"/>
              </p:cNvSpPr>
              <p:nvPr/>
            </p:nvSpPr>
            <p:spPr bwMode="auto">
              <a:xfrm>
                <a:off x="2211" y="2201"/>
                <a:ext cx="679" cy="28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lang="en-US" sz="2300" b="1" smtClean="0">
                    <a:solidFill>
                      <a:srgbClr val="0000FF"/>
                    </a:solidFill>
                    <a:latin typeface="Arial" panose="020B0604020202020204"/>
                    <a:cs typeface="Arial" panose="020B0604020202020204"/>
                  </a:rPr>
                  <a:t>2500</a:t>
                </a:r>
                <a:endParaRPr lang="en-US" sz="2300" b="1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28" name="Group 64"/>
            <p:cNvGrpSpPr/>
            <p:nvPr/>
          </p:nvGrpSpPr>
          <p:grpSpPr bwMode="auto">
            <a:xfrm>
              <a:off x="6877050" y="3714750"/>
              <a:ext cx="279400" cy="2197100"/>
              <a:chOff x="4332" y="2340"/>
              <a:chExt cx="176" cy="1384"/>
            </a:xfrm>
          </p:grpSpPr>
          <p:sp>
            <p:nvSpPr>
              <p:cNvPr id="29" name="Line 62"/>
              <p:cNvSpPr>
                <a:spLocks noChangeShapeType="1"/>
              </p:cNvSpPr>
              <p:nvPr/>
            </p:nvSpPr>
            <p:spPr bwMode="auto">
              <a:xfrm>
                <a:off x="4420" y="2340"/>
                <a:ext cx="0" cy="114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0" name="Rectangle 63"/>
              <p:cNvSpPr>
                <a:spLocks noChangeArrowheads="1"/>
              </p:cNvSpPr>
              <p:nvPr/>
            </p:nvSpPr>
            <p:spPr bwMode="auto">
              <a:xfrm>
                <a:off x="4332" y="3508"/>
                <a:ext cx="176" cy="216"/>
              </a:xfrm>
              <a:prstGeom prst="rect">
                <a:avLst/>
              </a:prstGeom>
              <a:noFill/>
              <a:ln w="12700">
                <a:solidFill>
                  <a:srgbClr val="0000FF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522251" y="1615637"/>
            <a:ext cx="339512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任何竞争性的、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利润最大化的公司：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为了最大化利润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，雇佣工人直到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VMPL=W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VMPL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曲线就是劳动力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需求曲线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VMPL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与劳动力需求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4085756" y="1880206"/>
            <a:ext cx="4383087" cy="4310063"/>
            <a:chOff x="4233863" y="1493839"/>
            <a:chExt cx="4383087" cy="4310063"/>
          </a:xfrm>
        </p:grpSpPr>
        <p:grpSp>
          <p:nvGrpSpPr>
            <p:cNvPr id="75" name="组合 74"/>
            <p:cNvGrpSpPr/>
            <p:nvPr/>
          </p:nvGrpSpPr>
          <p:grpSpPr>
            <a:xfrm>
              <a:off x="4572000" y="1493839"/>
              <a:ext cx="4044950" cy="4140200"/>
              <a:chOff x="4572000" y="1493839"/>
              <a:chExt cx="4044950" cy="4140200"/>
            </a:xfrm>
          </p:grpSpPr>
          <p:grpSp>
            <p:nvGrpSpPr>
              <p:cNvPr id="83" name="Group 5"/>
              <p:cNvGrpSpPr/>
              <p:nvPr/>
            </p:nvGrpSpPr>
            <p:grpSpPr bwMode="auto">
              <a:xfrm>
                <a:off x="4572000" y="1493839"/>
                <a:ext cx="4044950" cy="4140200"/>
                <a:chOff x="2544" y="743"/>
                <a:chExt cx="2548" cy="2608"/>
              </a:xfrm>
            </p:grpSpPr>
            <p:grpSp>
              <p:nvGrpSpPr>
                <p:cNvPr id="87" name="Group 6"/>
                <p:cNvGrpSpPr/>
                <p:nvPr/>
              </p:nvGrpSpPr>
              <p:grpSpPr bwMode="auto">
                <a:xfrm>
                  <a:off x="2697" y="1012"/>
                  <a:ext cx="2168" cy="2191"/>
                  <a:chOff x="1098" y="1361"/>
                  <a:chExt cx="2116" cy="2027"/>
                </a:xfrm>
              </p:grpSpPr>
              <p:sp>
                <p:nvSpPr>
                  <p:cNvPr id="90" name="Line 7"/>
                  <p:cNvSpPr>
                    <a:spLocks noChangeShapeType="1"/>
                  </p:cNvSpPr>
                  <p:nvPr/>
                </p:nvSpPr>
                <p:spPr bwMode="auto">
                  <a:xfrm>
                    <a:off x="1102" y="1361"/>
                    <a:ext cx="0" cy="2025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91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1098" y="3388"/>
                    <a:ext cx="211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sp>
              <p:nvSpPr>
                <p:cNvPr id="88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544" y="743"/>
                  <a:ext cx="267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 b="1" i="1">
                      <a:latin typeface="Arial" panose="020B0604020202020204"/>
                      <a:cs typeface="Arial" panose="020B0604020202020204"/>
                    </a:rPr>
                    <a:t>W</a:t>
                  </a:r>
                  <a:endParaRPr lang="en-US" sz="2400" b="1" i="1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89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4802" y="3063"/>
                  <a:ext cx="290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 b="1" i="1">
                      <a:latin typeface="Arial" panose="020B0604020202020204"/>
                      <a:cs typeface="Arial" panose="020B0604020202020204"/>
                    </a:rPr>
                    <a:t>L</a:t>
                  </a:r>
                  <a:endParaRPr lang="en-US" sz="2400" b="1" i="1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grpSp>
            <p:nvGrpSpPr>
              <p:cNvPr id="84" name="Group 24"/>
              <p:cNvGrpSpPr/>
              <p:nvPr/>
            </p:nvGrpSpPr>
            <p:grpSpPr bwMode="auto">
              <a:xfrm>
                <a:off x="5326063" y="2343150"/>
                <a:ext cx="3082925" cy="2727325"/>
                <a:chOff x="3355" y="1476"/>
                <a:chExt cx="1942" cy="1718"/>
              </a:xfrm>
            </p:grpSpPr>
            <p:sp>
              <p:nvSpPr>
                <p:cNvPr id="85" name="Line 12"/>
                <p:cNvSpPr>
                  <a:spLocks noChangeShapeType="1"/>
                </p:cNvSpPr>
                <p:nvPr/>
              </p:nvSpPr>
              <p:spPr bwMode="auto">
                <a:xfrm>
                  <a:off x="3355" y="1476"/>
                  <a:ext cx="1328" cy="1473"/>
                </a:xfrm>
                <a:prstGeom prst="line">
                  <a:avLst/>
                </a:prstGeom>
                <a:noFill/>
                <a:ln w="38100">
                  <a:solidFill>
                    <a:srgbClr val="003399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86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653" y="2905"/>
                  <a:ext cx="644" cy="28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 i="1">
                      <a:latin typeface="Arial" panose="020B0604020202020204"/>
                      <a:cs typeface="Arial" panose="020B0604020202020204"/>
                    </a:rPr>
                    <a:t>VMPL</a:t>
                  </a:r>
                  <a:endParaRPr lang="en-US" sz="2400" baseline="-25000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</p:grpSp>
        <p:grpSp>
          <p:nvGrpSpPr>
            <p:cNvPr id="76" name="Group 25"/>
            <p:cNvGrpSpPr/>
            <p:nvPr/>
          </p:nvGrpSpPr>
          <p:grpSpPr bwMode="auto">
            <a:xfrm>
              <a:off x="4233863" y="3305176"/>
              <a:ext cx="2371725" cy="2498726"/>
              <a:chOff x="2352" y="1900"/>
              <a:chExt cx="1494" cy="1574"/>
            </a:xfrm>
          </p:grpSpPr>
          <p:grpSp>
            <p:nvGrpSpPr>
              <p:cNvPr id="77" name="Group 26"/>
              <p:cNvGrpSpPr/>
              <p:nvPr/>
            </p:nvGrpSpPr>
            <p:grpSpPr bwMode="auto">
              <a:xfrm>
                <a:off x="2701" y="2016"/>
                <a:ext cx="991" cy="1188"/>
                <a:chOff x="2757" y="2018"/>
                <a:chExt cx="826" cy="1117"/>
              </a:xfrm>
            </p:grpSpPr>
            <p:sp>
              <p:nvSpPr>
                <p:cNvPr id="81" name="Line 27"/>
                <p:cNvSpPr>
                  <a:spLocks noChangeShapeType="1"/>
                </p:cNvSpPr>
                <p:nvPr/>
              </p:nvSpPr>
              <p:spPr bwMode="auto">
                <a:xfrm>
                  <a:off x="2757" y="2020"/>
                  <a:ext cx="82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82" name="Line 28"/>
                <p:cNvSpPr>
                  <a:spLocks noChangeShapeType="1"/>
                </p:cNvSpPr>
                <p:nvPr/>
              </p:nvSpPr>
              <p:spPr bwMode="auto">
                <a:xfrm>
                  <a:off x="3583" y="2018"/>
                  <a:ext cx="0" cy="11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78" name="Text Box 29"/>
              <p:cNvSpPr txBox="1">
                <a:spLocks noChangeArrowheads="1"/>
              </p:cNvSpPr>
              <p:nvPr/>
            </p:nvSpPr>
            <p:spPr bwMode="auto">
              <a:xfrm>
                <a:off x="2352" y="1900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W</a:t>
                </a:r>
                <a:r>
                  <a:rPr lang="en-US" sz="1400" b="1" i="1">
                    <a:latin typeface="Arial" panose="020B0604020202020204"/>
                    <a:cs typeface="Arial" panose="020B0604020202020204"/>
                  </a:rPr>
                  <a:t>1</a:t>
                </a:r>
                <a:endParaRPr lang="en-US" sz="1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79" name="Oval 30"/>
              <p:cNvSpPr>
                <a:spLocks noChangeAspect="1" noChangeArrowheads="1"/>
              </p:cNvSpPr>
              <p:nvPr/>
            </p:nvSpPr>
            <p:spPr bwMode="auto">
              <a:xfrm>
                <a:off x="3648" y="1983"/>
                <a:ext cx="81" cy="80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0" name="Text Box 31"/>
              <p:cNvSpPr txBox="1">
                <a:spLocks noChangeArrowheads="1"/>
              </p:cNvSpPr>
              <p:nvPr/>
            </p:nvSpPr>
            <p:spPr bwMode="auto">
              <a:xfrm>
                <a:off x="3538" y="3241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L</a:t>
                </a:r>
                <a:r>
                  <a:rPr lang="en-US" sz="1400" b="1" i="1">
                    <a:latin typeface="Arial" panose="020B0604020202020204"/>
                    <a:cs typeface="Arial" panose="020B0604020202020204"/>
                  </a:rPr>
                  <a:t>1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522251" y="1615637"/>
            <a:ext cx="336394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劳动力需求曲线</a:t>
            </a:r>
            <a:b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=VMPL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VMPL=P x MPL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任何增加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或提升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MPL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的冲击，都将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VMPL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使得劳动力需求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曲线右移（上移）。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劳动力需求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的平移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319722" y="1957836"/>
            <a:ext cx="4044950" cy="4140200"/>
            <a:chOff x="4538663" y="1468438"/>
            <a:chExt cx="4044950" cy="4140200"/>
          </a:xfrm>
        </p:grpSpPr>
        <p:grpSp>
          <p:nvGrpSpPr>
            <p:cNvPr id="3" name="Group 5"/>
            <p:cNvGrpSpPr/>
            <p:nvPr/>
          </p:nvGrpSpPr>
          <p:grpSpPr bwMode="auto">
            <a:xfrm>
              <a:off x="4538663" y="1468438"/>
              <a:ext cx="4044950" cy="4140200"/>
              <a:chOff x="2544" y="743"/>
              <a:chExt cx="2548" cy="2608"/>
            </a:xfrm>
          </p:grpSpPr>
          <p:grpSp>
            <p:nvGrpSpPr>
              <p:cNvPr id="13" name="Group 6"/>
              <p:cNvGrpSpPr/>
              <p:nvPr/>
            </p:nvGrpSpPr>
            <p:grpSpPr bwMode="auto">
              <a:xfrm>
                <a:off x="2697" y="1012"/>
                <a:ext cx="2168" cy="2191"/>
                <a:chOff x="1098" y="1361"/>
                <a:chExt cx="2116" cy="2027"/>
              </a:xfrm>
            </p:grpSpPr>
            <p:sp>
              <p:nvSpPr>
                <p:cNvPr id="16" name="Line 7"/>
                <p:cNvSpPr>
                  <a:spLocks noChangeShapeType="1"/>
                </p:cNvSpPr>
                <p:nvPr/>
              </p:nvSpPr>
              <p:spPr bwMode="auto">
                <a:xfrm>
                  <a:off x="1102" y="1361"/>
                  <a:ext cx="0" cy="202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7" name="Line 8"/>
                <p:cNvSpPr>
                  <a:spLocks noChangeShapeType="1"/>
                </p:cNvSpPr>
                <p:nvPr/>
              </p:nvSpPr>
              <p:spPr bwMode="auto">
                <a:xfrm>
                  <a:off x="1098" y="3388"/>
                  <a:ext cx="211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14" name="Text Box 9"/>
              <p:cNvSpPr txBox="1">
                <a:spLocks noChangeArrowheads="1"/>
              </p:cNvSpPr>
              <p:nvPr/>
            </p:nvSpPr>
            <p:spPr bwMode="auto">
              <a:xfrm>
                <a:off x="2544" y="743"/>
                <a:ext cx="267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W</a:t>
                </a:r>
                <a:endParaRPr lang="en-US" sz="2400" b="1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4802" y="3063"/>
                <a:ext cx="290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L</a:t>
                </a:r>
                <a:endParaRPr lang="en-US" sz="2400" b="1" i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4" name="Group 11"/>
            <p:cNvGrpSpPr/>
            <p:nvPr/>
          </p:nvGrpSpPr>
          <p:grpSpPr bwMode="auto">
            <a:xfrm>
              <a:off x="5326063" y="2343150"/>
              <a:ext cx="2613025" cy="2727325"/>
              <a:chOff x="2850" y="1233"/>
              <a:chExt cx="1566" cy="1851"/>
            </a:xfrm>
          </p:grpSpPr>
          <p:sp>
            <p:nvSpPr>
              <p:cNvPr id="11" name="Line 12"/>
              <p:cNvSpPr>
                <a:spLocks noChangeShapeType="1"/>
              </p:cNvSpPr>
              <p:nvPr/>
            </p:nvSpPr>
            <p:spPr bwMode="auto">
              <a:xfrm>
                <a:off x="2850" y="1233"/>
                <a:ext cx="1263" cy="1587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" name="Text Box 13"/>
              <p:cNvSpPr txBox="1">
                <a:spLocks noChangeArrowheads="1"/>
              </p:cNvSpPr>
              <p:nvPr/>
            </p:nvSpPr>
            <p:spPr bwMode="auto">
              <a:xfrm>
                <a:off x="4072" y="2773"/>
                <a:ext cx="344" cy="31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i="1">
                    <a:latin typeface="Arial" panose="020B0604020202020204"/>
                    <a:cs typeface="Arial" panose="020B0604020202020204"/>
                  </a:rPr>
                  <a:t>D</a:t>
                </a:r>
                <a:r>
                  <a:rPr lang="en-US" sz="2400" baseline="-25000">
                    <a:latin typeface="Arial" panose="020B0604020202020204"/>
                    <a:cs typeface="Arial" panose="020B0604020202020204"/>
                  </a:rPr>
                  <a:t>1</a:t>
                </a:r>
                <a:endParaRPr lang="en-US" sz="2400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6" name="Group 24"/>
            <p:cNvGrpSpPr/>
            <p:nvPr/>
          </p:nvGrpSpPr>
          <p:grpSpPr bwMode="auto">
            <a:xfrm>
              <a:off x="5780088" y="1760538"/>
              <a:ext cx="2463800" cy="2584450"/>
              <a:chOff x="2850" y="1233"/>
              <a:chExt cx="1566" cy="1871"/>
            </a:xfrm>
          </p:grpSpPr>
          <p:sp>
            <p:nvSpPr>
              <p:cNvPr id="9" name="Line 25"/>
              <p:cNvSpPr>
                <a:spLocks noChangeShapeType="1"/>
              </p:cNvSpPr>
              <p:nvPr/>
            </p:nvSpPr>
            <p:spPr bwMode="auto">
              <a:xfrm>
                <a:off x="2850" y="1233"/>
                <a:ext cx="1263" cy="1587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0" name="Text Box 26"/>
              <p:cNvSpPr txBox="1">
                <a:spLocks noChangeArrowheads="1"/>
              </p:cNvSpPr>
              <p:nvPr/>
            </p:nvSpPr>
            <p:spPr bwMode="auto">
              <a:xfrm>
                <a:off x="4072" y="2773"/>
                <a:ext cx="344" cy="3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i="1">
                    <a:latin typeface="Arial" panose="020B0604020202020204"/>
                    <a:cs typeface="Arial" panose="020B0604020202020204"/>
                  </a:rPr>
                  <a:t>D</a:t>
                </a:r>
                <a:r>
                  <a:rPr lang="en-US" sz="2400" baseline="-25000">
                    <a:latin typeface="Arial" panose="020B0604020202020204"/>
                    <a:cs typeface="Arial" panose="020B0604020202020204"/>
                  </a:rPr>
                  <a:t>2</a:t>
                </a:r>
                <a:endParaRPr lang="en-US" sz="2400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7" name="Line 27"/>
            <p:cNvSpPr>
              <a:spLocks noChangeShapeType="1"/>
            </p:cNvSpPr>
            <p:nvPr/>
          </p:nvSpPr>
          <p:spPr bwMode="auto">
            <a:xfrm rot="5400000" flipH="1" flipV="1">
              <a:off x="7120573" y="3252153"/>
              <a:ext cx="3810" cy="899795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tailEnd type="triangle" w="lg" len="lg"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8" name="Line 27"/>
          <p:cNvSpPr>
            <a:spLocks noChangeShapeType="1"/>
          </p:cNvSpPr>
          <p:nvPr/>
        </p:nvSpPr>
        <p:spPr bwMode="auto">
          <a:xfrm rot="5400000" flipH="1">
            <a:off x="6055995" y="3794760"/>
            <a:ext cx="796290" cy="127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tailEnd type="triangle" w="lg" len="lg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引起劳动力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需求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曲线移动的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因素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8" name="TextBox 15"/>
          <p:cNvSpPr txBox="1"/>
          <p:nvPr/>
        </p:nvSpPr>
        <p:spPr>
          <a:xfrm>
            <a:off x="395536" y="1556792"/>
            <a:ext cx="80648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价格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的变化，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技术变革（影响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MPL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其他因素的供应（影响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MPL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。比如，如果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公司获得更多的设备（资本），那么工人的生产力会更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高，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MPL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VMPL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上升，劳动力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需求曲线上移。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551399" y="1411320"/>
            <a:ext cx="80648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回忆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边际成本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=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额外一单位产品的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成本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=∆TC/∆Q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，其中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TC=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总成本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假设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W=2500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MPL=500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单位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如果农场主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雇佣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额外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个工人，</a:t>
            </a:r>
            <a:b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∆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TC=2500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，∆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Q=500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单位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MC=2500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500=5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一般情况下：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MC=W/MPL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投入需求与产出供给的联系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2561130" y="5444477"/>
            <a:ext cx="2292350" cy="5111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5" y="1556792"/>
            <a:ext cx="8415955" cy="344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一般情况下：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MC=W/MPL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生产额外的产品，需要雇佣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更多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工人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上升时，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MPL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下降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…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导致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W/MPL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上升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…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导致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MC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升高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因此，边际产品递减和边际成本上升是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同一枚硬币的两面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投入需求与产出供给的联系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2516054" y="1645209"/>
            <a:ext cx="2292350" cy="5111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478663" y="1390538"/>
            <a:ext cx="8064896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竞争性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对劳动力的需求规则：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VPML=W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即：</a:t>
            </a:r>
            <a:b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x MPL=W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两侧除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MPL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b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P=W/MPL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前页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MC=W/MPL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b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P=MC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：这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竞争性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公司供给产品的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投入需求和产出供给是一枚硬币的两面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投入需求与产出供给的联系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工作和休闲之间的权衡：</a:t>
            </a:r>
            <a:b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花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在工作上的时间越多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，休闲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的时间就越少。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休闲的机会成本就是工资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劳动力供应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457200" y="1763138"/>
            <a:ext cx="3014055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的增加</a:t>
            </a:r>
            <a:b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是休闲成本的增加。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人们的反应是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少休闲，多工作。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劳动力供给曲线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235092" y="1822606"/>
            <a:ext cx="4322763" cy="4330700"/>
            <a:chOff x="4260850" y="1468438"/>
            <a:chExt cx="4322763" cy="4330700"/>
          </a:xfrm>
        </p:grpSpPr>
        <p:grpSp>
          <p:nvGrpSpPr>
            <p:cNvPr id="17" name="组合 16"/>
            <p:cNvGrpSpPr/>
            <p:nvPr/>
          </p:nvGrpSpPr>
          <p:grpSpPr>
            <a:xfrm>
              <a:off x="4538663" y="1468438"/>
              <a:ext cx="4044950" cy="4140200"/>
              <a:chOff x="4538663" y="1468438"/>
              <a:chExt cx="4044950" cy="4140200"/>
            </a:xfrm>
          </p:grpSpPr>
          <p:grpSp>
            <p:nvGrpSpPr>
              <p:cNvPr id="25" name="Group 23"/>
              <p:cNvGrpSpPr/>
              <p:nvPr/>
            </p:nvGrpSpPr>
            <p:grpSpPr bwMode="auto">
              <a:xfrm>
                <a:off x="4538663" y="1468438"/>
                <a:ext cx="4044950" cy="4140200"/>
                <a:chOff x="2544" y="743"/>
                <a:chExt cx="2548" cy="2608"/>
              </a:xfrm>
            </p:grpSpPr>
            <p:grpSp>
              <p:nvGrpSpPr>
                <p:cNvPr id="31" name="Group 24"/>
                <p:cNvGrpSpPr/>
                <p:nvPr/>
              </p:nvGrpSpPr>
              <p:grpSpPr bwMode="auto">
                <a:xfrm>
                  <a:off x="2697" y="1012"/>
                  <a:ext cx="2168" cy="2191"/>
                  <a:chOff x="1098" y="1361"/>
                  <a:chExt cx="2116" cy="2027"/>
                </a:xfrm>
              </p:grpSpPr>
              <p:sp>
                <p:nvSpPr>
                  <p:cNvPr id="34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1102" y="1361"/>
                    <a:ext cx="0" cy="2025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35" name="Line 26"/>
                  <p:cNvSpPr>
                    <a:spLocks noChangeShapeType="1"/>
                  </p:cNvSpPr>
                  <p:nvPr/>
                </p:nvSpPr>
                <p:spPr bwMode="auto">
                  <a:xfrm>
                    <a:off x="1098" y="3388"/>
                    <a:ext cx="211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sp>
              <p:nvSpPr>
                <p:cNvPr id="32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544" y="743"/>
                  <a:ext cx="267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 b="1" i="1">
                      <a:latin typeface="Arial" panose="020B0604020202020204"/>
                      <a:cs typeface="Arial" panose="020B0604020202020204"/>
                    </a:rPr>
                    <a:t>W</a:t>
                  </a:r>
                  <a:endParaRPr lang="en-US" sz="2400" b="1" i="1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3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4802" y="3063"/>
                  <a:ext cx="290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 b="1" i="1">
                      <a:latin typeface="Arial" panose="020B0604020202020204"/>
                      <a:cs typeface="Arial" panose="020B0604020202020204"/>
                    </a:rPr>
                    <a:t>L</a:t>
                  </a:r>
                  <a:endParaRPr lang="en-US" sz="2400" b="1" i="1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grpSp>
            <p:nvGrpSpPr>
              <p:cNvPr id="26" name="Group 32"/>
              <p:cNvGrpSpPr/>
              <p:nvPr/>
            </p:nvGrpSpPr>
            <p:grpSpPr bwMode="auto">
              <a:xfrm>
                <a:off x="5557838" y="1914525"/>
                <a:ext cx="1933575" cy="2901950"/>
                <a:chOff x="3067" y="1024"/>
                <a:chExt cx="1218" cy="1828"/>
              </a:xfrm>
            </p:grpSpPr>
            <p:sp>
              <p:nvSpPr>
                <p:cNvPr id="29" name="Line 33"/>
                <p:cNvSpPr>
                  <a:spLocks noChangeShapeType="1"/>
                </p:cNvSpPr>
                <p:nvPr/>
              </p:nvSpPr>
              <p:spPr bwMode="auto">
                <a:xfrm flipV="1">
                  <a:off x="3067" y="1278"/>
                  <a:ext cx="949" cy="1574"/>
                </a:xfrm>
                <a:prstGeom prst="line">
                  <a:avLst/>
                </a:prstGeom>
                <a:noFill/>
                <a:ln w="38100">
                  <a:solidFill>
                    <a:srgbClr val="003399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0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3920" y="1024"/>
                  <a:ext cx="36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 i="1">
                      <a:latin typeface="Arial" panose="020B0604020202020204"/>
                      <a:cs typeface="Arial" panose="020B0604020202020204"/>
                    </a:rPr>
                    <a:t>S</a:t>
                  </a:r>
                  <a:r>
                    <a:rPr lang="en-US" sz="1400" i="1">
                      <a:latin typeface="Arial" panose="020B0604020202020204"/>
                      <a:cs typeface="Arial" panose="020B0604020202020204"/>
                    </a:rPr>
                    <a:t>1</a:t>
                  </a:r>
                  <a:endParaRPr lang="en-US" sz="2400" baseline="-25000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27" name="Line 56"/>
              <p:cNvSpPr>
                <a:spLocks noChangeShapeType="1"/>
              </p:cNvSpPr>
              <p:nvPr/>
            </p:nvSpPr>
            <p:spPr bwMode="auto">
              <a:xfrm rot="10800000" flipH="1">
                <a:off x="6364288" y="5372100"/>
                <a:ext cx="398462" cy="0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tailEnd type="triangle" w="lg" len="lg"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8" name="Line 57"/>
              <p:cNvSpPr>
                <a:spLocks noChangeShapeType="1"/>
              </p:cNvSpPr>
              <p:nvPr/>
            </p:nvSpPr>
            <p:spPr bwMode="auto">
              <a:xfrm rot="5400000" flipH="1">
                <a:off x="4452144" y="3156744"/>
                <a:ext cx="665162" cy="0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tailEnd type="triangle" w="lg" len="lg"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8" name="Group 58"/>
            <p:cNvGrpSpPr/>
            <p:nvPr/>
          </p:nvGrpSpPr>
          <p:grpSpPr bwMode="auto">
            <a:xfrm>
              <a:off x="4260850" y="2622550"/>
              <a:ext cx="2778125" cy="3176588"/>
              <a:chOff x="2684" y="1652"/>
              <a:chExt cx="1750" cy="2001"/>
            </a:xfrm>
          </p:grpSpPr>
          <p:grpSp>
            <p:nvGrpSpPr>
              <p:cNvPr id="19" name="Group 59"/>
              <p:cNvGrpSpPr/>
              <p:nvPr/>
            </p:nvGrpSpPr>
            <p:grpSpPr bwMode="auto">
              <a:xfrm>
                <a:off x="3016" y="1771"/>
                <a:ext cx="1251" cy="1611"/>
                <a:chOff x="2757" y="2018"/>
                <a:chExt cx="826" cy="1117"/>
              </a:xfrm>
            </p:grpSpPr>
            <p:sp>
              <p:nvSpPr>
                <p:cNvPr id="23" name="Line 60"/>
                <p:cNvSpPr>
                  <a:spLocks noChangeShapeType="1"/>
                </p:cNvSpPr>
                <p:nvPr/>
              </p:nvSpPr>
              <p:spPr bwMode="auto">
                <a:xfrm>
                  <a:off x="2757" y="2020"/>
                  <a:ext cx="82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4" name="Line 61"/>
                <p:cNvSpPr>
                  <a:spLocks noChangeShapeType="1"/>
                </p:cNvSpPr>
                <p:nvPr/>
              </p:nvSpPr>
              <p:spPr bwMode="auto">
                <a:xfrm>
                  <a:off x="3583" y="2018"/>
                  <a:ext cx="0" cy="11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20" name="Text Box 62"/>
              <p:cNvSpPr txBox="1">
                <a:spLocks noChangeArrowheads="1"/>
              </p:cNvSpPr>
              <p:nvPr/>
            </p:nvSpPr>
            <p:spPr bwMode="auto">
              <a:xfrm>
                <a:off x="2684" y="1652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W</a:t>
                </a:r>
                <a:r>
                  <a:rPr lang="en-US" sz="1400" b="1" i="1">
                    <a:latin typeface="Arial" panose="020B0604020202020204"/>
                    <a:cs typeface="Arial" panose="020B0604020202020204"/>
                  </a:rPr>
                  <a:t>2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1" name="Oval 63"/>
              <p:cNvSpPr>
                <a:spLocks noChangeAspect="1" noChangeArrowheads="1"/>
              </p:cNvSpPr>
              <p:nvPr/>
            </p:nvSpPr>
            <p:spPr bwMode="auto">
              <a:xfrm>
                <a:off x="4220" y="1732"/>
                <a:ext cx="81" cy="80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2" name="Text Box 64"/>
              <p:cNvSpPr txBox="1">
                <a:spLocks noChangeArrowheads="1"/>
              </p:cNvSpPr>
              <p:nvPr/>
            </p:nvSpPr>
            <p:spPr bwMode="auto">
              <a:xfrm>
                <a:off x="4126" y="3420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L</a:t>
                </a:r>
                <a:r>
                  <a:rPr lang="en-US" sz="1400" b="1" i="1">
                    <a:latin typeface="Arial" panose="020B0604020202020204"/>
                    <a:cs typeface="Arial" panose="020B0604020202020204"/>
                  </a:rPr>
                  <a:t>2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36" name="Line 44"/>
          <p:cNvSpPr>
            <a:spLocks noChangeShapeType="1"/>
          </p:cNvSpPr>
          <p:nvPr/>
        </p:nvSpPr>
        <p:spPr bwMode="auto">
          <a:xfrm>
            <a:off x="4767119" y="3825212"/>
            <a:ext cx="1567499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Line 45"/>
          <p:cNvSpPr>
            <a:spLocks noChangeShapeType="1"/>
          </p:cNvSpPr>
          <p:nvPr/>
        </p:nvSpPr>
        <p:spPr bwMode="auto">
          <a:xfrm>
            <a:off x="6361114" y="3821835"/>
            <a:ext cx="0" cy="1885951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Text Box 46"/>
          <p:cNvSpPr txBox="1">
            <a:spLocks noChangeArrowheads="1"/>
          </p:cNvSpPr>
          <p:nvPr/>
        </p:nvSpPr>
        <p:spPr bwMode="auto">
          <a:xfrm>
            <a:off x="4244254" y="3575340"/>
            <a:ext cx="488950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i="1">
                <a:latin typeface="Arial" panose="020B0604020202020204"/>
                <a:cs typeface="Arial" panose="020B0604020202020204"/>
              </a:rPr>
              <a:t>W</a:t>
            </a:r>
            <a:r>
              <a:rPr lang="en-US" sz="2400" b="1" baseline="-25000">
                <a:latin typeface="Arial" panose="020B0604020202020204"/>
                <a:cs typeface="Arial" panose="020B0604020202020204"/>
              </a:rPr>
              <a:t>1</a:t>
            </a:r>
            <a:endParaRPr lang="en-US" sz="2400" b="1" baseline="-2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Text Box 48"/>
          <p:cNvSpPr txBox="1">
            <a:spLocks noChangeArrowheads="1"/>
          </p:cNvSpPr>
          <p:nvPr/>
        </p:nvSpPr>
        <p:spPr bwMode="auto">
          <a:xfrm>
            <a:off x="6043902" y="5787304"/>
            <a:ext cx="488950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i="1">
                <a:latin typeface="Arial" panose="020B0604020202020204"/>
                <a:cs typeface="Arial" panose="020B0604020202020204"/>
              </a:rPr>
              <a:t>L</a:t>
            </a:r>
            <a:r>
              <a:rPr lang="en-US" sz="2400" b="1" baseline="-25000">
                <a:latin typeface="Arial" panose="020B0604020202020204"/>
                <a:cs typeface="Arial" panose="020B0604020202020204"/>
              </a:rPr>
              <a:t>1</a:t>
            </a:r>
            <a:endParaRPr lang="en-US" sz="2400" b="1" baseline="-25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573110" y="1788897"/>
            <a:ext cx="67213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不同人对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劳动与休闲的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权衡有不同的态度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工人在其他劳动力市场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的工作机会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移民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引起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劳动力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供给曲线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移动的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因素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573110" y="1788897"/>
            <a:ext cx="3007217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工资调整以平衡劳动力的供给和需求。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工资总是等于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VMPL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劳动力市场的均衡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233863" y="1468438"/>
            <a:ext cx="4349750" cy="4335464"/>
            <a:chOff x="4233863" y="1468438"/>
            <a:chExt cx="4349750" cy="4335464"/>
          </a:xfrm>
        </p:grpSpPr>
        <p:grpSp>
          <p:nvGrpSpPr>
            <p:cNvPr id="20" name="组合 19"/>
            <p:cNvGrpSpPr/>
            <p:nvPr/>
          </p:nvGrpSpPr>
          <p:grpSpPr>
            <a:xfrm>
              <a:off x="4538663" y="1468438"/>
              <a:ext cx="4044950" cy="4140200"/>
              <a:chOff x="4538663" y="1468438"/>
              <a:chExt cx="4044950" cy="4140200"/>
            </a:xfrm>
          </p:grpSpPr>
          <p:grpSp>
            <p:nvGrpSpPr>
              <p:cNvPr id="28" name="Group 35"/>
              <p:cNvGrpSpPr/>
              <p:nvPr/>
            </p:nvGrpSpPr>
            <p:grpSpPr bwMode="auto">
              <a:xfrm>
                <a:off x="4538663" y="1468438"/>
                <a:ext cx="4044950" cy="4140200"/>
                <a:chOff x="2544" y="743"/>
                <a:chExt cx="2548" cy="2608"/>
              </a:xfrm>
            </p:grpSpPr>
            <p:grpSp>
              <p:nvGrpSpPr>
                <p:cNvPr id="35" name="Group 36"/>
                <p:cNvGrpSpPr/>
                <p:nvPr/>
              </p:nvGrpSpPr>
              <p:grpSpPr bwMode="auto">
                <a:xfrm>
                  <a:off x="2697" y="1012"/>
                  <a:ext cx="2168" cy="2191"/>
                  <a:chOff x="1098" y="1361"/>
                  <a:chExt cx="2116" cy="2027"/>
                </a:xfrm>
              </p:grpSpPr>
              <p:sp>
                <p:nvSpPr>
                  <p:cNvPr id="38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1102" y="1361"/>
                    <a:ext cx="0" cy="2025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39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1098" y="3388"/>
                    <a:ext cx="211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sp>
              <p:nvSpPr>
                <p:cNvPr id="36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2544" y="743"/>
                  <a:ext cx="267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 b="1" i="1">
                      <a:latin typeface="Arial" panose="020B0604020202020204"/>
                      <a:cs typeface="Arial" panose="020B0604020202020204"/>
                    </a:rPr>
                    <a:t>W</a:t>
                  </a:r>
                  <a:endParaRPr lang="en-US" sz="2400" b="1" i="1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7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4802" y="3063"/>
                  <a:ext cx="290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 b="1" i="1">
                      <a:latin typeface="Arial" panose="020B0604020202020204"/>
                      <a:cs typeface="Arial" panose="020B0604020202020204"/>
                    </a:rPr>
                    <a:t>L</a:t>
                  </a:r>
                  <a:endParaRPr lang="en-US" sz="2400" b="1" i="1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grpSp>
            <p:nvGrpSpPr>
              <p:cNvPr id="29" name="Group 41"/>
              <p:cNvGrpSpPr/>
              <p:nvPr/>
            </p:nvGrpSpPr>
            <p:grpSpPr bwMode="auto">
              <a:xfrm>
                <a:off x="5326063" y="2343150"/>
                <a:ext cx="2613025" cy="2727325"/>
                <a:chOff x="2850" y="1233"/>
                <a:chExt cx="1566" cy="1851"/>
              </a:xfrm>
            </p:grpSpPr>
            <p:sp>
              <p:nvSpPr>
                <p:cNvPr id="33" name="Line 42"/>
                <p:cNvSpPr>
                  <a:spLocks noChangeShapeType="1"/>
                </p:cNvSpPr>
                <p:nvPr/>
              </p:nvSpPr>
              <p:spPr bwMode="auto">
                <a:xfrm>
                  <a:off x="2850" y="1233"/>
                  <a:ext cx="1263" cy="1587"/>
                </a:xfrm>
                <a:prstGeom prst="line">
                  <a:avLst/>
                </a:prstGeom>
                <a:noFill/>
                <a:ln w="38100">
                  <a:solidFill>
                    <a:srgbClr val="003399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4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4072" y="2773"/>
                  <a:ext cx="344" cy="31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2400" i="1">
                      <a:latin typeface="Arial" panose="020B0604020202020204"/>
                      <a:cs typeface="Arial" panose="020B0604020202020204"/>
                    </a:rPr>
                    <a:t>D</a:t>
                  </a:r>
                  <a:endParaRPr lang="en-US" sz="2400" baseline="-25000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grpSp>
            <p:nvGrpSpPr>
              <p:cNvPr id="30" name="Group 54"/>
              <p:cNvGrpSpPr/>
              <p:nvPr/>
            </p:nvGrpSpPr>
            <p:grpSpPr bwMode="auto">
              <a:xfrm>
                <a:off x="5557838" y="1914525"/>
                <a:ext cx="1774825" cy="2901950"/>
                <a:chOff x="3501" y="1206"/>
                <a:chExt cx="1118" cy="1828"/>
              </a:xfrm>
            </p:grpSpPr>
            <p:sp>
              <p:nvSpPr>
                <p:cNvPr id="31" name="Line 45"/>
                <p:cNvSpPr>
                  <a:spLocks noChangeShapeType="1"/>
                </p:cNvSpPr>
                <p:nvPr/>
              </p:nvSpPr>
              <p:spPr bwMode="auto">
                <a:xfrm flipV="1">
                  <a:off x="3501" y="1460"/>
                  <a:ext cx="949" cy="1574"/>
                </a:xfrm>
                <a:prstGeom prst="line">
                  <a:avLst/>
                </a:prstGeom>
                <a:noFill/>
                <a:ln w="38100">
                  <a:solidFill>
                    <a:srgbClr val="003399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2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4375" y="1206"/>
                  <a:ext cx="244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2400" i="1">
                      <a:latin typeface="Arial" panose="020B0604020202020204"/>
                      <a:cs typeface="Arial" panose="020B0604020202020204"/>
                    </a:rPr>
                    <a:t>S</a:t>
                  </a:r>
                  <a:endParaRPr lang="en-US" sz="2400" baseline="-25000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</p:grpSp>
        <p:grpSp>
          <p:nvGrpSpPr>
            <p:cNvPr id="21" name="Group 47"/>
            <p:cNvGrpSpPr/>
            <p:nvPr/>
          </p:nvGrpSpPr>
          <p:grpSpPr bwMode="auto">
            <a:xfrm>
              <a:off x="4233863" y="3305176"/>
              <a:ext cx="2371725" cy="2498726"/>
              <a:chOff x="2352" y="1900"/>
              <a:chExt cx="1494" cy="1574"/>
            </a:xfrm>
          </p:grpSpPr>
          <p:grpSp>
            <p:nvGrpSpPr>
              <p:cNvPr id="22" name="Group 48"/>
              <p:cNvGrpSpPr/>
              <p:nvPr/>
            </p:nvGrpSpPr>
            <p:grpSpPr bwMode="auto">
              <a:xfrm>
                <a:off x="2701" y="2016"/>
                <a:ext cx="991" cy="1188"/>
                <a:chOff x="2757" y="2018"/>
                <a:chExt cx="826" cy="1117"/>
              </a:xfrm>
            </p:grpSpPr>
            <p:sp>
              <p:nvSpPr>
                <p:cNvPr id="26" name="Line 49"/>
                <p:cNvSpPr>
                  <a:spLocks noChangeShapeType="1"/>
                </p:cNvSpPr>
                <p:nvPr/>
              </p:nvSpPr>
              <p:spPr bwMode="auto">
                <a:xfrm>
                  <a:off x="2757" y="2020"/>
                  <a:ext cx="82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7" name="Line 50"/>
                <p:cNvSpPr>
                  <a:spLocks noChangeShapeType="1"/>
                </p:cNvSpPr>
                <p:nvPr/>
              </p:nvSpPr>
              <p:spPr bwMode="auto">
                <a:xfrm>
                  <a:off x="3583" y="2018"/>
                  <a:ext cx="0" cy="11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23" name="Text Box 51"/>
              <p:cNvSpPr txBox="1">
                <a:spLocks noChangeArrowheads="1"/>
              </p:cNvSpPr>
              <p:nvPr/>
            </p:nvSpPr>
            <p:spPr bwMode="auto">
              <a:xfrm>
                <a:off x="2352" y="1900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W</a:t>
                </a:r>
                <a:r>
                  <a:rPr lang="en-US" sz="1400" b="1" i="1">
                    <a:latin typeface="Arial" panose="020B0604020202020204"/>
                    <a:cs typeface="Arial" panose="020B0604020202020204"/>
                  </a:rPr>
                  <a:t>1</a:t>
                </a:r>
                <a:endParaRPr lang="en-US" sz="1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4" name="Oval 52"/>
              <p:cNvSpPr>
                <a:spLocks noChangeAspect="1" noChangeArrowheads="1"/>
              </p:cNvSpPr>
              <p:nvPr/>
            </p:nvSpPr>
            <p:spPr bwMode="auto">
              <a:xfrm>
                <a:off x="3648" y="1983"/>
                <a:ext cx="81" cy="80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5" name="Text Box 53"/>
              <p:cNvSpPr txBox="1">
                <a:spLocks noChangeArrowheads="1"/>
              </p:cNvSpPr>
              <p:nvPr/>
            </p:nvSpPr>
            <p:spPr bwMode="auto">
              <a:xfrm>
                <a:off x="3538" y="3241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L</a:t>
                </a:r>
                <a:r>
                  <a:rPr lang="en-US" sz="1400" b="1" i="1">
                    <a:latin typeface="Arial" panose="020B0604020202020204"/>
                    <a:cs typeface="Arial" panose="020B0604020202020204"/>
                  </a:rPr>
                  <a:t>1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以下每个场景中，使用（国内）汽车工人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的供需图，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找出如下每个场景对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他们的工资和就业的影响。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A.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在汽车行业工作的婴儿潮一代退休了。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B.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购车者的偏好转向进口汽车。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C.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在汽车制造业，技术进步提高生产力。</a:t>
            </a:r>
            <a:b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习题：劳动力市场均衡的变动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573110" y="1788897"/>
            <a:ext cx="33546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b="1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婴儿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潮一代汽车工人的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退休，使劳动力供给曲线向左平移。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337050" y="1302868"/>
            <a:ext cx="4349750" cy="5041901"/>
            <a:chOff x="4233863" y="993775"/>
            <a:chExt cx="4349750" cy="5041901"/>
          </a:xfrm>
        </p:grpSpPr>
        <p:grpSp>
          <p:nvGrpSpPr>
            <p:cNvPr id="3" name="Group 29"/>
            <p:cNvGrpSpPr/>
            <p:nvPr/>
          </p:nvGrpSpPr>
          <p:grpSpPr bwMode="auto">
            <a:xfrm>
              <a:off x="4538663" y="1682750"/>
              <a:ext cx="4044950" cy="4140200"/>
              <a:chOff x="2544" y="743"/>
              <a:chExt cx="2548" cy="2608"/>
            </a:xfrm>
          </p:grpSpPr>
          <p:grpSp>
            <p:nvGrpSpPr>
              <p:cNvPr id="54" name="Group 30"/>
              <p:cNvGrpSpPr/>
              <p:nvPr/>
            </p:nvGrpSpPr>
            <p:grpSpPr bwMode="auto">
              <a:xfrm>
                <a:off x="2697" y="1012"/>
                <a:ext cx="2168" cy="2191"/>
                <a:chOff x="1098" y="1361"/>
                <a:chExt cx="2116" cy="2027"/>
              </a:xfrm>
            </p:grpSpPr>
            <p:sp>
              <p:nvSpPr>
                <p:cNvPr id="57" name="Line 31"/>
                <p:cNvSpPr>
                  <a:spLocks noChangeShapeType="1"/>
                </p:cNvSpPr>
                <p:nvPr/>
              </p:nvSpPr>
              <p:spPr bwMode="auto">
                <a:xfrm>
                  <a:off x="1102" y="1361"/>
                  <a:ext cx="0" cy="202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8" name="Line 32"/>
                <p:cNvSpPr>
                  <a:spLocks noChangeShapeType="1"/>
                </p:cNvSpPr>
                <p:nvPr/>
              </p:nvSpPr>
              <p:spPr bwMode="auto">
                <a:xfrm>
                  <a:off x="1098" y="3388"/>
                  <a:ext cx="211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55" name="Text Box 33"/>
              <p:cNvSpPr txBox="1">
                <a:spLocks noChangeArrowheads="1"/>
              </p:cNvSpPr>
              <p:nvPr/>
            </p:nvSpPr>
            <p:spPr bwMode="auto">
              <a:xfrm>
                <a:off x="2544" y="743"/>
                <a:ext cx="267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W</a:t>
                </a:r>
                <a:endParaRPr lang="en-US" sz="2400" b="1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6" name="Text Box 34"/>
              <p:cNvSpPr txBox="1">
                <a:spLocks noChangeArrowheads="1"/>
              </p:cNvSpPr>
              <p:nvPr/>
            </p:nvSpPr>
            <p:spPr bwMode="auto">
              <a:xfrm>
                <a:off x="4802" y="3063"/>
                <a:ext cx="290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L</a:t>
                </a:r>
                <a:endParaRPr lang="en-US" sz="2400" b="1" i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4" name="Group 35"/>
            <p:cNvGrpSpPr/>
            <p:nvPr/>
          </p:nvGrpSpPr>
          <p:grpSpPr bwMode="auto">
            <a:xfrm>
              <a:off x="5326063" y="2557463"/>
              <a:ext cx="2613025" cy="2727325"/>
              <a:chOff x="2850" y="1233"/>
              <a:chExt cx="1566" cy="1851"/>
            </a:xfrm>
          </p:grpSpPr>
          <p:sp>
            <p:nvSpPr>
              <p:cNvPr id="52" name="Line 36"/>
              <p:cNvSpPr>
                <a:spLocks noChangeShapeType="1"/>
              </p:cNvSpPr>
              <p:nvPr/>
            </p:nvSpPr>
            <p:spPr bwMode="auto">
              <a:xfrm>
                <a:off x="2850" y="1233"/>
                <a:ext cx="1263" cy="1587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3" name="Text Box 37"/>
              <p:cNvSpPr txBox="1">
                <a:spLocks noChangeArrowheads="1"/>
              </p:cNvSpPr>
              <p:nvPr/>
            </p:nvSpPr>
            <p:spPr bwMode="auto">
              <a:xfrm>
                <a:off x="4072" y="2773"/>
                <a:ext cx="344" cy="31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i="1">
                    <a:latin typeface="Arial" panose="020B0604020202020204"/>
                    <a:cs typeface="Arial" panose="020B0604020202020204"/>
                  </a:rPr>
                  <a:t>D1</a:t>
                </a:r>
                <a:endParaRPr lang="en-US" sz="2400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6" name="Group 38"/>
            <p:cNvGrpSpPr/>
            <p:nvPr/>
          </p:nvGrpSpPr>
          <p:grpSpPr bwMode="auto">
            <a:xfrm>
              <a:off x="5557838" y="2128838"/>
              <a:ext cx="1933575" cy="2901950"/>
              <a:chOff x="3067" y="1024"/>
              <a:chExt cx="1218" cy="1828"/>
            </a:xfrm>
          </p:grpSpPr>
          <p:sp>
            <p:nvSpPr>
              <p:cNvPr id="50" name="Line 39"/>
              <p:cNvSpPr>
                <a:spLocks noChangeShapeType="1"/>
              </p:cNvSpPr>
              <p:nvPr/>
            </p:nvSpPr>
            <p:spPr bwMode="auto">
              <a:xfrm flipV="1">
                <a:off x="3067" y="1278"/>
                <a:ext cx="949" cy="1574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1" name="Text Box 40"/>
              <p:cNvSpPr txBox="1">
                <a:spLocks noChangeArrowheads="1"/>
              </p:cNvSpPr>
              <p:nvPr/>
            </p:nvSpPr>
            <p:spPr bwMode="auto">
              <a:xfrm>
                <a:off x="3920" y="1024"/>
                <a:ext cx="365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i="1">
                    <a:latin typeface="Arial" panose="020B0604020202020204"/>
                    <a:cs typeface="Arial" panose="020B0604020202020204"/>
                  </a:rPr>
                  <a:t>S1</a:t>
                </a:r>
                <a:endParaRPr lang="en-US" sz="2400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7" name="Group 41"/>
            <p:cNvGrpSpPr/>
            <p:nvPr/>
          </p:nvGrpSpPr>
          <p:grpSpPr bwMode="auto">
            <a:xfrm>
              <a:off x="4233863" y="3519487"/>
              <a:ext cx="2371725" cy="2498724"/>
              <a:chOff x="2352" y="1900"/>
              <a:chExt cx="1494" cy="1574"/>
            </a:xfrm>
          </p:grpSpPr>
          <p:grpSp>
            <p:nvGrpSpPr>
              <p:cNvPr id="44" name="Group 42"/>
              <p:cNvGrpSpPr/>
              <p:nvPr/>
            </p:nvGrpSpPr>
            <p:grpSpPr bwMode="auto">
              <a:xfrm>
                <a:off x="2701" y="2016"/>
                <a:ext cx="991" cy="1188"/>
                <a:chOff x="2757" y="2018"/>
                <a:chExt cx="826" cy="1117"/>
              </a:xfrm>
            </p:grpSpPr>
            <p:sp>
              <p:nvSpPr>
                <p:cNvPr id="48" name="Line 43"/>
                <p:cNvSpPr>
                  <a:spLocks noChangeShapeType="1"/>
                </p:cNvSpPr>
                <p:nvPr/>
              </p:nvSpPr>
              <p:spPr bwMode="auto">
                <a:xfrm>
                  <a:off x="2757" y="2020"/>
                  <a:ext cx="82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9" name="Line 44"/>
                <p:cNvSpPr>
                  <a:spLocks noChangeShapeType="1"/>
                </p:cNvSpPr>
                <p:nvPr/>
              </p:nvSpPr>
              <p:spPr bwMode="auto">
                <a:xfrm>
                  <a:off x="3583" y="2018"/>
                  <a:ext cx="0" cy="11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45" name="Text Box 45"/>
              <p:cNvSpPr txBox="1">
                <a:spLocks noChangeArrowheads="1"/>
              </p:cNvSpPr>
              <p:nvPr/>
            </p:nvSpPr>
            <p:spPr bwMode="auto">
              <a:xfrm>
                <a:off x="2352" y="1900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W1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6" name="Oval 46"/>
              <p:cNvSpPr>
                <a:spLocks noChangeAspect="1" noChangeArrowheads="1"/>
              </p:cNvSpPr>
              <p:nvPr/>
            </p:nvSpPr>
            <p:spPr bwMode="auto">
              <a:xfrm>
                <a:off x="3648" y="1983"/>
                <a:ext cx="81" cy="80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7" name="Text Box 47"/>
              <p:cNvSpPr txBox="1">
                <a:spLocks noChangeArrowheads="1"/>
              </p:cNvSpPr>
              <p:nvPr/>
            </p:nvSpPr>
            <p:spPr bwMode="auto">
              <a:xfrm>
                <a:off x="3538" y="3241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L1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9" name="Group 48"/>
            <p:cNvGrpSpPr/>
            <p:nvPr/>
          </p:nvGrpSpPr>
          <p:grpSpPr bwMode="auto">
            <a:xfrm>
              <a:off x="4921250" y="1854200"/>
              <a:ext cx="1933575" cy="2901950"/>
              <a:chOff x="3067" y="1024"/>
              <a:chExt cx="1218" cy="1828"/>
            </a:xfrm>
          </p:grpSpPr>
          <p:sp>
            <p:nvSpPr>
              <p:cNvPr id="42" name="Line 49"/>
              <p:cNvSpPr>
                <a:spLocks noChangeShapeType="1"/>
              </p:cNvSpPr>
              <p:nvPr/>
            </p:nvSpPr>
            <p:spPr bwMode="auto">
              <a:xfrm flipV="1">
                <a:off x="3067" y="1278"/>
                <a:ext cx="949" cy="157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3" name="Text Box 50"/>
              <p:cNvSpPr txBox="1">
                <a:spLocks noChangeArrowheads="1"/>
              </p:cNvSpPr>
              <p:nvPr/>
            </p:nvSpPr>
            <p:spPr bwMode="auto">
              <a:xfrm>
                <a:off x="3920" y="1024"/>
                <a:ext cx="365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i="1">
                    <a:latin typeface="Arial" panose="020B0604020202020204"/>
                    <a:cs typeface="Arial" panose="020B0604020202020204"/>
                  </a:rPr>
                  <a:t>S2</a:t>
                </a:r>
                <a:endParaRPr lang="en-US" sz="2400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0" name="Group 58"/>
            <p:cNvGrpSpPr/>
            <p:nvPr/>
          </p:nvGrpSpPr>
          <p:grpSpPr bwMode="auto">
            <a:xfrm>
              <a:off x="4248150" y="2994025"/>
              <a:ext cx="1885950" cy="3041651"/>
              <a:chOff x="2676" y="1751"/>
              <a:chExt cx="1188" cy="1916"/>
            </a:xfrm>
          </p:grpSpPr>
          <p:grpSp>
            <p:nvGrpSpPr>
              <p:cNvPr id="15" name="Group 52"/>
              <p:cNvGrpSpPr/>
              <p:nvPr/>
            </p:nvGrpSpPr>
            <p:grpSpPr bwMode="auto">
              <a:xfrm>
                <a:off x="3016" y="1861"/>
                <a:ext cx="691" cy="1527"/>
                <a:chOff x="2757" y="2018"/>
                <a:chExt cx="826" cy="1117"/>
              </a:xfrm>
            </p:grpSpPr>
            <p:sp>
              <p:nvSpPr>
                <p:cNvPr id="40" name="Line 53"/>
                <p:cNvSpPr>
                  <a:spLocks noChangeShapeType="1"/>
                </p:cNvSpPr>
                <p:nvPr/>
              </p:nvSpPr>
              <p:spPr bwMode="auto">
                <a:xfrm>
                  <a:off x="2757" y="2020"/>
                  <a:ext cx="82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1" name="Line 54"/>
                <p:cNvSpPr>
                  <a:spLocks noChangeShapeType="1"/>
                </p:cNvSpPr>
                <p:nvPr/>
              </p:nvSpPr>
              <p:spPr bwMode="auto">
                <a:xfrm>
                  <a:off x="3583" y="2018"/>
                  <a:ext cx="0" cy="11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16" name="Text Box 55"/>
              <p:cNvSpPr txBox="1">
                <a:spLocks noChangeArrowheads="1"/>
              </p:cNvSpPr>
              <p:nvPr/>
            </p:nvSpPr>
            <p:spPr bwMode="auto">
              <a:xfrm>
                <a:off x="2676" y="1751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W2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7" name="Oval 56"/>
              <p:cNvSpPr>
                <a:spLocks noChangeAspect="1" noChangeArrowheads="1"/>
              </p:cNvSpPr>
              <p:nvPr/>
            </p:nvSpPr>
            <p:spPr bwMode="auto">
              <a:xfrm>
                <a:off x="3663" y="1828"/>
                <a:ext cx="81" cy="80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8" name="Text Box 57"/>
              <p:cNvSpPr txBox="1">
                <a:spLocks noChangeArrowheads="1"/>
              </p:cNvSpPr>
              <p:nvPr/>
            </p:nvSpPr>
            <p:spPr bwMode="auto">
              <a:xfrm>
                <a:off x="3556" y="3434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L2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1" name="Line 59"/>
            <p:cNvSpPr>
              <a:spLocks noChangeShapeType="1"/>
            </p:cNvSpPr>
            <p:nvPr/>
          </p:nvSpPr>
          <p:spPr bwMode="auto">
            <a:xfrm flipH="1">
              <a:off x="6221413" y="2690813"/>
              <a:ext cx="638175" cy="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tailEnd type="triangle" w="lg" len="lg"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" name="Line 60"/>
            <p:cNvSpPr>
              <a:spLocks noChangeShapeType="1"/>
            </p:cNvSpPr>
            <p:nvPr/>
          </p:nvSpPr>
          <p:spPr bwMode="auto">
            <a:xfrm flipH="1">
              <a:off x="5889625" y="5584825"/>
              <a:ext cx="466725" cy="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tailEnd type="triangle" w="lg" len="lg"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" name="Line 61"/>
            <p:cNvSpPr>
              <a:spLocks noChangeShapeType="1"/>
            </p:cNvSpPr>
            <p:nvPr/>
          </p:nvSpPr>
          <p:spPr bwMode="auto">
            <a:xfrm rot="5400000" flipH="1">
              <a:off x="4530725" y="3436938"/>
              <a:ext cx="523875" cy="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tailEnd type="triangle" w="lg" len="lg"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" name="Text Box 62"/>
            <p:cNvSpPr txBox="1">
              <a:spLocks noChangeArrowheads="1"/>
            </p:cNvSpPr>
            <p:nvPr/>
          </p:nvSpPr>
          <p:spPr bwMode="auto">
            <a:xfrm>
              <a:off x="5462588" y="993775"/>
              <a:ext cx="2274887" cy="46166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汽车工人</a:t>
              </a:r>
              <a:r>
                <a:rPr lang="en-US" altLang="zh-CN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市场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39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习题：劳动力市场均衡的变动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573110" y="1788897"/>
            <a:ext cx="33026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购车者的偏好转向进口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汽车，使劳动力的需求曲线向左平移。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330700" y="1627182"/>
            <a:ext cx="4356100" cy="4899745"/>
            <a:chOff x="4227513" y="1118466"/>
            <a:chExt cx="4356100" cy="4899745"/>
          </a:xfrm>
        </p:grpSpPr>
        <p:grpSp>
          <p:nvGrpSpPr>
            <p:cNvPr id="20" name="Group 8"/>
            <p:cNvGrpSpPr/>
            <p:nvPr/>
          </p:nvGrpSpPr>
          <p:grpSpPr bwMode="auto">
            <a:xfrm>
              <a:off x="4538663" y="1682750"/>
              <a:ext cx="4044950" cy="4140200"/>
              <a:chOff x="2544" y="743"/>
              <a:chExt cx="2548" cy="2608"/>
            </a:xfrm>
          </p:grpSpPr>
          <p:grpSp>
            <p:nvGrpSpPr>
              <p:cNvPr id="67" name="Group 9"/>
              <p:cNvGrpSpPr/>
              <p:nvPr/>
            </p:nvGrpSpPr>
            <p:grpSpPr bwMode="auto">
              <a:xfrm>
                <a:off x="2697" y="1012"/>
                <a:ext cx="2168" cy="2191"/>
                <a:chOff x="1098" y="1361"/>
                <a:chExt cx="2116" cy="2027"/>
              </a:xfrm>
            </p:grpSpPr>
            <p:sp>
              <p:nvSpPr>
                <p:cNvPr id="70" name="Line 10"/>
                <p:cNvSpPr>
                  <a:spLocks noChangeShapeType="1"/>
                </p:cNvSpPr>
                <p:nvPr/>
              </p:nvSpPr>
              <p:spPr bwMode="auto">
                <a:xfrm>
                  <a:off x="1102" y="1361"/>
                  <a:ext cx="0" cy="202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71" name="Line 11"/>
                <p:cNvSpPr>
                  <a:spLocks noChangeShapeType="1"/>
                </p:cNvSpPr>
                <p:nvPr/>
              </p:nvSpPr>
              <p:spPr bwMode="auto">
                <a:xfrm>
                  <a:off x="1098" y="3388"/>
                  <a:ext cx="211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68" name="Text Box 12"/>
              <p:cNvSpPr txBox="1">
                <a:spLocks noChangeArrowheads="1"/>
              </p:cNvSpPr>
              <p:nvPr/>
            </p:nvSpPr>
            <p:spPr bwMode="auto">
              <a:xfrm>
                <a:off x="2544" y="743"/>
                <a:ext cx="267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W</a:t>
                </a:r>
                <a:endParaRPr lang="en-US" sz="2400" b="1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69" name="Text Box 13"/>
              <p:cNvSpPr txBox="1">
                <a:spLocks noChangeArrowheads="1"/>
              </p:cNvSpPr>
              <p:nvPr/>
            </p:nvSpPr>
            <p:spPr bwMode="auto">
              <a:xfrm>
                <a:off x="4802" y="3063"/>
                <a:ext cx="290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L</a:t>
                </a:r>
                <a:endParaRPr lang="en-US" sz="2400" b="1" i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21" name="Group 14"/>
            <p:cNvGrpSpPr/>
            <p:nvPr/>
          </p:nvGrpSpPr>
          <p:grpSpPr bwMode="auto">
            <a:xfrm>
              <a:off x="5326063" y="2557463"/>
              <a:ext cx="2613025" cy="2727325"/>
              <a:chOff x="2850" y="1233"/>
              <a:chExt cx="1566" cy="1851"/>
            </a:xfrm>
          </p:grpSpPr>
          <p:sp>
            <p:nvSpPr>
              <p:cNvPr id="65" name="Line 15"/>
              <p:cNvSpPr>
                <a:spLocks noChangeShapeType="1"/>
              </p:cNvSpPr>
              <p:nvPr/>
            </p:nvSpPr>
            <p:spPr bwMode="auto">
              <a:xfrm>
                <a:off x="2850" y="1233"/>
                <a:ext cx="1263" cy="1587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66" name="Text Box 16"/>
              <p:cNvSpPr txBox="1">
                <a:spLocks noChangeArrowheads="1"/>
              </p:cNvSpPr>
              <p:nvPr/>
            </p:nvSpPr>
            <p:spPr bwMode="auto">
              <a:xfrm>
                <a:off x="4072" y="2773"/>
                <a:ext cx="344" cy="31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i="1">
                    <a:latin typeface="Arial" panose="020B0604020202020204"/>
                    <a:cs typeface="Arial" panose="020B0604020202020204"/>
                  </a:rPr>
                  <a:t>D1</a:t>
                </a:r>
                <a:endParaRPr lang="en-US" sz="2400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22" name="Group 17"/>
            <p:cNvGrpSpPr/>
            <p:nvPr/>
          </p:nvGrpSpPr>
          <p:grpSpPr bwMode="auto">
            <a:xfrm>
              <a:off x="5557838" y="2128838"/>
              <a:ext cx="1933575" cy="2901950"/>
              <a:chOff x="3067" y="1024"/>
              <a:chExt cx="1218" cy="1828"/>
            </a:xfrm>
          </p:grpSpPr>
          <p:sp>
            <p:nvSpPr>
              <p:cNvPr id="63" name="Line 18"/>
              <p:cNvSpPr>
                <a:spLocks noChangeShapeType="1"/>
              </p:cNvSpPr>
              <p:nvPr/>
            </p:nvSpPr>
            <p:spPr bwMode="auto">
              <a:xfrm flipV="1">
                <a:off x="3067" y="1278"/>
                <a:ext cx="949" cy="1574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64" name="Text Box 19"/>
              <p:cNvSpPr txBox="1">
                <a:spLocks noChangeArrowheads="1"/>
              </p:cNvSpPr>
              <p:nvPr/>
            </p:nvSpPr>
            <p:spPr bwMode="auto">
              <a:xfrm>
                <a:off x="3920" y="1024"/>
                <a:ext cx="365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i="1">
                    <a:latin typeface="Arial" panose="020B0604020202020204"/>
                    <a:cs typeface="Arial" panose="020B0604020202020204"/>
                  </a:rPr>
                  <a:t>S1</a:t>
                </a:r>
                <a:endParaRPr lang="en-US" sz="2400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23" name="Group 20"/>
            <p:cNvGrpSpPr/>
            <p:nvPr/>
          </p:nvGrpSpPr>
          <p:grpSpPr bwMode="auto">
            <a:xfrm>
              <a:off x="4233863" y="3519487"/>
              <a:ext cx="2371725" cy="2498724"/>
              <a:chOff x="2352" y="1900"/>
              <a:chExt cx="1494" cy="1574"/>
            </a:xfrm>
          </p:grpSpPr>
          <p:grpSp>
            <p:nvGrpSpPr>
              <p:cNvPr id="38" name="Group 21"/>
              <p:cNvGrpSpPr/>
              <p:nvPr/>
            </p:nvGrpSpPr>
            <p:grpSpPr bwMode="auto">
              <a:xfrm>
                <a:off x="2701" y="2016"/>
                <a:ext cx="991" cy="1188"/>
                <a:chOff x="2757" y="2018"/>
                <a:chExt cx="826" cy="1117"/>
              </a:xfrm>
            </p:grpSpPr>
            <p:sp>
              <p:nvSpPr>
                <p:cNvPr id="61" name="Line 22"/>
                <p:cNvSpPr>
                  <a:spLocks noChangeShapeType="1"/>
                </p:cNvSpPr>
                <p:nvPr/>
              </p:nvSpPr>
              <p:spPr bwMode="auto">
                <a:xfrm>
                  <a:off x="2757" y="2020"/>
                  <a:ext cx="82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2" name="Line 23"/>
                <p:cNvSpPr>
                  <a:spLocks noChangeShapeType="1"/>
                </p:cNvSpPr>
                <p:nvPr/>
              </p:nvSpPr>
              <p:spPr bwMode="auto">
                <a:xfrm>
                  <a:off x="3583" y="2018"/>
                  <a:ext cx="0" cy="11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39" name="Text Box 24"/>
              <p:cNvSpPr txBox="1">
                <a:spLocks noChangeArrowheads="1"/>
              </p:cNvSpPr>
              <p:nvPr/>
            </p:nvSpPr>
            <p:spPr bwMode="auto">
              <a:xfrm>
                <a:off x="2352" y="1900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W1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9" name="Oval 25"/>
              <p:cNvSpPr>
                <a:spLocks noChangeAspect="1" noChangeArrowheads="1"/>
              </p:cNvSpPr>
              <p:nvPr/>
            </p:nvSpPr>
            <p:spPr bwMode="auto">
              <a:xfrm>
                <a:off x="3648" y="1983"/>
                <a:ext cx="81" cy="80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60" name="Text Box 26"/>
              <p:cNvSpPr txBox="1">
                <a:spLocks noChangeArrowheads="1"/>
              </p:cNvSpPr>
              <p:nvPr/>
            </p:nvSpPr>
            <p:spPr bwMode="auto">
              <a:xfrm>
                <a:off x="3538" y="3241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L1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24" name="Group 27"/>
            <p:cNvGrpSpPr/>
            <p:nvPr/>
          </p:nvGrpSpPr>
          <p:grpSpPr bwMode="auto">
            <a:xfrm>
              <a:off x="4916488" y="2990850"/>
              <a:ext cx="2575505" cy="2588594"/>
              <a:chOff x="2850" y="1233"/>
              <a:chExt cx="1637" cy="1874"/>
            </a:xfrm>
          </p:grpSpPr>
          <p:sp>
            <p:nvSpPr>
              <p:cNvPr id="36" name="Line 28"/>
              <p:cNvSpPr>
                <a:spLocks noChangeShapeType="1"/>
              </p:cNvSpPr>
              <p:nvPr/>
            </p:nvSpPr>
            <p:spPr bwMode="auto">
              <a:xfrm>
                <a:off x="2850" y="1233"/>
                <a:ext cx="1263" cy="1587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7" name="Text Box 29"/>
              <p:cNvSpPr txBox="1">
                <a:spLocks noChangeArrowheads="1"/>
              </p:cNvSpPr>
              <p:nvPr/>
            </p:nvSpPr>
            <p:spPr bwMode="auto">
              <a:xfrm>
                <a:off x="4072" y="2773"/>
                <a:ext cx="415" cy="33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i="1">
                    <a:latin typeface="Arial" panose="020B0604020202020204"/>
                    <a:cs typeface="Arial" panose="020B0604020202020204"/>
                  </a:rPr>
                  <a:t>D2</a:t>
                </a:r>
                <a:endParaRPr lang="en-US" sz="2400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25" name="Line 30"/>
            <p:cNvSpPr>
              <a:spLocks noChangeShapeType="1"/>
            </p:cNvSpPr>
            <p:nvPr/>
          </p:nvSpPr>
          <p:spPr bwMode="auto">
            <a:xfrm rot="16200000" flipH="1">
              <a:off x="6348412" y="4476751"/>
              <a:ext cx="638175" cy="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tailEnd type="triangle" w="lg" len="lg"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26" name="Group 38"/>
            <p:cNvGrpSpPr/>
            <p:nvPr/>
          </p:nvGrpSpPr>
          <p:grpSpPr bwMode="auto">
            <a:xfrm>
              <a:off x="4227513" y="4057650"/>
              <a:ext cx="1876425" cy="1949450"/>
              <a:chOff x="2663" y="2421"/>
              <a:chExt cx="1182" cy="1228"/>
            </a:xfrm>
          </p:grpSpPr>
          <p:grpSp>
            <p:nvGrpSpPr>
              <p:cNvPr id="30" name="Group 32"/>
              <p:cNvGrpSpPr/>
              <p:nvPr/>
            </p:nvGrpSpPr>
            <p:grpSpPr bwMode="auto">
              <a:xfrm>
                <a:off x="3018" y="2531"/>
                <a:ext cx="790" cy="852"/>
                <a:chOff x="2757" y="2018"/>
                <a:chExt cx="826" cy="1117"/>
              </a:xfrm>
            </p:grpSpPr>
            <p:sp>
              <p:nvSpPr>
                <p:cNvPr id="34" name="Line 33"/>
                <p:cNvSpPr>
                  <a:spLocks noChangeShapeType="1"/>
                </p:cNvSpPr>
                <p:nvPr/>
              </p:nvSpPr>
              <p:spPr bwMode="auto">
                <a:xfrm>
                  <a:off x="2757" y="2020"/>
                  <a:ext cx="82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5" name="Line 34"/>
                <p:cNvSpPr>
                  <a:spLocks noChangeShapeType="1"/>
                </p:cNvSpPr>
                <p:nvPr/>
              </p:nvSpPr>
              <p:spPr bwMode="auto">
                <a:xfrm>
                  <a:off x="3583" y="2018"/>
                  <a:ext cx="0" cy="11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31" name="Text Box 35"/>
              <p:cNvSpPr txBox="1">
                <a:spLocks noChangeArrowheads="1"/>
              </p:cNvSpPr>
              <p:nvPr/>
            </p:nvSpPr>
            <p:spPr bwMode="auto">
              <a:xfrm>
                <a:off x="2663" y="2421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W2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2" name="Oval 36"/>
              <p:cNvSpPr>
                <a:spLocks noChangeAspect="1" noChangeArrowheads="1"/>
              </p:cNvSpPr>
              <p:nvPr/>
            </p:nvSpPr>
            <p:spPr bwMode="auto">
              <a:xfrm>
                <a:off x="3764" y="2492"/>
                <a:ext cx="81" cy="80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3" name="Text Box 37"/>
              <p:cNvSpPr txBox="1">
                <a:spLocks noChangeArrowheads="1"/>
              </p:cNvSpPr>
              <p:nvPr/>
            </p:nvSpPr>
            <p:spPr bwMode="auto">
              <a:xfrm>
                <a:off x="3514" y="3416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L2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27" name="Line 39"/>
            <p:cNvSpPr>
              <a:spLocks noChangeShapeType="1"/>
            </p:cNvSpPr>
            <p:nvPr/>
          </p:nvSpPr>
          <p:spPr bwMode="auto">
            <a:xfrm flipH="1">
              <a:off x="6042025" y="5584825"/>
              <a:ext cx="319088" cy="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tailEnd type="triangle" w="lg" len="lg"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8" name="Line 40"/>
            <p:cNvSpPr>
              <a:spLocks noChangeShapeType="1"/>
            </p:cNvSpPr>
            <p:nvPr/>
          </p:nvSpPr>
          <p:spPr bwMode="auto">
            <a:xfrm rot="16200000" flipH="1">
              <a:off x="4525962" y="3979863"/>
              <a:ext cx="523875" cy="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tailEnd type="triangle" w="lg" len="lg"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9" name="Text Box 41"/>
            <p:cNvSpPr txBox="1">
              <a:spLocks noChangeArrowheads="1"/>
            </p:cNvSpPr>
            <p:nvPr/>
          </p:nvSpPr>
          <p:spPr bwMode="auto">
            <a:xfrm>
              <a:off x="5400243" y="1118466"/>
              <a:ext cx="2274887" cy="46166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汽车工人</a:t>
              </a:r>
              <a:r>
                <a:rPr lang="en-US" altLang="zh-CN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市场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40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习题：劳动力市场均衡的变动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573110" y="1788897"/>
            <a:ext cx="37755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b="1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在每个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处，</a:t>
            </a:r>
            <a:b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MPL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因技术进步而上升。</a:t>
            </a:r>
            <a:endParaRPr lang="zh-CN" alt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VMPL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上升，劳动力需求曲线向上移动。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330700" y="1631280"/>
            <a:ext cx="4356100" cy="5033964"/>
            <a:chOff x="4227513" y="993775"/>
            <a:chExt cx="4356100" cy="5033964"/>
          </a:xfrm>
        </p:grpSpPr>
        <p:grpSp>
          <p:nvGrpSpPr>
            <p:cNvPr id="3" name="Group 8"/>
            <p:cNvGrpSpPr/>
            <p:nvPr/>
          </p:nvGrpSpPr>
          <p:grpSpPr bwMode="auto">
            <a:xfrm>
              <a:off x="4538663" y="1682750"/>
              <a:ext cx="4044950" cy="4140200"/>
              <a:chOff x="2544" y="743"/>
              <a:chExt cx="2548" cy="2608"/>
            </a:xfrm>
          </p:grpSpPr>
          <p:grpSp>
            <p:nvGrpSpPr>
              <p:cNvPr id="54" name="Group 9"/>
              <p:cNvGrpSpPr/>
              <p:nvPr/>
            </p:nvGrpSpPr>
            <p:grpSpPr bwMode="auto">
              <a:xfrm>
                <a:off x="2697" y="1012"/>
                <a:ext cx="2168" cy="2191"/>
                <a:chOff x="1098" y="1361"/>
                <a:chExt cx="2116" cy="2027"/>
              </a:xfrm>
            </p:grpSpPr>
            <p:sp>
              <p:nvSpPr>
                <p:cNvPr id="57" name="Line 10"/>
                <p:cNvSpPr>
                  <a:spLocks noChangeShapeType="1"/>
                </p:cNvSpPr>
                <p:nvPr/>
              </p:nvSpPr>
              <p:spPr bwMode="auto">
                <a:xfrm>
                  <a:off x="1102" y="1361"/>
                  <a:ext cx="0" cy="202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8" name="Line 11"/>
                <p:cNvSpPr>
                  <a:spLocks noChangeShapeType="1"/>
                </p:cNvSpPr>
                <p:nvPr/>
              </p:nvSpPr>
              <p:spPr bwMode="auto">
                <a:xfrm>
                  <a:off x="1098" y="3388"/>
                  <a:ext cx="211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55" name="Text Box 12"/>
              <p:cNvSpPr txBox="1">
                <a:spLocks noChangeArrowheads="1"/>
              </p:cNvSpPr>
              <p:nvPr/>
            </p:nvSpPr>
            <p:spPr bwMode="auto">
              <a:xfrm>
                <a:off x="2544" y="743"/>
                <a:ext cx="267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W</a:t>
                </a:r>
                <a:endParaRPr lang="en-US" sz="2400" b="1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6" name="Text Box 13"/>
              <p:cNvSpPr txBox="1">
                <a:spLocks noChangeArrowheads="1"/>
              </p:cNvSpPr>
              <p:nvPr/>
            </p:nvSpPr>
            <p:spPr bwMode="auto">
              <a:xfrm>
                <a:off x="4802" y="3063"/>
                <a:ext cx="290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L</a:t>
                </a:r>
                <a:endParaRPr lang="en-US" sz="2400" b="1" i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4" name="Group 14"/>
            <p:cNvGrpSpPr/>
            <p:nvPr/>
          </p:nvGrpSpPr>
          <p:grpSpPr bwMode="auto">
            <a:xfrm>
              <a:off x="5326063" y="2557463"/>
              <a:ext cx="2613025" cy="2727325"/>
              <a:chOff x="2850" y="1233"/>
              <a:chExt cx="1566" cy="1851"/>
            </a:xfrm>
          </p:grpSpPr>
          <p:sp>
            <p:nvSpPr>
              <p:cNvPr id="52" name="Line 15"/>
              <p:cNvSpPr>
                <a:spLocks noChangeShapeType="1"/>
              </p:cNvSpPr>
              <p:nvPr/>
            </p:nvSpPr>
            <p:spPr bwMode="auto">
              <a:xfrm>
                <a:off x="2850" y="1233"/>
                <a:ext cx="1263" cy="1587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3" name="Text Box 16"/>
              <p:cNvSpPr txBox="1">
                <a:spLocks noChangeArrowheads="1"/>
              </p:cNvSpPr>
              <p:nvPr/>
            </p:nvSpPr>
            <p:spPr bwMode="auto">
              <a:xfrm>
                <a:off x="4072" y="2773"/>
                <a:ext cx="344" cy="31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i="1" smtClean="0">
                    <a:latin typeface="Arial" panose="020B0604020202020204"/>
                    <a:cs typeface="Arial" panose="020B0604020202020204"/>
                  </a:rPr>
                  <a:t>D2</a:t>
                </a:r>
                <a:endParaRPr lang="en-US" sz="2400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6" name="Group 17"/>
            <p:cNvGrpSpPr/>
            <p:nvPr/>
          </p:nvGrpSpPr>
          <p:grpSpPr bwMode="auto">
            <a:xfrm>
              <a:off x="5557838" y="2128838"/>
              <a:ext cx="1933575" cy="2901950"/>
              <a:chOff x="3067" y="1024"/>
              <a:chExt cx="1218" cy="1828"/>
            </a:xfrm>
          </p:grpSpPr>
          <p:sp>
            <p:nvSpPr>
              <p:cNvPr id="50" name="Line 18"/>
              <p:cNvSpPr>
                <a:spLocks noChangeShapeType="1"/>
              </p:cNvSpPr>
              <p:nvPr/>
            </p:nvSpPr>
            <p:spPr bwMode="auto">
              <a:xfrm flipV="1">
                <a:off x="3067" y="1278"/>
                <a:ext cx="949" cy="1574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1" name="Text Box 19"/>
              <p:cNvSpPr txBox="1">
                <a:spLocks noChangeArrowheads="1"/>
              </p:cNvSpPr>
              <p:nvPr/>
            </p:nvSpPr>
            <p:spPr bwMode="auto">
              <a:xfrm>
                <a:off x="3920" y="1024"/>
                <a:ext cx="365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i="1">
                    <a:latin typeface="Arial" panose="020B0604020202020204"/>
                    <a:cs typeface="Arial" panose="020B0604020202020204"/>
                  </a:rPr>
                  <a:t>S1</a:t>
                </a:r>
                <a:endParaRPr lang="en-US" sz="2400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7" name="Group 20"/>
            <p:cNvGrpSpPr/>
            <p:nvPr/>
          </p:nvGrpSpPr>
          <p:grpSpPr bwMode="auto">
            <a:xfrm>
              <a:off x="4233863" y="3519487"/>
              <a:ext cx="2371725" cy="2498724"/>
              <a:chOff x="2352" y="1900"/>
              <a:chExt cx="1494" cy="1574"/>
            </a:xfrm>
          </p:grpSpPr>
          <p:grpSp>
            <p:nvGrpSpPr>
              <p:cNvPr id="44" name="Group 21"/>
              <p:cNvGrpSpPr/>
              <p:nvPr/>
            </p:nvGrpSpPr>
            <p:grpSpPr bwMode="auto">
              <a:xfrm>
                <a:off x="2701" y="2016"/>
                <a:ext cx="991" cy="1188"/>
                <a:chOff x="2757" y="2018"/>
                <a:chExt cx="826" cy="1117"/>
              </a:xfrm>
            </p:grpSpPr>
            <p:sp>
              <p:nvSpPr>
                <p:cNvPr id="48" name="Line 22"/>
                <p:cNvSpPr>
                  <a:spLocks noChangeShapeType="1"/>
                </p:cNvSpPr>
                <p:nvPr/>
              </p:nvSpPr>
              <p:spPr bwMode="auto">
                <a:xfrm>
                  <a:off x="2757" y="2020"/>
                  <a:ext cx="82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9" name="Line 23"/>
                <p:cNvSpPr>
                  <a:spLocks noChangeShapeType="1"/>
                </p:cNvSpPr>
                <p:nvPr/>
              </p:nvSpPr>
              <p:spPr bwMode="auto">
                <a:xfrm>
                  <a:off x="3583" y="2018"/>
                  <a:ext cx="0" cy="11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45" name="Text Box 24"/>
              <p:cNvSpPr txBox="1">
                <a:spLocks noChangeArrowheads="1"/>
              </p:cNvSpPr>
              <p:nvPr/>
            </p:nvSpPr>
            <p:spPr bwMode="auto">
              <a:xfrm>
                <a:off x="2352" y="1900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 smtClean="0">
                    <a:latin typeface="Arial" panose="020B0604020202020204"/>
                    <a:cs typeface="Arial" panose="020B0604020202020204"/>
                  </a:rPr>
                  <a:t>W2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6" name="Oval 25"/>
              <p:cNvSpPr>
                <a:spLocks noChangeAspect="1" noChangeArrowheads="1"/>
              </p:cNvSpPr>
              <p:nvPr/>
            </p:nvSpPr>
            <p:spPr bwMode="auto">
              <a:xfrm>
                <a:off x="3648" y="1983"/>
                <a:ext cx="81" cy="80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7" name="Text Box 26"/>
              <p:cNvSpPr txBox="1">
                <a:spLocks noChangeArrowheads="1"/>
              </p:cNvSpPr>
              <p:nvPr/>
            </p:nvSpPr>
            <p:spPr bwMode="auto">
              <a:xfrm>
                <a:off x="3538" y="3241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 smtClean="0">
                    <a:latin typeface="Arial" panose="020B0604020202020204"/>
                    <a:cs typeface="Arial" panose="020B0604020202020204"/>
                  </a:rPr>
                  <a:t>L2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42" name="Line 28"/>
            <p:cNvSpPr>
              <a:spLocks noChangeShapeType="1"/>
            </p:cNvSpPr>
            <p:nvPr/>
          </p:nvSpPr>
          <p:spPr bwMode="auto">
            <a:xfrm>
              <a:off x="4916489" y="2990850"/>
              <a:ext cx="1987088" cy="219215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11" name="Group 38"/>
            <p:cNvGrpSpPr/>
            <p:nvPr/>
          </p:nvGrpSpPr>
          <p:grpSpPr bwMode="auto">
            <a:xfrm>
              <a:off x="4227513" y="4057651"/>
              <a:ext cx="1901825" cy="1970088"/>
              <a:chOff x="2663" y="2421"/>
              <a:chExt cx="1198" cy="1241"/>
            </a:xfrm>
          </p:grpSpPr>
          <p:grpSp>
            <p:nvGrpSpPr>
              <p:cNvPr id="15" name="Group 32"/>
              <p:cNvGrpSpPr/>
              <p:nvPr/>
            </p:nvGrpSpPr>
            <p:grpSpPr bwMode="auto">
              <a:xfrm>
                <a:off x="3018" y="2531"/>
                <a:ext cx="790" cy="852"/>
                <a:chOff x="2757" y="2018"/>
                <a:chExt cx="826" cy="1117"/>
              </a:xfrm>
            </p:grpSpPr>
            <p:sp>
              <p:nvSpPr>
                <p:cNvPr id="40" name="Line 33"/>
                <p:cNvSpPr>
                  <a:spLocks noChangeShapeType="1"/>
                </p:cNvSpPr>
                <p:nvPr/>
              </p:nvSpPr>
              <p:spPr bwMode="auto">
                <a:xfrm>
                  <a:off x="2757" y="2020"/>
                  <a:ext cx="82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1" name="Line 34"/>
                <p:cNvSpPr>
                  <a:spLocks noChangeShapeType="1"/>
                </p:cNvSpPr>
                <p:nvPr/>
              </p:nvSpPr>
              <p:spPr bwMode="auto">
                <a:xfrm>
                  <a:off x="3583" y="2018"/>
                  <a:ext cx="0" cy="11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16" name="Text Box 35"/>
              <p:cNvSpPr txBox="1">
                <a:spLocks noChangeArrowheads="1"/>
              </p:cNvSpPr>
              <p:nvPr/>
            </p:nvSpPr>
            <p:spPr bwMode="auto">
              <a:xfrm>
                <a:off x="2663" y="2421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 smtClean="0">
                    <a:latin typeface="Arial" panose="020B0604020202020204"/>
                    <a:cs typeface="Arial" panose="020B0604020202020204"/>
                  </a:rPr>
                  <a:t>W1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7" name="Oval 36"/>
              <p:cNvSpPr>
                <a:spLocks noChangeAspect="1" noChangeArrowheads="1"/>
              </p:cNvSpPr>
              <p:nvPr/>
            </p:nvSpPr>
            <p:spPr bwMode="auto">
              <a:xfrm>
                <a:off x="3764" y="2492"/>
                <a:ext cx="81" cy="80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8" name="Text Box 37"/>
              <p:cNvSpPr txBox="1">
                <a:spLocks noChangeArrowheads="1"/>
              </p:cNvSpPr>
              <p:nvPr/>
            </p:nvSpPr>
            <p:spPr bwMode="auto">
              <a:xfrm>
                <a:off x="3553" y="3429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 smtClean="0">
                    <a:latin typeface="Arial" panose="020B0604020202020204"/>
                    <a:cs typeface="Arial" panose="020B0604020202020204"/>
                  </a:rPr>
                  <a:t>L1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4" name="Text Box 41"/>
            <p:cNvSpPr txBox="1">
              <a:spLocks noChangeArrowheads="1"/>
            </p:cNvSpPr>
            <p:nvPr/>
          </p:nvSpPr>
          <p:spPr bwMode="auto">
            <a:xfrm>
              <a:off x="5462588" y="993775"/>
              <a:ext cx="2274887" cy="46166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汽车工人</a:t>
              </a:r>
              <a:r>
                <a:rPr lang="en-US" altLang="zh-CN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市场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38" name="Line 39"/>
          <p:cNvSpPr>
            <a:spLocks noChangeShapeType="1"/>
          </p:cNvSpPr>
          <p:nvPr/>
        </p:nvSpPr>
        <p:spPr bwMode="auto">
          <a:xfrm rot="5400000" flipH="1">
            <a:off x="4559228" y="4626769"/>
            <a:ext cx="665162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tailEnd type="triangle" w="lg" len="lg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Line 39"/>
          <p:cNvSpPr>
            <a:spLocks noChangeShapeType="1"/>
          </p:cNvSpPr>
          <p:nvPr/>
        </p:nvSpPr>
        <p:spPr bwMode="auto">
          <a:xfrm rot="5400000" flipH="1">
            <a:off x="6571601" y="5205197"/>
            <a:ext cx="665162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tailEnd type="triangle" w="lg" len="lg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Line 38"/>
          <p:cNvSpPr>
            <a:spLocks noChangeShapeType="1"/>
          </p:cNvSpPr>
          <p:nvPr/>
        </p:nvSpPr>
        <p:spPr bwMode="auto">
          <a:xfrm rot="10800000" flipH="1">
            <a:off x="6107691" y="6145934"/>
            <a:ext cx="398462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tailEnd type="triangle" w="lg" len="lg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60" name="Text Box 16"/>
          <p:cNvSpPr txBox="1">
            <a:spLocks noChangeArrowheads="1"/>
          </p:cNvSpPr>
          <p:nvPr/>
        </p:nvSpPr>
        <p:spPr bwMode="auto">
          <a:xfrm>
            <a:off x="6862141" y="5751537"/>
            <a:ext cx="573998" cy="458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i="1">
                <a:latin typeface="Arial" panose="020B0604020202020204"/>
                <a:cs typeface="Arial" panose="020B0604020202020204"/>
              </a:rPr>
              <a:t>D1</a:t>
            </a:r>
            <a:endParaRPr lang="en-US" sz="2400" baseline="-2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习题：劳动力市场均衡的变动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5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4770149" y="1717921"/>
            <a:ext cx="42387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回忆十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原理之一：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i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一个国家的</a:t>
            </a:r>
            <a:r>
              <a:rPr lang="zh-CN" altLang="en-US" sz="2400" i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生活水平取决于其生产</a:t>
            </a:r>
            <a:r>
              <a:rPr lang="zh-CN" altLang="en-US" sz="2400" i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商品和服务的能力。</a:t>
            </a:r>
            <a:endParaRPr lang="zh-CN" altLang="en-US" sz="2400" i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我们的理论暗示工资与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劳动生产力挂钩（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W=VMPL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我们在数据中看到了这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一点（以美国为例）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和工资增长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84658" y="1704974"/>
            <a:ext cx="4122737" cy="4878388"/>
            <a:chOff x="411163" y="1184275"/>
            <a:chExt cx="4122737" cy="4878388"/>
          </a:xfrm>
        </p:grpSpPr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3352800" y="5249863"/>
              <a:ext cx="1181100" cy="81280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dirty="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1.9</a:t>
              </a:r>
              <a:endParaRPr lang="en-US" sz="24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1" name="Rectangle 18"/>
            <p:cNvSpPr>
              <a:spLocks noChangeArrowheads="1"/>
            </p:cNvSpPr>
            <p:nvPr/>
          </p:nvSpPr>
          <p:spPr bwMode="auto">
            <a:xfrm>
              <a:off x="2055813" y="5249863"/>
              <a:ext cx="1296987" cy="81280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dirty="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2.3</a:t>
              </a:r>
              <a:endParaRPr lang="en-US" sz="24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2" name="Rectangle 17"/>
            <p:cNvSpPr>
              <a:spLocks noChangeArrowheads="1"/>
            </p:cNvSpPr>
            <p:nvPr/>
          </p:nvSpPr>
          <p:spPr bwMode="auto">
            <a:xfrm>
              <a:off x="411163" y="5249863"/>
              <a:ext cx="1644650" cy="81280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lIns="0" rIns="0"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dirty="0">
                  <a:latin typeface="Arial" panose="020B0604020202020204"/>
                  <a:cs typeface="Arial" panose="020B0604020202020204"/>
                </a:rPr>
                <a:t>1995–2012</a:t>
              </a:r>
              <a:endParaRPr lang="en-US" sz="2400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3" name="Rectangle 16"/>
            <p:cNvSpPr>
              <a:spLocks noChangeArrowheads="1"/>
            </p:cNvSpPr>
            <p:nvPr/>
          </p:nvSpPr>
          <p:spPr bwMode="auto">
            <a:xfrm>
              <a:off x="3352800" y="4437063"/>
              <a:ext cx="1181100" cy="81280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dirty="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1.1</a:t>
              </a:r>
              <a:endParaRPr lang="en-US" sz="24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4" name="Rectangle 15"/>
            <p:cNvSpPr>
              <a:spLocks noChangeArrowheads="1"/>
            </p:cNvSpPr>
            <p:nvPr/>
          </p:nvSpPr>
          <p:spPr bwMode="auto">
            <a:xfrm>
              <a:off x="2055813" y="4437063"/>
              <a:ext cx="1296987" cy="81280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1.4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5" name="Rectangle 14"/>
            <p:cNvSpPr>
              <a:spLocks noChangeArrowheads="1"/>
            </p:cNvSpPr>
            <p:nvPr/>
          </p:nvSpPr>
          <p:spPr bwMode="auto">
            <a:xfrm>
              <a:off x="411163" y="4437063"/>
              <a:ext cx="1644650" cy="81280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lIns="0" rIns="0"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dirty="0">
                  <a:latin typeface="Arial" panose="020B0604020202020204"/>
                  <a:cs typeface="Arial" panose="020B0604020202020204"/>
                </a:rPr>
                <a:t>1973–1995</a:t>
              </a:r>
              <a:endParaRPr lang="en-US" sz="2400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6" name="Rectangle 13"/>
            <p:cNvSpPr>
              <a:spLocks noChangeArrowheads="1"/>
            </p:cNvSpPr>
            <p:nvPr/>
          </p:nvSpPr>
          <p:spPr bwMode="auto">
            <a:xfrm>
              <a:off x="3352800" y="3624263"/>
              <a:ext cx="1181100" cy="81280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2.8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7" name="Rectangle 12"/>
            <p:cNvSpPr>
              <a:spLocks noChangeArrowheads="1"/>
            </p:cNvSpPr>
            <p:nvPr/>
          </p:nvSpPr>
          <p:spPr bwMode="auto">
            <a:xfrm>
              <a:off x="2055813" y="3624263"/>
              <a:ext cx="1296987" cy="81280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2.8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8" name="Rectangle 11"/>
            <p:cNvSpPr>
              <a:spLocks noChangeArrowheads="1"/>
            </p:cNvSpPr>
            <p:nvPr/>
          </p:nvSpPr>
          <p:spPr bwMode="auto">
            <a:xfrm>
              <a:off x="411163" y="3624263"/>
              <a:ext cx="1644650" cy="81280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lIns="0" rIns="0"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dirty="0">
                  <a:latin typeface="Arial" panose="020B0604020202020204"/>
                  <a:cs typeface="Arial" panose="020B0604020202020204"/>
                </a:rPr>
                <a:t>1959–1973</a:t>
              </a:r>
              <a:endParaRPr lang="en-US" sz="2400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9" name="Rectangle 10"/>
            <p:cNvSpPr>
              <a:spLocks noChangeArrowheads="1"/>
            </p:cNvSpPr>
            <p:nvPr/>
          </p:nvSpPr>
          <p:spPr bwMode="auto">
            <a:xfrm>
              <a:off x="3352800" y="2811463"/>
              <a:ext cx="1181100" cy="81280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dirty="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1.8%</a:t>
              </a:r>
              <a:endParaRPr lang="en-US" sz="24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2055813" y="2811463"/>
              <a:ext cx="1296987" cy="81280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2.1%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1" name="Rectangle 8"/>
            <p:cNvSpPr>
              <a:spLocks noChangeArrowheads="1"/>
            </p:cNvSpPr>
            <p:nvPr/>
          </p:nvSpPr>
          <p:spPr bwMode="auto">
            <a:xfrm>
              <a:off x="411163" y="2811463"/>
              <a:ext cx="1644650" cy="81280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lIns="0" rIns="0"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dirty="0">
                  <a:latin typeface="Arial" panose="020B0604020202020204"/>
                  <a:cs typeface="Arial" panose="020B0604020202020204"/>
                </a:rPr>
                <a:t>1959–2012</a:t>
              </a:r>
              <a:endParaRPr lang="en-US" sz="2400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2" name="Rectangle 7"/>
            <p:cNvSpPr>
              <a:spLocks noChangeArrowheads="1"/>
            </p:cNvSpPr>
            <p:nvPr/>
          </p:nvSpPr>
          <p:spPr bwMode="auto">
            <a:xfrm>
              <a:off x="3352800" y="1184275"/>
              <a:ext cx="1181100" cy="1627188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实际工资</a:t>
              </a:r>
              <a:r>
                <a:rPr lang="zh-CN" alt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的增长率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33" name="Rectangle 6"/>
            <p:cNvSpPr>
              <a:spLocks noChangeArrowheads="1"/>
            </p:cNvSpPr>
            <p:nvPr/>
          </p:nvSpPr>
          <p:spPr bwMode="auto">
            <a:xfrm>
              <a:off x="2055813" y="1184275"/>
              <a:ext cx="1296987" cy="1627188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生产</a:t>
              </a:r>
              <a:r>
                <a:rPr lang="zh-CN" alt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力的</a:t>
              </a:r>
              <a:r>
                <a:rPr 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增长率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34" name="Rectangle 5"/>
            <p:cNvSpPr>
              <a:spLocks noChangeArrowheads="1"/>
            </p:cNvSpPr>
            <p:nvPr/>
          </p:nvSpPr>
          <p:spPr bwMode="auto">
            <a:xfrm>
              <a:off x="411163" y="1184275"/>
              <a:ext cx="1644650" cy="1627188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br>
                <a:rPr lang="en-US" sz="2400">
                  <a:latin typeface="Arial" panose="020B0604020202020204"/>
                  <a:cs typeface="Arial" panose="020B0604020202020204"/>
                </a:rPr>
              </a:br>
              <a:r>
                <a:rPr lang="en-US" sz="2400">
                  <a:latin typeface="Arial" panose="020B0604020202020204"/>
                  <a:cs typeface="Arial" panose="020B0604020202020204"/>
                </a:rPr>
                <a:t>时期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" name="Line 20"/>
            <p:cNvSpPr>
              <a:spLocks noChangeShapeType="1"/>
            </p:cNvSpPr>
            <p:nvPr/>
          </p:nvSpPr>
          <p:spPr bwMode="auto">
            <a:xfrm>
              <a:off x="411163" y="1184275"/>
              <a:ext cx="4122737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6" name="Line 21"/>
            <p:cNvSpPr>
              <a:spLocks noChangeShapeType="1"/>
            </p:cNvSpPr>
            <p:nvPr/>
          </p:nvSpPr>
          <p:spPr bwMode="auto">
            <a:xfrm>
              <a:off x="411163" y="2811463"/>
              <a:ext cx="41227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7" name="Line 22"/>
            <p:cNvSpPr>
              <a:spLocks noChangeShapeType="1"/>
            </p:cNvSpPr>
            <p:nvPr/>
          </p:nvSpPr>
          <p:spPr bwMode="auto">
            <a:xfrm>
              <a:off x="411163" y="3624263"/>
              <a:ext cx="41227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8" name="Line 23"/>
            <p:cNvSpPr>
              <a:spLocks noChangeShapeType="1"/>
            </p:cNvSpPr>
            <p:nvPr/>
          </p:nvSpPr>
          <p:spPr bwMode="auto">
            <a:xfrm>
              <a:off x="411163" y="4437063"/>
              <a:ext cx="41227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9" name="Line 24"/>
            <p:cNvSpPr>
              <a:spLocks noChangeShapeType="1"/>
            </p:cNvSpPr>
            <p:nvPr/>
          </p:nvSpPr>
          <p:spPr bwMode="auto">
            <a:xfrm>
              <a:off x="411163" y="5249863"/>
              <a:ext cx="41227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9" name="Line 25"/>
            <p:cNvSpPr>
              <a:spLocks noChangeShapeType="1"/>
            </p:cNvSpPr>
            <p:nvPr/>
          </p:nvSpPr>
          <p:spPr bwMode="auto">
            <a:xfrm>
              <a:off x="411163" y="6062663"/>
              <a:ext cx="4122737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0" name="Line 26"/>
            <p:cNvSpPr>
              <a:spLocks noChangeShapeType="1"/>
            </p:cNvSpPr>
            <p:nvPr/>
          </p:nvSpPr>
          <p:spPr bwMode="auto">
            <a:xfrm>
              <a:off x="411163" y="1184275"/>
              <a:ext cx="0" cy="48783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1" name="Line 27"/>
            <p:cNvSpPr>
              <a:spLocks noChangeShapeType="1"/>
            </p:cNvSpPr>
            <p:nvPr/>
          </p:nvSpPr>
          <p:spPr bwMode="auto">
            <a:xfrm>
              <a:off x="2055813" y="1184275"/>
              <a:ext cx="0" cy="48783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2" name="Line 28"/>
            <p:cNvSpPr>
              <a:spLocks noChangeShapeType="1"/>
            </p:cNvSpPr>
            <p:nvPr/>
          </p:nvSpPr>
          <p:spPr bwMode="auto">
            <a:xfrm>
              <a:off x="3352800" y="1184275"/>
              <a:ext cx="0" cy="48783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3" name="Line 29"/>
            <p:cNvSpPr>
              <a:spLocks noChangeShapeType="1"/>
            </p:cNvSpPr>
            <p:nvPr/>
          </p:nvSpPr>
          <p:spPr bwMode="auto">
            <a:xfrm>
              <a:off x="4533900" y="1184275"/>
              <a:ext cx="0" cy="48783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8941" y="5924282"/>
            <a:ext cx="2105696" cy="817808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15"/>
          <p:cNvSpPr txBox="1"/>
          <p:nvPr/>
        </p:nvSpPr>
        <p:spPr>
          <a:xfrm>
            <a:off x="457200" y="1379561"/>
            <a:ext cx="8385464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之前分析假设：劳动力市场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具有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竞争性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许多买家（公司）和卖家（工人）。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想象一下，一个小镇只有一个大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雇主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买方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垄断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只有一个买家的市场。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垄断雇主可以利用其市场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力量，通过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支付较低的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工资，来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增加利润。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与垄断一样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，买方垄断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下的经济活动低于社会最优水平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引起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无谓损失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买方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垄断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在现实世界中很少见。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买方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垄断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8941" y="5924282"/>
            <a:ext cx="2105696" cy="817808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15"/>
          <p:cNvSpPr txBox="1"/>
          <p:nvPr/>
        </p:nvSpPr>
        <p:spPr>
          <a:xfrm>
            <a:off x="457200" y="1473079"/>
            <a:ext cx="83841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土地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资本生产要素，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必须区分：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购买价格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无限期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拥有该要素而支付的价格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租金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有限的时间内使用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要素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所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支付的价格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工资是劳动力的租金。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资本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土地的租金类似于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工资的决定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…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其他生产要素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8941" y="5924282"/>
            <a:ext cx="2105696" cy="817808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15"/>
          <p:cNvSpPr txBox="1"/>
          <p:nvPr/>
        </p:nvSpPr>
        <p:spPr>
          <a:xfrm>
            <a:off x="457200" y="1473079"/>
            <a:ext cx="312312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公司比较土地租金与土地边际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产品价值（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VMP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），决定租赁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多少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土地。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土地租金进行调整，以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平衡土地供应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和土地需求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土地租金如何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确定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120166" y="1628943"/>
            <a:ext cx="4727575" cy="4635209"/>
            <a:chOff x="4191000" y="1240127"/>
            <a:chExt cx="4727575" cy="4635209"/>
          </a:xfrm>
        </p:grpSpPr>
        <p:grpSp>
          <p:nvGrpSpPr>
            <p:cNvPr id="4" name="Group 4"/>
            <p:cNvGrpSpPr/>
            <p:nvPr/>
          </p:nvGrpSpPr>
          <p:grpSpPr bwMode="auto">
            <a:xfrm>
              <a:off x="4495800" y="1539875"/>
              <a:ext cx="4044950" cy="4140200"/>
              <a:chOff x="2544" y="743"/>
              <a:chExt cx="2548" cy="2608"/>
            </a:xfrm>
          </p:grpSpPr>
          <p:grpSp>
            <p:nvGrpSpPr>
              <p:cNvPr id="21" name="Group 5"/>
              <p:cNvGrpSpPr/>
              <p:nvPr/>
            </p:nvGrpSpPr>
            <p:grpSpPr bwMode="auto">
              <a:xfrm>
                <a:off x="2697" y="1012"/>
                <a:ext cx="2168" cy="2191"/>
                <a:chOff x="1098" y="1361"/>
                <a:chExt cx="2116" cy="2027"/>
              </a:xfrm>
            </p:grpSpPr>
            <p:sp>
              <p:nvSpPr>
                <p:cNvPr id="24" name="Line 6"/>
                <p:cNvSpPr>
                  <a:spLocks noChangeShapeType="1"/>
                </p:cNvSpPr>
                <p:nvPr/>
              </p:nvSpPr>
              <p:spPr bwMode="auto">
                <a:xfrm>
                  <a:off x="1102" y="1361"/>
                  <a:ext cx="0" cy="202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5" name="Line 7"/>
                <p:cNvSpPr>
                  <a:spLocks noChangeShapeType="1"/>
                </p:cNvSpPr>
                <p:nvPr/>
              </p:nvSpPr>
              <p:spPr bwMode="auto">
                <a:xfrm>
                  <a:off x="1098" y="3388"/>
                  <a:ext cx="211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22" name="Text Box 8"/>
              <p:cNvSpPr txBox="1">
                <a:spLocks noChangeArrowheads="1"/>
              </p:cNvSpPr>
              <p:nvPr/>
            </p:nvSpPr>
            <p:spPr bwMode="auto">
              <a:xfrm>
                <a:off x="2544" y="743"/>
                <a:ext cx="267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P</a:t>
                </a:r>
                <a:endParaRPr lang="en-US" sz="2400" b="1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3" name="Text Box 9"/>
              <p:cNvSpPr txBox="1">
                <a:spLocks noChangeArrowheads="1"/>
              </p:cNvSpPr>
              <p:nvPr/>
            </p:nvSpPr>
            <p:spPr bwMode="auto">
              <a:xfrm>
                <a:off x="4802" y="3063"/>
                <a:ext cx="290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400" b="1" i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6" name="Group 24"/>
            <p:cNvGrpSpPr/>
            <p:nvPr/>
          </p:nvGrpSpPr>
          <p:grpSpPr bwMode="auto">
            <a:xfrm>
              <a:off x="5180013" y="2392363"/>
              <a:ext cx="3738562" cy="2725737"/>
              <a:chOff x="3355" y="1476"/>
              <a:chExt cx="2206" cy="1717"/>
            </a:xfrm>
          </p:grpSpPr>
          <p:sp>
            <p:nvSpPr>
              <p:cNvPr id="19" name="Line 11"/>
              <p:cNvSpPr>
                <a:spLocks noChangeShapeType="1"/>
              </p:cNvSpPr>
              <p:nvPr/>
            </p:nvSpPr>
            <p:spPr bwMode="auto">
              <a:xfrm>
                <a:off x="3355" y="1476"/>
                <a:ext cx="1328" cy="1473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0" name="Text Box 12"/>
              <p:cNvSpPr txBox="1">
                <a:spLocks noChangeArrowheads="1"/>
              </p:cNvSpPr>
              <p:nvPr/>
            </p:nvSpPr>
            <p:spPr bwMode="auto">
              <a:xfrm>
                <a:off x="4639" y="2905"/>
                <a:ext cx="92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 i="1">
                    <a:latin typeface="Arial" panose="020B0604020202020204"/>
                    <a:cs typeface="Arial" panose="020B0604020202020204"/>
                  </a:rPr>
                  <a:t>D=VMP</a:t>
                </a:r>
                <a:endParaRPr lang="en-US" sz="2400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7" name="Group 25"/>
            <p:cNvGrpSpPr/>
            <p:nvPr/>
          </p:nvGrpSpPr>
          <p:grpSpPr bwMode="auto">
            <a:xfrm>
              <a:off x="5737225" y="1998663"/>
              <a:ext cx="1336675" cy="3068637"/>
              <a:chOff x="3641" y="1206"/>
              <a:chExt cx="842" cy="1933"/>
            </a:xfrm>
          </p:grpSpPr>
          <p:sp>
            <p:nvSpPr>
              <p:cNvPr id="17" name="Line 14"/>
              <p:cNvSpPr>
                <a:spLocks noChangeShapeType="1"/>
              </p:cNvSpPr>
              <p:nvPr/>
            </p:nvSpPr>
            <p:spPr bwMode="auto">
              <a:xfrm flipV="1">
                <a:off x="3641" y="1475"/>
                <a:ext cx="651" cy="1664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8" name="Text Box 15"/>
              <p:cNvSpPr txBox="1">
                <a:spLocks noChangeArrowheads="1"/>
              </p:cNvSpPr>
              <p:nvPr/>
            </p:nvSpPr>
            <p:spPr bwMode="auto">
              <a:xfrm>
                <a:off x="4241" y="1206"/>
                <a:ext cx="24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i="1">
                    <a:latin typeface="Arial" panose="020B0604020202020204"/>
                    <a:cs typeface="Arial" panose="020B0604020202020204"/>
                  </a:rPr>
                  <a:t>S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9" name="Group 16"/>
            <p:cNvGrpSpPr/>
            <p:nvPr/>
          </p:nvGrpSpPr>
          <p:grpSpPr bwMode="auto">
            <a:xfrm>
              <a:off x="4191000" y="3376612"/>
              <a:ext cx="2371725" cy="2498724"/>
              <a:chOff x="2352" y="1900"/>
              <a:chExt cx="1494" cy="1574"/>
            </a:xfrm>
          </p:grpSpPr>
          <p:grpSp>
            <p:nvGrpSpPr>
              <p:cNvPr id="11" name="Group 17"/>
              <p:cNvGrpSpPr/>
              <p:nvPr/>
            </p:nvGrpSpPr>
            <p:grpSpPr bwMode="auto">
              <a:xfrm>
                <a:off x="2701" y="2016"/>
                <a:ext cx="991" cy="1188"/>
                <a:chOff x="2757" y="2018"/>
                <a:chExt cx="826" cy="1117"/>
              </a:xfrm>
            </p:grpSpPr>
            <p:sp>
              <p:nvSpPr>
                <p:cNvPr id="15" name="Line 18"/>
                <p:cNvSpPr>
                  <a:spLocks noChangeShapeType="1"/>
                </p:cNvSpPr>
                <p:nvPr/>
              </p:nvSpPr>
              <p:spPr bwMode="auto">
                <a:xfrm>
                  <a:off x="2757" y="2020"/>
                  <a:ext cx="82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6" name="Line 19"/>
                <p:cNvSpPr>
                  <a:spLocks noChangeShapeType="1"/>
                </p:cNvSpPr>
                <p:nvPr/>
              </p:nvSpPr>
              <p:spPr bwMode="auto">
                <a:xfrm>
                  <a:off x="3583" y="2018"/>
                  <a:ext cx="0" cy="11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12" name="Text Box 20"/>
              <p:cNvSpPr txBox="1">
                <a:spLocks noChangeArrowheads="1"/>
              </p:cNvSpPr>
              <p:nvPr/>
            </p:nvSpPr>
            <p:spPr bwMode="auto">
              <a:xfrm>
                <a:off x="2352" y="1900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P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" name="Oval 21"/>
              <p:cNvSpPr>
                <a:spLocks noChangeAspect="1" noChangeArrowheads="1"/>
              </p:cNvSpPr>
              <p:nvPr/>
            </p:nvSpPr>
            <p:spPr bwMode="auto">
              <a:xfrm>
                <a:off x="3648" y="1983"/>
                <a:ext cx="81" cy="80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" name="Text Box 22"/>
              <p:cNvSpPr txBox="1">
                <a:spLocks noChangeArrowheads="1"/>
              </p:cNvSpPr>
              <p:nvPr/>
            </p:nvSpPr>
            <p:spPr bwMode="auto">
              <a:xfrm>
                <a:off x="3538" y="3241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0" name="Text Box 23"/>
            <p:cNvSpPr txBox="1">
              <a:spLocks noChangeArrowheads="1"/>
            </p:cNvSpPr>
            <p:nvPr/>
          </p:nvSpPr>
          <p:spPr bwMode="auto">
            <a:xfrm>
              <a:off x="5997286" y="1240127"/>
              <a:ext cx="2274888" cy="47705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25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土地</a:t>
              </a:r>
              <a:r>
                <a:rPr lang="zh-CN" altLang="en-US" sz="25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市场</a:t>
              </a:r>
              <a:endParaRPr lang="en-US" sz="2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8941" y="5924282"/>
            <a:ext cx="2105696" cy="817808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资本租金如何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确定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4092575" y="1473079"/>
            <a:ext cx="4594225" cy="4791073"/>
            <a:chOff x="4191000" y="1084263"/>
            <a:chExt cx="4594225" cy="4791073"/>
          </a:xfrm>
        </p:grpSpPr>
        <p:grpSp>
          <p:nvGrpSpPr>
            <p:cNvPr id="27" name="Group 4"/>
            <p:cNvGrpSpPr/>
            <p:nvPr/>
          </p:nvGrpSpPr>
          <p:grpSpPr bwMode="auto">
            <a:xfrm>
              <a:off x="4495800" y="1539875"/>
              <a:ext cx="4044950" cy="4140200"/>
              <a:chOff x="2544" y="743"/>
              <a:chExt cx="2548" cy="2608"/>
            </a:xfrm>
          </p:grpSpPr>
          <p:grpSp>
            <p:nvGrpSpPr>
              <p:cNvPr id="42" name="Group 5"/>
              <p:cNvGrpSpPr/>
              <p:nvPr/>
            </p:nvGrpSpPr>
            <p:grpSpPr bwMode="auto">
              <a:xfrm>
                <a:off x="2697" y="1012"/>
                <a:ext cx="2168" cy="2191"/>
                <a:chOff x="1098" y="1361"/>
                <a:chExt cx="2116" cy="2027"/>
              </a:xfrm>
            </p:grpSpPr>
            <p:sp>
              <p:nvSpPr>
                <p:cNvPr id="45" name="Line 6"/>
                <p:cNvSpPr>
                  <a:spLocks noChangeShapeType="1"/>
                </p:cNvSpPr>
                <p:nvPr/>
              </p:nvSpPr>
              <p:spPr bwMode="auto">
                <a:xfrm>
                  <a:off x="1102" y="1361"/>
                  <a:ext cx="0" cy="202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6" name="Line 7"/>
                <p:cNvSpPr>
                  <a:spLocks noChangeShapeType="1"/>
                </p:cNvSpPr>
                <p:nvPr/>
              </p:nvSpPr>
              <p:spPr bwMode="auto">
                <a:xfrm>
                  <a:off x="1098" y="3388"/>
                  <a:ext cx="211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43" name="Text Box 8"/>
              <p:cNvSpPr txBox="1">
                <a:spLocks noChangeArrowheads="1"/>
              </p:cNvSpPr>
              <p:nvPr/>
            </p:nvSpPr>
            <p:spPr bwMode="auto">
              <a:xfrm>
                <a:off x="2544" y="743"/>
                <a:ext cx="267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P</a:t>
                </a:r>
                <a:endParaRPr lang="en-US" sz="2400" b="1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4" name="Text Box 9"/>
              <p:cNvSpPr txBox="1">
                <a:spLocks noChangeArrowheads="1"/>
              </p:cNvSpPr>
              <p:nvPr/>
            </p:nvSpPr>
            <p:spPr bwMode="auto">
              <a:xfrm>
                <a:off x="4802" y="3063"/>
                <a:ext cx="290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400" b="1" i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28" name="Group 10"/>
            <p:cNvGrpSpPr/>
            <p:nvPr/>
          </p:nvGrpSpPr>
          <p:grpSpPr bwMode="auto">
            <a:xfrm>
              <a:off x="5283200" y="2414588"/>
              <a:ext cx="3502025" cy="2725737"/>
              <a:chOff x="3355" y="1476"/>
              <a:chExt cx="2206" cy="1717"/>
            </a:xfrm>
          </p:grpSpPr>
          <p:sp>
            <p:nvSpPr>
              <p:cNvPr id="40" name="Line 11"/>
              <p:cNvSpPr>
                <a:spLocks noChangeShapeType="1"/>
              </p:cNvSpPr>
              <p:nvPr/>
            </p:nvSpPr>
            <p:spPr bwMode="auto">
              <a:xfrm>
                <a:off x="3355" y="1476"/>
                <a:ext cx="1328" cy="1473"/>
              </a:xfrm>
              <a:prstGeom prst="line">
                <a:avLst/>
              </a:prstGeom>
              <a:noFill/>
              <a:ln w="38100">
                <a:solidFill>
                  <a:srgbClr val="996633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1" name="Text Box 12"/>
              <p:cNvSpPr txBox="1">
                <a:spLocks noChangeArrowheads="1"/>
              </p:cNvSpPr>
              <p:nvPr/>
            </p:nvSpPr>
            <p:spPr bwMode="auto">
              <a:xfrm>
                <a:off x="4639" y="2905"/>
                <a:ext cx="92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 i="1">
                    <a:latin typeface="Arial" panose="020B0604020202020204"/>
                    <a:cs typeface="Arial" panose="020B0604020202020204"/>
                  </a:rPr>
                  <a:t>D=VMP</a:t>
                </a:r>
                <a:endParaRPr lang="en-US" sz="2400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29" name="Group 13"/>
            <p:cNvGrpSpPr/>
            <p:nvPr/>
          </p:nvGrpSpPr>
          <p:grpSpPr bwMode="auto">
            <a:xfrm>
              <a:off x="5303838" y="2030413"/>
              <a:ext cx="2201862" cy="2901950"/>
              <a:chOff x="3501" y="1206"/>
              <a:chExt cx="1118" cy="1828"/>
            </a:xfrm>
          </p:grpSpPr>
          <p:sp>
            <p:nvSpPr>
              <p:cNvPr id="38" name="Line 14"/>
              <p:cNvSpPr>
                <a:spLocks noChangeShapeType="1"/>
              </p:cNvSpPr>
              <p:nvPr/>
            </p:nvSpPr>
            <p:spPr bwMode="auto">
              <a:xfrm flipV="1">
                <a:off x="3501" y="1460"/>
                <a:ext cx="949" cy="1574"/>
              </a:xfrm>
              <a:prstGeom prst="line">
                <a:avLst/>
              </a:prstGeom>
              <a:noFill/>
              <a:ln w="38100">
                <a:solidFill>
                  <a:srgbClr val="996633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9" name="Text Box 15"/>
              <p:cNvSpPr txBox="1">
                <a:spLocks noChangeArrowheads="1"/>
              </p:cNvSpPr>
              <p:nvPr/>
            </p:nvSpPr>
            <p:spPr bwMode="auto">
              <a:xfrm>
                <a:off x="4375" y="1206"/>
                <a:ext cx="244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 i="1">
                    <a:latin typeface="Arial" panose="020B0604020202020204"/>
                    <a:cs typeface="Arial" panose="020B0604020202020204"/>
                  </a:rPr>
                  <a:t>S</a:t>
                </a:r>
                <a:endParaRPr lang="en-US" sz="2400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30" name="Group 16"/>
            <p:cNvGrpSpPr/>
            <p:nvPr/>
          </p:nvGrpSpPr>
          <p:grpSpPr bwMode="auto">
            <a:xfrm>
              <a:off x="4191000" y="3376612"/>
              <a:ext cx="2371725" cy="2498724"/>
              <a:chOff x="2352" y="1900"/>
              <a:chExt cx="1494" cy="1574"/>
            </a:xfrm>
          </p:grpSpPr>
          <p:grpSp>
            <p:nvGrpSpPr>
              <p:cNvPr id="32" name="Group 17"/>
              <p:cNvGrpSpPr/>
              <p:nvPr/>
            </p:nvGrpSpPr>
            <p:grpSpPr bwMode="auto">
              <a:xfrm>
                <a:off x="2701" y="2016"/>
                <a:ext cx="991" cy="1188"/>
                <a:chOff x="2757" y="2018"/>
                <a:chExt cx="826" cy="1117"/>
              </a:xfrm>
            </p:grpSpPr>
            <p:sp>
              <p:nvSpPr>
                <p:cNvPr id="36" name="Line 18"/>
                <p:cNvSpPr>
                  <a:spLocks noChangeShapeType="1"/>
                </p:cNvSpPr>
                <p:nvPr/>
              </p:nvSpPr>
              <p:spPr bwMode="auto">
                <a:xfrm>
                  <a:off x="2757" y="2020"/>
                  <a:ext cx="82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7" name="Line 19"/>
                <p:cNvSpPr>
                  <a:spLocks noChangeShapeType="1"/>
                </p:cNvSpPr>
                <p:nvPr/>
              </p:nvSpPr>
              <p:spPr bwMode="auto">
                <a:xfrm>
                  <a:off x="3583" y="2018"/>
                  <a:ext cx="0" cy="11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33" name="Text Box 20"/>
              <p:cNvSpPr txBox="1">
                <a:spLocks noChangeArrowheads="1"/>
              </p:cNvSpPr>
              <p:nvPr/>
            </p:nvSpPr>
            <p:spPr bwMode="auto">
              <a:xfrm>
                <a:off x="2352" y="1900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P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4" name="Oval 21"/>
              <p:cNvSpPr>
                <a:spLocks noChangeAspect="1" noChangeArrowheads="1"/>
              </p:cNvSpPr>
              <p:nvPr/>
            </p:nvSpPr>
            <p:spPr bwMode="auto">
              <a:xfrm>
                <a:off x="3648" y="1983"/>
                <a:ext cx="81" cy="80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5" name="Text Box 22"/>
              <p:cNvSpPr txBox="1">
                <a:spLocks noChangeArrowheads="1"/>
              </p:cNvSpPr>
              <p:nvPr/>
            </p:nvSpPr>
            <p:spPr bwMode="auto">
              <a:xfrm>
                <a:off x="3538" y="3241"/>
                <a:ext cx="3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31" name="Text Box 23"/>
            <p:cNvSpPr txBox="1">
              <a:spLocks noChangeArrowheads="1"/>
            </p:cNvSpPr>
            <p:nvPr/>
          </p:nvSpPr>
          <p:spPr bwMode="auto">
            <a:xfrm>
              <a:off x="5353050" y="1084263"/>
              <a:ext cx="2274888" cy="477054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25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资本</a:t>
              </a:r>
              <a:r>
                <a:rPr lang="zh-CN" altLang="en-US" sz="25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市场</a:t>
              </a:r>
              <a:endParaRPr lang="en-US" sz="25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47" name="TextBox 15"/>
          <p:cNvSpPr txBox="1"/>
          <p:nvPr/>
        </p:nvSpPr>
        <p:spPr>
          <a:xfrm>
            <a:off x="457200" y="1473079"/>
            <a:ext cx="343939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公司比较资本租金（利息）与资本边际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产品价值（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VMP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），决定借用多少资本。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资本租金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进行调整，以平衡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资本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供应和资本需求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4471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购买一个单位的资本或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土地，会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产生源源不断的租金收入。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任何时期的租金收入等于边际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产品价值（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VMP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因此，一个要素的均衡购买价格取决于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当前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VMP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和预计在未来时期占主导地位的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VMP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租金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和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购买价格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270165" y="1556792"/>
            <a:ext cx="87064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在大多数情况下，生产要素被一起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使用。每种要素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的生产力取决于其他要素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的投入数量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例如：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资本要素数量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的增加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资本的边际产品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和资本的租金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价格下降。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拥有更多的资本会提高工人的生产力，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MPL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也会上升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生产要素之间的联系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本章中的理论被称为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新古典收入分配理论。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它指出：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lvl="1" indent="-34290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要素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价格由供求关系决定的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lvl="1" indent="-34290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每个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因素都按其边际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产品价值支付价格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大多数经济学家将这一理论作为理解收入分配的起点。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接下来的两章将进一步探讨收入分配及相关问题。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结论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收入分配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是在生产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要素的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市场中决定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的。三个最重要的生产要素是劳动力、土地和资本。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企业对某一要素的需求来源于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其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供给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竞争性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公司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通过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雇佣额外一个单位的生产因素，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直到其边际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产品价值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等于其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租金，来实现利润最大化。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劳动力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源于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工作和休闲之间的权衡，并产生向上倾斜的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劳动力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曲线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要素价格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会进行调整，以平衡该要素的供需。在均衡中，每个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要素都根据其对生产的边际贡献进行补偿。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生产要素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一起使用。一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个要素数量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的变化会影响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所有其他要素的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边际产品和均衡收益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哈尔滨工业大学（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深圳）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经济管理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学院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9D7B55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THE HITSZ SCHOOL OF ECONOMICS AND MANAGEMENT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9D7B55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29861" y="1506771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《</a:t>
            </a:r>
            <a:r>
              <a:rPr kumimoji="0" lang="zh-CN" altLang="en-US" sz="4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经济学原理</a:t>
            </a:r>
            <a:r>
              <a:rPr kumimoji="0" lang="en-US" altLang="zh-CN" sz="4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》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0519" y="3108278"/>
            <a:ext cx="711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下一章：</a:t>
            </a:r>
            <a:r>
              <a:rPr lang="zh-CN" altLang="en-US" sz="4000" b="1">
                <a:solidFill>
                  <a:prstClr val="white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收入与歧视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3770</Words>
  <Application>WPS 演示</Application>
  <PresentationFormat>全屏显示(4:3)</PresentationFormat>
  <Paragraphs>671</Paragraphs>
  <Slides>39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3" baseType="lpstr">
      <vt:lpstr>Arial</vt:lpstr>
      <vt:lpstr>宋体</vt:lpstr>
      <vt:lpstr>Wingdings</vt:lpstr>
      <vt:lpstr>思源黑体 CN Bold</vt:lpstr>
      <vt:lpstr>黑体</vt:lpstr>
      <vt:lpstr>思源黑体 CN Regular</vt:lpstr>
      <vt:lpstr>思源黑体 CN Light</vt:lpstr>
      <vt:lpstr>华光中雅_CNKI</vt:lpstr>
      <vt:lpstr>等线</vt:lpstr>
      <vt:lpstr>微软雅黑</vt:lpstr>
      <vt:lpstr>Calibri</vt:lpstr>
      <vt:lpstr>Arial</vt:lpstr>
      <vt:lpstr>Arial Unicode MS</vt:lpstr>
      <vt:lpstr>Office 主题</vt:lpstr>
      <vt:lpstr>PowerPoint 演示文稿</vt:lpstr>
      <vt:lpstr>PowerPoint 演示文稿</vt:lpstr>
      <vt:lpstr>生产要素与要素市场</vt:lpstr>
      <vt:lpstr>衍生需求</vt:lpstr>
      <vt:lpstr>两个假设</vt:lpstr>
      <vt:lpstr>例子：农场主A</vt:lpstr>
      <vt:lpstr>例子：农场主A</vt:lpstr>
      <vt:lpstr>农场主A的生产函数</vt:lpstr>
      <vt:lpstr>边际劳动产品（MPL）</vt:lpstr>
      <vt:lpstr>边际产品价值</vt:lpstr>
      <vt:lpstr>习题：计算MPL和VMPL</vt:lpstr>
      <vt:lpstr>习题：计算MPL和VMPL</vt:lpstr>
      <vt:lpstr>习题：计算MPL和VMPL</vt:lpstr>
      <vt:lpstr>农场主A的劳动力需求</vt:lpstr>
      <vt:lpstr>VMPL与劳动力需求</vt:lpstr>
      <vt:lpstr>劳动力需求的平移</vt:lpstr>
      <vt:lpstr>引起劳动力需求曲线移动的因素</vt:lpstr>
      <vt:lpstr>投入需求与产出供给的联系</vt:lpstr>
      <vt:lpstr>投入需求与产出供给的联系</vt:lpstr>
      <vt:lpstr>投入需求与产出供给的联系</vt:lpstr>
      <vt:lpstr>劳动力供应</vt:lpstr>
      <vt:lpstr>劳动力供给曲线</vt:lpstr>
      <vt:lpstr>引起劳动力供给曲线移动的因素</vt:lpstr>
      <vt:lpstr>劳动力市场的均衡</vt:lpstr>
      <vt:lpstr>习题：劳动力市场均衡的变动</vt:lpstr>
      <vt:lpstr>习题：劳动力市场均衡的变动</vt:lpstr>
      <vt:lpstr>习题：劳动力市场均衡的变动</vt:lpstr>
      <vt:lpstr>习题：劳动力市场均衡的变动</vt:lpstr>
      <vt:lpstr>生产力和工资增长</vt:lpstr>
      <vt:lpstr>买方垄断</vt:lpstr>
      <vt:lpstr>其他生产要素</vt:lpstr>
      <vt:lpstr>土地租金如何确定</vt:lpstr>
      <vt:lpstr>资本租金如何确定</vt:lpstr>
      <vt:lpstr>租金和购买价格</vt:lpstr>
      <vt:lpstr>生产要素之间的联系</vt:lpstr>
      <vt:lpstr>结论</vt:lpstr>
      <vt:lpstr>总结</vt:lpstr>
      <vt:lpstr>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2911522202@qq.com</dc:creator>
  <cp:lastModifiedBy>YZ</cp:lastModifiedBy>
  <cp:revision>36</cp:revision>
  <dcterms:created xsi:type="dcterms:W3CDTF">2023-08-03T01:43:00Z</dcterms:created>
  <dcterms:modified xsi:type="dcterms:W3CDTF">2025-10-23T02:35:46Z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4D4A72F637634DB9814156DB48447C29_12</vt:lpwstr>
  </property>
  <property fmtid="{D5CDD505-2E9C-101B-9397-08002B2CF9AE}" pid="3" name="KSOProductBuildVer">
    <vt:lpwstr>2052-12.1.0.23125</vt:lpwstr>
  </property>
</Properties>
</file>