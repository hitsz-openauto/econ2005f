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3"/>
    <p:sldId id="268" r:id="rId5"/>
    <p:sldId id="324" r:id="rId6"/>
    <p:sldId id="346" r:id="rId7"/>
    <p:sldId id="406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5" r:id="rId16"/>
    <p:sldId id="416" r:id="rId17"/>
    <p:sldId id="417" r:id="rId18"/>
    <p:sldId id="418" r:id="rId19"/>
    <p:sldId id="419" r:id="rId20"/>
    <p:sldId id="420" r:id="rId21"/>
    <p:sldId id="421" r:id="rId22"/>
    <p:sldId id="422" r:id="rId23"/>
    <p:sldId id="423" r:id="rId24"/>
    <p:sldId id="424" r:id="rId25"/>
    <p:sldId id="425" r:id="rId26"/>
    <p:sldId id="426" r:id="rId27"/>
    <p:sldId id="427" r:id="rId28"/>
    <p:sldId id="428" r:id="rId29"/>
    <p:sldId id="429" r:id="rId30"/>
    <p:sldId id="430" r:id="rId31"/>
    <p:sldId id="431" r:id="rId32"/>
    <p:sldId id="432" r:id="rId33"/>
    <p:sldId id="314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B1C1E5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ABAA8-8FB1-4F27-A5EC-E32B77DF30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868F2-97C3-47D7-ABE8-744472A7A1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哈尔滨工业大学（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深圳）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经济管理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学院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9D7B55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THE HITSZ SCHOOL OF ECONOMICS AND MANAGEMENT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9D7B55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49353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《</a:t>
            </a:r>
            <a:r>
              <a:rPr kumimoji="0" lang="zh-CN" altLang="en-US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经济学原理</a:t>
            </a: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》</a:t>
            </a:r>
            <a:endParaRPr kumimoji="0" lang="en-US" altLang="zh-CN" sz="4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（微观经济学原理）</a:t>
            </a: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主讲人：周豫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631" y="3933056"/>
            <a:ext cx="7639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第</a:t>
            </a:r>
            <a:r>
              <a:rPr lang="en-US" altLang="zh-CN" sz="4000" b="1">
                <a:solidFill>
                  <a:prstClr val="white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3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章：相互依存性与贸易的好处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4118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本章回答如下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3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个问题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0050" y="1642104"/>
            <a:ext cx="80648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为什么人们和国家选择在经济上相互依存？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贸易如何让每个人都过得更好？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什么是绝对优势？什么是比较优势？这些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概念有什么相似，又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有何不同？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88373" y="1865885"/>
            <a:ext cx="79282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每一天，你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依赖全球各地的许多人，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其中大多数你从未见过，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他们为你提供</a:t>
            </a: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你需要的商品和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相互依存性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第一章的十条原则之一：</a:t>
            </a:r>
            <a:b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交换或者贸易能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让每个人状况更好。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我们现在要学习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为什么个人（和国家）都会选择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相互依存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，以及个人（和国家）如何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从贸易中获利。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相互依存性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57200" y="1067395"/>
            <a:ext cx="80648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两个国家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和印度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两种商品：电脑和小麦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一种资源：劳动力，以小时为单位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分析如下两种情况下，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每个国家生产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和消费多少这两种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商品？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（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）如果国家选择自给自足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(2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）如果与其他国家进行贸易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例子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每月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50000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小时的劳动力可供生产。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生产一台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电脑需要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小时的劳动。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生产一吨小麦需要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个小时的劳动。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中国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生产假定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417331" y="1806316"/>
            <a:ext cx="6936506" cy="4535075"/>
            <a:chOff x="293688" y="1163637"/>
            <a:chExt cx="7343775" cy="4908550"/>
          </a:xfrm>
        </p:grpSpPr>
        <p:grpSp>
          <p:nvGrpSpPr>
            <p:cNvPr id="81" name="Group 2"/>
            <p:cNvGrpSpPr/>
            <p:nvPr/>
          </p:nvGrpSpPr>
          <p:grpSpPr bwMode="auto">
            <a:xfrm>
              <a:off x="293688" y="1163637"/>
              <a:ext cx="7343775" cy="4908550"/>
              <a:chOff x="185" y="733"/>
              <a:chExt cx="4626" cy="3092"/>
            </a:xfrm>
          </p:grpSpPr>
          <p:grpSp>
            <p:nvGrpSpPr>
              <p:cNvPr id="83" name="Group 3"/>
              <p:cNvGrpSpPr/>
              <p:nvPr/>
            </p:nvGrpSpPr>
            <p:grpSpPr bwMode="auto">
              <a:xfrm>
                <a:off x="203" y="972"/>
                <a:ext cx="3474" cy="2853"/>
                <a:chOff x="212" y="1350"/>
                <a:chExt cx="3474" cy="2853"/>
              </a:xfrm>
            </p:grpSpPr>
            <p:grpSp>
              <p:nvGrpSpPr>
                <p:cNvPr id="86" name="Group 4"/>
                <p:cNvGrpSpPr/>
                <p:nvPr/>
              </p:nvGrpSpPr>
              <p:grpSpPr bwMode="auto">
                <a:xfrm>
                  <a:off x="868" y="1350"/>
                  <a:ext cx="2818" cy="2480"/>
                  <a:chOff x="2416" y="1770"/>
                  <a:chExt cx="610" cy="548"/>
                </a:xfrm>
              </p:grpSpPr>
              <p:sp>
                <p:nvSpPr>
                  <p:cNvPr id="118" name="Line 5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1770"/>
                    <a:ext cx="0" cy="5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9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2318"/>
                    <a:ext cx="61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87" name="Group 7"/>
                <p:cNvGrpSpPr/>
                <p:nvPr/>
              </p:nvGrpSpPr>
              <p:grpSpPr bwMode="auto">
                <a:xfrm>
                  <a:off x="214" y="1834"/>
                  <a:ext cx="654" cy="288"/>
                  <a:chOff x="212" y="1834"/>
                  <a:chExt cx="654" cy="288"/>
                </a:xfrm>
              </p:grpSpPr>
              <p:sp>
                <p:nvSpPr>
                  <p:cNvPr id="116" name="Line 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7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4000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88" name="Group 10"/>
                <p:cNvGrpSpPr/>
                <p:nvPr/>
              </p:nvGrpSpPr>
              <p:grpSpPr bwMode="auto">
                <a:xfrm>
                  <a:off x="1144" y="3828"/>
                  <a:ext cx="464" cy="374"/>
                  <a:chOff x="1142" y="3830"/>
                  <a:chExt cx="464" cy="374"/>
                </a:xfrm>
              </p:grpSpPr>
              <p:sp>
                <p:nvSpPr>
                  <p:cNvPr id="114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5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100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89" name="Group 13"/>
                <p:cNvGrpSpPr/>
                <p:nvPr/>
              </p:nvGrpSpPr>
              <p:grpSpPr bwMode="auto">
                <a:xfrm>
                  <a:off x="212" y="1374"/>
                  <a:ext cx="654" cy="288"/>
                  <a:chOff x="212" y="1834"/>
                  <a:chExt cx="654" cy="288"/>
                </a:xfrm>
              </p:grpSpPr>
              <p:sp>
                <p:nvSpPr>
                  <p:cNvPr id="112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3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5000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0" name="Group 16"/>
                <p:cNvGrpSpPr/>
                <p:nvPr/>
              </p:nvGrpSpPr>
              <p:grpSpPr bwMode="auto">
                <a:xfrm>
                  <a:off x="214" y="2756"/>
                  <a:ext cx="654" cy="288"/>
                  <a:chOff x="212" y="1834"/>
                  <a:chExt cx="654" cy="288"/>
                </a:xfrm>
              </p:grpSpPr>
              <p:sp>
                <p:nvSpPr>
                  <p:cNvPr id="110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1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1" name="Group 19"/>
                <p:cNvGrpSpPr/>
                <p:nvPr/>
              </p:nvGrpSpPr>
              <p:grpSpPr bwMode="auto">
                <a:xfrm>
                  <a:off x="214" y="3216"/>
                  <a:ext cx="654" cy="288"/>
                  <a:chOff x="212" y="1834"/>
                  <a:chExt cx="654" cy="288"/>
                </a:xfrm>
              </p:grpSpPr>
              <p:sp>
                <p:nvSpPr>
                  <p:cNvPr id="108" name="Line 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9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 dirty="0">
                        <a:latin typeface="Arial" panose="020B0604020202020204"/>
                        <a:cs typeface="Arial" panose="020B0604020202020204"/>
                      </a:rPr>
                      <a:t>1000</a:t>
                    </a:r>
                    <a:endParaRPr lang="en-US" sz="2400" dirty="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2" name="Group 22"/>
                <p:cNvGrpSpPr/>
                <p:nvPr/>
              </p:nvGrpSpPr>
              <p:grpSpPr bwMode="auto">
                <a:xfrm>
                  <a:off x="212" y="2292"/>
                  <a:ext cx="654" cy="288"/>
                  <a:chOff x="212" y="1834"/>
                  <a:chExt cx="654" cy="288"/>
                </a:xfrm>
              </p:grpSpPr>
              <p:sp>
                <p:nvSpPr>
                  <p:cNvPr id="106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7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3000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3" name="Group 25"/>
                <p:cNvGrpSpPr/>
                <p:nvPr/>
              </p:nvGrpSpPr>
              <p:grpSpPr bwMode="auto">
                <a:xfrm>
                  <a:off x="3188" y="3828"/>
                  <a:ext cx="464" cy="374"/>
                  <a:chOff x="1142" y="3830"/>
                  <a:chExt cx="464" cy="374"/>
                </a:xfrm>
              </p:grpSpPr>
              <p:sp>
                <p:nvSpPr>
                  <p:cNvPr id="104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5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500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4" name="Group 28"/>
                <p:cNvGrpSpPr/>
                <p:nvPr/>
              </p:nvGrpSpPr>
              <p:grpSpPr bwMode="auto">
                <a:xfrm>
                  <a:off x="1659" y="3828"/>
                  <a:ext cx="464" cy="374"/>
                  <a:chOff x="1142" y="3830"/>
                  <a:chExt cx="464" cy="374"/>
                </a:xfrm>
              </p:grpSpPr>
              <p:sp>
                <p:nvSpPr>
                  <p:cNvPr id="102" name="Lin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3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5" name="Group 31"/>
                <p:cNvGrpSpPr/>
                <p:nvPr/>
              </p:nvGrpSpPr>
              <p:grpSpPr bwMode="auto">
                <a:xfrm>
                  <a:off x="2164" y="3829"/>
                  <a:ext cx="464" cy="374"/>
                  <a:chOff x="1142" y="3830"/>
                  <a:chExt cx="464" cy="374"/>
                </a:xfrm>
              </p:grpSpPr>
              <p:sp>
                <p:nvSpPr>
                  <p:cNvPr id="100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1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300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6" name="Group 34"/>
                <p:cNvGrpSpPr/>
                <p:nvPr/>
              </p:nvGrpSpPr>
              <p:grpSpPr bwMode="auto">
                <a:xfrm>
                  <a:off x="2673" y="3829"/>
                  <a:ext cx="464" cy="374"/>
                  <a:chOff x="1142" y="3830"/>
                  <a:chExt cx="464" cy="374"/>
                </a:xfrm>
              </p:grpSpPr>
              <p:sp>
                <p:nvSpPr>
                  <p:cNvPr id="98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99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400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sp>
              <p:nvSpPr>
                <p:cNvPr id="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621" y="3798"/>
                  <a:ext cx="26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84" name="Text Box 38"/>
              <p:cNvSpPr txBox="1">
                <a:spLocks noChangeArrowheads="1"/>
              </p:cNvSpPr>
              <p:nvPr/>
            </p:nvSpPr>
            <p:spPr bwMode="auto">
              <a:xfrm>
                <a:off x="3604" y="3311"/>
                <a:ext cx="1207" cy="2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smtClean="0">
                    <a:latin typeface="Arial" panose="020B0604020202020204"/>
                    <a:cs typeface="Arial" panose="020B0604020202020204"/>
                  </a:rPr>
                  <a:t>电脑（台）</a:t>
                </a:r>
                <a:endParaRPr lang="en-US" sz="2000" b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ext Box 39"/>
              <p:cNvSpPr txBox="1">
                <a:spLocks noChangeArrowheads="1"/>
              </p:cNvSpPr>
              <p:nvPr/>
            </p:nvSpPr>
            <p:spPr bwMode="auto">
              <a:xfrm>
                <a:off x="185" y="733"/>
                <a:ext cx="1148" cy="2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1">
                    <a:latin typeface="Arial" panose="020B0604020202020204"/>
                    <a:cs typeface="Arial" panose="020B0604020202020204"/>
                  </a:rPr>
                  <a:t>小麦（吨）</a:t>
                </a:r>
                <a:endParaRPr lang="en-US" sz="2400" b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82" name="Line 44"/>
            <p:cNvSpPr>
              <a:spLocks noChangeShapeType="1"/>
            </p:cNvSpPr>
            <p:nvPr/>
          </p:nvSpPr>
          <p:spPr bwMode="auto">
            <a:xfrm>
              <a:off x="1355725" y="1828800"/>
              <a:ext cx="4056063" cy="3649663"/>
            </a:xfrm>
            <a:prstGeom prst="line">
              <a:avLst/>
            </a:prstGeom>
            <a:noFill/>
            <a:ln w="50800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24" name="Text Box 48"/>
          <p:cNvSpPr txBox="1">
            <a:spLocks noChangeArrowheads="1"/>
          </p:cNvSpPr>
          <p:nvPr/>
        </p:nvSpPr>
        <p:spPr bwMode="auto">
          <a:xfrm>
            <a:off x="6001675" y="1940443"/>
            <a:ext cx="3775075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00" dirty="0">
                <a:latin typeface="Arial" panose="020B0604020202020204"/>
                <a:cs typeface="Arial" panose="020B0604020202020204"/>
              </a:rPr>
              <a:t>或5000吨小麦，</a:t>
            </a:r>
            <a:endParaRPr lang="en-US" sz="27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1" name="Group 41"/>
          <p:cNvGrpSpPr/>
          <p:nvPr/>
        </p:nvGrpSpPr>
        <p:grpSpPr bwMode="auto">
          <a:xfrm>
            <a:off x="4342484" y="1659422"/>
            <a:ext cx="4562179" cy="1697347"/>
            <a:chOff x="2711" y="834"/>
            <a:chExt cx="2711" cy="1006"/>
          </a:xfrm>
        </p:grpSpPr>
        <p:sp>
          <p:nvSpPr>
            <p:cNvPr id="122" name="Rectangle 42"/>
            <p:cNvSpPr>
              <a:spLocks noChangeArrowheads="1"/>
            </p:cNvSpPr>
            <p:nvPr/>
          </p:nvSpPr>
          <p:spPr bwMode="auto">
            <a:xfrm>
              <a:off x="2711" y="834"/>
              <a:ext cx="2711" cy="1006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ext Box 43"/>
            <p:cNvSpPr txBox="1">
              <a:spLocks noChangeArrowheads="1"/>
            </p:cNvSpPr>
            <p:nvPr/>
          </p:nvSpPr>
          <p:spPr bwMode="auto">
            <a:xfrm>
              <a:off x="2785" y="998"/>
              <a:ext cx="2575" cy="7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7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中</a:t>
              </a:r>
              <a:r>
                <a:rPr 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国</a:t>
              </a:r>
              <a:r>
                <a:rPr 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有足够的劳动力生产</a:t>
              </a:r>
              <a:r>
                <a:rPr lang="en-US" sz="27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500</a:t>
              </a:r>
              <a:r>
                <a:rPr 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台电脑</a:t>
              </a:r>
              <a:r>
                <a:rPr 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，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或5000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吨小麦</a:t>
              </a:r>
              <a:r>
                <a:rPr lang="en-US" altLang="zh-CN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，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或沿着PPF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的任何组合</a:t>
              </a:r>
              <a:r>
                <a:rPr lang="en-US" altLang="zh-CN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。</a:t>
              </a:r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28" name="Rectangle 40"/>
          <p:cNvSpPr txBox="1">
            <a:spLocks noChangeArrowheads="1"/>
          </p:cNvSpPr>
          <p:nvPr/>
        </p:nvSpPr>
        <p:spPr>
          <a:xfrm>
            <a:off x="-3455278" y="1109625"/>
            <a:ext cx="91440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17331" y="241507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中国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endParaRPr lang="en-US" altLang="zh-CN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>
            <a:endCxn id="2" idx="6"/>
          </p:cNvCxnSpPr>
          <p:nvPr/>
        </p:nvCxnSpPr>
        <p:spPr>
          <a:xfrm>
            <a:off x="1427967" y="4106854"/>
            <a:ext cx="1951674" cy="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/>
          <p:cNvGrpSpPr/>
          <p:nvPr/>
        </p:nvGrpSpPr>
        <p:grpSpPr>
          <a:xfrm>
            <a:off x="417331" y="1806316"/>
            <a:ext cx="6936506" cy="4535075"/>
            <a:chOff x="293688" y="1163637"/>
            <a:chExt cx="7343775" cy="4908550"/>
          </a:xfrm>
        </p:grpSpPr>
        <p:grpSp>
          <p:nvGrpSpPr>
            <p:cNvPr id="81" name="Group 2"/>
            <p:cNvGrpSpPr/>
            <p:nvPr/>
          </p:nvGrpSpPr>
          <p:grpSpPr bwMode="auto">
            <a:xfrm>
              <a:off x="293688" y="1163637"/>
              <a:ext cx="7343775" cy="4908550"/>
              <a:chOff x="185" y="733"/>
              <a:chExt cx="4626" cy="3092"/>
            </a:xfrm>
          </p:grpSpPr>
          <p:grpSp>
            <p:nvGrpSpPr>
              <p:cNvPr id="83" name="Group 3"/>
              <p:cNvGrpSpPr/>
              <p:nvPr/>
            </p:nvGrpSpPr>
            <p:grpSpPr bwMode="auto">
              <a:xfrm>
                <a:off x="203" y="972"/>
                <a:ext cx="3474" cy="2853"/>
                <a:chOff x="212" y="1350"/>
                <a:chExt cx="3474" cy="2853"/>
              </a:xfrm>
            </p:grpSpPr>
            <p:grpSp>
              <p:nvGrpSpPr>
                <p:cNvPr id="86" name="Group 4"/>
                <p:cNvGrpSpPr/>
                <p:nvPr/>
              </p:nvGrpSpPr>
              <p:grpSpPr bwMode="auto">
                <a:xfrm>
                  <a:off x="868" y="1350"/>
                  <a:ext cx="2818" cy="2480"/>
                  <a:chOff x="2416" y="1770"/>
                  <a:chExt cx="610" cy="548"/>
                </a:xfrm>
              </p:grpSpPr>
              <p:sp>
                <p:nvSpPr>
                  <p:cNvPr id="118" name="Line 5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1770"/>
                    <a:ext cx="0" cy="5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9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2318"/>
                    <a:ext cx="61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87" name="Group 7"/>
                <p:cNvGrpSpPr/>
                <p:nvPr/>
              </p:nvGrpSpPr>
              <p:grpSpPr bwMode="auto">
                <a:xfrm>
                  <a:off x="214" y="1834"/>
                  <a:ext cx="654" cy="288"/>
                  <a:chOff x="212" y="1834"/>
                  <a:chExt cx="654" cy="288"/>
                </a:xfrm>
              </p:grpSpPr>
              <p:sp>
                <p:nvSpPr>
                  <p:cNvPr id="116" name="Line 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7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4000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88" name="Group 10"/>
                <p:cNvGrpSpPr/>
                <p:nvPr/>
              </p:nvGrpSpPr>
              <p:grpSpPr bwMode="auto">
                <a:xfrm>
                  <a:off x="1144" y="3828"/>
                  <a:ext cx="464" cy="374"/>
                  <a:chOff x="1142" y="3830"/>
                  <a:chExt cx="464" cy="374"/>
                </a:xfrm>
              </p:grpSpPr>
              <p:sp>
                <p:nvSpPr>
                  <p:cNvPr id="114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5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100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89" name="Group 13"/>
                <p:cNvGrpSpPr/>
                <p:nvPr/>
              </p:nvGrpSpPr>
              <p:grpSpPr bwMode="auto">
                <a:xfrm>
                  <a:off x="212" y="1374"/>
                  <a:ext cx="654" cy="288"/>
                  <a:chOff x="212" y="1834"/>
                  <a:chExt cx="654" cy="288"/>
                </a:xfrm>
              </p:grpSpPr>
              <p:sp>
                <p:nvSpPr>
                  <p:cNvPr id="112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3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5000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0" name="Group 16"/>
                <p:cNvGrpSpPr/>
                <p:nvPr/>
              </p:nvGrpSpPr>
              <p:grpSpPr bwMode="auto">
                <a:xfrm>
                  <a:off x="214" y="2756"/>
                  <a:ext cx="654" cy="288"/>
                  <a:chOff x="212" y="1834"/>
                  <a:chExt cx="654" cy="288"/>
                </a:xfrm>
              </p:grpSpPr>
              <p:sp>
                <p:nvSpPr>
                  <p:cNvPr id="110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1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1" name="Group 19"/>
                <p:cNvGrpSpPr/>
                <p:nvPr/>
              </p:nvGrpSpPr>
              <p:grpSpPr bwMode="auto">
                <a:xfrm>
                  <a:off x="214" y="3216"/>
                  <a:ext cx="654" cy="288"/>
                  <a:chOff x="212" y="1834"/>
                  <a:chExt cx="654" cy="288"/>
                </a:xfrm>
              </p:grpSpPr>
              <p:sp>
                <p:nvSpPr>
                  <p:cNvPr id="108" name="Line 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9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 dirty="0">
                        <a:latin typeface="Arial" panose="020B0604020202020204"/>
                        <a:cs typeface="Arial" panose="020B0604020202020204"/>
                      </a:rPr>
                      <a:t>1000</a:t>
                    </a:r>
                    <a:endParaRPr lang="en-US" sz="2400" dirty="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2" name="Group 22"/>
                <p:cNvGrpSpPr/>
                <p:nvPr/>
              </p:nvGrpSpPr>
              <p:grpSpPr bwMode="auto">
                <a:xfrm>
                  <a:off x="212" y="2292"/>
                  <a:ext cx="654" cy="288"/>
                  <a:chOff x="212" y="1834"/>
                  <a:chExt cx="654" cy="288"/>
                </a:xfrm>
              </p:grpSpPr>
              <p:sp>
                <p:nvSpPr>
                  <p:cNvPr id="106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7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3000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3" name="Group 25"/>
                <p:cNvGrpSpPr/>
                <p:nvPr/>
              </p:nvGrpSpPr>
              <p:grpSpPr bwMode="auto">
                <a:xfrm>
                  <a:off x="3188" y="3828"/>
                  <a:ext cx="464" cy="374"/>
                  <a:chOff x="1142" y="3830"/>
                  <a:chExt cx="464" cy="374"/>
                </a:xfrm>
              </p:grpSpPr>
              <p:sp>
                <p:nvSpPr>
                  <p:cNvPr id="104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5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500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4" name="Group 28"/>
                <p:cNvGrpSpPr/>
                <p:nvPr/>
              </p:nvGrpSpPr>
              <p:grpSpPr bwMode="auto">
                <a:xfrm>
                  <a:off x="1659" y="3828"/>
                  <a:ext cx="464" cy="374"/>
                  <a:chOff x="1142" y="3830"/>
                  <a:chExt cx="464" cy="374"/>
                </a:xfrm>
              </p:grpSpPr>
              <p:sp>
                <p:nvSpPr>
                  <p:cNvPr id="102" name="Lin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3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5" name="Group 31"/>
                <p:cNvGrpSpPr/>
                <p:nvPr/>
              </p:nvGrpSpPr>
              <p:grpSpPr bwMode="auto">
                <a:xfrm>
                  <a:off x="2164" y="3829"/>
                  <a:ext cx="464" cy="374"/>
                  <a:chOff x="1142" y="3830"/>
                  <a:chExt cx="464" cy="374"/>
                </a:xfrm>
              </p:grpSpPr>
              <p:sp>
                <p:nvSpPr>
                  <p:cNvPr id="100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1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300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6" name="Group 34"/>
                <p:cNvGrpSpPr/>
                <p:nvPr/>
              </p:nvGrpSpPr>
              <p:grpSpPr bwMode="auto">
                <a:xfrm>
                  <a:off x="2673" y="3829"/>
                  <a:ext cx="464" cy="374"/>
                  <a:chOff x="1142" y="3830"/>
                  <a:chExt cx="464" cy="374"/>
                </a:xfrm>
              </p:grpSpPr>
              <p:sp>
                <p:nvSpPr>
                  <p:cNvPr id="98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99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400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sp>
              <p:nvSpPr>
                <p:cNvPr id="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621" y="3798"/>
                  <a:ext cx="26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84" name="Text Box 38"/>
              <p:cNvSpPr txBox="1">
                <a:spLocks noChangeArrowheads="1"/>
              </p:cNvSpPr>
              <p:nvPr/>
            </p:nvSpPr>
            <p:spPr bwMode="auto">
              <a:xfrm>
                <a:off x="3604" y="3311"/>
                <a:ext cx="1207" cy="2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smtClean="0">
                    <a:latin typeface="Arial" panose="020B0604020202020204"/>
                    <a:cs typeface="Arial" panose="020B0604020202020204"/>
                  </a:rPr>
                  <a:t>电脑（台）</a:t>
                </a:r>
                <a:endParaRPr lang="en-US" sz="2000" b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ext Box 39"/>
              <p:cNvSpPr txBox="1">
                <a:spLocks noChangeArrowheads="1"/>
              </p:cNvSpPr>
              <p:nvPr/>
            </p:nvSpPr>
            <p:spPr bwMode="auto">
              <a:xfrm>
                <a:off x="185" y="733"/>
                <a:ext cx="1148" cy="2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1">
                    <a:latin typeface="Arial" panose="020B0604020202020204"/>
                    <a:cs typeface="Arial" panose="020B0604020202020204"/>
                  </a:rPr>
                  <a:t>小麦（吨）</a:t>
                </a:r>
                <a:endParaRPr lang="en-US" sz="2400" b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82" name="Line 44"/>
            <p:cNvSpPr>
              <a:spLocks noChangeShapeType="1"/>
            </p:cNvSpPr>
            <p:nvPr/>
          </p:nvSpPr>
          <p:spPr bwMode="auto">
            <a:xfrm>
              <a:off x="1355725" y="1828800"/>
              <a:ext cx="4056063" cy="3649663"/>
            </a:xfrm>
            <a:prstGeom prst="line">
              <a:avLst/>
            </a:prstGeom>
            <a:noFill/>
            <a:ln w="50800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24" name="Text Box 48"/>
          <p:cNvSpPr txBox="1">
            <a:spLocks noChangeArrowheads="1"/>
          </p:cNvSpPr>
          <p:nvPr/>
        </p:nvSpPr>
        <p:spPr bwMode="auto">
          <a:xfrm>
            <a:off x="6001675" y="1940443"/>
            <a:ext cx="3775075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00" dirty="0">
                <a:latin typeface="Arial" panose="020B0604020202020204"/>
                <a:cs typeface="Arial" panose="020B0604020202020204"/>
              </a:rPr>
              <a:t>或5000吨小麦，</a:t>
            </a:r>
            <a:endParaRPr lang="en-US" sz="27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1" name="Group 41"/>
          <p:cNvGrpSpPr/>
          <p:nvPr/>
        </p:nvGrpSpPr>
        <p:grpSpPr bwMode="auto">
          <a:xfrm>
            <a:off x="4342484" y="1659422"/>
            <a:ext cx="4576703" cy="2316162"/>
            <a:chOff x="2711" y="834"/>
            <a:chExt cx="2778" cy="1460"/>
          </a:xfrm>
        </p:grpSpPr>
        <p:sp>
          <p:nvSpPr>
            <p:cNvPr id="122" name="Rectangle 42"/>
            <p:cNvSpPr>
              <a:spLocks noChangeArrowheads="1"/>
            </p:cNvSpPr>
            <p:nvPr/>
          </p:nvSpPr>
          <p:spPr bwMode="auto">
            <a:xfrm>
              <a:off x="2711" y="834"/>
              <a:ext cx="2711" cy="146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ext Box 43"/>
            <p:cNvSpPr txBox="1">
              <a:spLocks noChangeArrowheads="1"/>
            </p:cNvSpPr>
            <p:nvPr/>
          </p:nvSpPr>
          <p:spPr bwMode="auto">
            <a:xfrm>
              <a:off x="2753" y="1037"/>
              <a:ext cx="2736" cy="11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假设中国用一半一半的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劳动力生产这两种</a:t>
              </a:r>
              <a:r>
                <a:rPr lang="zh-CN" alt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商品，可以生产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和消费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250</a:t>
              </a:r>
              <a:r>
                <a:rPr lang="zh-CN" alt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台电脑和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2500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吨小麦。</a:t>
              </a:r>
              <a:endPara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28" name="Rectangle 40"/>
          <p:cNvSpPr txBox="1">
            <a:spLocks noChangeArrowheads="1"/>
          </p:cNvSpPr>
          <p:nvPr/>
        </p:nvSpPr>
        <p:spPr>
          <a:xfrm>
            <a:off x="-3023836" y="1107109"/>
            <a:ext cx="91440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Oval 51"/>
          <p:cNvSpPr>
            <a:spLocks noChangeArrowheads="1"/>
          </p:cNvSpPr>
          <p:nvPr/>
        </p:nvSpPr>
        <p:spPr bwMode="auto">
          <a:xfrm>
            <a:off x="3239941" y="4038592"/>
            <a:ext cx="139700" cy="136525"/>
          </a:xfrm>
          <a:prstGeom prst="ellipse">
            <a:avLst/>
          </a:prstGeom>
          <a:solidFill>
            <a:srgbClr val="FF0000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cxnSp>
        <p:nvCxnSpPr>
          <p:cNvPr id="7" name="直接连接符 6"/>
          <p:cNvCxnSpPr>
            <a:stCxn id="2" idx="4"/>
          </p:cNvCxnSpPr>
          <p:nvPr/>
        </p:nvCxnSpPr>
        <p:spPr>
          <a:xfrm>
            <a:off x="3309791" y="4175117"/>
            <a:ext cx="0" cy="161259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假如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中国自给自足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使用以下信息</a:t>
            </a: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绘制印度的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印度每月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30000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小时的劳动力可用于生产。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生产一台电脑需要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125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个小时的劳动。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生产一吨小麦需要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25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个小时的劳动。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练习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印度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endParaRPr lang="en-US" altLang="zh-CN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24" name="Text Box 48"/>
          <p:cNvSpPr txBox="1">
            <a:spLocks noChangeArrowheads="1"/>
          </p:cNvSpPr>
          <p:nvPr/>
        </p:nvSpPr>
        <p:spPr bwMode="auto">
          <a:xfrm>
            <a:off x="6001675" y="1940443"/>
            <a:ext cx="3775075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00" dirty="0">
                <a:latin typeface="Arial" panose="020B0604020202020204"/>
                <a:cs typeface="Arial" panose="020B0604020202020204"/>
              </a:rPr>
              <a:t>或5000吨小麦，</a:t>
            </a:r>
            <a:endParaRPr lang="en-US" sz="27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1" name="Group 41"/>
          <p:cNvGrpSpPr/>
          <p:nvPr/>
        </p:nvGrpSpPr>
        <p:grpSpPr bwMode="auto">
          <a:xfrm>
            <a:off x="4342484" y="1659422"/>
            <a:ext cx="4576703" cy="2316162"/>
            <a:chOff x="2711" y="834"/>
            <a:chExt cx="2778" cy="1460"/>
          </a:xfrm>
          <a:solidFill>
            <a:srgbClr val="FFCCCC"/>
          </a:solidFill>
        </p:grpSpPr>
        <p:sp>
          <p:nvSpPr>
            <p:cNvPr id="122" name="Rectangle 42"/>
            <p:cNvSpPr>
              <a:spLocks noChangeArrowheads="1"/>
            </p:cNvSpPr>
            <p:nvPr/>
          </p:nvSpPr>
          <p:spPr bwMode="auto">
            <a:xfrm>
              <a:off x="2711" y="834"/>
              <a:ext cx="2711" cy="146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ext Box 43"/>
            <p:cNvSpPr txBox="1">
              <a:spLocks noChangeArrowheads="1"/>
            </p:cNvSpPr>
            <p:nvPr/>
          </p:nvSpPr>
          <p:spPr bwMode="auto">
            <a:xfrm>
              <a:off x="2753" y="1057"/>
              <a:ext cx="2736" cy="8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印度</a:t>
              </a:r>
              <a:r>
                <a:rPr 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有足够的劳动力生产</a:t>
              </a:r>
              <a:r>
                <a:rPr 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240台电脑</a:t>
              </a:r>
              <a:r>
                <a:rPr 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，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或1200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吨小麦</a:t>
              </a:r>
              <a:r>
                <a:rPr lang="en-US" altLang="zh-CN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，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或沿着PPF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的任何组合</a:t>
              </a:r>
              <a:r>
                <a:rPr lang="en-US" altLang="zh-CN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。</a:t>
              </a:r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28" name="Rectangle 40"/>
          <p:cNvSpPr txBox="1">
            <a:spLocks noChangeArrowheads="1"/>
          </p:cNvSpPr>
          <p:nvPr/>
        </p:nvSpPr>
        <p:spPr>
          <a:xfrm>
            <a:off x="-3577628" y="1102703"/>
            <a:ext cx="91440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88925" y="1798638"/>
            <a:ext cx="7381876" cy="4492625"/>
            <a:chOff x="288925" y="1798638"/>
            <a:chExt cx="7381876" cy="4492625"/>
          </a:xfrm>
        </p:grpSpPr>
        <p:grpSp>
          <p:nvGrpSpPr>
            <p:cNvPr id="27" name="Group 2"/>
            <p:cNvGrpSpPr/>
            <p:nvPr/>
          </p:nvGrpSpPr>
          <p:grpSpPr bwMode="auto">
            <a:xfrm>
              <a:off x="288925" y="1798638"/>
              <a:ext cx="7381876" cy="4492625"/>
              <a:chOff x="559" y="1123"/>
              <a:chExt cx="4650" cy="2830"/>
            </a:xfrm>
          </p:grpSpPr>
          <p:sp>
            <p:nvSpPr>
              <p:cNvPr id="29" name="Text Box 3"/>
              <p:cNvSpPr txBox="1">
                <a:spLocks noChangeArrowheads="1"/>
              </p:cNvSpPr>
              <p:nvPr/>
            </p:nvSpPr>
            <p:spPr bwMode="auto">
              <a:xfrm>
                <a:off x="4002" y="3420"/>
                <a:ext cx="1207" cy="25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smtClean="0">
                    <a:latin typeface="Arial" panose="020B0604020202020204"/>
                    <a:cs typeface="Arial" panose="020B0604020202020204"/>
                  </a:rPr>
                  <a:t>电脑（台）</a:t>
                </a:r>
                <a:endParaRPr lang="en-US" sz="2000" b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0" name="Text Box 4"/>
              <p:cNvSpPr txBox="1">
                <a:spLocks noChangeArrowheads="1"/>
              </p:cNvSpPr>
              <p:nvPr/>
            </p:nvSpPr>
            <p:spPr bwMode="auto">
              <a:xfrm>
                <a:off x="588" y="1123"/>
                <a:ext cx="1034" cy="25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1">
                    <a:latin typeface="Arial" panose="020B0604020202020204"/>
                    <a:cs typeface="Arial" panose="020B0604020202020204"/>
                  </a:rPr>
                  <a:t>小麦（吨）</a:t>
                </a:r>
                <a:endParaRPr lang="en-US" sz="2000" b="1">
                  <a:latin typeface="Arial" panose="020B0604020202020204"/>
                  <a:cs typeface="Arial" panose="020B0604020202020204"/>
                </a:endParaRPr>
              </a:p>
            </p:txBody>
          </p:sp>
          <p:grpSp>
            <p:nvGrpSpPr>
              <p:cNvPr id="31" name="Group 5"/>
              <p:cNvGrpSpPr/>
              <p:nvPr/>
            </p:nvGrpSpPr>
            <p:grpSpPr bwMode="auto">
              <a:xfrm>
                <a:off x="559" y="1379"/>
                <a:ext cx="3521" cy="2574"/>
                <a:chOff x="559" y="1379"/>
                <a:chExt cx="3521" cy="2574"/>
              </a:xfrm>
            </p:grpSpPr>
            <p:grpSp>
              <p:nvGrpSpPr>
                <p:cNvPr id="32" name="Group 6"/>
                <p:cNvGrpSpPr/>
                <p:nvPr/>
              </p:nvGrpSpPr>
              <p:grpSpPr bwMode="auto">
                <a:xfrm>
                  <a:off x="1259" y="1379"/>
                  <a:ext cx="2780" cy="2170"/>
                  <a:chOff x="2416" y="1770"/>
                  <a:chExt cx="610" cy="548"/>
                </a:xfrm>
              </p:grpSpPr>
              <p:sp>
                <p:nvSpPr>
                  <p:cNvPr id="49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1770"/>
                    <a:ext cx="0" cy="5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50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2318"/>
                    <a:ext cx="61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3" name="Group 9"/>
                <p:cNvGrpSpPr/>
                <p:nvPr/>
              </p:nvGrpSpPr>
              <p:grpSpPr bwMode="auto">
                <a:xfrm>
                  <a:off x="559" y="1659"/>
                  <a:ext cx="700" cy="288"/>
                  <a:chOff x="559" y="1659"/>
                  <a:chExt cx="700" cy="288"/>
                </a:xfrm>
              </p:grpSpPr>
              <p:sp>
                <p:nvSpPr>
                  <p:cNvPr id="47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53" y="1819"/>
                    <a:ext cx="10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8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59" y="1659"/>
                    <a:ext cx="607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4" name="Group 12"/>
                <p:cNvGrpSpPr/>
                <p:nvPr/>
              </p:nvGrpSpPr>
              <p:grpSpPr bwMode="auto">
                <a:xfrm>
                  <a:off x="559" y="2528"/>
                  <a:ext cx="700" cy="288"/>
                  <a:chOff x="559" y="2528"/>
                  <a:chExt cx="700" cy="288"/>
                </a:xfrm>
              </p:grpSpPr>
              <p:sp>
                <p:nvSpPr>
                  <p:cNvPr id="45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53" y="2688"/>
                    <a:ext cx="10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6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59" y="2528"/>
                    <a:ext cx="607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1000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5" name="Group 15"/>
                <p:cNvGrpSpPr/>
                <p:nvPr/>
              </p:nvGrpSpPr>
              <p:grpSpPr bwMode="auto">
                <a:xfrm>
                  <a:off x="2527" y="3549"/>
                  <a:ext cx="743" cy="402"/>
                  <a:chOff x="2527" y="3549"/>
                  <a:chExt cx="743" cy="402"/>
                </a:xfrm>
              </p:grpSpPr>
              <p:sp>
                <p:nvSpPr>
                  <p:cNvPr id="43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92" y="3549"/>
                    <a:ext cx="0" cy="102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4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27" y="3663"/>
                    <a:ext cx="743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sp>
              <p:nvSpPr>
                <p:cNvPr id="36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863" y="3489"/>
                  <a:ext cx="427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grpSp>
              <p:nvGrpSpPr>
                <p:cNvPr id="37" name="Group 19"/>
                <p:cNvGrpSpPr/>
                <p:nvPr/>
              </p:nvGrpSpPr>
              <p:grpSpPr bwMode="auto">
                <a:xfrm>
                  <a:off x="1702" y="3546"/>
                  <a:ext cx="743" cy="405"/>
                  <a:chOff x="1702" y="3546"/>
                  <a:chExt cx="743" cy="405"/>
                </a:xfrm>
              </p:grpSpPr>
              <p:sp>
                <p:nvSpPr>
                  <p:cNvPr id="41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02" y="3663"/>
                    <a:ext cx="743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100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2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67" y="3546"/>
                    <a:ext cx="0" cy="102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8" name="Group 22"/>
                <p:cNvGrpSpPr/>
                <p:nvPr/>
              </p:nvGrpSpPr>
              <p:grpSpPr bwMode="auto">
                <a:xfrm>
                  <a:off x="3336" y="3546"/>
                  <a:ext cx="744" cy="407"/>
                  <a:chOff x="3336" y="3546"/>
                  <a:chExt cx="744" cy="407"/>
                </a:xfrm>
              </p:grpSpPr>
              <p:sp>
                <p:nvSpPr>
                  <p:cNvPr id="39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36" y="3665"/>
                    <a:ext cx="74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300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0" name="Line 2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02" y="3546"/>
                    <a:ext cx="0" cy="102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</p:grpSp>
        </p:grp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1390650" y="3894138"/>
              <a:ext cx="3222625" cy="1754187"/>
            </a:xfrm>
            <a:prstGeom prst="line">
              <a:avLst/>
            </a:prstGeom>
            <a:noFill/>
            <a:ln w="50800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假如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印度自给自足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24" name="Text Box 48"/>
          <p:cNvSpPr txBox="1">
            <a:spLocks noChangeArrowheads="1"/>
          </p:cNvSpPr>
          <p:nvPr/>
        </p:nvSpPr>
        <p:spPr bwMode="auto">
          <a:xfrm>
            <a:off x="6001675" y="1940443"/>
            <a:ext cx="3775075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00" dirty="0">
                <a:latin typeface="Arial" panose="020B0604020202020204"/>
                <a:cs typeface="Arial" panose="020B0604020202020204"/>
              </a:rPr>
              <a:t>或5000吨小麦，</a:t>
            </a:r>
            <a:endParaRPr lang="en-US" sz="27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1" name="Group 41"/>
          <p:cNvGrpSpPr/>
          <p:nvPr/>
        </p:nvGrpSpPr>
        <p:grpSpPr bwMode="auto">
          <a:xfrm>
            <a:off x="4342484" y="1659422"/>
            <a:ext cx="4543753" cy="2316162"/>
            <a:chOff x="2711" y="834"/>
            <a:chExt cx="2758" cy="1460"/>
          </a:xfrm>
          <a:solidFill>
            <a:srgbClr val="FFCCCC"/>
          </a:solidFill>
        </p:grpSpPr>
        <p:sp>
          <p:nvSpPr>
            <p:cNvPr id="122" name="Rectangle 42"/>
            <p:cNvSpPr>
              <a:spLocks noChangeArrowheads="1"/>
            </p:cNvSpPr>
            <p:nvPr/>
          </p:nvSpPr>
          <p:spPr bwMode="auto">
            <a:xfrm>
              <a:off x="2711" y="834"/>
              <a:ext cx="2711" cy="146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ext Box 43"/>
            <p:cNvSpPr txBox="1">
              <a:spLocks noChangeArrowheads="1"/>
            </p:cNvSpPr>
            <p:nvPr/>
          </p:nvSpPr>
          <p:spPr bwMode="auto">
            <a:xfrm>
              <a:off x="2733" y="1049"/>
              <a:ext cx="2736" cy="8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假设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印度</a:t>
              </a:r>
              <a:r>
                <a:rPr lang="zh-CN" alt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用一半一半的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劳动力生产每种</a:t>
              </a:r>
              <a:r>
                <a:rPr lang="zh-CN" alt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商品，会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生产和消费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120</a:t>
              </a:r>
              <a:r>
                <a:rPr lang="zh-CN" alt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台电脑和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600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吨小麦。</a:t>
              </a:r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28" name="Rectangle 40"/>
          <p:cNvSpPr txBox="1">
            <a:spLocks noChangeArrowheads="1"/>
          </p:cNvSpPr>
          <p:nvPr/>
        </p:nvSpPr>
        <p:spPr>
          <a:xfrm>
            <a:off x="-3122612" y="1107533"/>
            <a:ext cx="91440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88925" y="1798638"/>
            <a:ext cx="7381876" cy="4492625"/>
            <a:chOff x="288925" y="1798638"/>
            <a:chExt cx="7381876" cy="4492625"/>
          </a:xfrm>
        </p:grpSpPr>
        <p:grpSp>
          <p:nvGrpSpPr>
            <p:cNvPr id="27" name="Group 2"/>
            <p:cNvGrpSpPr/>
            <p:nvPr/>
          </p:nvGrpSpPr>
          <p:grpSpPr bwMode="auto">
            <a:xfrm>
              <a:off x="288925" y="1798638"/>
              <a:ext cx="7381876" cy="4492625"/>
              <a:chOff x="559" y="1123"/>
              <a:chExt cx="4650" cy="2830"/>
            </a:xfrm>
          </p:grpSpPr>
          <p:sp>
            <p:nvSpPr>
              <p:cNvPr id="29" name="Text Box 3"/>
              <p:cNvSpPr txBox="1">
                <a:spLocks noChangeArrowheads="1"/>
              </p:cNvSpPr>
              <p:nvPr/>
            </p:nvSpPr>
            <p:spPr bwMode="auto">
              <a:xfrm>
                <a:off x="4002" y="3420"/>
                <a:ext cx="1207" cy="25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smtClean="0">
                    <a:latin typeface="Arial" panose="020B0604020202020204"/>
                    <a:cs typeface="Arial" panose="020B0604020202020204"/>
                  </a:rPr>
                  <a:t>电脑（台）</a:t>
                </a:r>
                <a:endParaRPr lang="en-US" sz="2000" b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0" name="Text Box 4"/>
              <p:cNvSpPr txBox="1">
                <a:spLocks noChangeArrowheads="1"/>
              </p:cNvSpPr>
              <p:nvPr/>
            </p:nvSpPr>
            <p:spPr bwMode="auto">
              <a:xfrm>
                <a:off x="588" y="1123"/>
                <a:ext cx="1034" cy="25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1">
                    <a:latin typeface="Arial" panose="020B0604020202020204"/>
                    <a:cs typeface="Arial" panose="020B0604020202020204"/>
                  </a:rPr>
                  <a:t>小麦（吨）</a:t>
                </a:r>
                <a:endParaRPr lang="en-US" sz="2000" b="1">
                  <a:latin typeface="Arial" panose="020B0604020202020204"/>
                  <a:cs typeface="Arial" panose="020B0604020202020204"/>
                </a:endParaRPr>
              </a:p>
            </p:txBody>
          </p:sp>
          <p:grpSp>
            <p:nvGrpSpPr>
              <p:cNvPr id="31" name="Group 5"/>
              <p:cNvGrpSpPr/>
              <p:nvPr/>
            </p:nvGrpSpPr>
            <p:grpSpPr bwMode="auto">
              <a:xfrm>
                <a:off x="559" y="1379"/>
                <a:ext cx="3521" cy="2574"/>
                <a:chOff x="559" y="1379"/>
                <a:chExt cx="3521" cy="2574"/>
              </a:xfrm>
            </p:grpSpPr>
            <p:grpSp>
              <p:nvGrpSpPr>
                <p:cNvPr id="32" name="Group 6"/>
                <p:cNvGrpSpPr/>
                <p:nvPr/>
              </p:nvGrpSpPr>
              <p:grpSpPr bwMode="auto">
                <a:xfrm>
                  <a:off x="1259" y="1379"/>
                  <a:ext cx="2780" cy="2170"/>
                  <a:chOff x="2416" y="1770"/>
                  <a:chExt cx="610" cy="548"/>
                </a:xfrm>
              </p:grpSpPr>
              <p:sp>
                <p:nvSpPr>
                  <p:cNvPr id="49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1770"/>
                    <a:ext cx="0" cy="5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50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2318"/>
                    <a:ext cx="61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3" name="Group 9"/>
                <p:cNvGrpSpPr/>
                <p:nvPr/>
              </p:nvGrpSpPr>
              <p:grpSpPr bwMode="auto">
                <a:xfrm>
                  <a:off x="559" y="1659"/>
                  <a:ext cx="700" cy="288"/>
                  <a:chOff x="559" y="1659"/>
                  <a:chExt cx="700" cy="288"/>
                </a:xfrm>
              </p:grpSpPr>
              <p:sp>
                <p:nvSpPr>
                  <p:cNvPr id="47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53" y="1819"/>
                    <a:ext cx="10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8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59" y="1659"/>
                    <a:ext cx="607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4" name="Group 12"/>
                <p:cNvGrpSpPr/>
                <p:nvPr/>
              </p:nvGrpSpPr>
              <p:grpSpPr bwMode="auto">
                <a:xfrm>
                  <a:off x="559" y="2528"/>
                  <a:ext cx="700" cy="288"/>
                  <a:chOff x="559" y="2528"/>
                  <a:chExt cx="700" cy="288"/>
                </a:xfrm>
              </p:grpSpPr>
              <p:sp>
                <p:nvSpPr>
                  <p:cNvPr id="45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53" y="2688"/>
                    <a:ext cx="10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6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59" y="2528"/>
                    <a:ext cx="607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1000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5" name="Group 15"/>
                <p:cNvGrpSpPr/>
                <p:nvPr/>
              </p:nvGrpSpPr>
              <p:grpSpPr bwMode="auto">
                <a:xfrm>
                  <a:off x="2527" y="3549"/>
                  <a:ext cx="743" cy="402"/>
                  <a:chOff x="2527" y="3549"/>
                  <a:chExt cx="743" cy="402"/>
                </a:xfrm>
              </p:grpSpPr>
              <p:sp>
                <p:nvSpPr>
                  <p:cNvPr id="43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92" y="3549"/>
                    <a:ext cx="0" cy="102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4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27" y="3663"/>
                    <a:ext cx="743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sp>
              <p:nvSpPr>
                <p:cNvPr id="36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863" y="3489"/>
                  <a:ext cx="427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grpSp>
              <p:nvGrpSpPr>
                <p:cNvPr id="37" name="Group 19"/>
                <p:cNvGrpSpPr/>
                <p:nvPr/>
              </p:nvGrpSpPr>
              <p:grpSpPr bwMode="auto">
                <a:xfrm>
                  <a:off x="1702" y="3546"/>
                  <a:ext cx="743" cy="405"/>
                  <a:chOff x="1702" y="3546"/>
                  <a:chExt cx="743" cy="405"/>
                </a:xfrm>
              </p:grpSpPr>
              <p:sp>
                <p:nvSpPr>
                  <p:cNvPr id="41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02" y="3663"/>
                    <a:ext cx="743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100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2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67" y="3546"/>
                    <a:ext cx="0" cy="102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8" name="Group 22"/>
                <p:cNvGrpSpPr/>
                <p:nvPr/>
              </p:nvGrpSpPr>
              <p:grpSpPr bwMode="auto">
                <a:xfrm>
                  <a:off x="3336" y="3546"/>
                  <a:ext cx="744" cy="407"/>
                  <a:chOff x="3336" y="3546"/>
                  <a:chExt cx="744" cy="407"/>
                </a:xfrm>
              </p:grpSpPr>
              <p:sp>
                <p:nvSpPr>
                  <p:cNvPr id="39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36" y="3665"/>
                    <a:ext cx="74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300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0" name="Line 2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02" y="3546"/>
                    <a:ext cx="0" cy="102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</p:grpSp>
        </p:grp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1390650" y="3894138"/>
              <a:ext cx="3222625" cy="1754187"/>
            </a:xfrm>
            <a:prstGeom prst="line">
              <a:avLst/>
            </a:prstGeom>
            <a:noFill/>
            <a:ln w="50800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" name="Group 30"/>
          <p:cNvGrpSpPr/>
          <p:nvPr/>
        </p:nvGrpSpPr>
        <p:grpSpPr bwMode="auto">
          <a:xfrm>
            <a:off x="1398588" y="4691063"/>
            <a:ext cx="1636712" cy="957262"/>
            <a:chOff x="881" y="2955"/>
            <a:chExt cx="1031" cy="603"/>
          </a:xfrm>
        </p:grpSpPr>
        <p:grpSp>
          <p:nvGrpSpPr>
            <p:cNvPr id="3" name="Group 31"/>
            <p:cNvGrpSpPr/>
            <p:nvPr/>
          </p:nvGrpSpPr>
          <p:grpSpPr bwMode="auto">
            <a:xfrm>
              <a:off x="881" y="3002"/>
              <a:ext cx="988" cy="556"/>
              <a:chOff x="357" y="2450"/>
              <a:chExt cx="795" cy="646"/>
            </a:xfrm>
          </p:grpSpPr>
          <p:sp>
            <p:nvSpPr>
              <p:cNvPr id="6" name="Line 32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" name="Line 33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" name="Oval 34"/>
            <p:cNvSpPr>
              <a:spLocks noChangeArrowheads="1"/>
            </p:cNvSpPr>
            <p:nvPr/>
          </p:nvSpPr>
          <p:spPr bwMode="auto">
            <a:xfrm>
              <a:off x="1823" y="2955"/>
              <a:ext cx="89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自给自足、没有贸易：生产多少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消费多少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（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消费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250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电脑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+2500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（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印度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消费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电脑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+600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接下来，我们比较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没有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贸易下的消费量和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贸易下的消费量。</a:t>
            </a:r>
            <a:endParaRPr kumimoji="0" lang="en-US" altLang="zh-CN" sz="2400" i="0" u="none" strike="noStrike" kern="1200" cap="none" spc="0" normalizeH="0" baseline="0" noProof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首先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，我们需要看看两国各自生产和交易了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多少电脑和小麦。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自给自足和贸易情况下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消费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贸易下的生产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假设中国生产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3400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吨小麦。用剩下的劳动力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，中国能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生产多少台电脑？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在中国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上画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电脑和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小麦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组生产组合点。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假设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印度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240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台电脑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印度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剩下的劳动力能生产多少吨小麦？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在印度的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上画出这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一组合点。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练习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下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的中国生产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417331" y="1806316"/>
            <a:ext cx="6936506" cy="4535075"/>
            <a:chOff x="293688" y="1163637"/>
            <a:chExt cx="7343775" cy="4908550"/>
          </a:xfrm>
        </p:grpSpPr>
        <p:grpSp>
          <p:nvGrpSpPr>
            <p:cNvPr id="81" name="Group 2"/>
            <p:cNvGrpSpPr/>
            <p:nvPr/>
          </p:nvGrpSpPr>
          <p:grpSpPr bwMode="auto">
            <a:xfrm>
              <a:off x="293688" y="1163637"/>
              <a:ext cx="7343775" cy="4908550"/>
              <a:chOff x="185" y="733"/>
              <a:chExt cx="4626" cy="3092"/>
            </a:xfrm>
          </p:grpSpPr>
          <p:grpSp>
            <p:nvGrpSpPr>
              <p:cNvPr id="83" name="Group 3"/>
              <p:cNvGrpSpPr/>
              <p:nvPr/>
            </p:nvGrpSpPr>
            <p:grpSpPr bwMode="auto">
              <a:xfrm>
                <a:off x="203" y="972"/>
                <a:ext cx="3474" cy="2853"/>
                <a:chOff x="212" y="1350"/>
                <a:chExt cx="3474" cy="2853"/>
              </a:xfrm>
            </p:grpSpPr>
            <p:grpSp>
              <p:nvGrpSpPr>
                <p:cNvPr id="86" name="Group 4"/>
                <p:cNvGrpSpPr/>
                <p:nvPr/>
              </p:nvGrpSpPr>
              <p:grpSpPr bwMode="auto">
                <a:xfrm>
                  <a:off x="868" y="1350"/>
                  <a:ext cx="2818" cy="2480"/>
                  <a:chOff x="2416" y="1770"/>
                  <a:chExt cx="610" cy="548"/>
                </a:xfrm>
              </p:grpSpPr>
              <p:sp>
                <p:nvSpPr>
                  <p:cNvPr id="118" name="Line 5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1770"/>
                    <a:ext cx="0" cy="5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9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2318"/>
                    <a:ext cx="61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87" name="Group 7"/>
                <p:cNvGrpSpPr/>
                <p:nvPr/>
              </p:nvGrpSpPr>
              <p:grpSpPr bwMode="auto">
                <a:xfrm>
                  <a:off x="214" y="1834"/>
                  <a:ext cx="654" cy="288"/>
                  <a:chOff x="212" y="1834"/>
                  <a:chExt cx="654" cy="288"/>
                </a:xfrm>
              </p:grpSpPr>
              <p:sp>
                <p:nvSpPr>
                  <p:cNvPr id="116" name="Line 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7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4000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88" name="Group 10"/>
                <p:cNvGrpSpPr/>
                <p:nvPr/>
              </p:nvGrpSpPr>
              <p:grpSpPr bwMode="auto">
                <a:xfrm>
                  <a:off x="1144" y="3828"/>
                  <a:ext cx="464" cy="374"/>
                  <a:chOff x="1142" y="3830"/>
                  <a:chExt cx="464" cy="374"/>
                </a:xfrm>
              </p:grpSpPr>
              <p:sp>
                <p:nvSpPr>
                  <p:cNvPr id="114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5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100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89" name="Group 13"/>
                <p:cNvGrpSpPr/>
                <p:nvPr/>
              </p:nvGrpSpPr>
              <p:grpSpPr bwMode="auto">
                <a:xfrm>
                  <a:off x="212" y="1374"/>
                  <a:ext cx="654" cy="288"/>
                  <a:chOff x="212" y="1834"/>
                  <a:chExt cx="654" cy="288"/>
                </a:xfrm>
              </p:grpSpPr>
              <p:sp>
                <p:nvSpPr>
                  <p:cNvPr id="112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3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5000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0" name="Group 16"/>
                <p:cNvGrpSpPr/>
                <p:nvPr/>
              </p:nvGrpSpPr>
              <p:grpSpPr bwMode="auto">
                <a:xfrm>
                  <a:off x="214" y="2756"/>
                  <a:ext cx="654" cy="288"/>
                  <a:chOff x="212" y="1834"/>
                  <a:chExt cx="654" cy="288"/>
                </a:xfrm>
              </p:grpSpPr>
              <p:sp>
                <p:nvSpPr>
                  <p:cNvPr id="110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11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1" name="Group 19"/>
                <p:cNvGrpSpPr/>
                <p:nvPr/>
              </p:nvGrpSpPr>
              <p:grpSpPr bwMode="auto">
                <a:xfrm>
                  <a:off x="214" y="3216"/>
                  <a:ext cx="654" cy="288"/>
                  <a:chOff x="212" y="1834"/>
                  <a:chExt cx="654" cy="288"/>
                </a:xfrm>
              </p:grpSpPr>
              <p:sp>
                <p:nvSpPr>
                  <p:cNvPr id="108" name="Line 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9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 dirty="0">
                        <a:latin typeface="Arial" panose="020B0604020202020204"/>
                        <a:cs typeface="Arial" panose="020B0604020202020204"/>
                      </a:rPr>
                      <a:t>1000</a:t>
                    </a:r>
                    <a:endParaRPr lang="en-US" sz="2400" dirty="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2" name="Group 22"/>
                <p:cNvGrpSpPr/>
                <p:nvPr/>
              </p:nvGrpSpPr>
              <p:grpSpPr bwMode="auto">
                <a:xfrm>
                  <a:off x="212" y="2292"/>
                  <a:ext cx="654" cy="288"/>
                  <a:chOff x="212" y="1834"/>
                  <a:chExt cx="654" cy="288"/>
                </a:xfrm>
              </p:grpSpPr>
              <p:sp>
                <p:nvSpPr>
                  <p:cNvPr id="106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00" y="1992"/>
                    <a:ext cx="6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7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" y="1834"/>
                    <a:ext cx="602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3000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3" name="Group 25"/>
                <p:cNvGrpSpPr/>
                <p:nvPr/>
              </p:nvGrpSpPr>
              <p:grpSpPr bwMode="auto">
                <a:xfrm>
                  <a:off x="3188" y="3828"/>
                  <a:ext cx="464" cy="374"/>
                  <a:chOff x="1142" y="3830"/>
                  <a:chExt cx="464" cy="374"/>
                </a:xfrm>
              </p:grpSpPr>
              <p:sp>
                <p:nvSpPr>
                  <p:cNvPr id="104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5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500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4" name="Group 28"/>
                <p:cNvGrpSpPr/>
                <p:nvPr/>
              </p:nvGrpSpPr>
              <p:grpSpPr bwMode="auto">
                <a:xfrm>
                  <a:off x="1659" y="3828"/>
                  <a:ext cx="464" cy="374"/>
                  <a:chOff x="1142" y="3830"/>
                  <a:chExt cx="464" cy="374"/>
                </a:xfrm>
              </p:grpSpPr>
              <p:sp>
                <p:nvSpPr>
                  <p:cNvPr id="102" name="Lin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3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5" name="Group 31"/>
                <p:cNvGrpSpPr/>
                <p:nvPr/>
              </p:nvGrpSpPr>
              <p:grpSpPr bwMode="auto">
                <a:xfrm>
                  <a:off x="2164" y="3829"/>
                  <a:ext cx="464" cy="374"/>
                  <a:chOff x="1142" y="3830"/>
                  <a:chExt cx="464" cy="374"/>
                </a:xfrm>
              </p:grpSpPr>
              <p:sp>
                <p:nvSpPr>
                  <p:cNvPr id="100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101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300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96" name="Group 34"/>
                <p:cNvGrpSpPr/>
                <p:nvPr/>
              </p:nvGrpSpPr>
              <p:grpSpPr bwMode="auto">
                <a:xfrm>
                  <a:off x="2673" y="3829"/>
                  <a:ext cx="464" cy="374"/>
                  <a:chOff x="1142" y="3830"/>
                  <a:chExt cx="464" cy="374"/>
                </a:xfrm>
              </p:grpSpPr>
              <p:sp>
                <p:nvSpPr>
                  <p:cNvPr id="98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70" y="3830"/>
                    <a:ext cx="0" cy="64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99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42" y="3916"/>
                    <a:ext cx="46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400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sp>
              <p:nvSpPr>
                <p:cNvPr id="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621" y="3798"/>
                  <a:ext cx="266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84" name="Text Box 38"/>
              <p:cNvSpPr txBox="1">
                <a:spLocks noChangeArrowheads="1"/>
              </p:cNvSpPr>
              <p:nvPr/>
            </p:nvSpPr>
            <p:spPr bwMode="auto">
              <a:xfrm>
                <a:off x="3604" y="3311"/>
                <a:ext cx="1207" cy="2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smtClean="0">
                    <a:latin typeface="Arial" panose="020B0604020202020204"/>
                    <a:cs typeface="Arial" panose="020B0604020202020204"/>
                  </a:rPr>
                  <a:t>电脑（台）</a:t>
                </a:r>
                <a:endParaRPr lang="en-US" sz="2000" b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ext Box 39"/>
              <p:cNvSpPr txBox="1">
                <a:spLocks noChangeArrowheads="1"/>
              </p:cNvSpPr>
              <p:nvPr/>
            </p:nvSpPr>
            <p:spPr bwMode="auto">
              <a:xfrm>
                <a:off x="185" y="733"/>
                <a:ext cx="1148" cy="27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1">
                    <a:latin typeface="Arial" panose="020B0604020202020204"/>
                    <a:cs typeface="Arial" panose="020B0604020202020204"/>
                  </a:rPr>
                  <a:t>小麦（吨）</a:t>
                </a:r>
                <a:endParaRPr lang="en-US" sz="2400" b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82" name="Line 44"/>
            <p:cNvSpPr>
              <a:spLocks noChangeShapeType="1"/>
            </p:cNvSpPr>
            <p:nvPr/>
          </p:nvSpPr>
          <p:spPr bwMode="auto">
            <a:xfrm>
              <a:off x="1355725" y="1828800"/>
              <a:ext cx="4056063" cy="3649663"/>
            </a:xfrm>
            <a:prstGeom prst="line">
              <a:avLst/>
            </a:prstGeom>
            <a:noFill/>
            <a:ln w="50800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24" name="Text Box 48"/>
          <p:cNvSpPr txBox="1">
            <a:spLocks noChangeArrowheads="1"/>
          </p:cNvSpPr>
          <p:nvPr/>
        </p:nvSpPr>
        <p:spPr bwMode="auto">
          <a:xfrm>
            <a:off x="6001675" y="1940443"/>
            <a:ext cx="3775075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00" dirty="0">
                <a:latin typeface="Arial" panose="020B0604020202020204"/>
                <a:cs typeface="Arial" panose="020B0604020202020204"/>
              </a:rPr>
              <a:t>或5000吨小麦，</a:t>
            </a:r>
            <a:endParaRPr lang="en-US" sz="27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1" name="Group 41"/>
          <p:cNvGrpSpPr/>
          <p:nvPr/>
        </p:nvGrpSpPr>
        <p:grpSpPr bwMode="auto">
          <a:xfrm>
            <a:off x="4342484" y="1659422"/>
            <a:ext cx="4576703" cy="2316162"/>
            <a:chOff x="2711" y="834"/>
            <a:chExt cx="2778" cy="1460"/>
          </a:xfrm>
        </p:grpSpPr>
        <p:sp>
          <p:nvSpPr>
            <p:cNvPr id="122" name="Rectangle 42"/>
            <p:cNvSpPr>
              <a:spLocks noChangeArrowheads="1"/>
            </p:cNvSpPr>
            <p:nvPr/>
          </p:nvSpPr>
          <p:spPr bwMode="auto">
            <a:xfrm>
              <a:off x="2711" y="834"/>
              <a:ext cx="2711" cy="146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ext Box 43"/>
            <p:cNvSpPr txBox="1">
              <a:spLocks noChangeArrowheads="1"/>
            </p:cNvSpPr>
            <p:nvPr/>
          </p:nvSpPr>
          <p:spPr bwMode="auto">
            <a:xfrm>
              <a:off x="2753" y="1057"/>
              <a:ext cx="2736" cy="8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生产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3400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吨小麦需要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34000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个工时。剩下的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16000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个工时用于生产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160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台电脑。</a:t>
              </a:r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28" name="Rectangle 40"/>
          <p:cNvSpPr txBox="1">
            <a:spLocks noChangeArrowheads="1"/>
          </p:cNvSpPr>
          <p:nvPr/>
        </p:nvSpPr>
        <p:spPr>
          <a:xfrm>
            <a:off x="-2861663" y="1113804"/>
            <a:ext cx="91440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46"/>
          <p:cNvGrpSpPr/>
          <p:nvPr/>
        </p:nvGrpSpPr>
        <p:grpSpPr bwMode="auto">
          <a:xfrm>
            <a:off x="1417544" y="3425786"/>
            <a:ext cx="1323975" cy="2384425"/>
            <a:chOff x="864" y="1829"/>
            <a:chExt cx="834" cy="1502"/>
          </a:xfrm>
        </p:grpSpPr>
        <p:grpSp>
          <p:nvGrpSpPr>
            <p:cNvPr id="3" name="Group 47"/>
            <p:cNvGrpSpPr/>
            <p:nvPr/>
          </p:nvGrpSpPr>
          <p:grpSpPr bwMode="auto">
            <a:xfrm>
              <a:off x="864" y="1870"/>
              <a:ext cx="788" cy="1461"/>
              <a:chOff x="357" y="2450"/>
              <a:chExt cx="795" cy="597"/>
            </a:xfrm>
          </p:grpSpPr>
          <p:sp>
            <p:nvSpPr>
              <p:cNvPr id="6" name="Line 48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" name="Line 49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596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" name="Oval 50"/>
            <p:cNvSpPr>
              <a:spLocks noChangeArrowheads="1"/>
            </p:cNvSpPr>
            <p:nvPr/>
          </p:nvSpPr>
          <p:spPr bwMode="auto">
            <a:xfrm>
              <a:off x="1609" y="1829"/>
              <a:ext cx="89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98475" y="269874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下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的印度生产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24" name="Text Box 48"/>
          <p:cNvSpPr txBox="1">
            <a:spLocks noChangeArrowheads="1"/>
          </p:cNvSpPr>
          <p:nvPr/>
        </p:nvSpPr>
        <p:spPr bwMode="auto">
          <a:xfrm>
            <a:off x="6001675" y="1940443"/>
            <a:ext cx="3775075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00" dirty="0">
                <a:latin typeface="Arial" panose="020B0604020202020204"/>
                <a:cs typeface="Arial" panose="020B0604020202020204"/>
              </a:rPr>
              <a:t>或5000吨小麦，</a:t>
            </a:r>
            <a:endParaRPr lang="en-US" sz="27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1" name="Group 41"/>
          <p:cNvGrpSpPr/>
          <p:nvPr/>
        </p:nvGrpSpPr>
        <p:grpSpPr bwMode="auto">
          <a:xfrm>
            <a:off x="4342484" y="1659422"/>
            <a:ext cx="4543753" cy="2316162"/>
            <a:chOff x="2711" y="834"/>
            <a:chExt cx="2758" cy="1460"/>
          </a:xfrm>
          <a:solidFill>
            <a:srgbClr val="FFCCCC"/>
          </a:solidFill>
        </p:grpSpPr>
        <p:sp>
          <p:nvSpPr>
            <p:cNvPr id="122" name="Rectangle 42"/>
            <p:cNvSpPr>
              <a:spLocks noChangeArrowheads="1"/>
            </p:cNvSpPr>
            <p:nvPr/>
          </p:nvSpPr>
          <p:spPr bwMode="auto">
            <a:xfrm>
              <a:off x="2711" y="834"/>
              <a:ext cx="2711" cy="146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ext Box 43"/>
            <p:cNvSpPr txBox="1">
              <a:spLocks noChangeArrowheads="1"/>
            </p:cNvSpPr>
            <p:nvPr/>
          </p:nvSpPr>
          <p:spPr bwMode="auto">
            <a:xfrm>
              <a:off x="2733" y="1049"/>
              <a:ext cx="2736" cy="123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生产</a:t>
              </a:r>
              <a:r>
                <a:rPr lang="en-US" altLang="zh-CN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240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台电脑</a:t>
              </a:r>
              <a:r>
                <a:rPr lang="zh-CN" alt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需要印度</a:t>
              </a:r>
              <a:r>
                <a:rPr lang="en-US" altLang="zh-CN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30000</a:t>
              </a:r>
              <a:r>
                <a:rPr lang="zh-CN" alt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个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工时。因此</a:t>
              </a:r>
              <a:r>
                <a:rPr lang="zh-CN" altLang="en-US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，印度将生产</a:t>
              </a:r>
              <a:r>
                <a:rPr lang="en-US" altLang="zh-CN" sz="27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</a:t>
              </a:r>
              <a:r>
                <a:rPr lang="zh-CN" altLang="en-US" sz="27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吨小麦。</a:t>
              </a:r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>
                <a:spcBef>
                  <a:spcPct val="50000"/>
                </a:spcBef>
              </a:pPr>
              <a:endPara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28" name="Rectangle 40"/>
          <p:cNvSpPr txBox="1">
            <a:spLocks noChangeArrowheads="1"/>
          </p:cNvSpPr>
          <p:nvPr/>
        </p:nvSpPr>
        <p:spPr>
          <a:xfrm>
            <a:off x="-2942308" y="1107533"/>
            <a:ext cx="91440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95887" y="1805249"/>
            <a:ext cx="7381876" cy="4492625"/>
            <a:chOff x="288925" y="1798638"/>
            <a:chExt cx="7381876" cy="4492625"/>
          </a:xfrm>
        </p:grpSpPr>
        <p:grpSp>
          <p:nvGrpSpPr>
            <p:cNvPr id="27" name="Group 2"/>
            <p:cNvGrpSpPr/>
            <p:nvPr/>
          </p:nvGrpSpPr>
          <p:grpSpPr bwMode="auto">
            <a:xfrm>
              <a:off x="288925" y="1798638"/>
              <a:ext cx="7381876" cy="4492625"/>
              <a:chOff x="559" y="1123"/>
              <a:chExt cx="4650" cy="2830"/>
            </a:xfrm>
          </p:grpSpPr>
          <p:sp>
            <p:nvSpPr>
              <p:cNvPr id="29" name="Text Box 3"/>
              <p:cNvSpPr txBox="1">
                <a:spLocks noChangeArrowheads="1"/>
              </p:cNvSpPr>
              <p:nvPr/>
            </p:nvSpPr>
            <p:spPr bwMode="auto">
              <a:xfrm>
                <a:off x="4002" y="3420"/>
                <a:ext cx="1207" cy="25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smtClean="0">
                    <a:latin typeface="Arial" panose="020B0604020202020204"/>
                    <a:cs typeface="Arial" panose="020B0604020202020204"/>
                  </a:rPr>
                  <a:t>电脑（台）</a:t>
                </a:r>
                <a:endParaRPr lang="en-US" sz="2000" b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0" name="Text Box 4"/>
              <p:cNvSpPr txBox="1">
                <a:spLocks noChangeArrowheads="1"/>
              </p:cNvSpPr>
              <p:nvPr/>
            </p:nvSpPr>
            <p:spPr bwMode="auto">
              <a:xfrm>
                <a:off x="588" y="1123"/>
                <a:ext cx="1034" cy="25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1">
                    <a:latin typeface="Arial" panose="020B0604020202020204"/>
                    <a:cs typeface="Arial" panose="020B0604020202020204"/>
                  </a:rPr>
                  <a:t>小麦（吨）</a:t>
                </a:r>
                <a:endParaRPr lang="en-US" sz="2000" b="1">
                  <a:latin typeface="Arial" panose="020B0604020202020204"/>
                  <a:cs typeface="Arial" panose="020B0604020202020204"/>
                </a:endParaRPr>
              </a:p>
            </p:txBody>
          </p:sp>
          <p:grpSp>
            <p:nvGrpSpPr>
              <p:cNvPr id="31" name="Group 5"/>
              <p:cNvGrpSpPr/>
              <p:nvPr/>
            </p:nvGrpSpPr>
            <p:grpSpPr bwMode="auto">
              <a:xfrm>
                <a:off x="559" y="1379"/>
                <a:ext cx="3521" cy="2574"/>
                <a:chOff x="559" y="1379"/>
                <a:chExt cx="3521" cy="2574"/>
              </a:xfrm>
            </p:grpSpPr>
            <p:grpSp>
              <p:nvGrpSpPr>
                <p:cNvPr id="32" name="Group 6"/>
                <p:cNvGrpSpPr/>
                <p:nvPr/>
              </p:nvGrpSpPr>
              <p:grpSpPr bwMode="auto">
                <a:xfrm>
                  <a:off x="1259" y="1379"/>
                  <a:ext cx="2780" cy="2170"/>
                  <a:chOff x="2416" y="1770"/>
                  <a:chExt cx="610" cy="548"/>
                </a:xfrm>
              </p:grpSpPr>
              <p:sp>
                <p:nvSpPr>
                  <p:cNvPr id="49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1770"/>
                    <a:ext cx="0" cy="5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50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2416" y="2318"/>
                    <a:ext cx="61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3" name="Group 9"/>
                <p:cNvGrpSpPr/>
                <p:nvPr/>
              </p:nvGrpSpPr>
              <p:grpSpPr bwMode="auto">
                <a:xfrm>
                  <a:off x="559" y="1659"/>
                  <a:ext cx="700" cy="288"/>
                  <a:chOff x="559" y="1659"/>
                  <a:chExt cx="700" cy="288"/>
                </a:xfrm>
              </p:grpSpPr>
              <p:sp>
                <p:nvSpPr>
                  <p:cNvPr id="47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53" y="1819"/>
                    <a:ext cx="10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8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59" y="1659"/>
                    <a:ext cx="607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4" name="Group 12"/>
                <p:cNvGrpSpPr/>
                <p:nvPr/>
              </p:nvGrpSpPr>
              <p:grpSpPr bwMode="auto">
                <a:xfrm>
                  <a:off x="559" y="2528"/>
                  <a:ext cx="700" cy="288"/>
                  <a:chOff x="559" y="2528"/>
                  <a:chExt cx="700" cy="288"/>
                </a:xfrm>
              </p:grpSpPr>
              <p:sp>
                <p:nvSpPr>
                  <p:cNvPr id="45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53" y="2688"/>
                    <a:ext cx="106" cy="0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6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59" y="2528"/>
                    <a:ext cx="607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1000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5" name="Group 15"/>
                <p:cNvGrpSpPr/>
                <p:nvPr/>
              </p:nvGrpSpPr>
              <p:grpSpPr bwMode="auto">
                <a:xfrm>
                  <a:off x="2527" y="3549"/>
                  <a:ext cx="743" cy="402"/>
                  <a:chOff x="2527" y="3549"/>
                  <a:chExt cx="743" cy="402"/>
                </a:xfrm>
              </p:grpSpPr>
              <p:sp>
                <p:nvSpPr>
                  <p:cNvPr id="43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92" y="3549"/>
                    <a:ext cx="0" cy="102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4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27" y="3663"/>
                    <a:ext cx="743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200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sp>
              <p:nvSpPr>
                <p:cNvPr id="36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863" y="3489"/>
                  <a:ext cx="427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grpSp>
              <p:nvGrpSpPr>
                <p:cNvPr id="37" name="Group 19"/>
                <p:cNvGrpSpPr/>
                <p:nvPr/>
              </p:nvGrpSpPr>
              <p:grpSpPr bwMode="auto">
                <a:xfrm>
                  <a:off x="1702" y="3546"/>
                  <a:ext cx="743" cy="405"/>
                  <a:chOff x="1702" y="3546"/>
                  <a:chExt cx="743" cy="405"/>
                </a:xfrm>
              </p:grpSpPr>
              <p:sp>
                <p:nvSpPr>
                  <p:cNvPr id="41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02" y="3663"/>
                    <a:ext cx="743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100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2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67" y="3546"/>
                    <a:ext cx="0" cy="102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  <p:grpSp>
              <p:nvGrpSpPr>
                <p:cNvPr id="38" name="Group 22"/>
                <p:cNvGrpSpPr/>
                <p:nvPr/>
              </p:nvGrpSpPr>
              <p:grpSpPr bwMode="auto">
                <a:xfrm>
                  <a:off x="3336" y="3546"/>
                  <a:ext cx="744" cy="407"/>
                  <a:chOff x="3336" y="3546"/>
                  <a:chExt cx="744" cy="407"/>
                </a:xfrm>
              </p:grpSpPr>
              <p:sp>
                <p:nvSpPr>
                  <p:cNvPr id="39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36" y="3665"/>
                    <a:ext cx="744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2400">
                        <a:latin typeface="Arial" panose="020B0604020202020204"/>
                        <a:cs typeface="Arial" panose="020B0604020202020204"/>
                      </a:rPr>
                      <a:t>300</a:t>
                    </a:r>
                    <a:endParaRPr lang="en-US" sz="2400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  <p:sp>
                <p:nvSpPr>
                  <p:cNvPr id="40" name="Line 2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02" y="3546"/>
                    <a:ext cx="0" cy="102"/>
                  </a:xfrm>
                  <a:prstGeom prst="line">
                    <a:avLst/>
                  </a:prstGeom>
                  <a:noFill/>
                  <a:ln w="317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>
                      <a:latin typeface="Arial" panose="020B0604020202020204"/>
                      <a:cs typeface="Arial" panose="020B0604020202020204"/>
                    </a:endParaRPr>
                  </a:p>
                </p:txBody>
              </p:sp>
            </p:grpSp>
          </p:grpSp>
        </p:grp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1390650" y="3894138"/>
              <a:ext cx="3222625" cy="1754187"/>
            </a:xfrm>
            <a:prstGeom prst="line">
              <a:avLst/>
            </a:prstGeom>
            <a:noFill/>
            <a:ln w="50800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" name="Oval 34"/>
          <p:cNvSpPr>
            <a:spLocks noChangeArrowheads="1"/>
          </p:cNvSpPr>
          <p:nvPr/>
        </p:nvSpPr>
        <p:spPr bwMode="auto">
          <a:xfrm>
            <a:off x="4502764" y="5601982"/>
            <a:ext cx="141288" cy="138112"/>
          </a:xfrm>
          <a:prstGeom prst="ellipse">
            <a:avLst/>
          </a:prstGeom>
          <a:solidFill>
            <a:srgbClr val="FF0000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出口：</a:t>
            </a:r>
            <a:b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国内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生产但是国外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销售的商品	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进口：</a:t>
            </a:r>
            <a:b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国外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生产但是国内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销售的商品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出口与进口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238991" y="1556792"/>
            <a:ext cx="87907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贸易下的消费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假设中国向印度出口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700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吨小麦，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印度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进口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台电脑。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 defTabSz="914400">
              <a:lnSpc>
                <a:spcPct val="150000"/>
              </a:lnSpc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换句话说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印度进口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了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700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吨小麦，出口了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台电脑。）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每种商品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在中国消费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了多少？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在中国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绘制这个组合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每种商品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在印度消费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了多少？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在印度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上绘制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这个组合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练习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70834" y="5832474"/>
            <a:ext cx="2537430" cy="79533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贸易下的中国消费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2" name="Group 2"/>
          <p:cNvGrpSpPr/>
          <p:nvPr/>
        </p:nvGrpSpPr>
        <p:grpSpPr bwMode="auto">
          <a:xfrm>
            <a:off x="277813" y="2412999"/>
            <a:ext cx="5514975" cy="4529138"/>
            <a:chOff x="212" y="1350"/>
            <a:chExt cx="3474" cy="2853"/>
          </a:xfrm>
        </p:grpSpPr>
        <p:grpSp>
          <p:nvGrpSpPr>
            <p:cNvPr id="3" name="Group 3"/>
            <p:cNvGrpSpPr/>
            <p:nvPr/>
          </p:nvGrpSpPr>
          <p:grpSpPr bwMode="auto">
            <a:xfrm>
              <a:off x="868" y="1350"/>
              <a:ext cx="2818" cy="2480"/>
              <a:chOff x="2416" y="1770"/>
              <a:chExt cx="610" cy="548"/>
            </a:xfrm>
          </p:grpSpPr>
          <p:sp>
            <p:nvSpPr>
              <p:cNvPr id="37" name="Line 4"/>
              <p:cNvSpPr>
                <a:spLocks noChangeShapeType="1"/>
              </p:cNvSpPr>
              <p:nvPr/>
            </p:nvSpPr>
            <p:spPr bwMode="auto">
              <a:xfrm>
                <a:off x="2416" y="1770"/>
                <a:ext cx="0" cy="5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8" name="Line 5"/>
              <p:cNvSpPr>
                <a:spLocks noChangeShapeType="1"/>
              </p:cNvSpPr>
              <p:nvPr/>
            </p:nvSpPr>
            <p:spPr bwMode="auto">
              <a:xfrm>
                <a:off x="2416" y="2318"/>
                <a:ext cx="61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4" name="Group 6"/>
            <p:cNvGrpSpPr/>
            <p:nvPr/>
          </p:nvGrpSpPr>
          <p:grpSpPr bwMode="auto">
            <a:xfrm>
              <a:off x="214" y="1834"/>
              <a:ext cx="654" cy="288"/>
              <a:chOff x="212" y="1834"/>
              <a:chExt cx="654" cy="288"/>
            </a:xfrm>
          </p:grpSpPr>
          <p:sp>
            <p:nvSpPr>
              <p:cNvPr id="35" name="Line 7"/>
              <p:cNvSpPr>
                <a:spLocks noChangeShapeType="1"/>
              </p:cNvSpPr>
              <p:nvPr/>
            </p:nvSpPr>
            <p:spPr bwMode="auto">
              <a:xfrm flipH="1">
                <a:off x="800" y="1992"/>
                <a:ext cx="66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6" name="Text Box 8"/>
              <p:cNvSpPr txBox="1">
                <a:spLocks noChangeArrowheads="1"/>
              </p:cNvSpPr>
              <p:nvPr/>
            </p:nvSpPr>
            <p:spPr bwMode="auto">
              <a:xfrm>
                <a:off x="212" y="1834"/>
                <a:ext cx="60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4000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6" name="Group 9"/>
            <p:cNvGrpSpPr/>
            <p:nvPr/>
          </p:nvGrpSpPr>
          <p:grpSpPr bwMode="auto">
            <a:xfrm>
              <a:off x="1144" y="3828"/>
              <a:ext cx="464" cy="374"/>
              <a:chOff x="1142" y="3830"/>
              <a:chExt cx="464" cy="374"/>
            </a:xfrm>
          </p:grpSpPr>
          <p:sp>
            <p:nvSpPr>
              <p:cNvPr id="33" name="Line 10"/>
              <p:cNvSpPr>
                <a:spLocks noChangeShapeType="1"/>
              </p:cNvSpPr>
              <p:nvPr/>
            </p:nvSpPr>
            <p:spPr bwMode="auto">
              <a:xfrm flipV="1">
                <a:off x="1370" y="3830"/>
                <a:ext cx="0" cy="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4" name="Text Box 11"/>
              <p:cNvSpPr txBox="1">
                <a:spLocks noChangeArrowheads="1"/>
              </p:cNvSpPr>
              <p:nvPr/>
            </p:nvSpPr>
            <p:spPr bwMode="auto">
              <a:xfrm>
                <a:off x="1142" y="3916"/>
                <a:ext cx="46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100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7" name="Group 12"/>
            <p:cNvGrpSpPr/>
            <p:nvPr/>
          </p:nvGrpSpPr>
          <p:grpSpPr bwMode="auto">
            <a:xfrm>
              <a:off x="212" y="1374"/>
              <a:ext cx="654" cy="288"/>
              <a:chOff x="212" y="1834"/>
              <a:chExt cx="654" cy="288"/>
            </a:xfrm>
          </p:grpSpPr>
          <p:sp>
            <p:nvSpPr>
              <p:cNvPr id="31" name="Line 13"/>
              <p:cNvSpPr>
                <a:spLocks noChangeShapeType="1"/>
              </p:cNvSpPr>
              <p:nvPr/>
            </p:nvSpPr>
            <p:spPr bwMode="auto">
              <a:xfrm flipH="1">
                <a:off x="800" y="1992"/>
                <a:ext cx="66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2" name="Text Box 14"/>
              <p:cNvSpPr txBox="1">
                <a:spLocks noChangeArrowheads="1"/>
              </p:cNvSpPr>
              <p:nvPr/>
            </p:nvSpPr>
            <p:spPr bwMode="auto">
              <a:xfrm>
                <a:off x="212" y="1834"/>
                <a:ext cx="60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5000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9" name="Group 15"/>
            <p:cNvGrpSpPr/>
            <p:nvPr/>
          </p:nvGrpSpPr>
          <p:grpSpPr bwMode="auto">
            <a:xfrm>
              <a:off x="214" y="2756"/>
              <a:ext cx="654" cy="288"/>
              <a:chOff x="212" y="1834"/>
              <a:chExt cx="654" cy="288"/>
            </a:xfrm>
          </p:grpSpPr>
          <p:sp>
            <p:nvSpPr>
              <p:cNvPr id="29" name="Line 16"/>
              <p:cNvSpPr>
                <a:spLocks noChangeShapeType="1"/>
              </p:cNvSpPr>
              <p:nvPr/>
            </p:nvSpPr>
            <p:spPr bwMode="auto">
              <a:xfrm flipH="1">
                <a:off x="800" y="1992"/>
                <a:ext cx="66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0" name="Text Box 17"/>
              <p:cNvSpPr txBox="1">
                <a:spLocks noChangeArrowheads="1"/>
              </p:cNvSpPr>
              <p:nvPr/>
            </p:nvSpPr>
            <p:spPr bwMode="auto">
              <a:xfrm>
                <a:off x="212" y="1834"/>
                <a:ext cx="60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2000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0" name="Group 18"/>
            <p:cNvGrpSpPr/>
            <p:nvPr/>
          </p:nvGrpSpPr>
          <p:grpSpPr bwMode="auto">
            <a:xfrm>
              <a:off x="214" y="3216"/>
              <a:ext cx="654" cy="288"/>
              <a:chOff x="212" y="1834"/>
              <a:chExt cx="654" cy="288"/>
            </a:xfrm>
          </p:grpSpPr>
          <p:sp>
            <p:nvSpPr>
              <p:cNvPr id="27" name="Line 19"/>
              <p:cNvSpPr>
                <a:spLocks noChangeShapeType="1"/>
              </p:cNvSpPr>
              <p:nvPr/>
            </p:nvSpPr>
            <p:spPr bwMode="auto">
              <a:xfrm flipH="1">
                <a:off x="800" y="1992"/>
                <a:ext cx="66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8" name="Text Box 20"/>
              <p:cNvSpPr txBox="1">
                <a:spLocks noChangeArrowheads="1"/>
              </p:cNvSpPr>
              <p:nvPr/>
            </p:nvSpPr>
            <p:spPr bwMode="auto">
              <a:xfrm>
                <a:off x="212" y="1834"/>
                <a:ext cx="60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1000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1" name="Group 21"/>
            <p:cNvGrpSpPr/>
            <p:nvPr/>
          </p:nvGrpSpPr>
          <p:grpSpPr bwMode="auto">
            <a:xfrm>
              <a:off x="212" y="2292"/>
              <a:ext cx="654" cy="288"/>
              <a:chOff x="212" y="1834"/>
              <a:chExt cx="654" cy="288"/>
            </a:xfrm>
          </p:grpSpPr>
          <p:sp>
            <p:nvSpPr>
              <p:cNvPr id="25" name="Line 22"/>
              <p:cNvSpPr>
                <a:spLocks noChangeShapeType="1"/>
              </p:cNvSpPr>
              <p:nvPr/>
            </p:nvSpPr>
            <p:spPr bwMode="auto">
              <a:xfrm flipH="1">
                <a:off x="800" y="1992"/>
                <a:ext cx="66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6" name="Text Box 23"/>
              <p:cNvSpPr txBox="1">
                <a:spLocks noChangeArrowheads="1"/>
              </p:cNvSpPr>
              <p:nvPr/>
            </p:nvSpPr>
            <p:spPr bwMode="auto">
              <a:xfrm>
                <a:off x="212" y="1834"/>
                <a:ext cx="60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3000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2" name="Group 24"/>
            <p:cNvGrpSpPr/>
            <p:nvPr/>
          </p:nvGrpSpPr>
          <p:grpSpPr bwMode="auto">
            <a:xfrm>
              <a:off x="3188" y="3828"/>
              <a:ext cx="464" cy="374"/>
              <a:chOff x="1142" y="3830"/>
              <a:chExt cx="464" cy="374"/>
            </a:xfrm>
          </p:grpSpPr>
          <p:sp>
            <p:nvSpPr>
              <p:cNvPr id="23" name="Line 25"/>
              <p:cNvSpPr>
                <a:spLocks noChangeShapeType="1"/>
              </p:cNvSpPr>
              <p:nvPr/>
            </p:nvSpPr>
            <p:spPr bwMode="auto">
              <a:xfrm flipV="1">
                <a:off x="1370" y="3830"/>
                <a:ext cx="0" cy="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" name="Text Box 26"/>
              <p:cNvSpPr txBox="1">
                <a:spLocks noChangeArrowheads="1"/>
              </p:cNvSpPr>
              <p:nvPr/>
            </p:nvSpPr>
            <p:spPr bwMode="auto">
              <a:xfrm>
                <a:off x="1142" y="3916"/>
                <a:ext cx="46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500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3" name="Group 27"/>
            <p:cNvGrpSpPr/>
            <p:nvPr/>
          </p:nvGrpSpPr>
          <p:grpSpPr bwMode="auto">
            <a:xfrm>
              <a:off x="1659" y="3828"/>
              <a:ext cx="464" cy="374"/>
              <a:chOff x="1142" y="3830"/>
              <a:chExt cx="464" cy="374"/>
            </a:xfrm>
          </p:grpSpPr>
          <p:sp>
            <p:nvSpPr>
              <p:cNvPr id="21" name="Line 28"/>
              <p:cNvSpPr>
                <a:spLocks noChangeShapeType="1"/>
              </p:cNvSpPr>
              <p:nvPr/>
            </p:nvSpPr>
            <p:spPr bwMode="auto">
              <a:xfrm flipV="1">
                <a:off x="1370" y="3830"/>
                <a:ext cx="0" cy="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2" name="Text Box 29"/>
              <p:cNvSpPr txBox="1">
                <a:spLocks noChangeArrowheads="1"/>
              </p:cNvSpPr>
              <p:nvPr/>
            </p:nvSpPr>
            <p:spPr bwMode="auto">
              <a:xfrm>
                <a:off x="1142" y="3916"/>
                <a:ext cx="46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200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4" name="Group 30"/>
            <p:cNvGrpSpPr/>
            <p:nvPr/>
          </p:nvGrpSpPr>
          <p:grpSpPr bwMode="auto">
            <a:xfrm>
              <a:off x="2164" y="3829"/>
              <a:ext cx="464" cy="374"/>
              <a:chOff x="1142" y="3830"/>
              <a:chExt cx="464" cy="374"/>
            </a:xfrm>
          </p:grpSpPr>
          <p:sp>
            <p:nvSpPr>
              <p:cNvPr id="19" name="Line 31"/>
              <p:cNvSpPr>
                <a:spLocks noChangeShapeType="1"/>
              </p:cNvSpPr>
              <p:nvPr/>
            </p:nvSpPr>
            <p:spPr bwMode="auto">
              <a:xfrm flipV="1">
                <a:off x="1370" y="3830"/>
                <a:ext cx="0" cy="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0" name="Text Box 32"/>
              <p:cNvSpPr txBox="1">
                <a:spLocks noChangeArrowheads="1"/>
              </p:cNvSpPr>
              <p:nvPr/>
            </p:nvSpPr>
            <p:spPr bwMode="auto">
              <a:xfrm>
                <a:off x="1142" y="3916"/>
                <a:ext cx="46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300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5" name="Group 33"/>
            <p:cNvGrpSpPr/>
            <p:nvPr/>
          </p:nvGrpSpPr>
          <p:grpSpPr bwMode="auto">
            <a:xfrm>
              <a:off x="2673" y="3829"/>
              <a:ext cx="464" cy="374"/>
              <a:chOff x="1142" y="3830"/>
              <a:chExt cx="464" cy="374"/>
            </a:xfrm>
          </p:grpSpPr>
          <p:sp>
            <p:nvSpPr>
              <p:cNvPr id="17" name="Line 34"/>
              <p:cNvSpPr>
                <a:spLocks noChangeShapeType="1"/>
              </p:cNvSpPr>
              <p:nvPr/>
            </p:nvSpPr>
            <p:spPr bwMode="auto">
              <a:xfrm flipV="1">
                <a:off x="1370" y="3830"/>
                <a:ext cx="0" cy="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8" name="Text Box 35"/>
              <p:cNvSpPr txBox="1">
                <a:spLocks noChangeArrowheads="1"/>
              </p:cNvSpPr>
              <p:nvPr/>
            </p:nvSpPr>
            <p:spPr bwMode="auto">
              <a:xfrm>
                <a:off x="1142" y="3916"/>
                <a:ext cx="46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400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6" name="Text Box 36"/>
            <p:cNvSpPr txBox="1">
              <a:spLocks noChangeArrowheads="1"/>
            </p:cNvSpPr>
            <p:nvPr/>
          </p:nvSpPr>
          <p:spPr bwMode="auto">
            <a:xfrm>
              <a:off x="621" y="3798"/>
              <a:ext cx="26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9" name="Group 37"/>
          <p:cNvGrpSpPr/>
          <p:nvPr/>
        </p:nvGrpSpPr>
        <p:grpSpPr bwMode="auto">
          <a:xfrm>
            <a:off x="277813" y="1933574"/>
            <a:ext cx="7315200" cy="4592638"/>
            <a:chOff x="203" y="670"/>
            <a:chExt cx="4608" cy="2893"/>
          </a:xfrm>
        </p:grpSpPr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3604" y="3311"/>
              <a:ext cx="120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smtClean="0">
                  <a:latin typeface="Arial" panose="020B0604020202020204"/>
                  <a:cs typeface="Arial" panose="020B0604020202020204"/>
                </a:rPr>
                <a:t>电脑（台）</a:t>
              </a:r>
              <a:endParaRPr lang="en-US" sz="2000" b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1" name="Text Box 39"/>
            <p:cNvSpPr txBox="1">
              <a:spLocks noChangeArrowheads="1"/>
            </p:cNvSpPr>
            <p:nvPr/>
          </p:nvSpPr>
          <p:spPr bwMode="auto">
            <a:xfrm>
              <a:off x="203" y="670"/>
              <a:ext cx="940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>
                  <a:latin typeface="Arial" panose="020B0604020202020204"/>
                  <a:cs typeface="Arial" panose="020B0604020202020204"/>
                </a:rPr>
                <a:t>小麦（吨）</a:t>
              </a:r>
              <a:endParaRPr lang="en-US" sz="2000" b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2" name="Line 41"/>
          <p:cNvSpPr>
            <a:spLocks noChangeShapeType="1"/>
          </p:cNvSpPr>
          <p:nvPr/>
        </p:nvSpPr>
        <p:spPr bwMode="auto">
          <a:xfrm>
            <a:off x="1311275" y="2698749"/>
            <a:ext cx="4056063" cy="3649663"/>
          </a:xfrm>
          <a:prstGeom prst="line">
            <a:avLst/>
          </a:prstGeom>
          <a:noFill/>
          <a:ln w="50800">
            <a:solidFill>
              <a:srgbClr val="3333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5294313" y="6281737"/>
            <a:ext cx="141287" cy="138112"/>
          </a:xfrm>
          <a:prstGeom prst="ellipse">
            <a:avLst/>
          </a:prstGeom>
          <a:solidFill>
            <a:srgbClr val="333399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1247775" y="2635249"/>
            <a:ext cx="141288" cy="138113"/>
          </a:xfrm>
          <a:prstGeom prst="ellipse">
            <a:avLst/>
          </a:prstGeom>
          <a:solidFill>
            <a:srgbClr val="333399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5" name="Group 45"/>
          <p:cNvGrpSpPr/>
          <p:nvPr/>
        </p:nvGrpSpPr>
        <p:grpSpPr bwMode="auto">
          <a:xfrm>
            <a:off x="1320800" y="4259262"/>
            <a:ext cx="2306638" cy="2087562"/>
            <a:chOff x="860" y="2135"/>
            <a:chExt cx="1453" cy="1315"/>
          </a:xfrm>
        </p:grpSpPr>
        <p:grpSp>
          <p:nvGrpSpPr>
            <p:cNvPr id="46" name="Group 46"/>
            <p:cNvGrpSpPr/>
            <p:nvPr/>
          </p:nvGrpSpPr>
          <p:grpSpPr bwMode="auto">
            <a:xfrm>
              <a:off x="860" y="2182"/>
              <a:ext cx="1411" cy="1268"/>
              <a:chOff x="357" y="2450"/>
              <a:chExt cx="795" cy="646"/>
            </a:xfrm>
          </p:grpSpPr>
          <p:sp>
            <p:nvSpPr>
              <p:cNvPr id="48" name="Line 47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9" name="Line 48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7" name="Oval 49"/>
            <p:cNvSpPr>
              <a:spLocks noChangeArrowheads="1"/>
            </p:cNvSpPr>
            <p:nvPr/>
          </p:nvSpPr>
          <p:spPr bwMode="auto">
            <a:xfrm>
              <a:off x="2224" y="2135"/>
              <a:ext cx="89" cy="87"/>
            </a:xfrm>
            <a:prstGeom prst="ellipse">
              <a:avLst/>
            </a:prstGeom>
            <a:solidFill>
              <a:srgbClr val="3366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0" name="Group 90"/>
          <p:cNvGrpSpPr/>
          <p:nvPr/>
        </p:nvGrpSpPr>
        <p:grpSpPr bwMode="auto">
          <a:xfrm>
            <a:off x="4173538" y="3708399"/>
            <a:ext cx="4513262" cy="820738"/>
            <a:chOff x="2657" y="1788"/>
            <a:chExt cx="2843" cy="517"/>
          </a:xfrm>
          <a:noFill/>
        </p:grpSpPr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4726" y="1788"/>
              <a:ext cx="774" cy="51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2700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2" name="Rectangle 55"/>
            <p:cNvSpPr>
              <a:spLocks noChangeArrowheads="1"/>
            </p:cNvSpPr>
            <p:nvPr/>
          </p:nvSpPr>
          <p:spPr bwMode="auto">
            <a:xfrm>
              <a:off x="3703" y="1788"/>
              <a:ext cx="1023" cy="51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270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3" name="Rectangle 56"/>
            <p:cNvSpPr>
              <a:spLocks noChangeArrowheads="1"/>
            </p:cNvSpPr>
            <p:nvPr/>
          </p:nvSpPr>
          <p:spPr bwMode="auto">
            <a:xfrm>
              <a:off x="2657" y="1788"/>
              <a:ext cx="1046" cy="51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r>
                <a:rPr lang="zh-CN" alt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消费量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4" name="Group 91"/>
          <p:cNvGrpSpPr/>
          <p:nvPr/>
        </p:nvGrpSpPr>
        <p:grpSpPr bwMode="auto">
          <a:xfrm>
            <a:off x="4173538" y="2774949"/>
            <a:ext cx="4513262" cy="455613"/>
            <a:chOff x="2657" y="1200"/>
            <a:chExt cx="2843" cy="287"/>
          </a:xfrm>
          <a:noFill/>
        </p:grpSpPr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4726" y="1200"/>
              <a:ext cx="774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3703" y="1200"/>
              <a:ext cx="1023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110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2657" y="1200"/>
              <a:ext cx="1046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r>
                <a:rPr lang="zh-CN" alt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进口的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8" name="Group 92"/>
          <p:cNvGrpSpPr/>
          <p:nvPr/>
        </p:nvGrpSpPr>
        <p:grpSpPr bwMode="auto">
          <a:xfrm>
            <a:off x="4173538" y="3230562"/>
            <a:ext cx="4513262" cy="477837"/>
            <a:chOff x="2657" y="1487"/>
            <a:chExt cx="2843" cy="301"/>
          </a:xfrm>
          <a:noFill/>
        </p:grpSpPr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4726" y="1487"/>
              <a:ext cx="774" cy="30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700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3703" y="1487"/>
              <a:ext cx="1023" cy="30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2657" y="1487"/>
              <a:ext cx="1046" cy="30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–</a:t>
              </a:r>
              <a:r>
                <a:rPr lang="zh-CN" alt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出口的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2" name="Group 88"/>
          <p:cNvGrpSpPr/>
          <p:nvPr/>
        </p:nvGrpSpPr>
        <p:grpSpPr bwMode="auto">
          <a:xfrm>
            <a:off x="4173538" y="2319337"/>
            <a:ext cx="4513262" cy="455612"/>
            <a:chOff x="2657" y="913"/>
            <a:chExt cx="2843" cy="287"/>
          </a:xfrm>
          <a:noFill/>
        </p:grpSpPr>
        <p:sp>
          <p:nvSpPr>
            <p:cNvPr id="63" name="Rectangle 60"/>
            <p:cNvSpPr>
              <a:spLocks noChangeArrowheads="1"/>
            </p:cNvSpPr>
            <p:nvPr/>
          </p:nvSpPr>
          <p:spPr bwMode="auto">
            <a:xfrm>
              <a:off x="4726" y="913"/>
              <a:ext cx="774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3400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4" name="Rectangle 61"/>
            <p:cNvSpPr>
              <a:spLocks noChangeArrowheads="1"/>
            </p:cNvSpPr>
            <p:nvPr/>
          </p:nvSpPr>
          <p:spPr bwMode="auto">
            <a:xfrm>
              <a:off x="3703" y="913"/>
              <a:ext cx="1023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160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5" name="Rectangle 62"/>
            <p:cNvSpPr>
              <a:spLocks noChangeArrowheads="1"/>
            </p:cNvSpPr>
            <p:nvPr/>
          </p:nvSpPr>
          <p:spPr bwMode="auto">
            <a:xfrm>
              <a:off x="2657" y="913"/>
              <a:ext cx="1046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生产的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4173538" y="1863724"/>
            <a:ext cx="1660525" cy="455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7" name="Line 66"/>
          <p:cNvSpPr>
            <a:spLocks noChangeShapeType="1"/>
          </p:cNvSpPr>
          <p:nvPr/>
        </p:nvSpPr>
        <p:spPr bwMode="auto">
          <a:xfrm>
            <a:off x="4173538" y="1863724"/>
            <a:ext cx="1660525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68" name="Line 68"/>
          <p:cNvSpPr>
            <a:spLocks noChangeShapeType="1"/>
          </p:cNvSpPr>
          <p:nvPr/>
        </p:nvSpPr>
        <p:spPr bwMode="auto">
          <a:xfrm>
            <a:off x="4173538" y="3708399"/>
            <a:ext cx="4513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69" name="Line 69"/>
          <p:cNvSpPr>
            <a:spLocks noChangeShapeType="1"/>
          </p:cNvSpPr>
          <p:nvPr/>
        </p:nvSpPr>
        <p:spPr bwMode="auto">
          <a:xfrm>
            <a:off x="4173538" y="4529137"/>
            <a:ext cx="1660525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0" name="Line 70"/>
          <p:cNvSpPr>
            <a:spLocks noChangeShapeType="1"/>
          </p:cNvSpPr>
          <p:nvPr/>
        </p:nvSpPr>
        <p:spPr bwMode="auto">
          <a:xfrm>
            <a:off x="4173538" y="1863724"/>
            <a:ext cx="0" cy="4556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1" name="Group 87"/>
          <p:cNvGrpSpPr/>
          <p:nvPr/>
        </p:nvGrpSpPr>
        <p:grpSpPr bwMode="auto">
          <a:xfrm>
            <a:off x="4173538" y="1863724"/>
            <a:ext cx="4513262" cy="2665413"/>
            <a:chOff x="2657" y="626"/>
            <a:chExt cx="2843" cy="1679"/>
          </a:xfrm>
          <a:noFill/>
        </p:grpSpPr>
        <p:sp>
          <p:nvSpPr>
            <p:cNvPr id="72" name="Rectangle 63"/>
            <p:cNvSpPr>
              <a:spLocks noChangeArrowheads="1"/>
            </p:cNvSpPr>
            <p:nvPr/>
          </p:nvSpPr>
          <p:spPr bwMode="auto">
            <a:xfrm>
              <a:off x="4726" y="626"/>
              <a:ext cx="774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小麦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3" name="Rectangle 64"/>
            <p:cNvSpPr>
              <a:spLocks noChangeArrowheads="1"/>
            </p:cNvSpPr>
            <p:nvPr/>
          </p:nvSpPr>
          <p:spPr bwMode="auto">
            <a:xfrm>
              <a:off x="3703" y="626"/>
              <a:ext cx="1023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电脑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4" name="Line 67"/>
            <p:cNvSpPr>
              <a:spLocks noChangeShapeType="1"/>
            </p:cNvSpPr>
            <p:nvPr/>
          </p:nvSpPr>
          <p:spPr bwMode="auto">
            <a:xfrm>
              <a:off x="2657" y="913"/>
              <a:ext cx="284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5" name="Line 71"/>
            <p:cNvSpPr>
              <a:spLocks noChangeShapeType="1"/>
            </p:cNvSpPr>
            <p:nvPr/>
          </p:nvSpPr>
          <p:spPr bwMode="auto">
            <a:xfrm>
              <a:off x="3703" y="626"/>
              <a:ext cx="0" cy="1679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Line 72"/>
            <p:cNvSpPr>
              <a:spLocks noChangeShapeType="1"/>
            </p:cNvSpPr>
            <p:nvPr/>
          </p:nvSpPr>
          <p:spPr bwMode="auto">
            <a:xfrm>
              <a:off x="4726" y="626"/>
              <a:ext cx="0" cy="1679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7" name="Line 73"/>
          <p:cNvSpPr>
            <a:spLocks noChangeShapeType="1"/>
          </p:cNvSpPr>
          <p:nvPr/>
        </p:nvSpPr>
        <p:spPr bwMode="auto">
          <a:xfrm>
            <a:off x="8686800" y="1863724"/>
            <a:ext cx="0" cy="4556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8" name="Line 74"/>
          <p:cNvSpPr>
            <a:spLocks noChangeShapeType="1"/>
          </p:cNvSpPr>
          <p:nvPr/>
        </p:nvSpPr>
        <p:spPr bwMode="auto">
          <a:xfrm>
            <a:off x="5834063" y="1863724"/>
            <a:ext cx="1624012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9" name="Line 75"/>
          <p:cNvSpPr>
            <a:spLocks noChangeShapeType="1"/>
          </p:cNvSpPr>
          <p:nvPr/>
        </p:nvSpPr>
        <p:spPr bwMode="auto">
          <a:xfrm>
            <a:off x="4173538" y="2319337"/>
            <a:ext cx="0" cy="45561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0" name="Line 76"/>
          <p:cNvSpPr>
            <a:spLocks noChangeShapeType="1"/>
          </p:cNvSpPr>
          <p:nvPr/>
        </p:nvSpPr>
        <p:spPr bwMode="auto">
          <a:xfrm>
            <a:off x="7458075" y="1863724"/>
            <a:ext cx="1228725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1" name="Line 77"/>
          <p:cNvSpPr>
            <a:spLocks noChangeShapeType="1"/>
          </p:cNvSpPr>
          <p:nvPr/>
        </p:nvSpPr>
        <p:spPr bwMode="auto">
          <a:xfrm>
            <a:off x="8686800" y="2319337"/>
            <a:ext cx="0" cy="45561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2" name="Line 78"/>
          <p:cNvSpPr>
            <a:spLocks noChangeShapeType="1"/>
          </p:cNvSpPr>
          <p:nvPr/>
        </p:nvSpPr>
        <p:spPr bwMode="auto">
          <a:xfrm>
            <a:off x="4173538" y="2774949"/>
            <a:ext cx="0" cy="4556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3" name="Line 79"/>
          <p:cNvSpPr>
            <a:spLocks noChangeShapeType="1"/>
          </p:cNvSpPr>
          <p:nvPr/>
        </p:nvSpPr>
        <p:spPr bwMode="auto">
          <a:xfrm>
            <a:off x="8686800" y="2774949"/>
            <a:ext cx="0" cy="4556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4" name="Line 80"/>
          <p:cNvSpPr>
            <a:spLocks noChangeShapeType="1"/>
          </p:cNvSpPr>
          <p:nvPr/>
        </p:nvSpPr>
        <p:spPr bwMode="auto">
          <a:xfrm>
            <a:off x="4173538" y="3230562"/>
            <a:ext cx="0" cy="477837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5" name="Line 81"/>
          <p:cNvSpPr>
            <a:spLocks noChangeShapeType="1"/>
          </p:cNvSpPr>
          <p:nvPr/>
        </p:nvSpPr>
        <p:spPr bwMode="auto">
          <a:xfrm>
            <a:off x="8686800" y="3230562"/>
            <a:ext cx="0" cy="477837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6" name="Line 82"/>
          <p:cNvSpPr>
            <a:spLocks noChangeShapeType="1"/>
          </p:cNvSpPr>
          <p:nvPr/>
        </p:nvSpPr>
        <p:spPr bwMode="auto">
          <a:xfrm>
            <a:off x="4173538" y="3708399"/>
            <a:ext cx="0" cy="820738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7" name="Line 83"/>
          <p:cNvSpPr>
            <a:spLocks noChangeShapeType="1"/>
          </p:cNvSpPr>
          <p:nvPr/>
        </p:nvSpPr>
        <p:spPr bwMode="auto">
          <a:xfrm>
            <a:off x="8686800" y="3708399"/>
            <a:ext cx="0" cy="820738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8" name="Line 84"/>
          <p:cNvSpPr>
            <a:spLocks noChangeShapeType="1"/>
          </p:cNvSpPr>
          <p:nvPr/>
        </p:nvSpPr>
        <p:spPr bwMode="auto">
          <a:xfrm>
            <a:off x="5834063" y="4529137"/>
            <a:ext cx="1624012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9" name="Line 85"/>
          <p:cNvSpPr>
            <a:spLocks noChangeShapeType="1"/>
          </p:cNvSpPr>
          <p:nvPr/>
        </p:nvSpPr>
        <p:spPr bwMode="auto">
          <a:xfrm>
            <a:off x="7458075" y="4529137"/>
            <a:ext cx="1228725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0" name="Group 98"/>
          <p:cNvGrpSpPr/>
          <p:nvPr/>
        </p:nvGrpSpPr>
        <p:grpSpPr bwMode="auto">
          <a:xfrm>
            <a:off x="1320800" y="3767137"/>
            <a:ext cx="1323975" cy="2586037"/>
            <a:chOff x="860" y="1825"/>
            <a:chExt cx="834" cy="1629"/>
          </a:xfrm>
        </p:grpSpPr>
        <p:grpSp>
          <p:nvGrpSpPr>
            <p:cNvPr id="91" name="Group 94"/>
            <p:cNvGrpSpPr/>
            <p:nvPr/>
          </p:nvGrpSpPr>
          <p:grpSpPr bwMode="auto">
            <a:xfrm>
              <a:off x="860" y="1870"/>
              <a:ext cx="793" cy="1584"/>
              <a:chOff x="357" y="2450"/>
              <a:chExt cx="795" cy="646"/>
            </a:xfrm>
          </p:grpSpPr>
          <p:sp>
            <p:nvSpPr>
              <p:cNvPr id="93" name="Line 95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4" name="Line 96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92" name="Oval 97"/>
            <p:cNvSpPr>
              <a:spLocks noChangeArrowheads="1"/>
            </p:cNvSpPr>
            <p:nvPr/>
          </p:nvSpPr>
          <p:spPr bwMode="auto">
            <a:xfrm>
              <a:off x="1605" y="1825"/>
              <a:ext cx="89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矩形 168"/>
          <p:cNvSpPr/>
          <p:nvPr/>
        </p:nvSpPr>
        <p:spPr>
          <a:xfrm>
            <a:off x="70834" y="5832474"/>
            <a:ext cx="2537430" cy="79533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贸易下的印度消费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4173538" y="1863724"/>
            <a:ext cx="1660525" cy="455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7" name="Line 66"/>
          <p:cNvSpPr>
            <a:spLocks noChangeShapeType="1"/>
          </p:cNvSpPr>
          <p:nvPr/>
        </p:nvSpPr>
        <p:spPr bwMode="auto">
          <a:xfrm>
            <a:off x="4173538" y="1863724"/>
            <a:ext cx="1660525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0" name="Line 70"/>
          <p:cNvSpPr>
            <a:spLocks noChangeShapeType="1"/>
          </p:cNvSpPr>
          <p:nvPr/>
        </p:nvSpPr>
        <p:spPr bwMode="auto">
          <a:xfrm>
            <a:off x="4173538" y="1863724"/>
            <a:ext cx="0" cy="4556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77" name="Line 73"/>
          <p:cNvSpPr>
            <a:spLocks noChangeShapeType="1"/>
          </p:cNvSpPr>
          <p:nvPr/>
        </p:nvSpPr>
        <p:spPr bwMode="auto">
          <a:xfrm>
            <a:off x="8686800" y="1863724"/>
            <a:ext cx="0" cy="4556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80" name="Line 76"/>
          <p:cNvSpPr>
            <a:spLocks noChangeShapeType="1"/>
          </p:cNvSpPr>
          <p:nvPr/>
        </p:nvSpPr>
        <p:spPr bwMode="auto">
          <a:xfrm>
            <a:off x="7458075" y="1863724"/>
            <a:ext cx="1228725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6" name="Group 4"/>
          <p:cNvGrpSpPr/>
          <p:nvPr/>
        </p:nvGrpSpPr>
        <p:grpSpPr bwMode="auto">
          <a:xfrm>
            <a:off x="322887" y="2162967"/>
            <a:ext cx="7348538" cy="4538663"/>
            <a:chOff x="559" y="1094"/>
            <a:chExt cx="4629" cy="2859"/>
          </a:xfrm>
        </p:grpSpPr>
        <p:sp>
          <p:nvSpPr>
            <p:cNvPr id="97" name="Text Box 5"/>
            <p:cNvSpPr txBox="1">
              <a:spLocks noChangeArrowheads="1"/>
            </p:cNvSpPr>
            <p:nvPr/>
          </p:nvSpPr>
          <p:spPr bwMode="auto">
            <a:xfrm>
              <a:off x="3981" y="3420"/>
              <a:ext cx="120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smtClean="0">
                  <a:latin typeface="Arial" panose="020B0604020202020204"/>
                  <a:cs typeface="Arial" panose="020B0604020202020204"/>
                </a:rPr>
                <a:t>电脑（台）</a:t>
              </a:r>
              <a:endParaRPr lang="en-US" sz="2000" b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ext Box 6"/>
            <p:cNvSpPr txBox="1">
              <a:spLocks noChangeArrowheads="1"/>
            </p:cNvSpPr>
            <p:nvPr/>
          </p:nvSpPr>
          <p:spPr bwMode="auto">
            <a:xfrm>
              <a:off x="559" y="1094"/>
              <a:ext cx="9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>
                  <a:latin typeface="Arial" panose="020B0604020202020204"/>
                  <a:cs typeface="Arial" panose="020B0604020202020204"/>
                </a:rPr>
                <a:t>小麦（吨）</a:t>
              </a:r>
              <a:endParaRPr lang="en-US" sz="2000" b="1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99" name="Group 7"/>
            <p:cNvGrpSpPr/>
            <p:nvPr/>
          </p:nvGrpSpPr>
          <p:grpSpPr bwMode="auto">
            <a:xfrm>
              <a:off x="559" y="1379"/>
              <a:ext cx="3521" cy="2574"/>
              <a:chOff x="559" y="1379"/>
              <a:chExt cx="3521" cy="2574"/>
            </a:xfrm>
          </p:grpSpPr>
          <p:grpSp>
            <p:nvGrpSpPr>
              <p:cNvPr id="100" name="Group 8"/>
              <p:cNvGrpSpPr/>
              <p:nvPr/>
            </p:nvGrpSpPr>
            <p:grpSpPr bwMode="auto">
              <a:xfrm>
                <a:off x="1259" y="1379"/>
                <a:ext cx="2780" cy="2170"/>
                <a:chOff x="2416" y="1770"/>
                <a:chExt cx="610" cy="548"/>
              </a:xfrm>
            </p:grpSpPr>
            <p:sp>
              <p:nvSpPr>
                <p:cNvPr id="117" name="Line 9"/>
                <p:cNvSpPr>
                  <a:spLocks noChangeShapeType="1"/>
                </p:cNvSpPr>
                <p:nvPr/>
              </p:nvSpPr>
              <p:spPr bwMode="auto">
                <a:xfrm>
                  <a:off x="2416" y="1770"/>
                  <a:ext cx="0" cy="5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8" name="Line 10"/>
                <p:cNvSpPr>
                  <a:spLocks noChangeShapeType="1"/>
                </p:cNvSpPr>
                <p:nvPr/>
              </p:nvSpPr>
              <p:spPr bwMode="auto">
                <a:xfrm>
                  <a:off x="2416" y="2318"/>
                  <a:ext cx="61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101" name="Group 11"/>
              <p:cNvGrpSpPr/>
              <p:nvPr/>
            </p:nvGrpSpPr>
            <p:grpSpPr bwMode="auto">
              <a:xfrm>
                <a:off x="559" y="1659"/>
                <a:ext cx="700" cy="288"/>
                <a:chOff x="559" y="1659"/>
                <a:chExt cx="700" cy="288"/>
              </a:xfrm>
            </p:grpSpPr>
            <p:sp>
              <p:nvSpPr>
                <p:cNvPr id="115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1153" y="1819"/>
                  <a:ext cx="106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559" y="1659"/>
                  <a:ext cx="60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2000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102" name="Group 14"/>
              <p:cNvGrpSpPr/>
              <p:nvPr/>
            </p:nvGrpSpPr>
            <p:grpSpPr bwMode="auto">
              <a:xfrm>
                <a:off x="559" y="2528"/>
                <a:ext cx="700" cy="288"/>
                <a:chOff x="559" y="2528"/>
                <a:chExt cx="700" cy="288"/>
              </a:xfrm>
            </p:grpSpPr>
            <p:sp>
              <p:nvSpPr>
                <p:cNvPr id="113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1153" y="2688"/>
                  <a:ext cx="106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4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559" y="2528"/>
                  <a:ext cx="60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1000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103" name="Group 17"/>
              <p:cNvGrpSpPr/>
              <p:nvPr/>
            </p:nvGrpSpPr>
            <p:grpSpPr bwMode="auto">
              <a:xfrm>
                <a:off x="2527" y="3549"/>
                <a:ext cx="743" cy="402"/>
                <a:chOff x="2527" y="3549"/>
                <a:chExt cx="743" cy="402"/>
              </a:xfrm>
            </p:grpSpPr>
            <p:sp>
              <p:nvSpPr>
                <p:cNvPr id="111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2892" y="3549"/>
                  <a:ext cx="0" cy="10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2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527" y="3663"/>
                  <a:ext cx="74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200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04" name="Text Box 20"/>
              <p:cNvSpPr txBox="1">
                <a:spLocks noChangeArrowheads="1"/>
              </p:cNvSpPr>
              <p:nvPr/>
            </p:nvSpPr>
            <p:spPr bwMode="auto">
              <a:xfrm>
                <a:off x="863" y="3489"/>
                <a:ext cx="427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panose="020B0604020202020204"/>
                    <a:cs typeface="Arial" panose="020B0604020202020204"/>
                  </a:rPr>
                  <a:t>0</a:t>
                </a:r>
                <a:endParaRPr lang="en-US" sz="2400">
                  <a:latin typeface="Arial" panose="020B0604020202020204"/>
                  <a:cs typeface="Arial" panose="020B0604020202020204"/>
                </a:endParaRPr>
              </a:p>
            </p:txBody>
          </p:sp>
          <p:grpSp>
            <p:nvGrpSpPr>
              <p:cNvPr id="105" name="Group 21"/>
              <p:cNvGrpSpPr/>
              <p:nvPr/>
            </p:nvGrpSpPr>
            <p:grpSpPr bwMode="auto">
              <a:xfrm>
                <a:off x="1702" y="3546"/>
                <a:ext cx="743" cy="405"/>
                <a:chOff x="1702" y="3546"/>
                <a:chExt cx="743" cy="405"/>
              </a:xfrm>
            </p:grpSpPr>
            <p:sp>
              <p:nvSpPr>
                <p:cNvPr id="109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702" y="3663"/>
                  <a:ext cx="74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100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10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067" y="3546"/>
                  <a:ext cx="0" cy="10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grpSp>
            <p:nvGrpSpPr>
              <p:cNvPr id="106" name="Group 24"/>
              <p:cNvGrpSpPr/>
              <p:nvPr/>
            </p:nvGrpSpPr>
            <p:grpSpPr bwMode="auto">
              <a:xfrm>
                <a:off x="3336" y="3546"/>
                <a:ext cx="744" cy="407"/>
                <a:chOff x="3336" y="3546"/>
                <a:chExt cx="744" cy="407"/>
              </a:xfrm>
            </p:grpSpPr>
            <p:sp>
              <p:nvSpPr>
                <p:cNvPr id="10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336" y="3665"/>
                  <a:ext cx="744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panose="020B0604020202020204"/>
                      <a:cs typeface="Arial" panose="020B0604020202020204"/>
                    </a:rPr>
                    <a:t>300</a:t>
                  </a:r>
                  <a:endParaRPr lang="en-US" sz="24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108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3702" y="3546"/>
                  <a:ext cx="0" cy="10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</p:grpSp>
      </p:grpSp>
      <p:grpSp>
        <p:nvGrpSpPr>
          <p:cNvPr id="119" name="Group 27"/>
          <p:cNvGrpSpPr/>
          <p:nvPr/>
        </p:nvGrpSpPr>
        <p:grpSpPr bwMode="auto">
          <a:xfrm>
            <a:off x="1353175" y="4241004"/>
            <a:ext cx="3327400" cy="1884362"/>
            <a:chOff x="831" y="2413"/>
            <a:chExt cx="2096" cy="1187"/>
          </a:xfrm>
        </p:grpSpPr>
        <p:sp>
          <p:nvSpPr>
            <p:cNvPr id="120" name="Line 28"/>
            <p:cNvSpPr>
              <a:spLocks noChangeShapeType="1"/>
            </p:cNvSpPr>
            <p:nvPr/>
          </p:nvSpPr>
          <p:spPr bwMode="auto">
            <a:xfrm>
              <a:off x="876" y="2453"/>
              <a:ext cx="2030" cy="1105"/>
            </a:xfrm>
            <a:prstGeom prst="line">
              <a:avLst/>
            </a:prstGeom>
            <a:noFill/>
            <a:ln w="50800">
              <a:solidFill>
                <a:srgbClr val="33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Oval 29"/>
            <p:cNvSpPr>
              <a:spLocks noChangeArrowheads="1"/>
            </p:cNvSpPr>
            <p:nvPr/>
          </p:nvSpPr>
          <p:spPr bwMode="auto">
            <a:xfrm>
              <a:off x="831" y="2413"/>
              <a:ext cx="89" cy="87"/>
            </a:xfrm>
            <a:prstGeom prst="ellipse">
              <a:avLst/>
            </a:prstGeom>
            <a:solidFill>
              <a:srgbClr val="333399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Oval 30"/>
            <p:cNvSpPr>
              <a:spLocks noChangeArrowheads="1"/>
            </p:cNvSpPr>
            <p:nvPr/>
          </p:nvSpPr>
          <p:spPr bwMode="auto">
            <a:xfrm>
              <a:off x="2838" y="3513"/>
              <a:ext cx="89" cy="87"/>
            </a:xfrm>
            <a:prstGeom prst="ellipse">
              <a:avLst/>
            </a:prstGeom>
            <a:solidFill>
              <a:srgbClr val="333399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3" name="Group 31"/>
          <p:cNvGrpSpPr/>
          <p:nvPr/>
        </p:nvGrpSpPr>
        <p:grpSpPr bwMode="auto">
          <a:xfrm>
            <a:off x="1426200" y="4950616"/>
            <a:ext cx="1889125" cy="1109663"/>
            <a:chOff x="877" y="2860"/>
            <a:chExt cx="1190" cy="699"/>
          </a:xfrm>
        </p:grpSpPr>
        <p:grpSp>
          <p:nvGrpSpPr>
            <p:cNvPr id="124" name="Group 32"/>
            <p:cNvGrpSpPr/>
            <p:nvPr/>
          </p:nvGrpSpPr>
          <p:grpSpPr bwMode="auto">
            <a:xfrm>
              <a:off x="877" y="2903"/>
              <a:ext cx="1147" cy="656"/>
              <a:chOff x="357" y="2450"/>
              <a:chExt cx="795" cy="646"/>
            </a:xfrm>
          </p:grpSpPr>
          <p:sp>
            <p:nvSpPr>
              <p:cNvPr id="126" name="Line 33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Line 34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25" name="Oval 35"/>
            <p:cNvSpPr>
              <a:spLocks noChangeArrowheads="1"/>
            </p:cNvSpPr>
            <p:nvPr/>
          </p:nvSpPr>
          <p:spPr bwMode="auto">
            <a:xfrm>
              <a:off x="1978" y="2860"/>
              <a:ext cx="89" cy="87"/>
            </a:xfrm>
            <a:prstGeom prst="ellipse">
              <a:avLst/>
            </a:prstGeom>
            <a:solidFill>
              <a:srgbClr val="3366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8" name="Group 75"/>
          <p:cNvGrpSpPr/>
          <p:nvPr/>
        </p:nvGrpSpPr>
        <p:grpSpPr bwMode="auto">
          <a:xfrm>
            <a:off x="3845550" y="3458366"/>
            <a:ext cx="4672012" cy="820738"/>
            <a:chOff x="2401" y="1920"/>
            <a:chExt cx="2943" cy="517"/>
          </a:xfrm>
          <a:noFill/>
        </p:grpSpPr>
        <p:sp>
          <p:nvSpPr>
            <p:cNvPr id="129" name="Rectangle 40"/>
            <p:cNvSpPr>
              <a:spLocks noChangeArrowheads="1"/>
            </p:cNvSpPr>
            <p:nvPr/>
          </p:nvSpPr>
          <p:spPr bwMode="auto">
            <a:xfrm>
              <a:off x="4543" y="1920"/>
              <a:ext cx="801" cy="51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700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Rectangle 41"/>
            <p:cNvSpPr>
              <a:spLocks noChangeArrowheads="1"/>
            </p:cNvSpPr>
            <p:nvPr/>
          </p:nvSpPr>
          <p:spPr bwMode="auto">
            <a:xfrm>
              <a:off x="3484" y="1920"/>
              <a:ext cx="1059" cy="51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130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Rectangle 42"/>
            <p:cNvSpPr>
              <a:spLocks noChangeArrowheads="1"/>
            </p:cNvSpPr>
            <p:nvPr/>
          </p:nvSpPr>
          <p:spPr bwMode="auto">
            <a:xfrm>
              <a:off x="2401" y="1920"/>
              <a:ext cx="1083" cy="51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消费量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32" name="Group 76"/>
          <p:cNvGrpSpPr/>
          <p:nvPr/>
        </p:nvGrpSpPr>
        <p:grpSpPr bwMode="auto">
          <a:xfrm>
            <a:off x="3845550" y="2547141"/>
            <a:ext cx="4672012" cy="455613"/>
            <a:chOff x="2401" y="1346"/>
            <a:chExt cx="2943" cy="287"/>
          </a:xfrm>
          <a:noFill/>
        </p:grpSpPr>
        <p:sp>
          <p:nvSpPr>
            <p:cNvPr id="133" name="Rectangle 37"/>
            <p:cNvSpPr>
              <a:spLocks noChangeArrowheads="1"/>
            </p:cNvSpPr>
            <p:nvPr/>
          </p:nvSpPr>
          <p:spPr bwMode="auto">
            <a:xfrm>
              <a:off x="4543" y="1346"/>
              <a:ext cx="801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700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Rectangle 38"/>
            <p:cNvSpPr>
              <a:spLocks noChangeArrowheads="1"/>
            </p:cNvSpPr>
            <p:nvPr/>
          </p:nvSpPr>
          <p:spPr bwMode="auto">
            <a:xfrm>
              <a:off x="3484" y="1346"/>
              <a:ext cx="1059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Rectangle 39"/>
            <p:cNvSpPr>
              <a:spLocks noChangeArrowheads="1"/>
            </p:cNvSpPr>
            <p:nvPr/>
          </p:nvSpPr>
          <p:spPr bwMode="auto">
            <a:xfrm>
              <a:off x="2401" y="1346"/>
              <a:ext cx="1083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r>
                <a:rPr lang="zh-CN" alt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进口的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36" name="Group 77"/>
          <p:cNvGrpSpPr/>
          <p:nvPr/>
        </p:nvGrpSpPr>
        <p:grpSpPr bwMode="auto">
          <a:xfrm>
            <a:off x="3845550" y="3002754"/>
            <a:ext cx="4672012" cy="455612"/>
            <a:chOff x="2401" y="1633"/>
            <a:chExt cx="2943" cy="287"/>
          </a:xfrm>
          <a:noFill/>
        </p:grpSpPr>
        <p:sp>
          <p:nvSpPr>
            <p:cNvPr id="137" name="Rectangle 43"/>
            <p:cNvSpPr>
              <a:spLocks noChangeArrowheads="1"/>
            </p:cNvSpPr>
            <p:nvPr/>
          </p:nvSpPr>
          <p:spPr bwMode="auto">
            <a:xfrm>
              <a:off x="4543" y="1633"/>
              <a:ext cx="801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8" name="Rectangle 44"/>
            <p:cNvSpPr>
              <a:spLocks noChangeArrowheads="1"/>
            </p:cNvSpPr>
            <p:nvPr/>
          </p:nvSpPr>
          <p:spPr bwMode="auto">
            <a:xfrm>
              <a:off x="3484" y="1633"/>
              <a:ext cx="1059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110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9" name="Rectangle 45"/>
            <p:cNvSpPr>
              <a:spLocks noChangeArrowheads="1"/>
            </p:cNvSpPr>
            <p:nvPr/>
          </p:nvSpPr>
          <p:spPr bwMode="auto">
            <a:xfrm>
              <a:off x="2401" y="1633"/>
              <a:ext cx="1083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–</a:t>
              </a:r>
              <a:r>
                <a:rPr lang="zh-CN" alt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出口的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40" name="Group 73"/>
          <p:cNvGrpSpPr/>
          <p:nvPr/>
        </p:nvGrpSpPr>
        <p:grpSpPr bwMode="auto">
          <a:xfrm>
            <a:off x="3845550" y="2091529"/>
            <a:ext cx="4672012" cy="455612"/>
            <a:chOff x="2401" y="1059"/>
            <a:chExt cx="2943" cy="287"/>
          </a:xfrm>
          <a:noFill/>
        </p:grpSpPr>
        <p:sp>
          <p:nvSpPr>
            <p:cNvPr id="141" name="Rectangle 46"/>
            <p:cNvSpPr>
              <a:spLocks noChangeArrowheads="1"/>
            </p:cNvSpPr>
            <p:nvPr/>
          </p:nvSpPr>
          <p:spPr bwMode="auto">
            <a:xfrm>
              <a:off x="4543" y="1059"/>
              <a:ext cx="801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2" name="Rectangle 47"/>
            <p:cNvSpPr>
              <a:spLocks noChangeArrowheads="1"/>
            </p:cNvSpPr>
            <p:nvPr/>
          </p:nvSpPr>
          <p:spPr bwMode="auto">
            <a:xfrm>
              <a:off x="3484" y="1059"/>
              <a:ext cx="1059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240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3" name="Rectangle 48"/>
            <p:cNvSpPr>
              <a:spLocks noChangeArrowheads="1"/>
            </p:cNvSpPr>
            <p:nvPr/>
          </p:nvSpPr>
          <p:spPr bwMode="auto">
            <a:xfrm>
              <a:off x="2401" y="1059"/>
              <a:ext cx="1083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/>
            <a:lstStyle/>
            <a:p>
              <a:pPr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生产的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44" name="Rectangle 51"/>
          <p:cNvSpPr>
            <a:spLocks noChangeArrowheads="1"/>
          </p:cNvSpPr>
          <p:nvPr/>
        </p:nvSpPr>
        <p:spPr bwMode="auto">
          <a:xfrm>
            <a:off x="3845550" y="1635916"/>
            <a:ext cx="1719262" cy="455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endParaRPr lang="en-US"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5" name="Line 52"/>
          <p:cNvSpPr>
            <a:spLocks noChangeShapeType="1"/>
          </p:cNvSpPr>
          <p:nvPr/>
        </p:nvSpPr>
        <p:spPr bwMode="auto">
          <a:xfrm>
            <a:off x="3845550" y="1635916"/>
            <a:ext cx="1719262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6" name="Line 54"/>
          <p:cNvSpPr>
            <a:spLocks noChangeShapeType="1"/>
          </p:cNvSpPr>
          <p:nvPr/>
        </p:nvSpPr>
        <p:spPr bwMode="auto">
          <a:xfrm>
            <a:off x="3845550" y="3458366"/>
            <a:ext cx="46720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7" name="Line 55"/>
          <p:cNvSpPr>
            <a:spLocks noChangeShapeType="1"/>
          </p:cNvSpPr>
          <p:nvPr/>
        </p:nvSpPr>
        <p:spPr bwMode="auto">
          <a:xfrm>
            <a:off x="3845550" y="4279104"/>
            <a:ext cx="1719262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8" name="Line 56"/>
          <p:cNvSpPr>
            <a:spLocks noChangeShapeType="1"/>
          </p:cNvSpPr>
          <p:nvPr/>
        </p:nvSpPr>
        <p:spPr bwMode="auto">
          <a:xfrm>
            <a:off x="3845550" y="1635916"/>
            <a:ext cx="0" cy="4556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9" name="Group 72"/>
          <p:cNvGrpSpPr/>
          <p:nvPr/>
        </p:nvGrpSpPr>
        <p:grpSpPr bwMode="auto">
          <a:xfrm>
            <a:off x="3845550" y="1635916"/>
            <a:ext cx="4672012" cy="2643188"/>
            <a:chOff x="2401" y="772"/>
            <a:chExt cx="2943" cy="1665"/>
          </a:xfrm>
          <a:noFill/>
        </p:grpSpPr>
        <p:sp>
          <p:nvSpPr>
            <p:cNvPr id="150" name="Rectangle 49"/>
            <p:cNvSpPr>
              <a:spLocks noChangeArrowheads="1"/>
            </p:cNvSpPr>
            <p:nvPr/>
          </p:nvSpPr>
          <p:spPr bwMode="auto">
            <a:xfrm>
              <a:off x="4543" y="772"/>
              <a:ext cx="801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小麦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51" name="Rectangle 50"/>
            <p:cNvSpPr>
              <a:spLocks noChangeArrowheads="1"/>
            </p:cNvSpPr>
            <p:nvPr/>
          </p:nvSpPr>
          <p:spPr bwMode="auto">
            <a:xfrm>
              <a:off x="3484" y="772"/>
              <a:ext cx="1059" cy="28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电脑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52" name="Line 53"/>
            <p:cNvSpPr>
              <a:spLocks noChangeShapeType="1"/>
            </p:cNvSpPr>
            <p:nvPr/>
          </p:nvSpPr>
          <p:spPr bwMode="auto">
            <a:xfrm>
              <a:off x="2401" y="1059"/>
              <a:ext cx="294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3" name="Line 57"/>
            <p:cNvSpPr>
              <a:spLocks noChangeShapeType="1"/>
            </p:cNvSpPr>
            <p:nvPr/>
          </p:nvSpPr>
          <p:spPr bwMode="auto">
            <a:xfrm>
              <a:off x="3484" y="772"/>
              <a:ext cx="0" cy="1665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4" name="Line 58"/>
            <p:cNvSpPr>
              <a:spLocks noChangeShapeType="1"/>
            </p:cNvSpPr>
            <p:nvPr/>
          </p:nvSpPr>
          <p:spPr bwMode="auto">
            <a:xfrm>
              <a:off x="4543" y="772"/>
              <a:ext cx="0" cy="1665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55" name="Line 59"/>
          <p:cNvSpPr>
            <a:spLocks noChangeShapeType="1"/>
          </p:cNvSpPr>
          <p:nvPr/>
        </p:nvSpPr>
        <p:spPr bwMode="auto">
          <a:xfrm>
            <a:off x="8517562" y="1635916"/>
            <a:ext cx="0" cy="4556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6" name="Line 60"/>
          <p:cNvSpPr>
            <a:spLocks noChangeShapeType="1"/>
          </p:cNvSpPr>
          <p:nvPr/>
        </p:nvSpPr>
        <p:spPr bwMode="auto">
          <a:xfrm>
            <a:off x="5564812" y="1635916"/>
            <a:ext cx="1681163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7" name="Line 61"/>
          <p:cNvSpPr>
            <a:spLocks noChangeShapeType="1"/>
          </p:cNvSpPr>
          <p:nvPr/>
        </p:nvSpPr>
        <p:spPr bwMode="auto">
          <a:xfrm>
            <a:off x="3845550" y="2091529"/>
            <a:ext cx="0" cy="45561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8" name="Line 62"/>
          <p:cNvSpPr>
            <a:spLocks noChangeShapeType="1"/>
          </p:cNvSpPr>
          <p:nvPr/>
        </p:nvSpPr>
        <p:spPr bwMode="auto">
          <a:xfrm>
            <a:off x="7245975" y="1635916"/>
            <a:ext cx="1271587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9" name="Line 63"/>
          <p:cNvSpPr>
            <a:spLocks noChangeShapeType="1"/>
          </p:cNvSpPr>
          <p:nvPr/>
        </p:nvSpPr>
        <p:spPr bwMode="auto">
          <a:xfrm>
            <a:off x="8517562" y="2091529"/>
            <a:ext cx="0" cy="45561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0" name="Line 64"/>
          <p:cNvSpPr>
            <a:spLocks noChangeShapeType="1"/>
          </p:cNvSpPr>
          <p:nvPr/>
        </p:nvSpPr>
        <p:spPr bwMode="auto">
          <a:xfrm>
            <a:off x="3845550" y="2547141"/>
            <a:ext cx="0" cy="4556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1" name="Line 65"/>
          <p:cNvSpPr>
            <a:spLocks noChangeShapeType="1"/>
          </p:cNvSpPr>
          <p:nvPr/>
        </p:nvSpPr>
        <p:spPr bwMode="auto">
          <a:xfrm>
            <a:off x="8517562" y="2547141"/>
            <a:ext cx="0" cy="4556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2" name="Line 66"/>
          <p:cNvSpPr>
            <a:spLocks noChangeShapeType="1"/>
          </p:cNvSpPr>
          <p:nvPr/>
        </p:nvSpPr>
        <p:spPr bwMode="auto">
          <a:xfrm>
            <a:off x="3845550" y="3002754"/>
            <a:ext cx="0" cy="45561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3" name="Line 67"/>
          <p:cNvSpPr>
            <a:spLocks noChangeShapeType="1"/>
          </p:cNvSpPr>
          <p:nvPr/>
        </p:nvSpPr>
        <p:spPr bwMode="auto">
          <a:xfrm>
            <a:off x="8517562" y="3002754"/>
            <a:ext cx="0" cy="45561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4" name="Line 68"/>
          <p:cNvSpPr>
            <a:spLocks noChangeShapeType="1"/>
          </p:cNvSpPr>
          <p:nvPr/>
        </p:nvSpPr>
        <p:spPr bwMode="auto">
          <a:xfrm>
            <a:off x="3845550" y="3458366"/>
            <a:ext cx="0" cy="820738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5" name="Line 69"/>
          <p:cNvSpPr>
            <a:spLocks noChangeShapeType="1"/>
          </p:cNvSpPr>
          <p:nvPr/>
        </p:nvSpPr>
        <p:spPr bwMode="auto">
          <a:xfrm>
            <a:off x="8517562" y="3458366"/>
            <a:ext cx="0" cy="820738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6" name="Line 70"/>
          <p:cNvSpPr>
            <a:spLocks noChangeShapeType="1"/>
          </p:cNvSpPr>
          <p:nvPr/>
        </p:nvSpPr>
        <p:spPr bwMode="auto">
          <a:xfrm>
            <a:off x="5564812" y="4279104"/>
            <a:ext cx="1681163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7" name="Line 71"/>
          <p:cNvSpPr>
            <a:spLocks noChangeShapeType="1"/>
          </p:cNvSpPr>
          <p:nvPr/>
        </p:nvSpPr>
        <p:spPr bwMode="auto">
          <a:xfrm>
            <a:off x="7245975" y="4279104"/>
            <a:ext cx="1271587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8" name="Oval 82"/>
          <p:cNvSpPr>
            <a:spLocks noChangeArrowheads="1"/>
          </p:cNvSpPr>
          <p:nvPr/>
        </p:nvSpPr>
        <p:spPr bwMode="auto">
          <a:xfrm>
            <a:off x="4539287" y="5988841"/>
            <a:ext cx="141288" cy="138113"/>
          </a:xfrm>
          <a:prstGeom prst="ellipse">
            <a:avLst/>
          </a:prstGeom>
          <a:solidFill>
            <a:srgbClr val="FF0000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6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矩形 168"/>
          <p:cNvSpPr/>
          <p:nvPr/>
        </p:nvSpPr>
        <p:spPr>
          <a:xfrm>
            <a:off x="70834" y="5832474"/>
            <a:ext cx="2537430" cy="79533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贸易使两国都变得更好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1107584" y="1506828"/>
            <a:ext cx="7875430" cy="5304546"/>
            <a:chOff x="1047815" y="1596153"/>
            <a:chExt cx="7920038" cy="5203825"/>
          </a:xfrm>
        </p:grpSpPr>
        <p:sp>
          <p:nvSpPr>
            <p:cNvPr id="3" name="Rectangle 59"/>
            <p:cNvSpPr>
              <a:spLocks noChangeArrowheads="1"/>
            </p:cNvSpPr>
            <p:nvPr/>
          </p:nvSpPr>
          <p:spPr bwMode="auto">
            <a:xfrm>
              <a:off x="1063690" y="4215528"/>
              <a:ext cx="7904163" cy="2570162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" name="Rectangle 58"/>
            <p:cNvSpPr>
              <a:spLocks noChangeArrowheads="1"/>
            </p:cNvSpPr>
            <p:nvPr/>
          </p:nvSpPr>
          <p:spPr bwMode="auto">
            <a:xfrm>
              <a:off x="1052578" y="1597740"/>
              <a:ext cx="7904162" cy="261778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6" name="Group 52"/>
            <p:cNvGrpSpPr/>
            <p:nvPr/>
          </p:nvGrpSpPr>
          <p:grpSpPr bwMode="auto">
            <a:xfrm>
              <a:off x="1047815" y="3661490"/>
              <a:ext cx="7913688" cy="552450"/>
              <a:chOff x="378" y="1986"/>
              <a:chExt cx="4985" cy="348"/>
            </a:xfrm>
          </p:grpSpPr>
          <p:sp>
            <p:nvSpPr>
              <p:cNvPr id="7" name="Rectangle 4"/>
              <p:cNvSpPr>
                <a:spLocks noChangeArrowheads="1"/>
              </p:cNvSpPr>
              <p:nvPr/>
            </p:nvSpPr>
            <p:spPr bwMode="auto">
              <a:xfrm>
                <a:off x="4231" y="1986"/>
                <a:ext cx="1132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 b="1">
                    <a:solidFill>
                      <a:srgbClr val="0000FF"/>
                    </a:solidFill>
                    <a:latin typeface="Arial" panose="020B0604020202020204"/>
                    <a:cs typeface="Arial" panose="020B0604020202020204"/>
                  </a:rPr>
                  <a:t>200</a:t>
                </a:r>
                <a:endParaRPr lang="en-US" sz="2500" b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2910" y="1986"/>
                <a:ext cx="1321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 dirty="0">
                    <a:latin typeface="Arial" panose="020B0604020202020204"/>
                    <a:cs typeface="Arial" panose="020B0604020202020204"/>
                  </a:rPr>
                  <a:t>2700</a:t>
                </a:r>
                <a:endParaRPr lang="en-US" sz="2500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1534" y="1986"/>
                <a:ext cx="1376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 dirty="0">
                    <a:latin typeface="Arial" panose="020B0604020202020204"/>
                    <a:cs typeface="Arial" panose="020B0604020202020204"/>
                  </a:rPr>
                  <a:t>2500</a:t>
                </a:r>
                <a:endParaRPr lang="en-US" sz="2500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378" y="1986"/>
                <a:ext cx="1156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>
                    <a:latin typeface="Arial" panose="020B0604020202020204"/>
                    <a:cs typeface="Arial" panose="020B0604020202020204"/>
                  </a:rPr>
                  <a:t>小麦</a:t>
                </a:r>
                <a:endParaRPr lang="en-US" sz="25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2" name="Group 53"/>
            <p:cNvGrpSpPr/>
            <p:nvPr/>
          </p:nvGrpSpPr>
          <p:grpSpPr bwMode="auto">
            <a:xfrm>
              <a:off x="1047815" y="3101103"/>
              <a:ext cx="7913688" cy="560387"/>
              <a:chOff x="378" y="1633"/>
              <a:chExt cx="4985" cy="353"/>
            </a:xfrm>
          </p:grpSpPr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4231" y="1633"/>
                <a:ext cx="1132" cy="3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 b="1">
                    <a:solidFill>
                      <a:srgbClr val="0000FF"/>
                    </a:solidFill>
                    <a:latin typeface="Arial" panose="020B0604020202020204"/>
                    <a:cs typeface="Arial" panose="020B0604020202020204"/>
                  </a:rPr>
                  <a:t>20</a:t>
                </a:r>
                <a:endParaRPr lang="en-US" sz="2500" b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2910" y="1633"/>
                <a:ext cx="1321" cy="3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>
                    <a:latin typeface="Arial" panose="020B0604020202020204"/>
                    <a:cs typeface="Arial" panose="020B0604020202020204"/>
                  </a:rPr>
                  <a:t>270</a:t>
                </a:r>
                <a:endParaRPr lang="en-US" sz="25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1534" y="1633"/>
                <a:ext cx="1376" cy="3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>
                    <a:latin typeface="Arial" panose="020B0604020202020204"/>
                    <a:cs typeface="Arial" panose="020B0604020202020204"/>
                  </a:rPr>
                  <a:t>250</a:t>
                </a:r>
                <a:endParaRPr lang="en-US" sz="25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6" name="Rectangle 11"/>
              <p:cNvSpPr>
                <a:spLocks noChangeArrowheads="1"/>
              </p:cNvSpPr>
              <p:nvPr/>
            </p:nvSpPr>
            <p:spPr bwMode="auto">
              <a:xfrm>
                <a:off x="378" y="1633"/>
                <a:ext cx="1156" cy="3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zh-CN" altLang="en-US" sz="2500">
                    <a:latin typeface="Arial" panose="020B0604020202020204"/>
                    <a:cs typeface="Arial" panose="020B0604020202020204"/>
                  </a:rPr>
                  <a:t>电脑</a:t>
                </a:r>
                <a:endParaRPr lang="zh-CN" altLang="en-US" sz="25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7164453" y="2210515"/>
              <a:ext cx="1797050" cy="890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贸易</a:t>
              </a:r>
              <a:r>
                <a:rPr lang="zh-CN" altLang="en-US" sz="2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好处</a:t>
              </a:r>
              <a:endParaRPr 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5067365" y="2210515"/>
              <a:ext cx="2097088" cy="890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smtClean="0">
                  <a:latin typeface="Arial" panose="020B0604020202020204"/>
                  <a:cs typeface="Arial" panose="020B0604020202020204"/>
                </a:rPr>
                <a:t>贸易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2882965" y="2210515"/>
              <a:ext cx="2184400" cy="890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smtClean="0">
                  <a:latin typeface="Arial" panose="020B0604020202020204"/>
                  <a:cs typeface="Arial" panose="020B0604020202020204"/>
                </a:rPr>
                <a:t>无贸易</a:t>
              </a: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1047815" y="2210515"/>
              <a:ext cx="1835150" cy="890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1047815" y="1596153"/>
              <a:ext cx="7913688" cy="6143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中</a:t>
              </a:r>
              <a:r>
                <a:rPr lang="en-US" sz="28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国</a:t>
              </a:r>
              <a:r>
                <a:rPr lang="zh-CN" altLang="en-US" sz="28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消费</a:t>
              </a:r>
              <a:endParaRPr 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047815" y="1596153"/>
              <a:ext cx="7913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1047815" y="2210515"/>
              <a:ext cx="79136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1047815" y="3101103"/>
              <a:ext cx="79136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1047815" y="3661490"/>
              <a:ext cx="79136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047815" y="4213940"/>
              <a:ext cx="7913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047815" y="1596153"/>
              <a:ext cx="0" cy="261778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8961503" y="1596153"/>
              <a:ext cx="0" cy="261778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2882965" y="2210515"/>
              <a:ext cx="0" cy="20034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5067365" y="2210515"/>
              <a:ext cx="0" cy="20034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7164453" y="2210515"/>
              <a:ext cx="0" cy="20034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32" name="Group 57"/>
            <p:cNvGrpSpPr/>
            <p:nvPr/>
          </p:nvGrpSpPr>
          <p:grpSpPr bwMode="auto">
            <a:xfrm>
              <a:off x="1052578" y="6247528"/>
              <a:ext cx="7913687" cy="552450"/>
              <a:chOff x="381" y="3615"/>
              <a:chExt cx="4985" cy="348"/>
            </a:xfrm>
          </p:grpSpPr>
          <p:sp>
            <p:nvSpPr>
              <p:cNvPr id="33" name="Rectangle 28"/>
              <p:cNvSpPr>
                <a:spLocks noChangeArrowheads="1"/>
              </p:cNvSpPr>
              <p:nvPr/>
            </p:nvSpPr>
            <p:spPr bwMode="auto">
              <a:xfrm>
                <a:off x="4234" y="3615"/>
                <a:ext cx="1132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 b="1">
                    <a:solidFill>
                      <a:srgbClr val="0000FF"/>
                    </a:solidFill>
                    <a:latin typeface="Arial" panose="020B0604020202020204"/>
                    <a:cs typeface="Arial" panose="020B0604020202020204"/>
                  </a:rPr>
                  <a:t>100</a:t>
                </a:r>
                <a:endParaRPr lang="en-US" sz="2500" b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4" name="Rectangle 29"/>
              <p:cNvSpPr>
                <a:spLocks noChangeArrowheads="1"/>
              </p:cNvSpPr>
              <p:nvPr/>
            </p:nvSpPr>
            <p:spPr bwMode="auto">
              <a:xfrm>
                <a:off x="2913" y="3615"/>
                <a:ext cx="1321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>
                    <a:latin typeface="Arial" panose="020B0604020202020204"/>
                    <a:cs typeface="Arial" panose="020B0604020202020204"/>
                  </a:rPr>
                  <a:t>700</a:t>
                </a:r>
                <a:endParaRPr lang="en-US" sz="25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5" name="Rectangle 30"/>
              <p:cNvSpPr>
                <a:spLocks noChangeArrowheads="1"/>
              </p:cNvSpPr>
              <p:nvPr/>
            </p:nvSpPr>
            <p:spPr bwMode="auto">
              <a:xfrm>
                <a:off x="1537" y="3615"/>
                <a:ext cx="1376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>
                    <a:latin typeface="Arial" panose="020B0604020202020204"/>
                    <a:cs typeface="Arial" panose="020B0604020202020204"/>
                  </a:rPr>
                  <a:t>600</a:t>
                </a:r>
                <a:endParaRPr lang="en-US" sz="25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6" name="Rectangle 31"/>
              <p:cNvSpPr>
                <a:spLocks noChangeArrowheads="1"/>
              </p:cNvSpPr>
              <p:nvPr/>
            </p:nvSpPr>
            <p:spPr bwMode="auto">
              <a:xfrm>
                <a:off x="381" y="3615"/>
                <a:ext cx="1156" cy="34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>
                    <a:latin typeface="Arial" panose="020B0604020202020204"/>
                    <a:cs typeface="Arial" panose="020B0604020202020204"/>
                  </a:rPr>
                  <a:t>小麦</a:t>
                </a:r>
                <a:endParaRPr lang="en-US" sz="2500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37" name="Group 56"/>
            <p:cNvGrpSpPr/>
            <p:nvPr/>
          </p:nvGrpSpPr>
          <p:grpSpPr bwMode="auto">
            <a:xfrm>
              <a:off x="1052578" y="5687140"/>
              <a:ext cx="7913687" cy="560388"/>
              <a:chOff x="381" y="3262"/>
              <a:chExt cx="4985" cy="353"/>
            </a:xfrm>
          </p:grpSpPr>
          <p:sp>
            <p:nvSpPr>
              <p:cNvPr id="38" name="Rectangle 32"/>
              <p:cNvSpPr>
                <a:spLocks noChangeArrowheads="1"/>
              </p:cNvSpPr>
              <p:nvPr/>
            </p:nvSpPr>
            <p:spPr bwMode="auto">
              <a:xfrm>
                <a:off x="4234" y="3262"/>
                <a:ext cx="1132" cy="3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 b="1">
                    <a:solidFill>
                      <a:srgbClr val="0000FF"/>
                    </a:solidFill>
                    <a:latin typeface="Arial" panose="020B0604020202020204"/>
                    <a:cs typeface="Arial" panose="020B0604020202020204"/>
                  </a:rPr>
                  <a:t>10</a:t>
                </a:r>
                <a:endParaRPr lang="en-US" sz="2500" b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9" name="Rectangle 33"/>
              <p:cNvSpPr>
                <a:spLocks noChangeArrowheads="1"/>
              </p:cNvSpPr>
              <p:nvPr/>
            </p:nvSpPr>
            <p:spPr bwMode="auto">
              <a:xfrm>
                <a:off x="2913" y="3262"/>
                <a:ext cx="1321" cy="3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>
                    <a:latin typeface="Arial" panose="020B0604020202020204"/>
                    <a:cs typeface="Arial" panose="020B0604020202020204"/>
                  </a:rPr>
                  <a:t>130</a:t>
                </a:r>
                <a:endParaRPr lang="en-US" sz="25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0" name="Rectangle 34"/>
              <p:cNvSpPr>
                <a:spLocks noChangeArrowheads="1"/>
              </p:cNvSpPr>
              <p:nvPr/>
            </p:nvSpPr>
            <p:spPr bwMode="auto">
              <a:xfrm>
                <a:off x="1537" y="3262"/>
                <a:ext cx="1376" cy="3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500">
                    <a:latin typeface="Arial" panose="020B0604020202020204"/>
                    <a:cs typeface="Arial" panose="020B0604020202020204"/>
                  </a:rPr>
                  <a:t>120</a:t>
                </a:r>
                <a:endParaRPr lang="en-US" sz="25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1" name="Rectangle 35"/>
              <p:cNvSpPr>
                <a:spLocks noChangeArrowheads="1"/>
              </p:cNvSpPr>
              <p:nvPr/>
            </p:nvSpPr>
            <p:spPr bwMode="auto">
              <a:xfrm>
                <a:off x="381" y="3262"/>
                <a:ext cx="1156" cy="35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/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zh-CN" altLang="en-US" sz="2500">
                    <a:latin typeface="Arial" panose="020B0604020202020204"/>
                    <a:cs typeface="Arial" panose="020B0604020202020204"/>
                  </a:rPr>
                  <a:t>电脑</a:t>
                </a:r>
                <a:endParaRPr lang="zh-CN" altLang="en-US" sz="25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2" name="Rectangle 39"/>
            <p:cNvSpPr>
              <a:spLocks noChangeArrowheads="1"/>
            </p:cNvSpPr>
            <p:nvPr/>
          </p:nvSpPr>
          <p:spPr bwMode="auto">
            <a:xfrm>
              <a:off x="1052578" y="4796553"/>
              <a:ext cx="1835150" cy="8905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endParaRPr lang="en-US" sz="25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1052578" y="4212353"/>
              <a:ext cx="791368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44" name="Group 55"/>
            <p:cNvGrpSpPr/>
            <p:nvPr/>
          </p:nvGrpSpPr>
          <p:grpSpPr bwMode="auto">
            <a:xfrm>
              <a:off x="1052578" y="4212353"/>
              <a:ext cx="7913687" cy="2587625"/>
              <a:chOff x="381" y="2333"/>
              <a:chExt cx="4985" cy="1630"/>
            </a:xfrm>
          </p:grpSpPr>
          <p:sp>
            <p:nvSpPr>
              <p:cNvPr id="45" name="Line 45"/>
              <p:cNvSpPr>
                <a:spLocks noChangeShapeType="1"/>
              </p:cNvSpPr>
              <p:nvPr/>
            </p:nvSpPr>
            <p:spPr bwMode="auto">
              <a:xfrm>
                <a:off x="381" y="3963"/>
                <a:ext cx="498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grpSp>
            <p:nvGrpSpPr>
              <p:cNvPr id="46" name="Group 54"/>
              <p:cNvGrpSpPr/>
              <p:nvPr/>
            </p:nvGrpSpPr>
            <p:grpSpPr bwMode="auto">
              <a:xfrm>
                <a:off x="381" y="2333"/>
                <a:ext cx="4985" cy="1630"/>
                <a:chOff x="381" y="2333"/>
                <a:chExt cx="4985" cy="1630"/>
              </a:xfrm>
            </p:grpSpPr>
            <p:sp>
              <p:nvSpPr>
                <p:cNvPr id="47" name="Rectangle 36"/>
                <p:cNvSpPr>
                  <a:spLocks noChangeArrowheads="1"/>
                </p:cNvSpPr>
                <p:nvPr/>
              </p:nvSpPr>
              <p:spPr bwMode="auto">
                <a:xfrm>
                  <a:off x="4234" y="2701"/>
                  <a:ext cx="1132" cy="56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anchor="ctr" anchorCtr="1"/>
                <a:lstStyle/>
                <a:p>
                  <a:pPr algn="ctr">
                    <a:lnSpc>
                      <a:spcPct val="105000"/>
                    </a:lnSpc>
                    <a:spcBef>
                      <a:spcPct val="45000"/>
                    </a:spcBef>
                    <a:buClr>
                      <a:srgbClr val="00B85C"/>
                    </a:buClr>
                    <a:buSzPct val="120000"/>
                    <a:buFont typeface="Wingdings" panose="05000000000000000000" pitchFamily="2" charset="2"/>
                    <a:buNone/>
                  </a:pPr>
                  <a:r>
                    <a:rPr lang="en-US" sz="2500" smtClean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/>
                    </a:rPr>
                    <a:t>贸易</a:t>
                  </a:r>
                  <a:r>
                    <a:rPr lang="zh-CN" altLang="en-US" sz="2500" smtClean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/>
                    </a:rPr>
                    <a:t>好处</a:t>
                  </a:r>
                  <a:endParaRPr lang="en-US" sz="25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48" name="Rectangle 37"/>
                <p:cNvSpPr>
                  <a:spLocks noChangeArrowheads="1"/>
                </p:cNvSpPr>
                <p:nvPr/>
              </p:nvSpPr>
              <p:spPr bwMode="auto">
                <a:xfrm>
                  <a:off x="2913" y="2701"/>
                  <a:ext cx="1321" cy="56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anchor="ctr" anchorCtr="1"/>
                <a:lstStyle/>
                <a:p>
                  <a:pPr algn="ctr">
                    <a:lnSpc>
                      <a:spcPct val="105000"/>
                    </a:lnSpc>
                    <a:spcBef>
                      <a:spcPct val="45000"/>
                    </a:spcBef>
                    <a:buClr>
                      <a:srgbClr val="00B85C"/>
                    </a:buClr>
                    <a:buSzPct val="120000"/>
                    <a:buFont typeface="Wingdings" panose="05000000000000000000" pitchFamily="2" charset="2"/>
                    <a:buNone/>
                  </a:pPr>
                  <a:r>
                    <a:rPr lang="en-US" sz="2500" smtClean="0">
                      <a:latin typeface="Arial" panose="020B0604020202020204"/>
                      <a:cs typeface="Arial" panose="020B0604020202020204"/>
                    </a:rPr>
                    <a:t>贸易</a:t>
                  </a:r>
                  <a:endParaRPr lang="en-US" sz="25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9" name="Rectangle 38"/>
                <p:cNvSpPr>
                  <a:spLocks noChangeArrowheads="1"/>
                </p:cNvSpPr>
                <p:nvPr/>
              </p:nvSpPr>
              <p:spPr bwMode="auto">
                <a:xfrm>
                  <a:off x="1537" y="2701"/>
                  <a:ext cx="1376" cy="56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anchor="ctr" anchorCtr="1"/>
                <a:lstStyle/>
                <a:p>
                  <a:pPr algn="ctr">
                    <a:lnSpc>
                      <a:spcPct val="105000"/>
                    </a:lnSpc>
                    <a:spcBef>
                      <a:spcPct val="45000"/>
                    </a:spcBef>
                    <a:buClr>
                      <a:srgbClr val="00B85C"/>
                    </a:buClr>
                    <a:buSzPct val="120000"/>
                    <a:buFont typeface="Wingdings" panose="05000000000000000000" pitchFamily="2" charset="2"/>
                    <a:buNone/>
                  </a:pPr>
                  <a:r>
                    <a:rPr lang="en-US" sz="2500" smtClean="0">
                      <a:latin typeface="Arial" panose="020B0604020202020204"/>
                      <a:cs typeface="Arial" panose="020B0604020202020204"/>
                    </a:rPr>
                    <a:t>无贸易</a:t>
                  </a:r>
                  <a:endParaRPr lang="en-US" sz="2500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0" name="Rectangle 40"/>
                <p:cNvSpPr>
                  <a:spLocks noChangeArrowheads="1"/>
                </p:cNvSpPr>
                <p:nvPr/>
              </p:nvSpPr>
              <p:spPr bwMode="auto">
                <a:xfrm>
                  <a:off x="381" y="2333"/>
                  <a:ext cx="4985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anchor="ctr" anchorCtr="1"/>
                <a:lstStyle/>
                <a:p>
                  <a:pPr>
                    <a:lnSpc>
                      <a:spcPct val="105000"/>
                    </a:lnSpc>
                    <a:spcBef>
                      <a:spcPct val="45000"/>
                    </a:spcBef>
                    <a:buClr>
                      <a:srgbClr val="00B85C"/>
                    </a:buClr>
                    <a:buSzPct val="120000"/>
                    <a:buFont typeface="Wingdings" panose="05000000000000000000" pitchFamily="2" charset="2"/>
                    <a:buNone/>
                  </a:pPr>
                  <a:r>
                    <a:rPr lang="zh-CN" altLang="en-US" sz="2800" smtClean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/>
                    </a:rPr>
                    <a:t>印度消费</a:t>
                  </a:r>
                  <a:endParaRPr lang="en-US" sz="28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endParaRPr>
                </a:p>
              </p:txBody>
            </p:sp>
            <p:sp>
              <p:nvSpPr>
                <p:cNvPr id="51" name="Line 42"/>
                <p:cNvSpPr>
                  <a:spLocks noChangeShapeType="1"/>
                </p:cNvSpPr>
                <p:nvPr/>
              </p:nvSpPr>
              <p:spPr bwMode="auto">
                <a:xfrm>
                  <a:off x="381" y="2701"/>
                  <a:ext cx="498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2" name="Line 43"/>
                <p:cNvSpPr>
                  <a:spLocks noChangeShapeType="1"/>
                </p:cNvSpPr>
                <p:nvPr/>
              </p:nvSpPr>
              <p:spPr bwMode="auto">
                <a:xfrm>
                  <a:off x="381" y="3262"/>
                  <a:ext cx="498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3" name="Line 44"/>
                <p:cNvSpPr>
                  <a:spLocks noChangeShapeType="1"/>
                </p:cNvSpPr>
                <p:nvPr/>
              </p:nvSpPr>
              <p:spPr bwMode="auto">
                <a:xfrm>
                  <a:off x="381" y="3615"/>
                  <a:ext cx="498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4" name="Line 46"/>
                <p:cNvSpPr>
                  <a:spLocks noChangeShapeType="1"/>
                </p:cNvSpPr>
                <p:nvPr/>
              </p:nvSpPr>
              <p:spPr bwMode="auto">
                <a:xfrm>
                  <a:off x="381" y="2333"/>
                  <a:ext cx="0" cy="163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5" name="Line 47"/>
                <p:cNvSpPr>
                  <a:spLocks noChangeShapeType="1"/>
                </p:cNvSpPr>
                <p:nvPr/>
              </p:nvSpPr>
              <p:spPr bwMode="auto">
                <a:xfrm>
                  <a:off x="5366" y="2333"/>
                  <a:ext cx="0" cy="163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6" name="Line 48"/>
                <p:cNvSpPr>
                  <a:spLocks noChangeShapeType="1"/>
                </p:cNvSpPr>
                <p:nvPr/>
              </p:nvSpPr>
              <p:spPr bwMode="auto">
                <a:xfrm>
                  <a:off x="1537" y="2701"/>
                  <a:ext cx="0" cy="126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7" name="Line 49"/>
                <p:cNvSpPr>
                  <a:spLocks noChangeShapeType="1"/>
                </p:cNvSpPr>
                <p:nvPr/>
              </p:nvSpPr>
              <p:spPr bwMode="auto">
                <a:xfrm>
                  <a:off x="2913" y="2701"/>
                  <a:ext cx="0" cy="126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8" name="Line 50"/>
                <p:cNvSpPr>
                  <a:spLocks noChangeShapeType="1"/>
                </p:cNvSpPr>
                <p:nvPr/>
              </p:nvSpPr>
              <p:spPr bwMode="auto">
                <a:xfrm>
                  <a:off x="4234" y="2701"/>
                  <a:ext cx="0" cy="126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绝对优势：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与其他生产商相比，能够使用更少的投入生产商品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小麦方面具有绝对优势：生产一吨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小麦中国需要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工时，印度为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25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工时。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如果每个国家都在某一种商品方面有绝对优势，并且专业化生产这种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产品，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那么两国都可以从贸易中获益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这些贸易好处来自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哪里？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哪个国家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方面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具有绝对优势？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生产一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印度</a:t>
            </a:r>
            <a:r>
              <a:rPr lang="zh-CN" altLang="en-US" sz="2400" noProof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125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工时，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但中国只需要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这两种商品上都有绝对优势！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445983" y="3509003"/>
            <a:ext cx="8094663" cy="1277273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那么</a:t>
            </a:r>
            <a:r>
              <a:rPr lang="en-US" sz="28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en-US" sz="2800" b="1" i="1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为什么</a:t>
            </a:r>
            <a:r>
              <a:rPr lang="zh-CN" altLang="en-US" sz="2800" b="1" i="1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印度可以专业化生产电脑</a:t>
            </a:r>
            <a:r>
              <a:rPr lang="en-US" sz="2800" b="1" i="1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呢？</a:t>
            </a:r>
            <a:endParaRPr lang="en-US" sz="2800" b="1" i="1" smtClean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algn="ctr">
              <a:lnSpc>
                <a:spcPct val="11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b="1" i="1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为什么两国都从贸易中获益</a:t>
            </a:r>
            <a:r>
              <a:rPr lang="zh-CN" altLang="en-US" sz="2800" b="1" i="1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呢</a:t>
            </a:r>
            <a:r>
              <a:rPr lang="en-US" sz="2800" b="1" i="1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？</a:t>
            </a:r>
            <a:endParaRPr lang="en-US" sz="2800" b="1" i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这些贸易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好处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来自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哪里？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当两个国家都以较低的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成本，专业化生产一个商品，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它们可以从贸易中获益。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绝对优势以生产商品所需的投入来衡量商品的成本。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noProof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之前学过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的另一个衡量标准是机会成本。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在我们的例子中，一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台电脑的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机会成本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是将生产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台电脑所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需的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劳动力去生产小麦，从而可以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生产的小麦数量。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商品成本的两种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衡量方法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比较优势：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生产某个商品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的机会成本低于其他生产商。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在我们的例子中，哪个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在电脑具有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比较优势？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要回答这个问题，必须确定每个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国家电脑的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机会成本。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机会成本和比较优势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57200" y="1215502"/>
            <a:ext cx="8416344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机会成本是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中国是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吨小麦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：生产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一台电脑需要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个工时，而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个工时在中国可以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吨小麦。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印度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吨小麦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：生产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电脑需要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个工时，而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125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个工时在印度可以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吨小麦。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印度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在电脑方面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具有相对优势。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切记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绝对优势不是比较优势的必要条件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机会成本和比较优势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605" y="1570355"/>
            <a:ext cx="8065135" cy="3422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贸易收益</a:t>
            </a:r>
            <a:r>
              <a:rPr lang="zh-CN" altLang="en-US" sz="240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来自比较优势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（源于</a:t>
            </a:r>
            <a:r>
              <a:rPr lang="zh-CN" altLang="en-US" sz="2400" smtClean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机会</a:t>
            </a:r>
            <a:r>
              <a:rPr lang="zh-CN" altLang="en-US" sz="240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成本的差异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当每个国家都专业化生产自己有比较优势的商品，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每个国家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的总产量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都更高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，世界的“经济蛋糕”更大，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所有国家都可以从贸易中获益。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这同样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适用于个体，比如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，各自专门生产不同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商品、然后相互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交易而受益。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比较优势和贸易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0304" y="5845353"/>
            <a:ext cx="2537430" cy="79533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练习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TextBox 15"/>
          <p:cNvSpPr txBox="1"/>
          <p:nvPr/>
        </p:nvSpPr>
        <p:spPr>
          <a:xfrm>
            <a:off x="331142" y="1344290"/>
            <a:ext cx="8064896" cy="4635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绝对优势和比较优势</a:t>
            </a:r>
            <a:endParaRPr lang="en-US" altLang="zh-CN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阿根廷和巴西每个月都有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小时的劳动力。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在阿根廷，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）生产一磅咖啡需要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个小时</a:t>
            </a:r>
            <a:endPara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）生产一瓶葡萄酒需要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个小时</a:t>
            </a:r>
            <a:endPara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巴西，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）生产一磅咖啡需要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）生产一瓶葡萄酒需要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个小时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哪个国家在咖啡生产方面具有绝对优势？哪个国家在葡萄酒生产方面具有比较优势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0304" y="5845353"/>
            <a:ext cx="2537430" cy="79533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练习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TextBox 15"/>
          <p:cNvSpPr txBox="1"/>
          <p:nvPr/>
        </p:nvSpPr>
        <p:spPr>
          <a:xfrm>
            <a:off x="331142" y="1344290"/>
            <a:ext cx="8064896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endParaRPr lang="en-US" altLang="zh-CN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巴西在咖啡方面具有绝对优势：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咖啡只需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个工时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阿根廷需要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个工时。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阿根廷在葡萄酒方面具有比较优势：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阿根廷的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葡萄酒机会成本是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咖啡，因为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个工时，</a:t>
            </a:r>
            <a:b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生产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瓶葡萄酒的工时可以生产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咖啡。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914400">
              <a:lnSpc>
                <a:spcPct val="150000"/>
              </a:lnSpc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巴西葡萄酒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的机会成本是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磅咖啡，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工时，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生产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瓶葡萄酒的工时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咖啡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0304" y="5845353"/>
            <a:ext cx="2537430" cy="79533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未回答的问题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…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TextBox 15"/>
          <p:cNvSpPr txBox="1"/>
          <p:nvPr/>
        </p:nvSpPr>
        <p:spPr>
          <a:xfrm>
            <a:off x="331142" y="1417638"/>
            <a:ext cx="80648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我们对每个国家生产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消费的每种商品的数量，以及这些国家用小麦换取电脑的价格做了很多假设。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在现实世界中，这些数量和价格将由两国消费者的偏好以及技术和资源决定。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我们将在下一章开始对此进行研究。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不过，就目前而言，我们的目标只是看看贸易如何让每个人都过得更好。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0304" y="5845353"/>
            <a:ext cx="2537430" cy="795338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TextBox 15"/>
          <p:cNvSpPr txBox="1"/>
          <p:nvPr/>
        </p:nvSpPr>
        <p:spPr>
          <a:xfrm>
            <a:off x="331142" y="1417638"/>
            <a:ext cx="80648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相互依存性和贸易使每个人都能享受更多数量和种类的商品和服务。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比较优势意味着能够以较低的机会成本生产商品。绝对优势意味着能够用更少的投入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生产商品。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当人们或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国家专业化生产各自具有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比较优势的商品时，经济“馅饼”就会变大，贸易可以让每个人都过得更好。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哈尔滨工业大学（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深圳）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经济管理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学院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9D7B55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THE HITSZ SCHOOL OF ECONOMICS AND MANAGEMENT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9D7B55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《</a:t>
            </a:r>
            <a:r>
              <a:rPr kumimoji="0" lang="zh-CN" altLang="en-US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经济学原理</a:t>
            </a: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》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6155" y="3264142"/>
            <a:ext cx="7396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下一章：供给与需求的市场力量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3142</Words>
  <Application>WPS 演示</Application>
  <PresentationFormat>全屏显示(4:3)</PresentationFormat>
  <Paragraphs>488</Paragraphs>
  <Slides>31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等线</vt:lpstr>
      <vt:lpstr>微软雅黑</vt:lpstr>
      <vt:lpstr>Arial</vt:lpstr>
      <vt:lpstr>Arial Unicode MS</vt:lpstr>
      <vt:lpstr>Calibri</vt:lpstr>
      <vt:lpstr>Office 主题</vt:lpstr>
      <vt:lpstr>PowerPoint 演示文稿</vt:lpstr>
      <vt:lpstr>PowerPoint 演示文稿</vt:lpstr>
      <vt:lpstr>相互依存性</vt:lpstr>
      <vt:lpstr>相互依存性</vt:lpstr>
      <vt:lpstr>例子</vt:lpstr>
      <vt:lpstr>中国的生产假定</vt:lpstr>
      <vt:lpstr>中国PPF</vt:lpstr>
      <vt:lpstr>假如中国自给自足</vt:lpstr>
      <vt:lpstr>练习</vt:lpstr>
      <vt:lpstr>印度PPF</vt:lpstr>
      <vt:lpstr>假如印度自给自足</vt:lpstr>
      <vt:lpstr>自给自足和贸易情况下的消费</vt:lpstr>
      <vt:lpstr>练习</vt:lpstr>
      <vt:lpstr>贸易下的中国生产</vt:lpstr>
      <vt:lpstr>贸易下的印度生产</vt:lpstr>
      <vt:lpstr>出口与进口</vt:lpstr>
      <vt:lpstr>练习</vt:lpstr>
      <vt:lpstr>贸易下的中国消费</vt:lpstr>
      <vt:lpstr>贸易下的印度消费</vt:lpstr>
      <vt:lpstr>贸易使两国都变得更好</vt:lpstr>
      <vt:lpstr>这些贸易好处来自哪里？</vt:lpstr>
      <vt:lpstr>这些贸易好处来自哪里？</vt:lpstr>
      <vt:lpstr>商品成本的两种衡量方法</vt:lpstr>
      <vt:lpstr>机会成本和比较优势</vt:lpstr>
      <vt:lpstr>机会成本和比较优势</vt:lpstr>
      <vt:lpstr>比较优势和贸易</vt:lpstr>
      <vt:lpstr>练习</vt:lpstr>
      <vt:lpstr>练习</vt:lpstr>
      <vt:lpstr>未回答的问题…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2911522202@qq.com</dc:creator>
  <cp:lastModifiedBy>YZ</cp:lastModifiedBy>
  <cp:revision>27</cp:revision>
  <dcterms:created xsi:type="dcterms:W3CDTF">2023-08-02T07:50:00Z</dcterms:created>
  <dcterms:modified xsi:type="dcterms:W3CDTF">2025-09-11T08:58:54Z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632C86E77057483FAE9ED46D43F5124E_12</vt:lpwstr>
  </property>
  <property fmtid="{D5CDD505-2E9C-101B-9397-08002B2CF9AE}" pid="3" name="KSOProductBuildVer">
    <vt:lpwstr>2052-12.1.0.22529</vt:lpwstr>
  </property>
</Properties>
</file>